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2" r:id="rId2"/>
    <p:sldMasterId id="2147483783" r:id="rId3"/>
  </p:sldMasterIdLst>
  <p:notesMasterIdLst>
    <p:notesMasterId r:id="rId51"/>
  </p:notesMasterIdLst>
  <p:handoutMasterIdLst>
    <p:handoutMasterId r:id="rId52"/>
  </p:handoutMasterIdLst>
  <p:sldIdLst>
    <p:sldId id="360" r:id="rId4"/>
    <p:sldId id="412" r:id="rId5"/>
    <p:sldId id="462" r:id="rId6"/>
    <p:sldId id="415" r:id="rId7"/>
    <p:sldId id="416" r:id="rId8"/>
    <p:sldId id="417" r:id="rId9"/>
    <p:sldId id="418" r:id="rId10"/>
    <p:sldId id="463" r:id="rId11"/>
    <p:sldId id="464" r:id="rId12"/>
    <p:sldId id="465" r:id="rId13"/>
    <p:sldId id="466" r:id="rId14"/>
    <p:sldId id="467" r:id="rId15"/>
    <p:sldId id="468" r:id="rId16"/>
    <p:sldId id="469" r:id="rId17"/>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634" autoAdjust="0"/>
  </p:normalViewPr>
  <p:slideViewPr>
    <p:cSldViewPr>
      <p:cViewPr varScale="1">
        <p:scale>
          <a:sx n="60" d="100"/>
          <a:sy n="60" d="100"/>
        </p:scale>
        <p:origin x="1464" y="42"/>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2341"/>
    </p:cViewPr>
  </p:sorterViewPr>
  <p:notesViewPr>
    <p:cSldViewPr>
      <p:cViewPr varScale="1">
        <p:scale>
          <a:sx n="36" d="100"/>
          <a:sy n="36" d="100"/>
        </p:scale>
        <p:origin x="-1476" y="-8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9395" name="Rectangle 3"/>
          <p:cNvSpPr>
            <a:spLocks noGrp="1" noChangeArrowheads="1"/>
          </p:cNvSpPr>
          <p:nvPr>
            <p:ph type="dt" sz="quarter"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59396" name="Rectangle 4"/>
          <p:cNvSpPr>
            <a:spLocks noGrp="1" noChangeArrowheads="1"/>
          </p:cNvSpPr>
          <p:nvPr>
            <p:ph type="ftr" sz="quarter" idx="2"/>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9397" name="Rectangle 5"/>
          <p:cNvSpPr>
            <a:spLocks noGrp="1" noChangeArrowheads="1"/>
          </p:cNvSpPr>
          <p:nvPr>
            <p:ph type="sldNum" sz="quarter" idx="3"/>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0A4C62E0-18C7-4D23-B410-4E9B29B27715}" type="slidenum">
              <a:rPr lang="en-US"/>
              <a:pPr>
                <a:defRPr/>
              </a:pPr>
              <a:t>‹#›</a:t>
            </a:fld>
            <a:endParaRPr lang="en-US" dirty="0"/>
          </a:p>
        </p:txBody>
      </p:sp>
    </p:spTree>
    <p:extLst>
      <p:ext uri="{BB962C8B-B14F-4D97-AF65-F5344CB8AC3E}">
        <p14:creationId xmlns:p14="http://schemas.microsoft.com/office/powerpoint/2010/main" val="3124226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978132"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a:defRPr sz="1200">
                <a:latin typeface="Arial" charset="0"/>
              </a:defRPr>
            </a:lvl1pPr>
          </a:lstStyle>
          <a:p>
            <a:pPr>
              <a:defRPr/>
            </a:pPr>
            <a:endParaRPr lang="en-US"/>
          </a:p>
        </p:txBody>
      </p:sp>
      <p:sp>
        <p:nvSpPr>
          <p:cNvPr id="71684"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2310" y="4421823"/>
            <a:ext cx="5618480"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978132" y="8842029"/>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a:defRPr sz="1200">
                <a:latin typeface="Arial" charset="0"/>
              </a:defRPr>
            </a:lvl1pPr>
          </a:lstStyle>
          <a:p>
            <a:pPr>
              <a:defRPr/>
            </a:pPr>
            <a:fld id="{75AD670F-EEE4-4643-B99A-F7C5550EF606}" type="slidenum">
              <a:rPr lang="en-US"/>
              <a:pPr>
                <a:defRPr/>
              </a:pPr>
              <a:t>‹#›</a:t>
            </a:fld>
            <a:endParaRPr lang="en-US" dirty="0"/>
          </a:p>
        </p:txBody>
      </p:sp>
    </p:spTree>
    <p:extLst>
      <p:ext uri="{BB962C8B-B14F-4D97-AF65-F5344CB8AC3E}">
        <p14:creationId xmlns:p14="http://schemas.microsoft.com/office/powerpoint/2010/main" val="30163161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58255" indent="-291636" eaLnBrk="0" hangingPunct="0">
              <a:defRPr>
                <a:solidFill>
                  <a:schemeClr val="tx1"/>
                </a:solidFill>
                <a:latin typeface="Times New Roman" pitchFamily="18" charset="0"/>
              </a:defRPr>
            </a:lvl2pPr>
            <a:lvl3pPr marL="1166546" indent="-233309" eaLnBrk="0" hangingPunct="0">
              <a:defRPr>
                <a:solidFill>
                  <a:schemeClr val="tx1"/>
                </a:solidFill>
                <a:latin typeface="Times New Roman" pitchFamily="18" charset="0"/>
              </a:defRPr>
            </a:lvl3pPr>
            <a:lvl4pPr marL="1633164" indent="-233309" eaLnBrk="0" hangingPunct="0">
              <a:defRPr>
                <a:solidFill>
                  <a:schemeClr val="tx1"/>
                </a:solidFill>
                <a:latin typeface="Times New Roman" pitchFamily="18" charset="0"/>
              </a:defRPr>
            </a:lvl4pPr>
            <a:lvl5pPr marL="2099782" indent="-233309" eaLnBrk="0" hangingPunct="0">
              <a:defRPr>
                <a:solidFill>
                  <a:schemeClr val="tx1"/>
                </a:solidFill>
                <a:latin typeface="Times New Roman" pitchFamily="18" charset="0"/>
              </a:defRPr>
            </a:lvl5pPr>
            <a:lvl6pPr marL="2566401" indent="-233309" eaLnBrk="0" fontAlgn="base" hangingPunct="0">
              <a:spcBef>
                <a:spcPct val="0"/>
              </a:spcBef>
              <a:spcAft>
                <a:spcPct val="0"/>
              </a:spcAft>
              <a:defRPr>
                <a:solidFill>
                  <a:schemeClr val="tx1"/>
                </a:solidFill>
                <a:latin typeface="Times New Roman" pitchFamily="18" charset="0"/>
              </a:defRPr>
            </a:lvl6pPr>
            <a:lvl7pPr marL="3033019" indent="-233309" eaLnBrk="0" fontAlgn="base" hangingPunct="0">
              <a:spcBef>
                <a:spcPct val="0"/>
              </a:spcBef>
              <a:spcAft>
                <a:spcPct val="0"/>
              </a:spcAft>
              <a:defRPr>
                <a:solidFill>
                  <a:schemeClr val="tx1"/>
                </a:solidFill>
                <a:latin typeface="Times New Roman" pitchFamily="18" charset="0"/>
              </a:defRPr>
            </a:lvl7pPr>
            <a:lvl8pPr marL="3499637" indent="-233309" eaLnBrk="0" fontAlgn="base" hangingPunct="0">
              <a:spcBef>
                <a:spcPct val="0"/>
              </a:spcBef>
              <a:spcAft>
                <a:spcPct val="0"/>
              </a:spcAft>
              <a:defRPr>
                <a:solidFill>
                  <a:schemeClr val="tx1"/>
                </a:solidFill>
                <a:latin typeface="Times New Roman" pitchFamily="18" charset="0"/>
              </a:defRPr>
            </a:lvl8pPr>
            <a:lvl9pPr marL="3966256" indent="-233309" eaLnBrk="0" fontAlgn="base" hangingPunct="0">
              <a:spcBef>
                <a:spcPct val="0"/>
              </a:spcBef>
              <a:spcAft>
                <a:spcPct val="0"/>
              </a:spcAft>
              <a:defRPr>
                <a:solidFill>
                  <a:schemeClr val="tx1"/>
                </a:solidFill>
                <a:latin typeface="Times New Roman" pitchFamily="18" charset="0"/>
              </a:defRPr>
            </a:lvl9pPr>
          </a:lstStyle>
          <a:p>
            <a:pPr eaLnBrk="1" hangingPunct="1"/>
            <a:fld id="{4E187B77-373F-4821-8163-D6883C49DA06}" type="slidenum">
              <a:rPr lang="en-US" smtClean="0">
                <a:latin typeface="Arial" charset="0"/>
              </a:rPr>
              <a:pPr eaLnBrk="1" hangingPunct="1"/>
              <a:t>1</a:t>
            </a:fld>
            <a:endParaRPr lang="en-US">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ADEAFD7-234B-49FC-AD57-40C7EDFF3F0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60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9891BB-57D2-4077-A62F-03F8DE25CC44}"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0479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29F22E3-71D5-457A-976F-AF5AF7404B2E}"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55452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812816B7-AE3F-47FA-8219-33E3B8AED3D2}"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90985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812816B7-AE3F-47FA-8219-33E3B8AED3D2}"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07382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812816B7-AE3F-47FA-8219-33E3B8AED3D2}"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28527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12816B7-AE3F-47FA-8219-33E3B8AED3D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736057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9C6998-C571-4B57-A9D2-AB82E517273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074336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D38A8B5-9276-4D43-96CB-9CC6C895856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080038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AD38A8B5-9276-4D43-96CB-9CC6C895856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0629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54522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AD38A8B5-9276-4D43-96CB-9CC6C895856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864185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AD38A8B5-9276-4D43-96CB-9CC6C8958560}"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746199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F4D6B29F-CA7E-478F-8327-3AB4B7C4591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91578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5BF3DD76-1C3F-41BC-89BC-15FBCFA1C911}"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873551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672C66F-0EF6-4683-AE5E-E4F40C2B6646}"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003219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24F3B53D-C98B-4BF1-97B8-5E7D305A4BEB}"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08040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73875" indent="-297644" eaLnBrk="0" hangingPunct="0">
              <a:defRPr>
                <a:solidFill>
                  <a:schemeClr val="tx1"/>
                </a:solidFill>
                <a:latin typeface="Times New Roman" pitchFamily="18" charset="0"/>
              </a:defRPr>
            </a:lvl2pPr>
            <a:lvl3pPr marL="1190577" indent="-238115" eaLnBrk="0" hangingPunct="0">
              <a:defRPr>
                <a:solidFill>
                  <a:schemeClr val="tx1"/>
                </a:solidFill>
                <a:latin typeface="Times New Roman" pitchFamily="18" charset="0"/>
              </a:defRPr>
            </a:lvl3pPr>
            <a:lvl4pPr marL="1666807" indent="-238115" eaLnBrk="0" hangingPunct="0">
              <a:defRPr>
                <a:solidFill>
                  <a:schemeClr val="tx1"/>
                </a:solidFill>
                <a:latin typeface="Times New Roman" pitchFamily="18" charset="0"/>
              </a:defRPr>
            </a:lvl4pPr>
            <a:lvl5pPr marL="2143038" indent="-238115" eaLnBrk="0" hangingPunct="0">
              <a:defRPr>
                <a:solidFill>
                  <a:schemeClr val="tx1"/>
                </a:solidFill>
                <a:latin typeface="Times New Roman" pitchFamily="18" charset="0"/>
              </a:defRPr>
            </a:lvl5pPr>
            <a:lvl6pPr marL="2619269" indent="-238115" eaLnBrk="0" fontAlgn="base" hangingPunct="0">
              <a:spcBef>
                <a:spcPct val="0"/>
              </a:spcBef>
              <a:spcAft>
                <a:spcPct val="0"/>
              </a:spcAft>
              <a:defRPr>
                <a:solidFill>
                  <a:schemeClr val="tx1"/>
                </a:solidFill>
                <a:latin typeface="Times New Roman" pitchFamily="18" charset="0"/>
              </a:defRPr>
            </a:lvl6pPr>
            <a:lvl7pPr marL="3095499" indent="-238115" eaLnBrk="0" fontAlgn="base" hangingPunct="0">
              <a:spcBef>
                <a:spcPct val="0"/>
              </a:spcBef>
              <a:spcAft>
                <a:spcPct val="0"/>
              </a:spcAft>
              <a:defRPr>
                <a:solidFill>
                  <a:schemeClr val="tx1"/>
                </a:solidFill>
                <a:latin typeface="Times New Roman" pitchFamily="18" charset="0"/>
              </a:defRPr>
            </a:lvl7pPr>
            <a:lvl8pPr marL="3571730" indent="-238115" eaLnBrk="0" fontAlgn="base" hangingPunct="0">
              <a:spcBef>
                <a:spcPct val="0"/>
              </a:spcBef>
              <a:spcAft>
                <a:spcPct val="0"/>
              </a:spcAft>
              <a:defRPr>
                <a:solidFill>
                  <a:schemeClr val="tx1"/>
                </a:solidFill>
                <a:latin typeface="Times New Roman" pitchFamily="18" charset="0"/>
              </a:defRPr>
            </a:lvl8pPr>
            <a:lvl9pPr marL="4047961" indent="-238115" eaLnBrk="0" fontAlgn="base" hangingPunct="0">
              <a:spcBef>
                <a:spcPct val="0"/>
              </a:spcBef>
              <a:spcAft>
                <a:spcPct val="0"/>
              </a:spcAft>
              <a:defRPr>
                <a:solidFill>
                  <a:schemeClr val="tx1"/>
                </a:solidFill>
                <a:latin typeface="Times New Roman" pitchFamily="18" charset="0"/>
              </a:defRPr>
            </a:lvl9pPr>
          </a:lstStyle>
          <a:p>
            <a:pPr marL="0" marR="0" lvl="0" indent="0" algn="r" defTabSz="933237" rtl="0" eaLnBrk="1" fontAlgn="base" latinLnBrk="0" hangingPunct="1">
              <a:lnSpc>
                <a:spcPct val="100000"/>
              </a:lnSpc>
              <a:spcBef>
                <a:spcPct val="0"/>
              </a:spcBef>
              <a:spcAft>
                <a:spcPct val="0"/>
              </a:spcAft>
              <a:buClrTx/>
              <a:buSzTx/>
              <a:buFontTx/>
              <a:buNone/>
              <a:tabLst/>
              <a:defRPr/>
            </a:pPr>
            <a:fld id="{69ABC51D-5761-4FC0-9797-7E3332498EB8}"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33237"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52042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ABC51D-5761-4FC0-9797-7E3332498EB8}"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425231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0470844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4034926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77324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6152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45052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2219663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710481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27797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00922C-A417-476D-9B3C-8B4196C7586B}" type="slidenum">
              <a:rPr lang="en-US"/>
              <a:pPr>
                <a:defRPr/>
              </a:pPr>
              <a:t>‹#›</a:t>
            </a:fld>
            <a:endParaRPr lang="en-US" dirty="0"/>
          </a:p>
        </p:txBody>
      </p:sp>
    </p:spTree>
    <p:extLst>
      <p:ext uri="{BB962C8B-B14F-4D97-AF65-F5344CB8AC3E}">
        <p14:creationId xmlns:p14="http://schemas.microsoft.com/office/powerpoint/2010/main" val="87119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05D9D9-EE7F-4543-AB66-3F1DFD9571CF}" type="slidenum">
              <a:rPr lang="en-US"/>
              <a:pPr>
                <a:defRPr/>
              </a:pPr>
              <a:t>‹#›</a:t>
            </a:fld>
            <a:endParaRPr lang="en-US" dirty="0"/>
          </a:p>
        </p:txBody>
      </p:sp>
    </p:spTree>
    <p:extLst>
      <p:ext uri="{BB962C8B-B14F-4D97-AF65-F5344CB8AC3E}">
        <p14:creationId xmlns:p14="http://schemas.microsoft.com/office/powerpoint/2010/main" val="192462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21EDA56-4DEF-4D65-BE6E-1572598CCA17}" type="slidenum">
              <a:rPr lang="en-US"/>
              <a:pPr>
                <a:defRPr/>
              </a:pPr>
              <a:t>‹#›</a:t>
            </a:fld>
            <a:endParaRPr lang="en-US" dirty="0"/>
          </a:p>
        </p:txBody>
      </p:sp>
    </p:spTree>
    <p:extLst>
      <p:ext uri="{BB962C8B-B14F-4D97-AF65-F5344CB8AC3E}">
        <p14:creationId xmlns:p14="http://schemas.microsoft.com/office/powerpoint/2010/main" val="199761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04B9AFE-E56C-49E8-A944-FCDC7E7BB63A}" type="slidenum">
              <a:rPr lang="en-US"/>
              <a:pPr>
                <a:defRPr/>
              </a:pPr>
              <a:t>‹#›</a:t>
            </a:fld>
            <a:endParaRPr lang="en-US" dirty="0"/>
          </a:p>
        </p:txBody>
      </p:sp>
    </p:spTree>
    <p:extLst>
      <p:ext uri="{BB962C8B-B14F-4D97-AF65-F5344CB8AC3E}">
        <p14:creationId xmlns:p14="http://schemas.microsoft.com/office/powerpoint/2010/main" val="263366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838A06-030F-4B24-A54A-A906CA3E1AA3}" type="slidenum">
              <a:rPr lang="en-US"/>
              <a:pPr>
                <a:defRPr/>
              </a:pPr>
              <a:t>‹#›</a:t>
            </a:fld>
            <a:endParaRPr lang="en-US" dirty="0"/>
          </a:p>
        </p:txBody>
      </p:sp>
    </p:spTree>
    <p:extLst>
      <p:ext uri="{BB962C8B-B14F-4D97-AF65-F5344CB8AC3E}">
        <p14:creationId xmlns:p14="http://schemas.microsoft.com/office/powerpoint/2010/main" val="1387358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9CDF1AF-B7E0-4B48-B1A4-13DEF0A055DE}" type="slidenum">
              <a:rPr lang="en-US"/>
              <a:pPr>
                <a:defRPr/>
              </a:pPr>
              <a:t>‹#›</a:t>
            </a:fld>
            <a:endParaRPr lang="en-US" dirty="0"/>
          </a:p>
        </p:txBody>
      </p:sp>
    </p:spTree>
    <p:extLst>
      <p:ext uri="{BB962C8B-B14F-4D97-AF65-F5344CB8AC3E}">
        <p14:creationId xmlns:p14="http://schemas.microsoft.com/office/powerpoint/2010/main" val="3187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F21908C-9AD0-4D26-BF73-D883910CB44E}" type="slidenum">
              <a:rPr lang="en-US"/>
              <a:pPr>
                <a:defRPr/>
              </a:pPr>
              <a:t>‹#›</a:t>
            </a:fld>
            <a:endParaRPr lang="en-US" dirty="0"/>
          </a:p>
        </p:txBody>
      </p:sp>
    </p:spTree>
    <p:extLst>
      <p:ext uri="{BB962C8B-B14F-4D97-AF65-F5344CB8AC3E}">
        <p14:creationId xmlns:p14="http://schemas.microsoft.com/office/powerpoint/2010/main" val="34763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A7DE90-684E-41A8-9571-6CF6F374268A}" type="slidenum">
              <a:rPr lang="en-US"/>
              <a:pPr>
                <a:defRPr/>
              </a:pPr>
              <a:t>‹#›</a:t>
            </a:fld>
            <a:endParaRPr lang="en-US" dirty="0"/>
          </a:p>
        </p:txBody>
      </p:sp>
    </p:spTree>
    <p:extLst>
      <p:ext uri="{BB962C8B-B14F-4D97-AF65-F5344CB8AC3E}">
        <p14:creationId xmlns:p14="http://schemas.microsoft.com/office/powerpoint/2010/main" val="997407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DFCB6DE-A44F-4C48-B01C-E1B18EC6157F}" type="slidenum">
              <a:rPr lang="en-US"/>
              <a:pPr>
                <a:defRPr/>
              </a:pPr>
              <a:t>‹#›</a:t>
            </a:fld>
            <a:endParaRPr lang="en-US" dirty="0"/>
          </a:p>
        </p:txBody>
      </p:sp>
    </p:spTree>
    <p:extLst>
      <p:ext uri="{BB962C8B-B14F-4D97-AF65-F5344CB8AC3E}">
        <p14:creationId xmlns:p14="http://schemas.microsoft.com/office/powerpoint/2010/main" val="264018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1005DC-5D55-4265-A123-04676CC76002}" type="slidenum">
              <a:rPr lang="en-US"/>
              <a:pPr>
                <a:defRPr/>
              </a:pPr>
              <a:t>‹#›</a:t>
            </a:fld>
            <a:endParaRPr lang="en-US" dirty="0"/>
          </a:p>
        </p:txBody>
      </p:sp>
    </p:spTree>
    <p:extLst>
      <p:ext uri="{BB962C8B-B14F-4D97-AF65-F5344CB8AC3E}">
        <p14:creationId xmlns:p14="http://schemas.microsoft.com/office/powerpoint/2010/main" val="3791209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5745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81000"/>
            <a:ext cx="6076950"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A4EF797-BE74-40B7-A394-58CB629C4BA9}" type="slidenum">
              <a:rPr lang="en-US"/>
              <a:pPr>
                <a:defRPr/>
              </a:pPr>
              <a:t>‹#›</a:t>
            </a:fld>
            <a:endParaRPr lang="en-US" dirty="0"/>
          </a:p>
        </p:txBody>
      </p:sp>
    </p:spTree>
    <p:extLst>
      <p:ext uri="{BB962C8B-B14F-4D97-AF65-F5344CB8AC3E}">
        <p14:creationId xmlns:p14="http://schemas.microsoft.com/office/powerpoint/2010/main" val="669543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222625" y="304800"/>
            <a:ext cx="11909425"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headEnd/>
              <a:tailEnd/>
            </a:ln>
            <a:effectLst/>
          </p:spPr>
          <p:txBody>
            <a:bodyPr/>
            <a:lstStyle/>
            <a:p>
              <a:pPr>
                <a:defRPr/>
              </a:pPr>
              <a:endParaRPr lang="en-US" dirty="0"/>
            </a:p>
          </p:txBody>
        </p:sp>
        <p:sp>
          <p:nvSpPr>
            <p:cNvPr id="6" name="AutoShape 4"/>
            <p:cNvSpPr>
              <a:spLocks noChangeArrowheads="1"/>
            </p:cNvSpPr>
            <p:nvPr/>
          </p:nvSpPr>
          <p:spPr bwMode="auto">
            <a:xfrm>
              <a:off x="-1584" y="864"/>
              <a:ext cx="2304" cy="2304"/>
            </a:xfrm>
            <a:custGeom>
              <a:avLst/>
              <a:gdLst>
                <a:gd name="G0" fmla="+- 12083 0 0"/>
                <a:gd name="G1" fmla="+- -3200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44083" y="2368"/>
                </a:cxn>
                <a:cxn ang="0">
                  <a:pos x="64000" y="32000"/>
                </a:cxn>
                <a:cxn ang="0">
                  <a:pos x="44083" y="61631"/>
                </a:cxn>
                <a:cxn ang="0">
                  <a:pos x="44083" y="61631"/>
                </a:cxn>
                <a:cxn ang="0">
                  <a:pos x="44082" y="61631"/>
                </a:cxn>
                <a:cxn ang="0">
                  <a:pos x="44083" y="61632"/>
                </a:cxn>
                <a:cxn ang="0">
                  <a:pos x="44083" y="2368"/>
                </a:cxn>
                <a:cxn ang="0">
                  <a:pos x="44082" y="2368"/>
                </a:cxn>
                <a:cxn ang="0">
                  <a:pos x="44083" y="2368"/>
                </a:cxn>
              </a:cxnLst>
              <a:rect l="T13" t="T15" r="T17" b="T19"/>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w="9525">
              <a:noFill/>
              <a:miter lim="800000"/>
              <a:headEnd/>
              <a:tailEnd/>
            </a:ln>
          </p:spPr>
          <p:txBody>
            <a:bodyPr/>
            <a:lstStyle/>
            <a:p>
              <a:pPr>
                <a:defRPr/>
              </a:pPr>
              <a:endParaRPr lang="en-US" sz="2400" dirty="0"/>
            </a:p>
          </p:txBody>
        </p:sp>
        <p:sp>
          <p:nvSpPr>
            <p:cNvPr id="7" name="AutoShape 5"/>
            <p:cNvSpPr>
              <a:spLocks noChangeArrowheads="1"/>
            </p:cNvSpPr>
            <p:nvPr/>
          </p:nvSpPr>
          <p:spPr bwMode="auto">
            <a:xfrm>
              <a:off x="-2030" y="192"/>
              <a:ext cx="2544" cy="2544"/>
            </a:xfrm>
            <a:custGeom>
              <a:avLst/>
              <a:gdLst>
                <a:gd name="G0" fmla="+- 18994 0 0"/>
                <a:gd name="G1" fmla="+- -30013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994" y="6246"/>
                </a:cxn>
                <a:cxn ang="0">
                  <a:pos x="64000" y="32000"/>
                </a:cxn>
                <a:cxn ang="0">
                  <a:pos x="50994" y="57753"/>
                </a:cxn>
                <a:cxn ang="0">
                  <a:pos x="50994" y="57753"/>
                </a:cxn>
                <a:cxn ang="0">
                  <a:pos x="50993" y="57753"/>
                </a:cxn>
                <a:cxn ang="0">
                  <a:pos x="50994" y="57754"/>
                </a:cxn>
                <a:cxn ang="0">
                  <a:pos x="50994" y="6246"/>
                </a:cxn>
                <a:cxn ang="0">
                  <a:pos x="50993" y="6246"/>
                </a:cxn>
                <a:cxn ang="0">
                  <a:pos x="50994" y="6246"/>
                </a:cxn>
              </a:cxnLst>
              <a:rect l="T13" t="T15" r="T17" b="T19"/>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grpSp>
      <p:sp>
        <p:nvSpPr>
          <p:cNvPr id="229382"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22938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en-US"/>
              <a:t>Click to edit Master subtitle style</a:t>
            </a:r>
          </a:p>
        </p:txBody>
      </p:sp>
      <p:sp>
        <p:nvSpPr>
          <p:cNvPr id="8" name="Rectangle 8"/>
          <p:cNvSpPr>
            <a:spLocks noGrp="1" noChangeArrowheads="1"/>
          </p:cNvSpPr>
          <p:nvPr>
            <p:ph type="dt" sz="half" idx="10"/>
          </p:nvPr>
        </p:nvSpPr>
        <p:spPr/>
        <p:txBody>
          <a:bodyPr/>
          <a:lstStyle>
            <a:lvl1pPr>
              <a:defRPr/>
            </a:lvl1pPr>
          </a:lstStyle>
          <a:p>
            <a:pPr>
              <a:defRPr/>
            </a:pPr>
            <a:endParaRPr lang="en-US"/>
          </a:p>
        </p:txBody>
      </p:sp>
      <p:sp>
        <p:nvSpPr>
          <p:cNvPr id="9" name="Rectangle 9"/>
          <p:cNvSpPr>
            <a:spLocks noGrp="1" noChangeArrowheads="1"/>
          </p:cNvSpPr>
          <p:nvPr>
            <p:ph type="ftr" sz="quarter" idx="11"/>
          </p:nvPr>
        </p:nvSpPr>
        <p:spPr/>
        <p:txBody>
          <a:bodyPr/>
          <a:lstStyle>
            <a:lvl1pPr>
              <a:defRPr/>
            </a:lvl1pPr>
          </a:lstStyle>
          <a:p>
            <a:pPr>
              <a:defRPr/>
            </a:pPr>
            <a:endParaRPr lang="en-US"/>
          </a:p>
        </p:txBody>
      </p:sp>
      <p:sp>
        <p:nvSpPr>
          <p:cNvPr id="10" name="Rectangle 10"/>
          <p:cNvSpPr>
            <a:spLocks noGrp="1" noChangeArrowheads="1"/>
          </p:cNvSpPr>
          <p:nvPr>
            <p:ph type="sldNum" sz="quarter" idx="12"/>
          </p:nvPr>
        </p:nvSpPr>
        <p:spPr/>
        <p:txBody>
          <a:bodyPr/>
          <a:lstStyle>
            <a:lvl1pPr>
              <a:defRPr/>
            </a:lvl1pPr>
          </a:lstStyle>
          <a:p>
            <a:pPr>
              <a:defRPr/>
            </a:pPr>
            <a:fld id="{6405AEEC-73E6-411C-AA98-3DDC2916B129}" type="slidenum">
              <a:rPr lang="en-US"/>
              <a:pPr>
                <a:defRPr/>
              </a:pPr>
              <a:t>‹#›</a:t>
            </a:fld>
            <a:endParaRPr lang="en-US" dirty="0"/>
          </a:p>
        </p:txBody>
      </p:sp>
    </p:spTree>
    <p:extLst>
      <p:ext uri="{BB962C8B-B14F-4D97-AF65-F5344CB8AC3E}">
        <p14:creationId xmlns:p14="http://schemas.microsoft.com/office/powerpoint/2010/main" val="12547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5FBE8A0A-EE35-4DF5-AFAF-A698601D8D96}" type="slidenum">
              <a:rPr lang="en-US"/>
              <a:pPr>
                <a:defRPr/>
              </a:pPr>
              <a:t>‹#›</a:t>
            </a:fld>
            <a:endParaRPr lang="en-US" dirty="0"/>
          </a:p>
        </p:txBody>
      </p:sp>
    </p:spTree>
    <p:extLst>
      <p:ext uri="{BB962C8B-B14F-4D97-AF65-F5344CB8AC3E}">
        <p14:creationId xmlns:p14="http://schemas.microsoft.com/office/powerpoint/2010/main" val="3688611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B3E7A17-1D39-49F4-B474-963C20B1A9E1}" type="slidenum">
              <a:rPr lang="en-US"/>
              <a:pPr>
                <a:defRPr/>
              </a:pPr>
              <a:t>‹#›</a:t>
            </a:fld>
            <a:endParaRPr lang="en-US" dirty="0"/>
          </a:p>
        </p:txBody>
      </p:sp>
    </p:spTree>
    <p:extLst>
      <p:ext uri="{BB962C8B-B14F-4D97-AF65-F5344CB8AC3E}">
        <p14:creationId xmlns:p14="http://schemas.microsoft.com/office/powerpoint/2010/main" val="3018629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20E63F7-40EB-41E4-A711-0041EFAF01A5}" type="slidenum">
              <a:rPr lang="en-US"/>
              <a:pPr>
                <a:defRPr/>
              </a:pPr>
              <a:t>‹#›</a:t>
            </a:fld>
            <a:endParaRPr lang="en-US" dirty="0"/>
          </a:p>
        </p:txBody>
      </p:sp>
    </p:spTree>
    <p:extLst>
      <p:ext uri="{BB962C8B-B14F-4D97-AF65-F5344CB8AC3E}">
        <p14:creationId xmlns:p14="http://schemas.microsoft.com/office/powerpoint/2010/main" val="3208666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dt" sz="half" idx="10"/>
          </p:nvPr>
        </p:nvSpPr>
        <p:spPr>
          <a:ln/>
        </p:spPr>
        <p:txBody>
          <a:bodyPr/>
          <a:lstStyle>
            <a:lvl1pPr>
              <a:defRPr/>
            </a:lvl1pPr>
          </a:lstStyle>
          <a:p>
            <a:pPr>
              <a:defRPr/>
            </a:pPr>
            <a:endParaRPr lang="en-US"/>
          </a:p>
        </p:txBody>
      </p:sp>
      <p:sp>
        <p:nvSpPr>
          <p:cNvPr id="8" name="Rectangle 9"/>
          <p:cNvSpPr>
            <a:spLocks noGrp="1" noChangeArrowheads="1"/>
          </p:cNvSpPr>
          <p:nvPr>
            <p:ph type="ftr" sz="quarter" idx="11"/>
          </p:nvPr>
        </p:nvSpPr>
        <p:spPr>
          <a:ln/>
        </p:spPr>
        <p:txBody>
          <a:bodyPr/>
          <a:lstStyle>
            <a:lvl1pPr>
              <a:defRPr/>
            </a:lvl1pPr>
          </a:lstStyle>
          <a:p>
            <a:pPr>
              <a:defRPr/>
            </a:pPr>
            <a:endParaRPr lang="en-US"/>
          </a:p>
        </p:txBody>
      </p:sp>
      <p:sp>
        <p:nvSpPr>
          <p:cNvPr id="9" name="Rectangle 10"/>
          <p:cNvSpPr>
            <a:spLocks noGrp="1" noChangeArrowheads="1"/>
          </p:cNvSpPr>
          <p:nvPr>
            <p:ph type="sldNum" sz="quarter" idx="12"/>
          </p:nvPr>
        </p:nvSpPr>
        <p:spPr>
          <a:ln/>
        </p:spPr>
        <p:txBody>
          <a:bodyPr/>
          <a:lstStyle>
            <a:lvl1pPr>
              <a:defRPr/>
            </a:lvl1pPr>
          </a:lstStyle>
          <a:p>
            <a:pPr>
              <a:defRPr/>
            </a:pPr>
            <a:fld id="{F6A262BE-238D-40AB-871C-1C92CD352937}" type="slidenum">
              <a:rPr lang="en-US"/>
              <a:pPr>
                <a:defRPr/>
              </a:pPr>
              <a:t>‹#›</a:t>
            </a:fld>
            <a:endParaRPr lang="en-US" dirty="0"/>
          </a:p>
        </p:txBody>
      </p:sp>
    </p:spTree>
    <p:extLst>
      <p:ext uri="{BB962C8B-B14F-4D97-AF65-F5344CB8AC3E}">
        <p14:creationId xmlns:p14="http://schemas.microsoft.com/office/powerpoint/2010/main" val="2395303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dt" sz="half" idx="10"/>
          </p:nvPr>
        </p:nvSpPr>
        <p:spPr>
          <a:ln/>
        </p:spPr>
        <p:txBody>
          <a:bodyPr/>
          <a:lstStyle>
            <a:lvl1pPr>
              <a:defRPr/>
            </a:lvl1pPr>
          </a:lstStyle>
          <a:p>
            <a:pPr>
              <a:defRPr/>
            </a:pPr>
            <a:endParaRPr lang="en-US"/>
          </a:p>
        </p:txBody>
      </p:sp>
      <p:sp>
        <p:nvSpPr>
          <p:cNvPr id="4" name="Rectangle 9"/>
          <p:cNvSpPr>
            <a:spLocks noGrp="1" noChangeArrowheads="1"/>
          </p:cNvSpPr>
          <p:nvPr>
            <p:ph type="ftr" sz="quarter" idx="11"/>
          </p:nvPr>
        </p:nvSpPr>
        <p:spPr>
          <a:ln/>
        </p:spPr>
        <p:txBody>
          <a:bodyPr/>
          <a:lstStyle>
            <a:lvl1pPr>
              <a:defRPr/>
            </a:lvl1pPr>
          </a:lstStyle>
          <a:p>
            <a:pPr>
              <a:defRPr/>
            </a:pPr>
            <a:endParaRPr lang="en-US"/>
          </a:p>
        </p:txBody>
      </p:sp>
      <p:sp>
        <p:nvSpPr>
          <p:cNvPr id="5" name="Rectangle 10"/>
          <p:cNvSpPr>
            <a:spLocks noGrp="1" noChangeArrowheads="1"/>
          </p:cNvSpPr>
          <p:nvPr>
            <p:ph type="sldNum" sz="quarter" idx="12"/>
          </p:nvPr>
        </p:nvSpPr>
        <p:spPr>
          <a:ln/>
        </p:spPr>
        <p:txBody>
          <a:bodyPr/>
          <a:lstStyle>
            <a:lvl1pPr>
              <a:defRPr/>
            </a:lvl1pPr>
          </a:lstStyle>
          <a:p>
            <a:pPr>
              <a:defRPr/>
            </a:pPr>
            <a:fld id="{7354427D-8FE6-42E8-91A1-1C8012C4B878}" type="slidenum">
              <a:rPr lang="en-US"/>
              <a:pPr>
                <a:defRPr/>
              </a:pPr>
              <a:t>‹#›</a:t>
            </a:fld>
            <a:endParaRPr lang="en-US" dirty="0"/>
          </a:p>
        </p:txBody>
      </p:sp>
    </p:spTree>
    <p:extLst>
      <p:ext uri="{BB962C8B-B14F-4D97-AF65-F5344CB8AC3E}">
        <p14:creationId xmlns:p14="http://schemas.microsoft.com/office/powerpoint/2010/main" val="615277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p>
        </p:txBody>
      </p:sp>
      <p:sp>
        <p:nvSpPr>
          <p:cNvPr id="3" name="Rectangle 9"/>
          <p:cNvSpPr>
            <a:spLocks noGrp="1" noChangeArrowheads="1"/>
          </p:cNvSpPr>
          <p:nvPr>
            <p:ph type="ftr" sz="quarter" idx="11"/>
          </p:nvPr>
        </p:nvSpPr>
        <p:spPr>
          <a:ln/>
        </p:spPr>
        <p:txBody>
          <a:bodyPr/>
          <a:lstStyle>
            <a:lvl1pPr>
              <a:defRPr/>
            </a:lvl1pPr>
          </a:lstStyle>
          <a:p>
            <a:pPr>
              <a:defRPr/>
            </a:pPr>
            <a:endParaRPr lang="en-US"/>
          </a:p>
        </p:txBody>
      </p:sp>
      <p:sp>
        <p:nvSpPr>
          <p:cNvPr id="4" name="Rectangle 10"/>
          <p:cNvSpPr>
            <a:spLocks noGrp="1" noChangeArrowheads="1"/>
          </p:cNvSpPr>
          <p:nvPr>
            <p:ph type="sldNum" sz="quarter" idx="12"/>
          </p:nvPr>
        </p:nvSpPr>
        <p:spPr>
          <a:ln/>
        </p:spPr>
        <p:txBody>
          <a:bodyPr/>
          <a:lstStyle>
            <a:lvl1pPr>
              <a:defRPr/>
            </a:lvl1pPr>
          </a:lstStyle>
          <a:p>
            <a:pPr>
              <a:defRPr/>
            </a:pPr>
            <a:fld id="{E5C95824-7CFA-458E-924D-9B5C50FA354A}" type="slidenum">
              <a:rPr lang="en-US"/>
              <a:pPr>
                <a:defRPr/>
              </a:pPr>
              <a:t>‹#›</a:t>
            </a:fld>
            <a:endParaRPr lang="en-US" dirty="0"/>
          </a:p>
        </p:txBody>
      </p:sp>
    </p:spTree>
    <p:extLst>
      <p:ext uri="{BB962C8B-B14F-4D97-AF65-F5344CB8AC3E}">
        <p14:creationId xmlns:p14="http://schemas.microsoft.com/office/powerpoint/2010/main" val="2028419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4E695EF6-6B49-44B8-BD05-2CAC3D105DBA}" type="slidenum">
              <a:rPr lang="en-US"/>
              <a:pPr>
                <a:defRPr/>
              </a:pPr>
              <a:t>‹#›</a:t>
            </a:fld>
            <a:endParaRPr lang="en-US" dirty="0"/>
          </a:p>
        </p:txBody>
      </p:sp>
    </p:spTree>
    <p:extLst>
      <p:ext uri="{BB962C8B-B14F-4D97-AF65-F5344CB8AC3E}">
        <p14:creationId xmlns:p14="http://schemas.microsoft.com/office/powerpoint/2010/main" val="2463474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dt" sz="half" idx="10"/>
          </p:nvPr>
        </p:nvSpPr>
        <p:spPr>
          <a:ln/>
        </p:spPr>
        <p:txBody>
          <a:bodyPr/>
          <a:lstStyle>
            <a:lvl1pPr>
              <a:defRPr/>
            </a:lvl1pPr>
          </a:lstStyle>
          <a:p>
            <a:pPr>
              <a:defRPr/>
            </a:pPr>
            <a:endParaRPr lang="en-US"/>
          </a:p>
        </p:txBody>
      </p:sp>
      <p:sp>
        <p:nvSpPr>
          <p:cNvPr id="6" name="Rectangle 9"/>
          <p:cNvSpPr>
            <a:spLocks noGrp="1" noChangeArrowheads="1"/>
          </p:cNvSpPr>
          <p:nvPr>
            <p:ph type="ftr" sz="quarter" idx="11"/>
          </p:nvPr>
        </p:nvSpPr>
        <p:spPr>
          <a:ln/>
        </p:spPr>
        <p:txBody>
          <a:bodyPr/>
          <a:lstStyle>
            <a:lvl1pPr>
              <a:defRPr/>
            </a:lvl1pPr>
          </a:lstStyle>
          <a:p>
            <a:pPr>
              <a:defRPr/>
            </a:pPr>
            <a:endParaRPr lang="en-US"/>
          </a:p>
        </p:txBody>
      </p:sp>
      <p:sp>
        <p:nvSpPr>
          <p:cNvPr id="7" name="Rectangle 10"/>
          <p:cNvSpPr>
            <a:spLocks noGrp="1" noChangeArrowheads="1"/>
          </p:cNvSpPr>
          <p:nvPr>
            <p:ph type="sldNum" sz="quarter" idx="12"/>
          </p:nvPr>
        </p:nvSpPr>
        <p:spPr>
          <a:ln/>
        </p:spPr>
        <p:txBody>
          <a:bodyPr/>
          <a:lstStyle>
            <a:lvl1pPr>
              <a:defRPr/>
            </a:lvl1pPr>
          </a:lstStyle>
          <a:p>
            <a:pPr>
              <a:defRPr/>
            </a:pPr>
            <a:fld id="{C591DFEA-A30A-49FD-9949-4290970265F9}" type="slidenum">
              <a:rPr lang="en-US"/>
              <a:pPr>
                <a:defRPr/>
              </a:pPr>
              <a:t>‹#›</a:t>
            </a:fld>
            <a:endParaRPr lang="en-US" dirty="0"/>
          </a:p>
        </p:txBody>
      </p:sp>
    </p:spTree>
    <p:extLst>
      <p:ext uri="{BB962C8B-B14F-4D97-AF65-F5344CB8AC3E}">
        <p14:creationId xmlns:p14="http://schemas.microsoft.com/office/powerpoint/2010/main" val="1009113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8D3780B6-30FD-46FE-9E23-CCC1752C6FCF}" type="slidenum">
              <a:rPr lang="en-US"/>
              <a:pPr>
                <a:defRPr/>
              </a:pPr>
              <a:t>‹#›</a:t>
            </a:fld>
            <a:endParaRPr lang="en-US" dirty="0"/>
          </a:p>
        </p:txBody>
      </p:sp>
    </p:spTree>
    <p:extLst>
      <p:ext uri="{BB962C8B-B14F-4D97-AF65-F5344CB8AC3E}">
        <p14:creationId xmlns:p14="http://schemas.microsoft.com/office/powerpoint/2010/main" val="1214659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1397D353-EF69-40C9-B526-58E78279C1D1}" type="slidenum">
              <a:rPr lang="en-US"/>
              <a:pPr>
                <a:defRPr/>
              </a:pPr>
              <a:t>‹#›</a:t>
            </a:fld>
            <a:endParaRPr lang="en-US" dirty="0"/>
          </a:p>
        </p:txBody>
      </p:sp>
    </p:spTree>
    <p:extLst>
      <p:ext uri="{BB962C8B-B14F-4D97-AF65-F5344CB8AC3E}">
        <p14:creationId xmlns:p14="http://schemas.microsoft.com/office/powerpoint/2010/main" val="4995422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ext Placeholder 2"/>
          <p:cNvSpPr>
            <a:spLocks noGrp="1"/>
          </p:cNvSpPr>
          <p:nvPr>
            <p:ph type="body" sz="half" idx="1"/>
          </p:nvPr>
        </p:nvSpPr>
        <p:spPr>
          <a:xfrm>
            <a:off x="1370013" y="1827213"/>
            <a:ext cx="357981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02225" y="18272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02225" y="3960813"/>
            <a:ext cx="3581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dt" sz="half" idx="10"/>
          </p:nvPr>
        </p:nvSpPr>
        <p:spPr>
          <a:ln/>
        </p:spPr>
        <p:txBody>
          <a:bodyPr/>
          <a:lstStyle>
            <a:lvl1pPr>
              <a:defRPr/>
            </a:lvl1pPr>
          </a:lstStyle>
          <a:p>
            <a:pPr>
              <a:defRPr/>
            </a:pPr>
            <a:endParaRPr lang="en-US"/>
          </a:p>
        </p:txBody>
      </p:sp>
      <p:sp>
        <p:nvSpPr>
          <p:cNvPr id="7" name="Rectangle 9"/>
          <p:cNvSpPr>
            <a:spLocks noGrp="1" noChangeArrowheads="1"/>
          </p:cNvSpPr>
          <p:nvPr>
            <p:ph type="ftr" sz="quarter" idx="11"/>
          </p:nvPr>
        </p:nvSpPr>
        <p:spPr>
          <a:ln/>
        </p:spPr>
        <p:txBody>
          <a:bodyPr/>
          <a:lstStyle>
            <a:lvl1pPr>
              <a:defRPr/>
            </a:lvl1pPr>
          </a:lstStyle>
          <a:p>
            <a:pPr>
              <a:defRPr/>
            </a:pPr>
            <a:endParaRPr lang="en-US"/>
          </a:p>
        </p:txBody>
      </p:sp>
      <p:sp>
        <p:nvSpPr>
          <p:cNvPr id="8" name="Rectangle 10"/>
          <p:cNvSpPr>
            <a:spLocks noGrp="1" noChangeArrowheads="1"/>
          </p:cNvSpPr>
          <p:nvPr>
            <p:ph type="sldNum" sz="quarter" idx="12"/>
          </p:nvPr>
        </p:nvSpPr>
        <p:spPr>
          <a:ln/>
        </p:spPr>
        <p:txBody>
          <a:bodyPr/>
          <a:lstStyle>
            <a:lvl1pPr>
              <a:defRPr/>
            </a:lvl1pPr>
          </a:lstStyle>
          <a:p>
            <a:pPr>
              <a:defRPr/>
            </a:pPr>
            <a:fld id="{1654E393-D6FA-41B5-A562-24BDACF19FE6}" type="slidenum">
              <a:rPr lang="en-US"/>
              <a:pPr>
                <a:defRPr/>
              </a:pPr>
              <a:t>‹#›</a:t>
            </a:fld>
            <a:endParaRPr lang="en-US" dirty="0"/>
          </a:p>
        </p:txBody>
      </p:sp>
    </p:spTree>
    <p:extLst>
      <p:ext uri="{BB962C8B-B14F-4D97-AF65-F5344CB8AC3E}">
        <p14:creationId xmlns:p14="http://schemas.microsoft.com/office/powerpoint/2010/main" val="444250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Table Placeholder 2"/>
          <p:cNvSpPr>
            <a:spLocks noGrp="1"/>
          </p:cNvSpPr>
          <p:nvPr>
            <p:ph type="tbl"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3CD90852-DBB6-4ABE-BE71-C281E6654258}" type="slidenum">
              <a:rPr lang="en-US"/>
              <a:pPr>
                <a:defRPr/>
              </a:pPr>
              <a:t>‹#›</a:t>
            </a:fld>
            <a:endParaRPr lang="en-US" dirty="0"/>
          </a:p>
        </p:txBody>
      </p:sp>
    </p:spTree>
    <p:extLst>
      <p:ext uri="{BB962C8B-B14F-4D97-AF65-F5344CB8AC3E}">
        <p14:creationId xmlns:p14="http://schemas.microsoft.com/office/powerpoint/2010/main" val="2434779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370013" y="301625"/>
            <a:ext cx="7313612" cy="1143000"/>
          </a:xfrm>
        </p:spPr>
        <p:txBody>
          <a:bodyPr/>
          <a:lstStyle/>
          <a:p>
            <a:r>
              <a:rPr lang="en-US"/>
              <a:t>Click to edit Master title style</a:t>
            </a:r>
          </a:p>
        </p:txBody>
      </p:sp>
      <p:sp>
        <p:nvSpPr>
          <p:cNvPr id="3" name="Chart Placeholder 2"/>
          <p:cNvSpPr>
            <a:spLocks noGrp="1"/>
          </p:cNvSpPr>
          <p:nvPr>
            <p:ph type="chart" idx="1"/>
          </p:nvPr>
        </p:nvSpPr>
        <p:spPr>
          <a:xfrm>
            <a:off x="1370013" y="1827213"/>
            <a:ext cx="7313612" cy="4114800"/>
          </a:xfrm>
        </p:spPr>
        <p:txBody>
          <a:bodyPr/>
          <a:lstStyle/>
          <a:p>
            <a:pPr lvl="0"/>
            <a:endParaRPr lang="en-US" noProof="0" dirty="0"/>
          </a:p>
        </p:txBody>
      </p:sp>
      <p:sp>
        <p:nvSpPr>
          <p:cNvPr id="4" name="Rectangle 8"/>
          <p:cNvSpPr>
            <a:spLocks noGrp="1" noChangeArrowheads="1"/>
          </p:cNvSpPr>
          <p:nvPr>
            <p:ph type="dt" sz="half" idx="10"/>
          </p:nvPr>
        </p:nvSpPr>
        <p:spPr>
          <a:ln/>
        </p:spPr>
        <p:txBody>
          <a:bodyPr/>
          <a:lstStyle>
            <a:lvl1pPr>
              <a:defRPr/>
            </a:lvl1pPr>
          </a:lstStyle>
          <a:p>
            <a:pPr>
              <a:defRPr/>
            </a:pPr>
            <a:endParaRPr lang="en-US"/>
          </a:p>
        </p:txBody>
      </p:sp>
      <p:sp>
        <p:nvSpPr>
          <p:cNvPr id="5" name="Rectangle 9"/>
          <p:cNvSpPr>
            <a:spLocks noGrp="1" noChangeArrowheads="1"/>
          </p:cNvSpPr>
          <p:nvPr>
            <p:ph type="ftr" sz="quarter" idx="11"/>
          </p:nvPr>
        </p:nvSpPr>
        <p:spPr>
          <a:ln/>
        </p:spPr>
        <p:txBody>
          <a:bodyPr/>
          <a:lstStyle>
            <a:lvl1pPr>
              <a:defRPr/>
            </a:lvl1pPr>
          </a:lstStyle>
          <a:p>
            <a:pPr>
              <a:defRPr/>
            </a:pPr>
            <a:endParaRPr lang="en-US"/>
          </a:p>
        </p:txBody>
      </p:sp>
      <p:sp>
        <p:nvSpPr>
          <p:cNvPr id="6" name="Rectangle 10"/>
          <p:cNvSpPr>
            <a:spLocks noGrp="1" noChangeArrowheads="1"/>
          </p:cNvSpPr>
          <p:nvPr>
            <p:ph type="sldNum" sz="quarter" idx="12"/>
          </p:nvPr>
        </p:nvSpPr>
        <p:spPr>
          <a:ln/>
        </p:spPr>
        <p:txBody>
          <a:bodyPr/>
          <a:lstStyle>
            <a:lvl1pPr>
              <a:defRPr/>
            </a:lvl1pPr>
          </a:lstStyle>
          <a:p>
            <a:pPr>
              <a:defRPr/>
            </a:pPr>
            <a:fld id="{98D582F5-EC73-484C-AB33-F9ADA9F738AD}" type="slidenum">
              <a:rPr lang="en-US"/>
              <a:pPr>
                <a:defRPr/>
              </a:pPr>
              <a:t>‹#›</a:t>
            </a:fld>
            <a:endParaRPr lang="en-US" dirty="0"/>
          </a:p>
        </p:txBody>
      </p:sp>
    </p:spTree>
    <p:extLst>
      <p:ext uri="{BB962C8B-B14F-4D97-AF65-F5344CB8AC3E}">
        <p14:creationId xmlns:p14="http://schemas.microsoft.com/office/powerpoint/2010/main" val="36582612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85CE0-996E-4ADC-B25C-01121271739E}" type="slidenum">
              <a:rPr kumimoji="0" lang="en-US" sz="1200" b="0" i="0" u="none" strike="noStrike" kern="1200" cap="none" spc="0" normalizeH="0" baseline="0" noProof="0">
                <a:ln>
                  <a:noFill/>
                </a:ln>
                <a:solidFill>
                  <a:srgbClr val="000000"/>
                </a:solidFill>
                <a:effectLst/>
                <a:uLnTx/>
                <a:uFillTx/>
                <a:latin typeface="Verdana"/>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1023888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987358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99270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109230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8109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3977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884608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678804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73526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42075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20151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655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81000" y="381000"/>
            <a:ext cx="8229600" cy="1143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841ECCDC-96A6-466B-B5D2-D6BCF59D2469}" type="slidenum">
              <a:rPr lang="en-US"/>
              <a:pPr>
                <a:defRPr/>
              </a:pPr>
              <a:t>‹#›</a:t>
            </a:fld>
            <a:endParaRPr lang="en-US" dirty="0"/>
          </a:p>
        </p:txBody>
      </p:sp>
      <p:sp>
        <p:nvSpPr>
          <p:cNvPr id="27655" name="Line 7"/>
          <p:cNvSpPr>
            <a:spLocks noChangeShapeType="1"/>
          </p:cNvSpPr>
          <p:nvPr userDrawn="1"/>
        </p:nvSpPr>
        <p:spPr bwMode="auto">
          <a:xfrm>
            <a:off x="609600" y="1371600"/>
            <a:ext cx="8077200" cy="0"/>
          </a:xfrm>
          <a:prstGeom prst="line">
            <a:avLst/>
          </a:prstGeom>
          <a:noFill/>
          <a:ln w="28575">
            <a:solidFill>
              <a:schemeClr val="tx1"/>
            </a:solidFill>
            <a:round/>
            <a:headEnd/>
            <a:tailEnd/>
          </a:ln>
          <a:effectLst/>
        </p:spPr>
        <p:txBody>
          <a:bodyP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3238500" y="0"/>
            <a:ext cx="11925300" cy="3810000"/>
            <a:chOff x="-2040" y="0"/>
            <a:chExt cx="7512" cy="2400"/>
          </a:xfrm>
        </p:grpSpPr>
        <p:sp>
          <p:nvSpPr>
            <p:cNvPr id="228355" name="AutoShape 3"/>
            <p:cNvSpPr>
              <a:spLocks noChangeArrowheads="1"/>
            </p:cNvSpPr>
            <p:nvPr/>
          </p:nvSpPr>
          <p:spPr bwMode="auto">
            <a:xfrm>
              <a:off x="-2040" y="432"/>
              <a:ext cx="2592" cy="1968"/>
            </a:xfrm>
            <a:custGeom>
              <a:avLst/>
              <a:gdLst>
                <a:gd name="G0" fmla="+- 18296 0 0"/>
                <a:gd name="G1" fmla="+- -30880 0 0"/>
                <a:gd name="G2" fmla="+- 31512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296" y="5746"/>
                </a:cxn>
                <a:cxn ang="0">
                  <a:pos x="64000" y="32000"/>
                </a:cxn>
                <a:cxn ang="0">
                  <a:pos x="50296" y="58253"/>
                </a:cxn>
                <a:cxn ang="0">
                  <a:pos x="50296" y="58253"/>
                </a:cxn>
                <a:cxn ang="0">
                  <a:pos x="50295" y="58253"/>
                </a:cxn>
                <a:cxn ang="0">
                  <a:pos x="50296" y="58254"/>
                </a:cxn>
                <a:cxn ang="0">
                  <a:pos x="50296" y="5746"/>
                </a:cxn>
                <a:cxn ang="0">
                  <a:pos x="50295" y="5746"/>
                </a:cxn>
                <a:cxn ang="0">
                  <a:pos x="50296" y="5746"/>
                </a:cxn>
              </a:cxnLst>
              <a:rect l="T13" t="T15" r="T17" b="T19"/>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w="9525">
              <a:noFill/>
              <a:miter lim="800000"/>
              <a:headEnd/>
              <a:tailEnd/>
            </a:ln>
          </p:spPr>
          <p:txBody>
            <a:bodyPr/>
            <a:lstStyle/>
            <a:p>
              <a:pPr>
                <a:defRPr/>
              </a:pPr>
              <a:endParaRPr lang="en-US" sz="2400" dirty="0"/>
            </a:p>
          </p:txBody>
        </p:sp>
        <p:sp>
          <p:nvSpPr>
            <p:cNvPr id="228356" name="AutoShape 4"/>
            <p:cNvSpPr>
              <a:spLocks noChangeArrowheads="1"/>
            </p:cNvSpPr>
            <p:nvPr/>
          </p:nvSpPr>
          <p:spPr bwMode="auto">
            <a:xfrm>
              <a:off x="-1528" y="0"/>
              <a:ext cx="1949" cy="1987"/>
            </a:xfrm>
            <a:custGeom>
              <a:avLst/>
              <a:gdLst>
                <a:gd name="G0" fmla="+- 18077 0 0"/>
                <a:gd name="G1" fmla="+- -30880 0 0"/>
                <a:gd name="G2" fmla="+- 32000 0 0"/>
                <a:gd name="T0" fmla="*/ 32000 32000  1"/>
                <a:gd name="T1" fmla="*/ G0 G0  1"/>
                <a:gd name="T2" fmla="+- 0 T0 T1"/>
                <a:gd name="T3" fmla="sqrt T2"/>
                <a:gd name="G3" fmla="*/ 32000 T3 32000"/>
                <a:gd name="T4" fmla="*/ 32000 32000  1"/>
                <a:gd name="T5" fmla="*/ G1 G1  1"/>
                <a:gd name="T6" fmla="+- 0 T4 T5"/>
                <a:gd name="T7" fmla="sqrt T6"/>
                <a:gd name="G4" fmla="*/ 32000 T7 32000"/>
                <a:gd name="T8" fmla="*/ 32000 32000  1"/>
                <a:gd name="T9" fmla="*/ G2 G2  1"/>
                <a:gd name="T10" fmla="+- 0 T8 T9"/>
                <a:gd name="T11" fmla="sqrt T10"/>
                <a:gd name="G5" fmla="*/ 32000 T11 32000"/>
                <a:gd name="G6" fmla="+- 0 0 G3"/>
                <a:gd name="G7" fmla="+- 0 0 G4"/>
                <a:gd name="G8" fmla="+- 0 0 G5"/>
                <a:gd name="G9" fmla="+- 0 G4 G0"/>
                <a:gd name="G10" fmla="?: G9 G4 G0"/>
                <a:gd name="G11" fmla="?: G9 G1 G6"/>
                <a:gd name="G12" fmla="+- 0 G5 G0"/>
                <a:gd name="G13" fmla="?: G12 G5 G0"/>
                <a:gd name="G14" fmla="?: G12 G2 G3"/>
                <a:gd name="G15" fmla="+- G11 0 1"/>
                <a:gd name="G16" fmla="+- G14 1 0"/>
                <a:gd name="G17" fmla="+- 0 G14 G3"/>
                <a:gd name="G18" fmla="?: G17 G8 G13"/>
                <a:gd name="G19" fmla="?: G17 G0 G13"/>
                <a:gd name="G20" fmla="?: G17 G3 G16"/>
                <a:gd name="G21" fmla="+- 0 G6 G11"/>
                <a:gd name="G22" fmla="?: G21 G7 G10"/>
                <a:gd name="G23" fmla="?: G21 G0 G10"/>
                <a:gd name="G24" fmla="?: G21 G6 G15"/>
                <a:gd name="G25" fmla="min G10 G13"/>
                <a:gd name="G26" fmla="max G8 G7"/>
                <a:gd name="G27" fmla="max G26 G0"/>
                <a:gd name="T12" fmla="+- 0 G27 -32000"/>
                <a:gd name="T13" fmla="*/ T12 w 64000"/>
                <a:gd name="T14" fmla="+- 0 G11 -32000"/>
                <a:gd name="T15" fmla="*/ G11 h 64000"/>
                <a:gd name="T16" fmla="+- 0 G25 -32000"/>
                <a:gd name="T17" fmla="*/ T16 w 64000"/>
                <a:gd name="T18" fmla="+- 0 G14 -32000"/>
                <a:gd name="T19" fmla="*/ G14 h 64000"/>
              </a:gdLst>
              <a:ahLst/>
              <a:cxnLst>
                <a:cxn ang="0">
                  <a:pos x="50077" y="5595"/>
                </a:cxn>
                <a:cxn ang="0">
                  <a:pos x="64000" y="32000"/>
                </a:cxn>
                <a:cxn ang="0">
                  <a:pos x="50077" y="58404"/>
                </a:cxn>
                <a:cxn ang="0">
                  <a:pos x="50077" y="58404"/>
                </a:cxn>
                <a:cxn ang="0">
                  <a:pos x="50076" y="58404"/>
                </a:cxn>
                <a:cxn ang="0">
                  <a:pos x="50077" y="58405"/>
                </a:cxn>
                <a:cxn ang="0">
                  <a:pos x="50077" y="5595"/>
                </a:cxn>
                <a:cxn ang="0">
                  <a:pos x="50076" y="5595"/>
                </a:cxn>
                <a:cxn ang="0">
                  <a:pos x="50077" y="5595"/>
                </a:cxn>
              </a:cxnLst>
              <a:rect l="T13" t="T15" r="T17" b="T19"/>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w="9525">
              <a:noFill/>
              <a:miter lim="800000"/>
              <a:headEnd/>
              <a:tailEnd/>
            </a:ln>
          </p:spPr>
          <p:txBody>
            <a:bodyPr/>
            <a:lstStyle/>
            <a:p>
              <a:pPr>
                <a:defRPr/>
              </a:pPr>
              <a:endParaRPr lang="en-US" dirty="0">
                <a:latin typeface="Arial" charset="0"/>
              </a:endParaRPr>
            </a:p>
          </p:txBody>
        </p:sp>
        <p:sp>
          <p:nvSpPr>
            <p:cNvPr id="228357" name="Line 5"/>
            <p:cNvSpPr>
              <a:spLocks noChangeShapeType="1"/>
            </p:cNvSpPr>
            <p:nvPr/>
          </p:nvSpPr>
          <p:spPr bwMode="auto">
            <a:xfrm>
              <a:off x="864" y="960"/>
              <a:ext cx="4608" cy="0"/>
            </a:xfrm>
            <a:prstGeom prst="line">
              <a:avLst/>
            </a:prstGeom>
            <a:noFill/>
            <a:ln w="12700">
              <a:solidFill>
                <a:schemeClr val="tx1"/>
              </a:solidFill>
              <a:round/>
              <a:headEnd/>
              <a:tailEnd/>
            </a:ln>
            <a:effectLst/>
          </p:spPr>
          <p:txBody>
            <a:bodyPr/>
            <a:lstStyle/>
            <a:p>
              <a:pPr>
                <a:defRPr/>
              </a:pPr>
              <a:endParaRPr lang="en-US" dirty="0"/>
            </a:p>
          </p:txBody>
        </p:sp>
      </p:grpSp>
      <p:sp>
        <p:nvSpPr>
          <p:cNvPr id="4099" name="Rectangle 6"/>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7"/>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8360" name="Rectangle 8"/>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n-lt"/>
              </a:defRPr>
            </a:lvl1pPr>
          </a:lstStyle>
          <a:p>
            <a:pPr>
              <a:defRPr/>
            </a:pPr>
            <a:endParaRPr lang="en-US"/>
          </a:p>
        </p:txBody>
      </p:sp>
      <p:sp>
        <p:nvSpPr>
          <p:cNvPr id="228361" name="Rectangle 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n-lt"/>
              </a:defRPr>
            </a:lvl1pPr>
          </a:lstStyle>
          <a:p>
            <a:pPr>
              <a:defRPr/>
            </a:pPr>
            <a:endParaRPr lang="en-US"/>
          </a:p>
        </p:txBody>
      </p:sp>
      <p:sp>
        <p:nvSpPr>
          <p:cNvPr id="228362" name="Rectangle 10"/>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n-lt"/>
              </a:defRPr>
            </a:lvl1pPr>
          </a:lstStyle>
          <a:p>
            <a:pPr>
              <a:defRPr/>
            </a:pPr>
            <a:fld id="{A6AF8879-9647-4193-B88F-B0D6F43862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1"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95" r:id="rId15"/>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cs typeface="Arial" charset="0"/>
        </a:defRPr>
      </a:lvl2pPr>
      <a:lvl3pPr algn="l" rtl="0" eaLnBrk="0" fontAlgn="base" hangingPunct="0">
        <a:spcBef>
          <a:spcPct val="0"/>
        </a:spcBef>
        <a:spcAft>
          <a:spcPct val="0"/>
        </a:spcAft>
        <a:defRPr sz="3600">
          <a:solidFill>
            <a:schemeClr val="tx2"/>
          </a:solidFill>
          <a:latin typeface="Arial" charset="0"/>
          <a:cs typeface="Arial" charset="0"/>
        </a:defRPr>
      </a:lvl3pPr>
      <a:lvl4pPr algn="l" rtl="0" eaLnBrk="0" fontAlgn="base" hangingPunct="0">
        <a:spcBef>
          <a:spcPct val="0"/>
        </a:spcBef>
        <a:spcAft>
          <a:spcPct val="0"/>
        </a:spcAft>
        <a:defRPr sz="3600">
          <a:solidFill>
            <a:schemeClr val="tx2"/>
          </a:solidFill>
          <a:latin typeface="Arial" charset="0"/>
          <a:cs typeface="Arial" charset="0"/>
        </a:defRPr>
      </a:lvl4pPr>
      <a:lvl5pPr algn="l" rtl="0" eaLnBrk="0" fontAlgn="base" hangingPunct="0">
        <a:spcBef>
          <a:spcPct val="0"/>
        </a:spcBef>
        <a:spcAft>
          <a:spcPct val="0"/>
        </a:spcAft>
        <a:defRPr sz="3600">
          <a:solidFill>
            <a:schemeClr val="tx2"/>
          </a:solidFill>
          <a:latin typeface="Arial" charset="0"/>
          <a:cs typeface="Arial" charset="0"/>
        </a:defRPr>
      </a:lvl5pPr>
      <a:lvl6pPr marL="457200" algn="l" rtl="0" fontAlgn="base">
        <a:spcBef>
          <a:spcPct val="0"/>
        </a:spcBef>
        <a:spcAft>
          <a:spcPct val="0"/>
        </a:spcAft>
        <a:defRPr sz="3600">
          <a:solidFill>
            <a:schemeClr val="tx2"/>
          </a:solidFill>
          <a:latin typeface="Arial" charset="0"/>
          <a:cs typeface="Arial" charset="0"/>
        </a:defRPr>
      </a:lvl6pPr>
      <a:lvl7pPr marL="914400" algn="l" rtl="0" fontAlgn="base">
        <a:spcBef>
          <a:spcPct val="0"/>
        </a:spcBef>
        <a:spcAft>
          <a:spcPct val="0"/>
        </a:spcAft>
        <a:defRPr sz="3600">
          <a:solidFill>
            <a:schemeClr val="tx2"/>
          </a:solidFill>
          <a:latin typeface="Arial" charset="0"/>
          <a:cs typeface="Arial" charset="0"/>
        </a:defRPr>
      </a:lvl7pPr>
      <a:lvl8pPr marL="1371600" algn="l" rtl="0" fontAlgn="base">
        <a:spcBef>
          <a:spcPct val="0"/>
        </a:spcBef>
        <a:spcAft>
          <a:spcPct val="0"/>
        </a:spcAft>
        <a:defRPr sz="3600">
          <a:solidFill>
            <a:schemeClr val="tx2"/>
          </a:solidFill>
          <a:latin typeface="Arial" charset="0"/>
          <a:cs typeface="Arial" charset="0"/>
        </a:defRPr>
      </a:lvl8pPr>
      <a:lvl9pPr marL="1828800" algn="l" rtl="0" fontAlgn="base">
        <a:spcBef>
          <a:spcPct val="0"/>
        </a:spcBef>
        <a:spcAft>
          <a:spcPct val="0"/>
        </a:spcAft>
        <a:defRPr sz="36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cs typeface="+mn-cs"/>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cs typeface="+mn-cs"/>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cs typeface="+mn-cs"/>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F52B0A6-A688-491F-AAFE-C3E0FFDA2316}"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318D12-8758-4994-8356-D41168B68DA2}"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01585622"/>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hyperlink" Target="http://www.stern.nyu.edu/~adamodar/pc/datasets/histretSP.xls" TargetMode="Externa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8.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emf"/><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3.emf"/><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hyperlink" Target="http://www.forbes.com/sites/greatspeculations/2015/04/23/two-rules-of-asset-allocation-to-follow-at-any-age/#43538ff6f7ed"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hyperlink" Target="http://www.moneysense.ca/save/investing/couch-potato-portfolio-how-to-set-it-up/" TargetMode="External"/><Relationship Id="rId5" Type="http://schemas.openxmlformats.org/officeDocument/2006/relationships/hyperlink" Target="https://www.tiaa.org/public/offer/products/mutual-funds/lifecycle-funds" TargetMode="External"/><Relationship Id="rId4" Type="http://schemas.openxmlformats.org/officeDocument/2006/relationships/hyperlink" Target="http://www.schwab.com/public/schwab/investing/retirement_and_planning/retirement_income/portfolio_allocation"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hyperlink" Target="http://www.cppib.com/content/dam/cppib/Who%20We%20Are/Governance/Policies/2015/Investment%20Statement%20-%20Investment%20Portfolio%202015.pdf"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hyperlink" Target="http://www.rba.gov.au/publications/bulletin/2014/sep/pdf/bu-0914-8.pdf"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hyperlink" Target="http://faculty.london.edu/avmiguel/DeMiguel-Garlappi-Uppal-RFS.pdf"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3.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3.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42.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3.xml"/><Relationship Id="rId1" Type="http://schemas.openxmlformats.org/officeDocument/2006/relationships/vmlDrawing" Target="../drawings/vmlDrawing6.vml"/><Relationship Id="rId6" Type="http://schemas.openxmlformats.org/officeDocument/2006/relationships/image" Target="../media/image9.wmf"/><Relationship Id="rId5" Type="http://schemas.openxmlformats.org/officeDocument/2006/relationships/oleObject" Target="../embeddings/oleObject9.bin"/><Relationship Id="rId4" Type="http://schemas.openxmlformats.org/officeDocument/2006/relationships/image" Target="../media/image8.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3.xml"/><Relationship Id="rId1" Type="http://schemas.openxmlformats.org/officeDocument/2006/relationships/vmlDrawing" Target="../drawings/vmlDrawing7.vml"/><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6.xml"/><Relationship Id="rId1" Type="http://schemas.openxmlformats.org/officeDocument/2006/relationships/vmlDrawing" Target="../drawings/vmlDrawing8.vml"/><Relationship Id="rId4" Type="http://schemas.openxmlformats.org/officeDocument/2006/relationships/image" Target="../media/image13.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14.wmf"/><Relationship Id="rId5" Type="http://schemas.openxmlformats.org/officeDocument/2006/relationships/oleObject" Target="../embeddings/oleObject15.bin"/><Relationship Id="rId4" Type="http://schemas.openxmlformats.org/officeDocument/2006/relationships/image" Target="../media/image1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447800" y="838200"/>
            <a:ext cx="7239000" cy="1058863"/>
          </a:xfrm>
        </p:spPr>
        <p:txBody>
          <a:bodyPr/>
          <a:lstStyle/>
          <a:p>
            <a:pPr eaLnBrk="1" hangingPunct="1"/>
            <a:r>
              <a:rPr lang="en-US" sz="3600" b="1" dirty="0">
                <a:latin typeface="Times New Roman" pitchFamily="18" charset="0"/>
              </a:rPr>
              <a:t>Asset Allocation </a:t>
            </a:r>
          </a:p>
        </p:txBody>
      </p:sp>
      <p:sp>
        <p:nvSpPr>
          <p:cNvPr id="6147" name="Rectangle 5"/>
          <p:cNvSpPr>
            <a:spLocks noGrp="1" noChangeArrowheads="1"/>
          </p:cNvSpPr>
          <p:nvPr>
            <p:ph type="subTitle" idx="1"/>
          </p:nvPr>
        </p:nvSpPr>
        <p:spPr/>
        <p:txBody>
          <a:bodyPr/>
          <a:lstStyle/>
          <a:p>
            <a:pPr eaLnBrk="1" hangingPunct="1"/>
            <a:r>
              <a:rPr lang="en-US" dirty="0">
                <a:latin typeface="Times New Roman" pitchFamily="18" charset="0"/>
              </a:rPr>
              <a:t>BAFI 508: Data-Driven Investments</a:t>
            </a:r>
          </a:p>
          <a:p>
            <a:pPr eaLnBrk="1" hangingPunct="1"/>
            <a:r>
              <a:rPr lang="en-US" dirty="0">
                <a:latin typeface="Times New Roman" pitchFamily="18" charset="0"/>
              </a:rPr>
              <a:t>Class 4</a:t>
            </a:r>
          </a:p>
          <a:p>
            <a:pPr eaLnBrk="1" hangingPunct="1"/>
            <a:r>
              <a:rPr lang="en-US" dirty="0">
                <a:latin typeface="Times New Roman" pitchFamily="18" charset="0"/>
              </a:rPr>
              <a:t>Adlai Fisher</a:t>
            </a:r>
          </a:p>
          <a:p>
            <a:pPr eaLnBrk="1" hangingPunct="1"/>
            <a:endParaRPr lang="en-US"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76200"/>
            <a:ext cx="8686800" cy="533400"/>
          </a:xfrm>
        </p:spPr>
        <p:txBody>
          <a:bodyPr>
            <a:normAutofit fontScale="90000"/>
          </a:bodyPr>
          <a:lstStyle/>
          <a:p>
            <a:r>
              <a:rPr lang="en-US" dirty="0"/>
              <a:t>Course Progress: Topics</a:t>
            </a:r>
          </a:p>
        </p:txBody>
      </p:sp>
      <p:sp>
        <p:nvSpPr>
          <p:cNvPr id="3" name="Content Placeholder 2"/>
          <p:cNvSpPr>
            <a:spLocks noGrp="1"/>
          </p:cNvSpPr>
          <p:nvPr>
            <p:ph idx="1"/>
          </p:nvPr>
        </p:nvSpPr>
        <p:spPr>
          <a:xfrm>
            <a:off x="-24161" y="838200"/>
            <a:ext cx="9067800" cy="5781907"/>
          </a:xfrm>
        </p:spPr>
        <p:txBody>
          <a:bodyPr>
            <a:normAutofit/>
          </a:bodyPr>
          <a:lstStyle/>
          <a:p>
            <a:pPr marL="457200" indent="-457200">
              <a:buFont typeface="+mj-lt"/>
              <a:buAutoNum type="arabicPeriod"/>
            </a:pPr>
            <a:r>
              <a:rPr lang="en-US" sz="2000" dirty="0"/>
              <a:t>Portfolio formation and properties of stock returns / HW1 (done)</a:t>
            </a:r>
          </a:p>
          <a:p>
            <a:pPr marL="685800" lvl="1"/>
            <a:r>
              <a:rPr lang="en-US" sz="2000" dirty="0"/>
              <a:t>Data: Yahoo Finance daily stock returns</a:t>
            </a:r>
          </a:p>
          <a:p>
            <a:pPr marL="457200" indent="-457200">
              <a:buFont typeface="+mj-lt"/>
              <a:buAutoNum type="arabicPeriod"/>
            </a:pPr>
            <a:endParaRPr lang="en-US" sz="2000" dirty="0"/>
          </a:p>
          <a:p>
            <a:pPr marL="457200" indent="-457200">
              <a:buFont typeface="+mj-lt"/>
              <a:buAutoNum type="arabicPeriod"/>
            </a:pPr>
            <a:r>
              <a:rPr lang="en-US" sz="2000" b="1" dirty="0"/>
              <a:t>Asset allocation (today and next week)</a:t>
            </a:r>
          </a:p>
          <a:p>
            <a:pPr marL="685800" lvl="1"/>
            <a:r>
              <a:rPr lang="en-US" sz="2000" dirty="0"/>
              <a:t>Asset classes: broad categories such as bonds, stocks, etc.</a:t>
            </a:r>
          </a:p>
          <a:p>
            <a:pPr marL="685800" lvl="1"/>
            <a:r>
              <a:rPr lang="en-US" sz="2000" dirty="0"/>
              <a:t>Long-term allocations to those categories</a:t>
            </a:r>
          </a:p>
          <a:p>
            <a:pPr marL="685800" lvl="1"/>
            <a:r>
              <a:rPr lang="en-US" sz="2000" dirty="0"/>
              <a:t>Pension funds, endowments, individual investors</a:t>
            </a:r>
          </a:p>
          <a:p>
            <a:pPr marL="685800" lvl="1"/>
            <a:r>
              <a:rPr lang="en-US" sz="2000" dirty="0"/>
              <a:t>Data: Long time-series of annual stock, bond, T-bill, inflation, and other returns</a:t>
            </a:r>
          </a:p>
          <a:p>
            <a:pPr marL="685800" lvl="1"/>
            <a:r>
              <a:rPr lang="en-US" sz="2000" dirty="0"/>
              <a:t>Second homework given today, due end of next week: groups of 2-3</a:t>
            </a:r>
          </a:p>
          <a:p>
            <a:pPr marL="457200" indent="-457200">
              <a:buFont typeface="+mj-lt"/>
              <a:buAutoNum type="arabicPeriod"/>
            </a:pPr>
            <a:endParaRPr lang="en-US" sz="2000" dirty="0"/>
          </a:p>
          <a:p>
            <a:pPr marL="457200" indent="-457200">
              <a:buFont typeface="+mj-lt"/>
              <a:buAutoNum type="arabicPeriod"/>
            </a:pPr>
            <a:r>
              <a:rPr lang="en-US" sz="2000" dirty="0"/>
              <a:t>Cross-sectional trading strategies</a:t>
            </a:r>
          </a:p>
          <a:p>
            <a:pPr lvl="1"/>
            <a:r>
              <a:rPr lang="en-US" sz="2000" dirty="0"/>
              <a:t>Value, size, momentum, etc., typical hedge fund and quant fund strategies</a:t>
            </a:r>
          </a:p>
          <a:p>
            <a:pPr lvl="1"/>
            <a:r>
              <a:rPr lang="en-US" sz="2000" dirty="0"/>
              <a:t>Group project (6 per group): Investigate a known trading strategy or design and test your own, including performance evaluation</a:t>
            </a:r>
          </a:p>
          <a:p>
            <a:pPr lvl="1"/>
            <a:r>
              <a:rPr lang="en-US" sz="2000" dirty="0"/>
              <a:t>Data: CRSP and </a:t>
            </a:r>
            <a:r>
              <a:rPr lang="en-US" sz="2000" dirty="0" err="1"/>
              <a:t>Compustat</a:t>
            </a:r>
            <a:r>
              <a:rPr lang="en-US" sz="2000" dirty="0"/>
              <a:t> on WRDS, plus the possibility of any other data you get interested in</a:t>
            </a:r>
          </a:p>
          <a:p>
            <a:pPr marL="0" indent="0">
              <a:buNone/>
            </a:pPr>
            <a:endParaRPr lang="en-US" sz="2000" dirty="0"/>
          </a:p>
          <a:p>
            <a:pPr marL="0" indent="0">
              <a:buNone/>
            </a:pPr>
            <a:endParaRPr lang="en-US" sz="2000" dirty="0"/>
          </a:p>
          <a:p>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715889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Outline</a:t>
            </a:r>
          </a:p>
        </p:txBody>
      </p:sp>
      <p:sp>
        <p:nvSpPr>
          <p:cNvPr id="3" name="Content Placeholder 2"/>
          <p:cNvSpPr>
            <a:spLocks noGrp="1"/>
          </p:cNvSpPr>
          <p:nvPr>
            <p:ph idx="1"/>
          </p:nvPr>
        </p:nvSpPr>
        <p:spPr>
          <a:xfrm>
            <a:off x="5862" y="762000"/>
            <a:ext cx="9067800" cy="5867400"/>
          </a:xfrm>
        </p:spPr>
        <p:txBody>
          <a:bodyPr>
            <a:normAutofit lnSpcReduction="10000"/>
          </a:bodyPr>
          <a:lstStyle/>
          <a:p>
            <a:pPr marL="0" indent="0">
              <a:buNone/>
            </a:pPr>
            <a:endParaRPr lang="en-US" sz="2000" dirty="0"/>
          </a:p>
          <a:p>
            <a:pPr marL="457200" indent="-457200">
              <a:buFont typeface="+mj-lt"/>
              <a:buAutoNum type="arabicPeriod"/>
            </a:pPr>
            <a:r>
              <a:rPr lang="en-US" sz="2400" dirty="0"/>
              <a:t>Asset allocation framework and general discussion</a:t>
            </a:r>
          </a:p>
          <a:p>
            <a:pPr marL="457200" indent="-457200">
              <a:buFont typeface="+mj-lt"/>
              <a:buAutoNum type="arabicPeriod"/>
            </a:pPr>
            <a:endParaRPr lang="en-US" sz="2400" dirty="0"/>
          </a:p>
          <a:p>
            <a:pPr marL="457200" indent="-457200">
              <a:buFont typeface="+mj-lt"/>
              <a:buAutoNum type="arabicPeriod"/>
            </a:pPr>
            <a:r>
              <a:rPr lang="en-US" sz="2400" dirty="0"/>
              <a:t>Data and first empirical analysis in Excel: </a:t>
            </a:r>
          </a:p>
          <a:p>
            <a:pPr marL="685800" lvl="1"/>
            <a:r>
              <a:rPr lang="en-US" sz="2400" dirty="0"/>
              <a:t>Direct calculation of historical returns and return properties for different portfolio rules</a:t>
            </a:r>
          </a:p>
          <a:p>
            <a:pPr marL="457200" indent="-457200">
              <a:buFont typeface="+mj-lt"/>
              <a:buAutoNum type="arabicPeriod"/>
            </a:pPr>
            <a:endParaRPr lang="en-US" sz="2400" dirty="0"/>
          </a:p>
          <a:p>
            <a:pPr marL="457200" indent="-457200">
              <a:buFont typeface="+mj-lt"/>
              <a:buAutoNum type="arabicPeriod"/>
            </a:pPr>
            <a:r>
              <a:rPr lang="en-US" sz="2400" dirty="0"/>
              <a:t>More detail on mean-variance analysis and “modern portfolio theory”</a:t>
            </a:r>
          </a:p>
          <a:p>
            <a:pPr lvl="1"/>
            <a:r>
              <a:rPr lang="en-US" sz="2400" dirty="0"/>
              <a:t>Two-asset case, three-asset case, N-asset case</a:t>
            </a:r>
          </a:p>
          <a:p>
            <a:pPr lvl="1"/>
            <a:r>
              <a:rPr lang="en-US" sz="2400" dirty="0"/>
              <a:t>Numerical optimization vs analytical solutions</a:t>
            </a:r>
          </a:p>
          <a:p>
            <a:pPr lvl="1"/>
            <a:r>
              <a:rPr lang="en-US" sz="2400" dirty="0"/>
              <a:t>Critiques</a:t>
            </a:r>
          </a:p>
          <a:p>
            <a:pPr lvl="1"/>
            <a:endParaRPr lang="en-US" sz="2400" dirty="0"/>
          </a:p>
          <a:p>
            <a:pPr marL="457200" indent="-457200">
              <a:buFont typeface="+mj-lt"/>
              <a:buAutoNum type="arabicPeriod"/>
            </a:pPr>
            <a:r>
              <a:rPr lang="en-US" sz="2400" dirty="0"/>
              <a:t>Assignment 2 implements in Python, again modifying sample code</a:t>
            </a:r>
          </a:p>
          <a:p>
            <a:pPr marL="0" indent="0">
              <a:buNone/>
            </a:pPr>
            <a:endParaRPr lang="en-US" sz="2000" dirty="0"/>
          </a:p>
          <a:p>
            <a:pPr marL="0" indent="0">
              <a:buNone/>
            </a:pPr>
            <a:endParaRPr lang="en-US" sz="2000" dirty="0"/>
          </a:p>
          <a:p>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8035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78" y="-106362"/>
            <a:ext cx="8686800" cy="715962"/>
          </a:xfrm>
        </p:spPr>
        <p:txBody>
          <a:bodyPr>
            <a:normAutofit fontScale="90000"/>
          </a:bodyPr>
          <a:lstStyle/>
          <a:p>
            <a:r>
              <a:rPr lang="en-US" dirty="0"/>
              <a:t>Asset Allocation: General Approach</a:t>
            </a:r>
          </a:p>
        </p:txBody>
      </p:sp>
      <p:sp>
        <p:nvSpPr>
          <p:cNvPr id="3" name="Content Placeholder 2"/>
          <p:cNvSpPr>
            <a:spLocks noGrp="1"/>
          </p:cNvSpPr>
          <p:nvPr>
            <p:ph idx="1"/>
          </p:nvPr>
        </p:nvSpPr>
        <p:spPr>
          <a:xfrm>
            <a:off x="0" y="609600"/>
            <a:ext cx="9067800" cy="6248400"/>
          </a:xfrm>
        </p:spPr>
        <p:txBody>
          <a:bodyPr>
            <a:normAutofit fontScale="92500" lnSpcReduction="10000"/>
          </a:bodyPr>
          <a:lstStyle/>
          <a:p>
            <a:r>
              <a:rPr lang="en-US" sz="2200" dirty="0"/>
              <a:t>Consider a long-term investor thinking about how to put together a portfolio</a:t>
            </a:r>
          </a:p>
          <a:p>
            <a:pPr lvl="1"/>
            <a:r>
              <a:rPr lang="en-US" sz="2200" dirty="0"/>
              <a:t>Individual investor with a retirement account</a:t>
            </a:r>
          </a:p>
          <a:p>
            <a:pPr lvl="1"/>
            <a:r>
              <a:rPr lang="en-US" sz="2200" dirty="0"/>
              <a:t>Pension fund</a:t>
            </a:r>
          </a:p>
          <a:p>
            <a:pPr lvl="1"/>
            <a:r>
              <a:rPr lang="en-US" sz="2200" dirty="0"/>
              <a:t>Endowment</a:t>
            </a:r>
          </a:p>
          <a:p>
            <a:pPr marL="0" indent="0">
              <a:buNone/>
            </a:pPr>
            <a:endParaRPr lang="en-US" sz="2200" dirty="0"/>
          </a:p>
          <a:p>
            <a:r>
              <a:rPr lang="en-US" sz="2200" dirty="0"/>
              <a:t>Classic finance view of this problem: The first step, and quantitatively the most important, is deciding on long-run allocations to broad </a:t>
            </a:r>
            <a:r>
              <a:rPr lang="en-US" sz="2200" i="1" dirty="0"/>
              <a:t>asset classes, E.g.</a:t>
            </a:r>
            <a:r>
              <a:rPr lang="en-US" sz="2200" dirty="0"/>
              <a:t>:</a:t>
            </a:r>
          </a:p>
          <a:p>
            <a:pPr lvl="1"/>
            <a:r>
              <a:rPr lang="en-US" sz="2200" dirty="0"/>
              <a:t>Treasury bills (e.g., 1-, 3-, 12-month, no coupons)  -- “riskless”</a:t>
            </a:r>
          </a:p>
          <a:p>
            <a:pPr lvl="1"/>
            <a:r>
              <a:rPr lang="en-US" sz="2200" dirty="0"/>
              <a:t>Long-term government bonds (e.g., 10 year, coupons) – “risky”</a:t>
            </a:r>
          </a:p>
          <a:p>
            <a:pPr lvl="1"/>
            <a:r>
              <a:rPr lang="en-US" sz="2200" dirty="0"/>
              <a:t>Stocks (Typically represented by a passive investment in a broad index) – ‘’risky”</a:t>
            </a:r>
          </a:p>
          <a:p>
            <a:pPr marL="457200" lvl="1" indent="0">
              <a:buNone/>
            </a:pPr>
            <a:endParaRPr lang="en-US" sz="2200" dirty="0"/>
          </a:p>
          <a:p>
            <a:r>
              <a:rPr lang="en-US" sz="2200" dirty="0"/>
              <a:t>A T-bill with zero probability of default is riskless at the horizon of its maturity, since its payoff  is known at that horizon; everything else is risky (payoff and return not known in advance)</a:t>
            </a:r>
          </a:p>
          <a:p>
            <a:endParaRPr lang="en-US" sz="2200" dirty="0"/>
          </a:p>
          <a:p>
            <a:pPr marL="342900" lvl="1" indent="-342900">
              <a:buFont typeface="Arial" pitchFamily="34" charset="0"/>
              <a:buChar char="•"/>
            </a:pPr>
            <a:r>
              <a:rPr lang="en-US" sz="2200" dirty="0"/>
              <a:t>Other common asset classes used: corporate bond, real estate, private equity, international, hedge fund, etc.</a:t>
            </a:r>
          </a:p>
          <a:p>
            <a:pPr marL="0" lvl="1" indent="0">
              <a:buNone/>
            </a:pPr>
            <a:endParaRPr lang="en-US" sz="2200" dirty="0"/>
          </a:p>
          <a:p>
            <a:pPr marL="342900" lvl="1" indent="-342900">
              <a:buFont typeface="Arial" pitchFamily="34" charset="0"/>
              <a:buChar char="•"/>
            </a:pPr>
            <a:endParaRPr lang="en-US" sz="2200" dirty="0"/>
          </a:p>
          <a:p>
            <a:pPr marL="0" indent="0">
              <a:buNone/>
            </a:pPr>
            <a:endParaRPr lang="en-US" sz="24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91988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Asset Allocation in Context</a:t>
            </a:r>
          </a:p>
        </p:txBody>
      </p:sp>
      <p:sp>
        <p:nvSpPr>
          <p:cNvPr id="3" name="Content Placeholder 2"/>
          <p:cNvSpPr>
            <a:spLocks noGrp="1"/>
          </p:cNvSpPr>
          <p:nvPr>
            <p:ph idx="1"/>
          </p:nvPr>
        </p:nvSpPr>
        <p:spPr>
          <a:xfrm>
            <a:off x="0" y="725254"/>
            <a:ext cx="9067800" cy="6132745"/>
          </a:xfrm>
        </p:spPr>
        <p:txBody>
          <a:bodyPr>
            <a:normAutofit fontScale="92500"/>
          </a:bodyPr>
          <a:lstStyle/>
          <a:p>
            <a:pPr marL="0" indent="0">
              <a:buNone/>
            </a:pPr>
            <a:endParaRPr lang="en-US" sz="2000" dirty="0"/>
          </a:p>
          <a:p>
            <a:r>
              <a:rPr lang="en-US" sz="2400" dirty="0"/>
              <a:t>A classical view of portfolio management describes three steps</a:t>
            </a:r>
          </a:p>
          <a:p>
            <a:pPr marL="914400" lvl="1" indent="-457200">
              <a:buFont typeface="+mj-lt"/>
              <a:buAutoNum type="arabicPeriod"/>
            </a:pPr>
            <a:r>
              <a:rPr lang="en-US" sz="2400" b="1" dirty="0"/>
              <a:t>Strategic asset allocation: </a:t>
            </a:r>
            <a:r>
              <a:rPr lang="en-US" sz="2400" dirty="0"/>
              <a:t>Deciding the long-run allocation to different asset classes</a:t>
            </a:r>
          </a:p>
          <a:p>
            <a:pPr marL="914400" lvl="1" indent="-457200">
              <a:buFont typeface="+mj-lt"/>
              <a:buAutoNum type="arabicPeriod"/>
            </a:pPr>
            <a:r>
              <a:rPr lang="en-US" sz="2400" b="1" dirty="0"/>
              <a:t>Tactical asset allocation: </a:t>
            </a:r>
            <a:r>
              <a:rPr lang="en-US" sz="2400" dirty="0"/>
              <a:t>Deciding a rule for when and how much to deviate from long-run allocations (also called market timing)</a:t>
            </a:r>
          </a:p>
          <a:p>
            <a:pPr marL="914400" lvl="1" indent="-457200">
              <a:buFont typeface="+mj-lt"/>
              <a:buAutoNum type="arabicPeriod"/>
            </a:pPr>
            <a:r>
              <a:rPr lang="en-US" sz="2400" b="1" dirty="0"/>
              <a:t>Security selection: </a:t>
            </a:r>
            <a:r>
              <a:rPr lang="en-US" sz="2400" dirty="0"/>
              <a:t>Deciding how to manage the portfolio within an asset class, i.e., active management within an asset class versus passive holding of an index or benchmark to represent the asset class </a:t>
            </a:r>
          </a:p>
          <a:p>
            <a:pPr marL="457200" lvl="1" indent="0">
              <a:buNone/>
            </a:pPr>
            <a:endParaRPr lang="en-US" sz="2400" dirty="0"/>
          </a:p>
          <a:p>
            <a:r>
              <a:rPr lang="en-US" sz="2400" dirty="0"/>
              <a:t>Research on pension-fund performance shows that the strategic asset allocation decision has by far the largest impact on portfolio performance</a:t>
            </a:r>
          </a:p>
          <a:p>
            <a:endParaRPr lang="en-US" sz="2400" dirty="0"/>
          </a:p>
          <a:p>
            <a:pPr marL="342900" lvl="1" indent="-342900">
              <a:buFont typeface="Arial" pitchFamily="34" charset="0"/>
              <a:buChar char="•"/>
            </a:pPr>
            <a:r>
              <a:rPr lang="en-US" sz="2400" dirty="0"/>
              <a:t>Today we focus on strategic asset allocation </a:t>
            </a:r>
          </a:p>
          <a:p>
            <a:pPr marL="0" indent="0">
              <a:buNone/>
            </a:pPr>
            <a:endParaRPr lang="en-US" sz="24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6164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Data in General</a:t>
            </a:r>
          </a:p>
        </p:txBody>
      </p:sp>
      <p:sp>
        <p:nvSpPr>
          <p:cNvPr id="3" name="Content Placeholder 2"/>
          <p:cNvSpPr>
            <a:spLocks noGrp="1"/>
          </p:cNvSpPr>
          <p:nvPr>
            <p:ph idx="1"/>
          </p:nvPr>
        </p:nvSpPr>
        <p:spPr>
          <a:xfrm>
            <a:off x="0" y="725254"/>
            <a:ext cx="9067800" cy="6132745"/>
          </a:xfrm>
        </p:spPr>
        <p:txBody>
          <a:bodyPr>
            <a:normAutofit/>
          </a:bodyPr>
          <a:lstStyle/>
          <a:p>
            <a:pPr marL="0" indent="0">
              <a:buNone/>
            </a:pPr>
            <a:endParaRPr lang="en-US" sz="2000" dirty="0"/>
          </a:p>
          <a:p>
            <a:r>
              <a:rPr lang="en-US" sz="2000" dirty="0"/>
              <a:t>We will start by focusing on the three most basic asset classes: T-Bills, T-bonds, and stocks</a:t>
            </a:r>
          </a:p>
          <a:p>
            <a:pPr lvl="1"/>
            <a:r>
              <a:rPr lang="en-US" sz="2000" dirty="0"/>
              <a:t>We will use long time-series of annual returns (can also consider monthly, quarterly)</a:t>
            </a:r>
          </a:p>
          <a:p>
            <a:pPr lvl="1"/>
            <a:r>
              <a:rPr lang="en-US" sz="2000" dirty="0"/>
              <a:t>Your homework adds one risky asset class (real estate)</a:t>
            </a:r>
          </a:p>
          <a:p>
            <a:endParaRPr lang="en-US" sz="2000" dirty="0"/>
          </a:p>
          <a:p>
            <a:r>
              <a:rPr lang="en-US" sz="2000" dirty="0"/>
              <a:t>Many possible data sources</a:t>
            </a:r>
          </a:p>
          <a:p>
            <a:pPr lvl="1"/>
            <a:r>
              <a:rPr lang="en-US" sz="2000" dirty="0"/>
              <a:t>St. Louis Fed (FRED – “Federal Reserve Economic Data”) has government bond yields of different maturities going back many years</a:t>
            </a:r>
          </a:p>
          <a:p>
            <a:pPr lvl="1"/>
            <a:r>
              <a:rPr lang="en-US" sz="2000" dirty="0"/>
              <a:t>CRSP on WRDS, stock returns going back to the 1920’s</a:t>
            </a:r>
          </a:p>
          <a:p>
            <a:pPr lvl="1"/>
            <a:r>
              <a:rPr lang="en-US" sz="2000" dirty="0"/>
              <a:t>Individual researchers have synthesized and added to these data: </a:t>
            </a:r>
          </a:p>
          <a:p>
            <a:pPr lvl="2"/>
            <a:r>
              <a:rPr lang="en-US" sz="2000" dirty="0"/>
              <a:t>Bob Shiller (adds stock returns going back to 1870’s)</a:t>
            </a:r>
          </a:p>
          <a:p>
            <a:pPr lvl="2"/>
            <a:r>
              <a:rPr lang="en-US" sz="2000" dirty="0"/>
              <a:t>Ken French (we will use his website later for cross-sectional strategies)</a:t>
            </a:r>
          </a:p>
          <a:p>
            <a:pPr lvl="2"/>
            <a:r>
              <a:rPr lang="en-US" sz="2000" dirty="0" err="1"/>
              <a:t>Aswath</a:t>
            </a:r>
            <a:r>
              <a:rPr lang="en-US" sz="2000" dirty="0"/>
              <a:t> </a:t>
            </a:r>
            <a:r>
              <a:rPr lang="en-US" sz="2000" dirty="0" err="1"/>
              <a:t>Damodaran</a:t>
            </a:r>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6713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Data and Assignment 2</a:t>
            </a:r>
          </a:p>
        </p:txBody>
      </p:sp>
      <p:sp>
        <p:nvSpPr>
          <p:cNvPr id="3" name="Content Placeholder 2"/>
          <p:cNvSpPr>
            <a:spLocks noGrp="1"/>
          </p:cNvSpPr>
          <p:nvPr>
            <p:ph idx="1"/>
          </p:nvPr>
        </p:nvSpPr>
        <p:spPr>
          <a:xfrm>
            <a:off x="0" y="725254"/>
            <a:ext cx="9067800" cy="6132745"/>
          </a:xfrm>
        </p:spPr>
        <p:txBody>
          <a:bodyPr>
            <a:normAutofit/>
          </a:bodyPr>
          <a:lstStyle/>
          <a:p>
            <a:r>
              <a:rPr lang="en-US" sz="2000" dirty="0"/>
              <a:t>We will use </a:t>
            </a:r>
            <a:r>
              <a:rPr lang="en-US" sz="2000" dirty="0" err="1"/>
              <a:t>Aswath</a:t>
            </a:r>
            <a:r>
              <a:rPr lang="en-US" sz="2000" dirty="0"/>
              <a:t> </a:t>
            </a:r>
            <a:r>
              <a:rPr lang="en-US" sz="2000" dirty="0" err="1"/>
              <a:t>Damodaran’s</a:t>
            </a:r>
            <a:r>
              <a:rPr lang="en-US" sz="2000" dirty="0"/>
              <a:t> </a:t>
            </a:r>
            <a:r>
              <a:rPr lang="en-US" sz="2000" dirty="0">
                <a:hlinkClick r:id="rId2"/>
              </a:rPr>
              <a:t>data</a:t>
            </a:r>
            <a:r>
              <a:rPr lang="en-US" sz="2000" dirty="0"/>
              <a:t> for Assignment 2 and in class discussion.</a:t>
            </a:r>
          </a:p>
          <a:p>
            <a:endParaRPr lang="en-US" sz="2000" dirty="0"/>
          </a:p>
          <a:p>
            <a:r>
              <a:rPr lang="en-US" sz="2000" dirty="0"/>
              <a:t>The reason for using </a:t>
            </a:r>
            <a:r>
              <a:rPr lang="en-US" sz="2000" dirty="0" err="1"/>
              <a:t>Damodaran’s</a:t>
            </a:r>
            <a:r>
              <a:rPr lang="en-US" sz="2000" dirty="0"/>
              <a:t> data is that he does a favor for us by collecting the data all in one place</a:t>
            </a:r>
          </a:p>
          <a:p>
            <a:endParaRPr lang="en-US" sz="2000" dirty="0"/>
          </a:p>
          <a:p>
            <a:r>
              <a:rPr lang="en-US" sz="2000" dirty="0" err="1"/>
              <a:t>Damodaran</a:t>
            </a:r>
            <a:r>
              <a:rPr lang="en-US" sz="2000" dirty="0"/>
              <a:t> gives good documentation of the original sources of the data and calculations you can follow if interested.</a:t>
            </a:r>
          </a:p>
          <a:p>
            <a:endParaRPr lang="en-US" sz="2000" dirty="0"/>
          </a:p>
          <a:p>
            <a:endParaRPr lang="en-US" sz="2000" dirty="0"/>
          </a:p>
          <a:p>
            <a:endParaRPr lang="en-US" sz="2000" dirty="0"/>
          </a:p>
          <a:p>
            <a:pPr marL="0" indent="0">
              <a:buNone/>
            </a:pPr>
            <a:endParaRPr lang="en-US" dirty="0"/>
          </a:p>
        </p:txBody>
      </p:sp>
    </p:spTree>
    <p:extLst>
      <p:ext uri="{BB962C8B-B14F-4D97-AF65-F5344CB8AC3E}">
        <p14:creationId xmlns:p14="http://schemas.microsoft.com/office/powerpoint/2010/main" val="316763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A First Analysis of the Data</a:t>
            </a:r>
          </a:p>
        </p:txBody>
      </p:sp>
      <p:sp>
        <p:nvSpPr>
          <p:cNvPr id="3" name="Content Placeholder 2"/>
          <p:cNvSpPr>
            <a:spLocks noGrp="1"/>
          </p:cNvSpPr>
          <p:nvPr>
            <p:ph idx="1"/>
          </p:nvPr>
        </p:nvSpPr>
        <p:spPr>
          <a:xfrm>
            <a:off x="0" y="725254"/>
            <a:ext cx="9067800" cy="6132745"/>
          </a:xfrm>
        </p:spPr>
        <p:txBody>
          <a:bodyPr>
            <a:normAutofit fontScale="92500" lnSpcReduction="10000"/>
          </a:bodyPr>
          <a:lstStyle/>
          <a:p>
            <a:pPr marL="457200" indent="-457200">
              <a:buFont typeface="+mj-lt"/>
              <a:buAutoNum type="arabicPeriod"/>
            </a:pPr>
            <a:r>
              <a:rPr lang="en-US" sz="2000" dirty="0"/>
              <a:t>Put together in a separate tab: </a:t>
            </a:r>
            <a:r>
              <a:rPr lang="en-US" sz="2000" dirty="0" err="1"/>
              <a:t>t-bill</a:t>
            </a:r>
            <a:r>
              <a:rPr lang="en-US" sz="2000" dirty="0"/>
              <a:t> returns, t-bond returns, stock returns</a:t>
            </a:r>
          </a:p>
          <a:p>
            <a:pPr marL="685800" lvl="1"/>
            <a:r>
              <a:rPr lang="en-US" sz="2000" dirty="0"/>
              <a:t>For each, calculate the mean, variance, skewness, kurtosis, first-order autocorrelation coefficient, and each of the three cross-correlations</a:t>
            </a:r>
          </a:p>
          <a:p>
            <a:pPr marL="685800" lvl="1"/>
            <a:r>
              <a:rPr lang="en-US" sz="2000" dirty="0"/>
              <a:t>You may find it easier to work in percentages</a:t>
            </a:r>
          </a:p>
          <a:p>
            <a:pPr marL="685800" lvl="1"/>
            <a:r>
              <a:rPr lang="en-US" sz="2000" dirty="0"/>
              <a:t>Discuss results</a:t>
            </a:r>
            <a:endParaRPr lang="en-US" sz="2000" dirty="0">
              <a:solidFill>
                <a:srgbClr val="00B0F0"/>
              </a:solidFill>
            </a:endParaRPr>
          </a:p>
          <a:p>
            <a:pPr marL="400050" lvl="1" indent="0">
              <a:buNone/>
            </a:pPr>
            <a:endParaRPr lang="en-US" sz="2000" dirty="0"/>
          </a:p>
          <a:p>
            <a:pPr marL="400050" indent="-457200">
              <a:buFont typeface="+mj-lt"/>
              <a:buAutoNum type="arabicPeriod"/>
            </a:pPr>
            <a:r>
              <a:rPr lang="en-US" sz="2400" dirty="0"/>
              <a:t>Calculate the </a:t>
            </a:r>
            <a:r>
              <a:rPr lang="en-US" sz="2400" b="1" i="1" dirty="0"/>
              <a:t>excess returns </a:t>
            </a:r>
            <a:r>
              <a:rPr lang="en-US" sz="2400" dirty="0"/>
              <a:t>on stocks and bonds (</a:t>
            </a:r>
            <a:r>
              <a:rPr lang="en-US" sz="2400" dirty="0" err="1"/>
              <a:t>R_i</a:t>
            </a:r>
            <a:r>
              <a:rPr lang="en-US" sz="2400" dirty="0"/>
              <a:t> – </a:t>
            </a:r>
            <a:r>
              <a:rPr lang="en-US" sz="2400" dirty="0" err="1"/>
              <a:t>r_f</a:t>
            </a:r>
            <a:r>
              <a:rPr lang="en-US" sz="2400" dirty="0"/>
              <a:t>) </a:t>
            </a:r>
            <a:r>
              <a:rPr lang="en-US" sz="2400" dirty="0">
                <a:solidFill>
                  <a:srgbClr val="00B0F0"/>
                </a:solidFill>
              </a:rPr>
              <a:t>(discuss concept)</a:t>
            </a:r>
          </a:p>
          <a:p>
            <a:pPr marL="685800" lvl="1"/>
            <a:r>
              <a:rPr lang="en-US" sz="2000" dirty="0"/>
              <a:t>Calculate the same statistics as above</a:t>
            </a:r>
          </a:p>
          <a:p>
            <a:pPr marL="685800" lvl="1"/>
            <a:r>
              <a:rPr lang="en-US" sz="2000" dirty="0"/>
              <a:t>Additionally, calculate the </a:t>
            </a:r>
            <a:r>
              <a:rPr lang="en-US" sz="2000" b="1" i="1" dirty="0"/>
              <a:t>Sharpe ratio</a:t>
            </a:r>
            <a:r>
              <a:rPr lang="en-US" sz="2000" dirty="0"/>
              <a:t>, which is the mean excess return divided by the standard deviation of returns </a:t>
            </a:r>
            <a:r>
              <a:rPr lang="en-US" sz="2000" dirty="0">
                <a:solidFill>
                  <a:srgbClr val="00B0F0"/>
                </a:solidFill>
              </a:rPr>
              <a:t>(discuss concept)</a:t>
            </a:r>
          </a:p>
          <a:p>
            <a:pPr marL="457200" indent="-457200">
              <a:buFont typeface="+mj-lt"/>
              <a:buAutoNum type="arabicPeriod"/>
            </a:pPr>
            <a:endParaRPr lang="en-US" sz="2400" dirty="0"/>
          </a:p>
          <a:p>
            <a:pPr marL="457200" indent="-457200">
              <a:buFont typeface="+mj-lt"/>
              <a:buAutoNum type="arabicPeriod"/>
            </a:pPr>
            <a:r>
              <a:rPr lang="en-US" sz="2400" dirty="0"/>
              <a:t>Form eleven different portfolios based on different asset allocations, with the percentage in stocks varying as 0%, 10%, …, 100%</a:t>
            </a:r>
            <a:endParaRPr lang="en-US" sz="2400" dirty="0">
              <a:solidFill>
                <a:srgbClr val="00B0F0"/>
              </a:solidFill>
            </a:endParaRPr>
          </a:p>
          <a:p>
            <a:pPr lvl="1" indent="-342900"/>
            <a:r>
              <a:rPr lang="en-US" sz="2000" dirty="0"/>
              <a:t>Calculate returns on each date for each allocation rule</a:t>
            </a:r>
          </a:p>
          <a:p>
            <a:pPr lvl="1" indent="-342900"/>
            <a:r>
              <a:rPr lang="en-US" sz="2000" dirty="0"/>
              <a:t>Calculate the same statistics as in (1) plus the Sharpe ratio for each portfolio</a:t>
            </a:r>
          </a:p>
          <a:p>
            <a:pPr lvl="1" indent="-342900"/>
            <a:r>
              <a:rPr lang="en-US" sz="2000" dirty="0"/>
              <a:t>Find the </a:t>
            </a:r>
            <a:r>
              <a:rPr lang="en-US" sz="2000" i="1" dirty="0"/>
              <a:t>minimum variance portfolio </a:t>
            </a:r>
            <a:r>
              <a:rPr lang="en-US" sz="2000" dirty="0">
                <a:solidFill>
                  <a:srgbClr val="00B0F0"/>
                </a:solidFill>
              </a:rPr>
              <a:t>(discuss concept)</a:t>
            </a:r>
          </a:p>
          <a:p>
            <a:pPr lvl="1" indent="-342900"/>
            <a:r>
              <a:rPr lang="en-US" sz="2000" dirty="0"/>
              <a:t>The </a:t>
            </a:r>
            <a:r>
              <a:rPr lang="en-US" sz="2000" i="1" dirty="0"/>
              <a:t>tangency portfolio </a:t>
            </a:r>
            <a:r>
              <a:rPr lang="en-US" sz="2000" dirty="0"/>
              <a:t>achieves the </a:t>
            </a:r>
            <a:r>
              <a:rPr lang="en-US" sz="2000" i="1" dirty="0"/>
              <a:t>highest Sharpe ratio </a:t>
            </a:r>
            <a:r>
              <a:rPr lang="en-US" sz="2000" dirty="0">
                <a:solidFill>
                  <a:srgbClr val="00B0F0"/>
                </a:solidFill>
              </a:rPr>
              <a:t>(discuss concept)</a:t>
            </a:r>
          </a:p>
          <a:p>
            <a:pPr lvl="1" indent="-342900"/>
            <a:endParaRPr lang="en-US" sz="2000" i="1" dirty="0"/>
          </a:p>
        </p:txBody>
      </p:sp>
    </p:spTree>
    <p:extLst>
      <p:ext uri="{BB962C8B-B14F-4D97-AF65-F5344CB8AC3E}">
        <p14:creationId xmlns:p14="http://schemas.microsoft.com/office/powerpoint/2010/main" val="4184401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Real vs Nominal</a:t>
            </a:r>
          </a:p>
        </p:txBody>
      </p:sp>
      <p:graphicFrame>
        <p:nvGraphicFramePr>
          <p:cNvPr id="4" name="Object 3"/>
          <p:cNvGraphicFramePr>
            <a:graphicFrameLocks noChangeAspect="1"/>
          </p:cNvGraphicFramePr>
          <p:nvPr>
            <p:extLst/>
          </p:nvPr>
        </p:nvGraphicFramePr>
        <p:xfrm>
          <a:off x="685800" y="3070930"/>
          <a:ext cx="3262086" cy="984250"/>
        </p:xfrm>
        <a:graphic>
          <a:graphicData uri="http://schemas.openxmlformats.org/presentationml/2006/ole">
            <mc:AlternateContent xmlns:mc="http://schemas.openxmlformats.org/markup-compatibility/2006">
              <mc:Choice xmlns:v="urn:schemas-microsoft-com:vml" Requires="v">
                <p:oleObj spid="_x0000_s21508" name="Equation" r:id="rId3" imgW="1473120" imgH="444240" progId="Equation.3">
                  <p:embed/>
                </p:oleObj>
              </mc:Choice>
              <mc:Fallback>
                <p:oleObj name="Equation" r:id="rId3" imgW="1473120" imgH="444240" progId="Equation.3">
                  <p:embed/>
                  <p:pic>
                    <p:nvPicPr>
                      <p:cNvPr id="4" name="Object 3"/>
                      <p:cNvPicPr/>
                      <p:nvPr/>
                    </p:nvPicPr>
                    <p:blipFill>
                      <a:blip r:embed="rId4"/>
                      <a:stretch>
                        <a:fillRect/>
                      </a:stretch>
                    </p:blipFill>
                    <p:spPr>
                      <a:xfrm>
                        <a:off x="685800" y="3070930"/>
                        <a:ext cx="3262086" cy="984250"/>
                      </a:xfrm>
                      <a:prstGeom prst="rect">
                        <a:avLst/>
                      </a:prstGeom>
                    </p:spPr>
                  </p:pic>
                </p:oleObj>
              </mc:Fallback>
            </mc:AlternateContent>
          </a:graphicData>
        </a:graphic>
      </p:graphicFrame>
      <p:sp>
        <p:nvSpPr>
          <p:cNvPr id="3" name="Content Placeholder 2"/>
          <p:cNvSpPr>
            <a:spLocks noGrp="1"/>
          </p:cNvSpPr>
          <p:nvPr>
            <p:ph idx="1"/>
          </p:nvPr>
        </p:nvSpPr>
        <p:spPr>
          <a:xfrm>
            <a:off x="0" y="725254"/>
            <a:ext cx="9067800" cy="2170345"/>
          </a:xfrm>
        </p:spPr>
        <p:txBody>
          <a:bodyPr>
            <a:normAutofit/>
          </a:bodyPr>
          <a:lstStyle/>
          <a:p>
            <a:endParaRPr lang="en-US" sz="2000" dirty="0"/>
          </a:p>
          <a:p>
            <a:r>
              <a:rPr lang="en-US" sz="2000" dirty="0"/>
              <a:t>The prior slide used </a:t>
            </a:r>
            <a:r>
              <a:rPr lang="en-US" sz="2000" i="1" dirty="0"/>
              <a:t>nominal returns</a:t>
            </a:r>
            <a:r>
              <a:rPr lang="en-US" sz="2000" dirty="0"/>
              <a:t>.  If you wanted to redo with </a:t>
            </a:r>
            <a:r>
              <a:rPr lang="en-US" sz="2000" i="1" dirty="0"/>
              <a:t>real returns </a:t>
            </a:r>
            <a:r>
              <a:rPr lang="en-US" sz="2000" dirty="0"/>
              <a:t>you would need to adjust all of the nominal returns for bills, bonds, and stocks, using the formula given below. </a:t>
            </a:r>
          </a:p>
        </p:txBody>
      </p:sp>
      <p:sp>
        <p:nvSpPr>
          <p:cNvPr id="6" name="TextBox 5">
            <a:extLst>
              <a:ext uri="{FF2B5EF4-FFF2-40B4-BE49-F238E27FC236}">
                <a16:creationId xmlns:a16="http://schemas.microsoft.com/office/drawing/2014/main" id="{CA513F52-A1B6-4E95-91AF-7571623ED91C}"/>
              </a:ext>
            </a:extLst>
          </p:cNvPr>
          <p:cNvSpPr txBox="1"/>
          <p:nvPr/>
        </p:nvSpPr>
        <p:spPr>
          <a:xfrm>
            <a:off x="4940808" y="2914471"/>
            <a:ext cx="3771900" cy="1200329"/>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Times New Roman" pitchFamily="18" charset="0"/>
                <a:ea typeface="+mn-ea"/>
                <a:cs typeface="+mn-cs"/>
              </a:rPr>
              <a:t>This must be applied at the previous slide’s step 1, with the analysis in the previous slide’s steps 2 and 3 carried out on the derived real returns.</a:t>
            </a:r>
          </a:p>
        </p:txBody>
      </p:sp>
      <p:sp>
        <p:nvSpPr>
          <p:cNvPr id="7" name="Left Arrow 6">
            <a:extLst>
              <a:ext uri="{FF2B5EF4-FFF2-40B4-BE49-F238E27FC236}">
                <a16:creationId xmlns:a16="http://schemas.microsoft.com/office/drawing/2014/main" id="{F86FE881-B9D1-4CDC-9532-15EB321A649B}"/>
              </a:ext>
            </a:extLst>
          </p:cNvPr>
          <p:cNvSpPr/>
          <p:nvPr/>
        </p:nvSpPr>
        <p:spPr>
          <a:xfrm>
            <a:off x="4191000" y="3271589"/>
            <a:ext cx="673608" cy="484632"/>
          </a:xfrm>
          <a:prstGeom prst="lef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602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0"/>
            <a:ext cx="8686800" cy="715962"/>
          </a:xfrm>
        </p:spPr>
        <p:txBody>
          <a:bodyPr>
            <a:normAutofit fontScale="90000"/>
          </a:bodyPr>
          <a:lstStyle/>
          <a:p>
            <a:r>
              <a:rPr lang="en-US" dirty="0"/>
              <a:t>Assignment 2</a:t>
            </a:r>
          </a:p>
        </p:txBody>
      </p:sp>
      <p:sp>
        <p:nvSpPr>
          <p:cNvPr id="5" name="Content Placeholder 2"/>
          <p:cNvSpPr txBox="1">
            <a:spLocks/>
          </p:cNvSpPr>
          <p:nvPr/>
        </p:nvSpPr>
        <p:spPr>
          <a:xfrm>
            <a:off x="-27878" y="1219200"/>
            <a:ext cx="9067800" cy="5410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Once you have solved for three risky assets, the approach can be generalized for n assets.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Other extensions: positive portfolio weights, different borrowing and lending rates,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Observe that with mean-variance analysis, we can use two equivalent approaches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Optimizing portfolio weights on historical returns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histret</a:t>
            </a:r>
            <a:r>
              <a:rPr kumimoji="0" lang="en-US" sz="2000" b="0" i="0" u="none" strike="noStrike" kern="1200" cap="none" spc="0" normalizeH="0" baseline="0" noProof="0" dirty="0">
                <a:ln>
                  <a:noFill/>
                </a:ln>
                <a:solidFill>
                  <a:prstClr val="black"/>
                </a:solidFill>
                <a:effectLst/>
                <a:uLnTx/>
                <a:uFillTx/>
                <a:latin typeface="Calibri"/>
                <a:ea typeface="+mn-ea"/>
                <a:cs typeface="+mn-cs"/>
              </a:rPr>
              <a:t> spreadsheet)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Taking only sample moments (means and covariance matrix) from historical returns and optimizing using portfolio mean and variance formulas (mv3 spreadsheet, sample python code</a:t>
            </a:r>
            <a:r>
              <a:rPr kumimoji="0" lang="en-US" sz="2000" b="0" i="0" u="none" strike="noStrike" kern="1200" cap="none" spc="0" normalizeH="0" noProof="0" dirty="0">
                <a:ln>
                  <a:noFill/>
                </a:ln>
                <a:solidFill>
                  <a:prstClr val="black"/>
                </a:solidFill>
                <a:effectLst/>
                <a:uLnTx/>
                <a:uFillTx/>
                <a:latin typeface="Calibri"/>
                <a:ea typeface="+mn-ea"/>
                <a:cs typeface="+mn-cs"/>
              </a:rPr>
              <a:t> and assignment 2</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85725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6259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219200" y="301625"/>
            <a:ext cx="7848600" cy="1143000"/>
          </a:xfrm>
        </p:spPr>
        <p:txBody>
          <a:bodyPr/>
          <a:lstStyle/>
          <a:p>
            <a:pPr eaLnBrk="1" hangingPunct="1"/>
            <a:r>
              <a:rPr lang="en-US" sz="3200" dirty="0">
                <a:latin typeface="Times New Roman" pitchFamily="18" charset="0"/>
              </a:rPr>
              <a:t>Asset Allocation: Mean-Variance Approach</a:t>
            </a:r>
          </a:p>
        </p:txBody>
      </p:sp>
      <p:sp>
        <p:nvSpPr>
          <p:cNvPr id="10244" name="Rectangle 3"/>
          <p:cNvSpPr>
            <a:spLocks noGrp="1" noChangeArrowheads="1"/>
          </p:cNvSpPr>
          <p:nvPr>
            <p:ph type="body" idx="1"/>
          </p:nvPr>
        </p:nvSpPr>
        <p:spPr>
          <a:xfrm>
            <a:off x="838201" y="1827213"/>
            <a:ext cx="8001000" cy="4114800"/>
          </a:xfrm>
        </p:spPr>
        <p:txBody>
          <a:bodyPr/>
          <a:lstStyle/>
          <a:p>
            <a:pPr eaLnBrk="1" hangingPunct="1"/>
            <a:r>
              <a:rPr lang="en-US" sz="2400" dirty="0">
                <a:latin typeface="Times New Roman" pitchFamily="18" charset="0"/>
              </a:rPr>
              <a:t>Also called “Modern Portfolio Theory” (origins in 1960’s): a backbone of institutional asset management and personal finance for many years.</a:t>
            </a:r>
          </a:p>
          <a:p>
            <a:pPr eaLnBrk="1" hangingPunct="1"/>
            <a:r>
              <a:rPr lang="en-US" sz="2400" dirty="0">
                <a:latin typeface="Times New Roman" pitchFamily="18" charset="0"/>
              </a:rPr>
              <a:t>Requires: define </a:t>
            </a:r>
            <a:r>
              <a:rPr lang="en-US" sz="2400" i="1" dirty="0">
                <a:latin typeface="Times New Roman" pitchFamily="18" charset="0"/>
              </a:rPr>
              <a:t>asset classes</a:t>
            </a:r>
            <a:r>
              <a:rPr lang="en-US" sz="2400" dirty="0">
                <a:latin typeface="Times New Roman" pitchFamily="18" charset="0"/>
              </a:rPr>
              <a:t>, </a:t>
            </a:r>
            <a:r>
              <a:rPr lang="en-US" sz="2400" i="1" dirty="0">
                <a:latin typeface="Times New Roman" pitchFamily="18" charset="0"/>
              </a:rPr>
              <a:t>expected returns</a:t>
            </a:r>
            <a:r>
              <a:rPr lang="en-US" sz="2400" dirty="0">
                <a:latin typeface="Times New Roman" pitchFamily="18" charset="0"/>
              </a:rPr>
              <a:t>, and a </a:t>
            </a:r>
            <a:r>
              <a:rPr lang="en-US" sz="2400" i="1" dirty="0">
                <a:latin typeface="Times New Roman" pitchFamily="18" charset="0"/>
              </a:rPr>
              <a:t>covariance matrix</a:t>
            </a:r>
            <a:r>
              <a:rPr lang="en-US" sz="2400" dirty="0">
                <a:latin typeface="Times New Roman" pitchFamily="18" charset="0"/>
              </a:rPr>
              <a:t>.  </a:t>
            </a:r>
          </a:p>
          <a:p>
            <a:pPr eaLnBrk="1" hangingPunct="1"/>
            <a:r>
              <a:rPr lang="en-US" sz="2400" dirty="0">
                <a:latin typeface="Times New Roman" pitchFamily="18" charset="0"/>
              </a:rPr>
              <a:t>Math: gives </a:t>
            </a:r>
            <a:r>
              <a:rPr lang="en-US" sz="2400" i="1" dirty="0">
                <a:latin typeface="Times New Roman" pitchFamily="18" charset="0"/>
              </a:rPr>
              <a:t>efficient frontier</a:t>
            </a:r>
            <a:r>
              <a:rPr lang="en-US" sz="2400" dirty="0">
                <a:latin typeface="Times New Roman" pitchFamily="18" charset="0"/>
              </a:rPr>
              <a:t>, which maximizes mean for a given variance/</a:t>
            </a:r>
            <a:r>
              <a:rPr lang="en-US" sz="2400" dirty="0" err="1">
                <a:latin typeface="Times New Roman" pitchFamily="18" charset="0"/>
              </a:rPr>
              <a:t>sd</a:t>
            </a:r>
            <a:endParaRPr lang="en-US" sz="2400" dirty="0">
              <a:latin typeface="Times New Roman" pitchFamily="18" charset="0"/>
            </a:endParaRPr>
          </a:p>
          <a:p>
            <a:pPr eaLnBrk="1" hangingPunct="1"/>
            <a:r>
              <a:rPr lang="en-US" sz="2400" dirty="0">
                <a:latin typeface="Times New Roman" pitchFamily="18" charset="0"/>
              </a:rPr>
              <a:t>According to individual </a:t>
            </a:r>
            <a:r>
              <a:rPr lang="en-US" sz="2400" i="1" dirty="0">
                <a:latin typeface="Times New Roman" pitchFamily="18" charset="0"/>
              </a:rPr>
              <a:t>risk tolerance</a:t>
            </a:r>
            <a:r>
              <a:rPr lang="en-US" sz="2400" dirty="0">
                <a:latin typeface="Times New Roman" pitchFamily="18" charset="0"/>
              </a:rPr>
              <a:t>: select a desired point on the frontier, giving the asset allocation.</a:t>
            </a:r>
          </a:p>
          <a:p>
            <a:pPr eaLnBrk="1" hangingPunct="1"/>
            <a:r>
              <a:rPr lang="en-US" sz="2400" dirty="0">
                <a:latin typeface="Times New Roman" pitchFamily="18" charset="0"/>
              </a:rPr>
              <a:t>Important to understand, pinpoint potential flaws.</a:t>
            </a:r>
          </a:p>
        </p:txBody>
      </p:sp>
    </p:spTree>
    <p:extLst>
      <p:ext uri="{BB962C8B-B14F-4D97-AF65-F5344CB8AC3E}">
        <p14:creationId xmlns:p14="http://schemas.microsoft.com/office/powerpoint/2010/main" val="1647561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z="3000" b="1" dirty="0">
                <a:latin typeface="Times New Roman" pitchFamily="18" charset="0"/>
              </a:rPr>
              <a:t>Investment Vehicles / Asset Classes  </a:t>
            </a:r>
          </a:p>
        </p:txBody>
      </p:sp>
      <p:sp>
        <p:nvSpPr>
          <p:cNvPr id="14340" name="Rectangle 3"/>
          <p:cNvSpPr>
            <a:spLocks noGrp="1" noChangeArrowheads="1"/>
          </p:cNvSpPr>
          <p:nvPr>
            <p:ph type="body" idx="1"/>
          </p:nvPr>
        </p:nvSpPr>
        <p:spPr>
          <a:xfrm>
            <a:off x="838200" y="1827213"/>
            <a:ext cx="7845425" cy="4114800"/>
          </a:xfrm>
        </p:spPr>
        <p:txBody>
          <a:bodyPr/>
          <a:lstStyle/>
          <a:p>
            <a:pPr eaLnBrk="1" hangingPunct="1"/>
            <a:r>
              <a:rPr lang="en-US" sz="2500" dirty="0">
                <a:latin typeface="Times New Roman" pitchFamily="18" charset="0"/>
              </a:rPr>
              <a:t>How do we identify an “asset class”?  Are these stable over time?</a:t>
            </a:r>
          </a:p>
          <a:p>
            <a:pPr eaLnBrk="1" hangingPunct="1"/>
            <a:r>
              <a:rPr lang="en-US" sz="2500" dirty="0">
                <a:latin typeface="Times New Roman" pitchFamily="18" charset="0"/>
              </a:rPr>
              <a:t>What do people use now?</a:t>
            </a:r>
          </a:p>
          <a:p>
            <a:pPr lvl="1" eaLnBrk="1" hangingPunct="1"/>
            <a:r>
              <a:rPr lang="en-US" sz="2300" dirty="0">
                <a:latin typeface="Times New Roman" pitchFamily="18" charset="0"/>
              </a:rPr>
              <a:t>Bonds (domestic, foreign, Government, private, junk)</a:t>
            </a:r>
          </a:p>
          <a:p>
            <a:pPr lvl="1" eaLnBrk="1" hangingPunct="1"/>
            <a:r>
              <a:rPr lang="en-US" sz="2300" dirty="0">
                <a:latin typeface="Times New Roman" pitchFamily="18" charset="0"/>
              </a:rPr>
              <a:t>Stocks (domestic, US, EAFE, Emerging, big cap, small cap, mid-cap)</a:t>
            </a:r>
          </a:p>
          <a:p>
            <a:pPr lvl="1" eaLnBrk="1" hangingPunct="1"/>
            <a:r>
              <a:rPr lang="en-US" sz="2300" dirty="0">
                <a:latin typeface="Times New Roman" pitchFamily="18" charset="0"/>
              </a:rPr>
              <a:t>Alternative investments (real estate, private equity, ethical funds)</a:t>
            </a:r>
          </a:p>
          <a:p>
            <a:pPr eaLnBrk="1" hangingPunct="1"/>
            <a:r>
              <a:rPr lang="en-US" sz="2500" dirty="0">
                <a:latin typeface="Times New Roman" pitchFamily="18" charset="0"/>
              </a:rPr>
              <a:t>What are the tradeoffs in a few large simple asset classes versus a proliferation of finer categorizations?</a:t>
            </a:r>
          </a:p>
        </p:txBody>
      </p:sp>
    </p:spTree>
    <p:extLst>
      <p:ext uri="{BB962C8B-B14F-4D97-AF65-F5344CB8AC3E}">
        <p14:creationId xmlns:p14="http://schemas.microsoft.com/office/powerpoint/2010/main" val="12018600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sz="2800" b="1" dirty="0">
                <a:latin typeface="Times New Roman" pitchFamily="18" charset="0"/>
              </a:rPr>
              <a:t>The “Modern Portfolio Theory” Recipe</a:t>
            </a:r>
          </a:p>
        </p:txBody>
      </p:sp>
      <p:sp>
        <p:nvSpPr>
          <p:cNvPr id="20484" name="Rectangle 3"/>
          <p:cNvSpPr>
            <a:spLocks noGrp="1" noChangeArrowheads="1"/>
          </p:cNvSpPr>
          <p:nvPr>
            <p:ph type="body" idx="1"/>
          </p:nvPr>
        </p:nvSpPr>
        <p:spPr>
          <a:xfrm>
            <a:off x="685800" y="1524000"/>
            <a:ext cx="7997825" cy="4114800"/>
          </a:xfrm>
        </p:spPr>
        <p:txBody>
          <a:bodyPr/>
          <a:lstStyle/>
          <a:p>
            <a:pPr eaLnBrk="1" hangingPunct="1">
              <a:lnSpc>
                <a:spcPct val="90000"/>
              </a:lnSpc>
            </a:pPr>
            <a:r>
              <a:rPr lang="en-US" sz="2400" dirty="0">
                <a:latin typeface="Times New Roman" pitchFamily="18" charset="0"/>
              </a:rPr>
              <a:t>Define and select asset classes [not obvious, big tradeoffs in number of assets]</a:t>
            </a:r>
          </a:p>
          <a:p>
            <a:pPr marL="0" indent="0" eaLnBrk="1" hangingPunct="1">
              <a:lnSpc>
                <a:spcPct val="90000"/>
              </a:lnSpc>
              <a:buNone/>
            </a:pPr>
            <a:endParaRPr lang="en-US" sz="2400" dirty="0">
              <a:latin typeface="Times New Roman" pitchFamily="18" charset="0"/>
            </a:endParaRPr>
          </a:p>
          <a:p>
            <a:pPr eaLnBrk="1" hangingPunct="1">
              <a:lnSpc>
                <a:spcPct val="90000"/>
              </a:lnSpc>
            </a:pPr>
            <a:r>
              <a:rPr lang="en-US" sz="2400" dirty="0">
                <a:latin typeface="Times New Roman" pitchFamily="18" charset="0"/>
              </a:rPr>
              <a:t>Gather inputs: expected returns, expected risk (or standard deviation of returns) and expected “co-movements” (or correlations) of returns for each asset class [seems easy, but actually probably the most difficult part, once we acknowledge that historical sample moments are not the same as forward looking expectations]</a:t>
            </a:r>
          </a:p>
          <a:p>
            <a:pPr marL="0" indent="0" eaLnBrk="1" hangingPunct="1">
              <a:lnSpc>
                <a:spcPct val="90000"/>
              </a:lnSpc>
              <a:buNone/>
            </a:pPr>
            <a:endParaRPr lang="en-US" sz="2400" dirty="0">
              <a:latin typeface="Times New Roman" pitchFamily="18" charset="0"/>
            </a:endParaRPr>
          </a:p>
          <a:p>
            <a:pPr eaLnBrk="1" hangingPunct="1">
              <a:lnSpc>
                <a:spcPct val="90000"/>
              </a:lnSpc>
            </a:pPr>
            <a:r>
              <a:rPr lang="en-US" sz="2400" dirty="0">
                <a:latin typeface="Times New Roman" pitchFamily="18" charset="0"/>
              </a:rPr>
              <a:t>Minimize expected risk, given desired expected returns or maximize expected returns, given desired expected risk level [pretty easy math/optimization, the MPT part]</a:t>
            </a:r>
          </a:p>
        </p:txBody>
      </p:sp>
    </p:spTree>
    <p:extLst>
      <p:ext uri="{BB962C8B-B14F-4D97-AF65-F5344CB8AC3E}">
        <p14:creationId xmlns:p14="http://schemas.microsoft.com/office/powerpoint/2010/main" val="2724234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Required Formulas</a:t>
            </a:r>
          </a:p>
        </p:txBody>
      </p:sp>
      <p:sp>
        <p:nvSpPr>
          <p:cNvPr id="21508" name="Rectangle 3"/>
          <p:cNvSpPr>
            <a:spLocks noGrp="1" noChangeArrowheads="1"/>
          </p:cNvSpPr>
          <p:nvPr>
            <p:ph type="body" idx="1"/>
          </p:nvPr>
        </p:nvSpPr>
        <p:spPr>
          <a:xfrm>
            <a:off x="1143000" y="1600200"/>
            <a:ext cx="7313612"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To carry out the basic mean-variance analysis, we need formulas for:</a:t>
            </a:r>
          </a:p>
          <a:p>
            <a:pPr marL="622300" lvl="1" indent="-222250" eaLnBrk="1" hangingPunct="1"/>
            <a:r>
              <a:rPr lang="en-US" sz="2000" dirty="0">
                <a:latin typeface="Times New Roman" pitchFamily="18" charset="0"/>
              </a:rPr>
              <a:t>Portfolio Means</a:t>
            </a:r>
          </a:p>
          <a:p>
            <a:pPr marL="622300" lvl="1" indent="-222250" eaLnBrk="1" hangingPunct="1"/>
            <a:r>
              <a:rPr lang="en-US" sz="2000" dirty="0">
                <a:latin typeface="Times New Roman" pitchFamily="18" charset="0"/>
              </a:rPr>
              <a:t>Portfolio Variance / Standard deviation</a:t>
            </a:r>
          </a:p>
        </p:txBody>
      </p:sp>
    </p:spTree>
    <p:extLst>
      <p:ext uri="{BB962C8B-B14F-4D97-AF65-F5344CB8AC3E}">
        <p14:creationId xmlns:p14="http://schemas.microsoft.com/office/powerpoint/2010/main" val="3978343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Mean Returns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mean returns are linear in portfolio weights </a:t>
                </a:r>
                <a:r>
                  <a:rPr lang="en-US" sz="2400" dirty="0" err="1">
                    <a:latin typeface="Times New Roman" pitchFamily="18" charset="0"/>
                  </a:rPr>
                  <a:t>w_i</a:t>
                </a:r>
                <a:r>
                  <a:rPr lang="en-US" sz="2400" dirty="0">
                    <a:latin typeface="Times New Roman" pitchFamily="18" charset="0"/>
                  </a:rPr>
                  <a:t> and the mean returns on individual assets </a:t>
                </a:r>
                <a:r>
                  <a:rPr lang="en-US" sz="2400" dirty="0" err="1">
                    <a:latin typeface="Times New Roman" pitchFamily="18" charset="0"/>
                  </a:rPr>
                  <a:t>i</a:t>
                </a:r>
                <a:endParaRPr lang="en-US" sz="2400" dirty="0">
                  <a:latin typeface="Times New Roman" pitchFamily="18" charset="0"/>
                </a:endParaRPr>
              </a:p>
              <a:p>
                <a:pPr marL="622300" lvl="1" indent="-222250" eaLnBrk="1" hangingPunct="1"/>
                <a:r>
                  <a:rPr lang="en-US" sz="2000" dirty="0">
                    <a:latin typeface="Times New Roman" pitchFamily="18" charset="0"/>
                  </a:rPr>
                  <a:t>In expectations: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e>
                      </m:nary>
                    </m:oMath>
                  </m:oMathPara>
                </a14:m>
                <a:endParaRPr lang="en-US" sz="2000" dirty="0">
                  <a:latin typeface="Times New Roman" pitchFamily="18" charset="0"/>
                </a:endParaRPr>
              </a:p>
              <a:p>
                <a:pPr lvl="1" eaLnBrk="1" hangingPunct="1"/>
                <a:r>
                  <a:rPr lang="en-US" sz="2000" dirty="0">
                    <a:latin typeface="Times New Roman" pitchFamily="18" charset="0"/>
                  </a:rPr>
                  <a:t>True of sample means as well</a:t>
                </a:r>
              </a:p>
              <a:p>
                <a:pPr marL="457200" lvl="1" indent="0" eaLnBrk="1" hangingPunct="1">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e>
                            <m:sub>
                              <m:r>
                                <a:rPr lang="en-US" sz="2000" b="0" i="1" smtClean="0">
                                  <a:latin typeface="Cambria Math" panose="02040503050406030204" pitchFamily="18" charset="0"/>
                                </a:rPr>
                                <m:t>𝑖</m:t>
                              </m:r>
                            </m:sub>
                          </m:sSub>
                        </m:e>
                      </m:nary>
                    </m:oMath>
                  </m:oMathPara>
                </a14:m>
                <a:endParaRPr lang="en-US" sz="2000" dirty="0">
                  <a:latin typeface="Times New Roman" pitchFamily="18" charset="0"/>
                </a:endParaRPr>
              </a:p>
              <a:p>
                <a:pPr lvl="1" eaLnBrk="1" hangingPunct="1"/>
                <a:r>
                  <a:rPr lang="en-US" sz="2000" dirty="0">
                    <a:latin typeface="Times New Roman" pitchFamily="18" charset="0"/>
                  </a:rPr>
                  <a:t>Remember that portfolio weights have to add up to one:</a:t>
                </a:r>
              </a:p>
              <a:p>
                <a:pPr marL="457200" lvl="1" indent="0" eaLnBrk="1" hangingPunct="1">
                  <a:buNone/>
                </a:pPr>
                <a14:m>
                  <m:oMathPara xmlns:m="http://schemas.openxmlformats.org/officeDocument/2006/math">
                    <m:oMathParaPr>
                      <m:jc m:val="centerGroup"/>
                    </m:oMathParaPr>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992750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Portfolio Variances</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143000" y="1600200"/>
                <a:ext cx="7313612" cy="48006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Portfolio variances build on the rule that Var(X+Y)=Var(X)+Var(Y)+2cov(X,Y)</a:t>
                </a:r>
              </a:p>
              <a:p>
                <a:pPr marL="622300" lvl="1" indent="-222250" eaLnBrk="1" hangingPunct="1"/>
                <a:r>
                  <a:rPr lang="en-US" sz="2000" dirty="0">
                    <a:latin typeface="Times New Roman" pitchFamily="18" charset="0"/>
                  </a:rPr>
                  <a:t>In population or sample moments:</a:t>
                </a:r>
                <a:endParaRPr lang="en-US" sz="2400" dirty="0">
                  <a:latin typeface="Times New Roman" pitchFamily="18" charset="0"/>
                </a:endParaRPr>
              </a:p>
              <a:p>
                <a:pPr marL="0" indent="0" eaLnBrk="1" hangingPunct="1">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𝑝</m:t>
                              </m:r>
                            </m:sub>
                          </m:sSub>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𝑉𝑎𝑟</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+2</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𝐶𝑜𝑣</m:t>
                              </m:r>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𝑗</m:t>
                                      </m:r>
                                    </m:sub>
                                  </m:sSub>
                                </m:e>
                              </m:d>
                            </m:e>
                          </m:nary>
                        </m:e>
                      </m:nary>
                    </m:oMath>
                  </m:oMathPara>
                </a14:m>
                <a:endParaRPr lang="en-US" sz="2000" dirty="0">
                  <a:latin typeface="Times New Roman" pitchFamily="18" charset="0"/>
                </a:endParaRPr>
              </a:p>
              <a:p>
                <a:pPr marL="0" indent="0" eaLnBrk="1" hangingPunct="1">
                  <a:buNone/>
                </a:pPr>
                <a:endParaRPr lang="en-US" sz="2000" dirty="0">
                  <a:latin typeface="Times New Roman" pitchFamily="18" charset="0"/>
                </a:endParaRP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143000" y="1600200"/>
                <a:ext cx="7313612" cy="4800600"/>
              </a:xfrm>
              <a:blipFill>
                <a:blip r:embed="rId3"/>
                <a:stretch>
                  <a:fillRect l="-751"/>
                </a:stretch>
              </a:blipFill>
            </p:spPr>
            <p:txBody>
              <a:bodyPr/>
              <a:lstStyle/>
              <a:p>
                <a:r>
                  <a:rPr lang="en-US">
                    <a:noFill/>
                  </a:rPr>
                  <a:t> </a:t>
                </a:r>
              </a:p>
            </p:txBody>
          </p:sp>
        </mc:Fallback>
      </mc:AlternateContent>
    </p:spTree>
    <p:extLst>
      <p:ext uri="{BB962C8B-B14F-4D97-AF65-F5344CB8AC3E}">
        <p14:creationId xmlns:p14="http://schemas.microsoft.com/office/powerpoint/2010/main" val="2597061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371600" y="679450"/>
            <a:ext cx="7772400" cy="768350"/>
          </a:xfrm>
        </p:spPr>
        <p:txBody>
          <a:bodyPr/>
          <a:lstStyle/>
          <a:p>
            <a:pPr eaLnBrk="1" hangingPunct="1"/>
            <a:br>
              <a:rPr lang="en-US" sz="3200" dirty="0">
                <a:latin typeface="Times New Roman" pitchFamily="18" charset="0"/>
              </a:rPr>
            </a:br>
            <a:r>
              <a:rPr lang="en-US" sz="2700" b="1" dirty="0">
                <a:latin typeface="Times New Roman" pitchFamily="18" charset="0"/>
              </a:rPr>
              <a:t>Two Asset Example</a:t>
            </a:r>
          </a:p>
        </p:txBody>
      </p:sp>
      <p:sp>
        <p:nvSpPr>
          <p:cNvPr id="21508" name="Rectangle 3"/>
          <p:cNvSpPr>
            <a:spLocks noGrp="1" noChangeArrowheads="1"/>
          </p:cNvSpPr>
          <p:nvPr>
            <p:ph type="body" idx="1"/>
          </p:nvPr>
        </p:nvSpPr>
        <p:spPr>
          <a:xfrm>
            <a:off x="762000" y="1600200"/>
            <a:ext cx="7313612" cy="4114800"/>
          </a:xfrm>
        </p:spPr>
        <p:txBody>
          <a:bodyPr/>
          <a:lstStyle/>
          <a:p>
            <a:pPr marL="222250" indent="-222250" eaLnBrk="1" hangingPunct="1"/>
            <a:r>
              <a:rPr lang="en-US" dirty="0">
                <a:latin typeface="Times New Roman" pitchFamily="18" charset="0"/>
              </a:rPr>
              <a:t>  </a:t>
            </a:r>
            <a:r>
              <a:rPr lang="en-US" sz="2400" dirty="0">
                <a:latin typeface="Times New Roman" pitchFamily="18" charset="0"/>
              </a:rPr>
              <a:t>Find combinations of assets that</a:t>
            </a:r>
          </a:p>
          <a:p>
            <a:pPr lvl="1" eaLnBrk="1" hangingPunct="1"/>
            <a:r>
              <a:rPr lang="en-US" sz="2400" dirty="0">
                <a:latin typeface="Times New Roman" pitchFamily="18" charset="0"/>
              </a:rPr>
              <a:t>Minimize risk for a given expected return, or</a:t>
            </a:r>
          </a:p>
          <a:p>
            <a:pPr lvl="1" eaLnBrk="1" hangingPunct="1"/>
            <a:r>
              <a:rPr lang="en-US" sz="2400" dirty="0">
                <a:latin typeface="Times New Roman" pitchFamily="18" charset="0"/>
              </a:rPr>
              <a:t>Maximize expected return for a given volatility</a:t>
            </a:r>
          </a:p>
          <a:p>
            <a:pPr marL="222250" indent="-222250" eaLnBrk="1" hangingPunct="1"/>
            <a:r>
              <a:rPr lang="en-US" sz="2400" dirty="0">
                <a:latin typeface="Times New Roman" pitchFamily="18" charset="0"/>
              </a:rPr>
              <a:t>  </a:t>
            </a:r>
            <a:r>
              <a:rPr lang="en-US" sz="2400" dirty="0">
                <a:solidFill>
                  <a:srgbClr val="00B050"/>
                </a:solidFill>
                <a:latin typeface="Times New Roman" pitchFamily="18" charset="0"/>
                <a:cs typeface="Times New Roman" pitchFamily="18" charset="0"/>
              </a:rPr>
              <a:t>In class</a:t>
            </a:r>
            <a:r>
              <a:rPr lang="en-US" sz="2400" dirty="0">
                <a:latin typeface="Times New Roman" pitchFamily="18" charset="0"/>
              </a:rPr>
              <a:t>: </a:t>
            </a:r>
            <a:r>
              <a:rPr lang="en-US" sz="2400" dirty="0">
                <a:solidFill>
                  <a:srgbClr val="00B050"/>
                </a:solidFill>
                <a:latin typeface="Times New Roman" pitchFamily="18" charset="0"/>
              </a:rPr>
              <a:t>Assume two asset classes as shown below. Vary weights by 10% and calculate expected returns and volatility of the 11 portfolios. </a:t>
            </a:r>
          </a:p>
          <a:p>
            <a:pPr lvl="1" eaLnBrk="1" hangingPunct="1"/>
            <a:r>
              <a:rPr lang="en-US" sz="2000" dirty="0">
                <a:latin typeface="Times New Roman" pitchFamily="18" charset="0"/>
              </a:rPr>
              <a:t>Stock: E(r) = .08,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S</a:t>
            </a:r>
            <a:r>
              <a:rPr lang="en-US" sz="2000" dirty="0">
                <a:latin typeface="Times New Roman" pitchFamily="18" charset="0"/>
                <a:cs typeface="Times New Roman" pitchFamily="18" charset="0"/>
              </a:rPr>
              <a:t> = .15</a:t>
            </a:r>
          </a:p>
          <a:p>
            <a:pPr lvl="1" eaLnBrk="1" hangingPunct="1"/>
            <a:r>
              <a:rPr lang="en-US" sz="2000" dirty="0">
                <a:latin typeface="Times New Roman" pitchFamily="18" charset="0"/>
                <a:cs typeface="Times New Roman" pitchFamily="18" charset="0"/>
              </a:rPr>
              <a:t>Bonds: E(r) = .04, </a:t>
            </a:r>
            <a:r>
              <a:rPr lang="en-US" sz="2000" dirty="0" err="1">
                <a:latin typeface="Times New Roman" pitchFamily="18" charset="0"/>
                <a:cs typeface="Times New Roman" pitchFamily="18" charset="0"/>
              </a:rPr>
              <a:t>σ</a:t>
            </a:r>
            <a:r>
              <a:rPr lang="en-US" sz="2000" baseline="-25000" dirty="0" err="1">
                <a:latin typeface="Times New Roman" pitchFamily="18" charset="0"/>
                <a:cs typeface="Times New Roman" pitchFamily="18" charset="0"/>
              </a:rPr>
              <a:t>B</a:t>
            </a:r>
            <a:r>
              <a:rPr lang="en-US" sz="2000" dirty="0">
                <a:latin typeface="Times New Roman" pitchFamily="18" charset="0"/>
                <a:cs typeface="Times New Roman" pitchFamily="18" charset="0"/>
              </a:rPr>
              <a:t> = .10</a:t>
            </a:r>
          </a:p>
          <a:p>
            <a:pPr lvl="1" eaLnBrk="1" hangingPunct="1"/>
            <a:r>
              <a:rPr lang="en-US" sz="2000" dirty="0">
                <a:latin typeface="Times New Roman" pitchFamily="18" charset="0"/>
                <a:cs typeface="Times New Roman" pitchFamily="18" charset="0"/>
              </a:rPr>
              <a:t>Correlation: </a:t>
            </a:r>
            <a:r>
              <a:rPr lang="en-US" sz="2000" dirty="0" err="1">
                <a:latin typeface="Times New Roman" pitchFamily="18" charset="0"/>
                <a:cs typeface="Times New Roman" pitchFamily="18" charset="0"/>
              </a:rPr>
              <a:t>ρ</a:t>
            </a:r>
            <a:r>
              <a:rPr lang="en-US" sz="2000" baseline="-25000" dirty="0" err="1">
                <a:latin typeface="Times New Roman" pitchFamily="18" charset="0"/>
                <a:cs typeface="Times New Roman" pitchFamily="18" charset="0"/>
              </a:rPr>
              <a:t>S,B</a:t>
            </a:r>
            <a:r>
              <a:rPr lang="en-US" sz="2000" dirty="0">
                <a:latin typeface="Times New Roman" pitchFamily="18" charset="0"/>
                <a:cs typeface="Times New Roman" pitchFamily="18" charset="0"/>
              </a:rPr>
              <a:t> = .30</a:t>
            </a:r>
          </a:p>
          <a:p>
            <a:pPr eaLnBrk="1" hangingPunct="1"/>
            <a:r>
              <a:rPr lang="en-US" sz="2400" dirty="0">
                <a:latin typeface="Times New Roman" pitchFamily="18" charset="0"/>
                <a:cs typeface="Times New Roman" pitchFamily="18" charset="0"/>
              </a:rPr>
              <a:t>Remember E[</a:t>
            </a:r>
            <a:r>
              <a:rPr lang="en-US" sz="2400" dirty="0" err="1">
                <a:latin typeface="Times New Roman" pitchFamily="18" charset="0"/>
                <a:cs typeface="Times New Roman" pitchFamily="18" charset="0"/>
              </a:rPr>
              <a:t>Rp</a:t>
            </a:r>
            <a:r>
              <a:rPr lang="en-US" sz="2400" dirty="0">
                <a:latin typeface="Times New Roman" pitchFamily="18" charset="0"/>
                <a:cs typeface="Times New Roman" pitchFamily="18" charset="0"/>
              </a:rPr>
              <a:t>]=w1E[R1]+w2E[R2]</a:t>
            </a:r>
          </a:p>
          <a:p>
            <a:pPr eaLnBrk="1" hangingPunct="1"/>
            <a:r>
              <a:rPr lang="en-US" sz="2400" dirty="0">
                <a:latin typeface="Times New Roman" pitchFamily="18" charset="0"/>
                <a:cs typeface="Times New Roman" pitchFamily="18" charset="0"/>
              </a:rPr>
              <a:t>And </a:t>
            </a:r>
            <a:r>
              <a:rPr lang="en-US" sz="2400" dirty="0" err="1">
                <a:latin typeface="Times New Roman" pitchFamily="18" charset="0"/>
                <a:cs typeface="Times New Roman" pitchFamily="18" charset="0"/>
              </a:rPr>
              <a:t>Var</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Rp</a:t>
            </a:r>
            <a:r>
              <a:rPr lang="en-US" sz="2400" dirty="0">
                <a:latin typeface="Times New Roman" pitchFamily="18" charset="0"/>
                <a:cs typeface="Times New Roman" pitchFamily="18" charset="0"/>
              </a:rPr>
              <a:t>) = (w1^2)*</a:t>
            </a:r>
            <a:r>
              <a:rPr lang="en-US" sz="2400" dirty="0" err="1">
                <a:latin typeface="Times New Roman" pitchFamily="18" charset="0"/>
                <a:cs typeface="Times New Roman" pitchFamily="18" charset="0"/>
              </a:rPr>
              <a:t>Var</a:t>
            </a:r>
            <a:r>
              <a:rPr lang="en-US" sz="2400" dirty="0">
                <a:latin typeface="Times New Roman" pitchFamily="18" charset="0"/>
                <a:cs typeface="Times New Roman" pitchFamily="18" charset="0"/>
              </a:rPr>
              <a:t>(R1) + (w2^2)*</a:t>
            </a:r>
            <a:r>
              <a:rPr lang="en-US" sz="2400" dirty="0" err="1">
                <a:latin typeface="Times New Roman" pitchFamily="18" charset="0"/>
                <a:cs typeface="Times New Roman" pitchFamily="18" charset="0"/>
              </a:rPr>
              <a:t>Var</a:t>
            </a:r>
            <a:r>
              <a:rPr lang="en-US" sz="2400" dirty="0">
                <a:latin typeface="Times New Roman" pitchFamily="18" charset="0"/>
                <a:cs typeface="Times New Roman" pitchFamily="18" charset="0"/>
              </a:rPr>
              <a:t>(R2) + 2*w1 * w2 * </a:t>
            </a:r>
            <a:r>
              <a:rPr lang="en-US" sz="2400" dirty="0" err="1">
                <a:latin typeface="Times New Roman" pitchFamily="18" charset="0"/>
                <a:cs typeface="Times New Roman" pitchFamily="18" charset="0"/>
              </a:rPr>
              <a:t>Cov</a:t>
            </a:r>
            <a:r>
              <a:rPr lang="en-US" sz="2400" dirty="0">
                <a:latin typeface="Times New Roman" pitchFamily="18" charset="0"/>
                <a:cs typeface="Times New Roman" pitchFamily="18" charset="0"/>
              </a:rPr>
              <a:t>(R1,R2)</a:t>
            </a:r>
            <a:endParaRPr lang="en-US" sz="2400" dirty="0">
              <a:latin typeface="Times New Roman" pitchFamily="18" charset="0"/>
            </a:endParaRPr>
          </a:p>
        </p:txBody>
      </p:sp>
      <p:sp>
        <p:nvSpPr>
          <p:cNvPr id="4" name="TextBox 3"/>
          <p:cNvSpPr txBox="1"/>
          <p:nvPr/>
        </p:nvSpPr>
        <p:spPr>
          <a:xfrm>
            <a:off x="5372100" y="4176369"/>
            <a:ext cx="3771900" cy="923330"/>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000000"/>
                </a:solidFill>
                <a:effectLst/>
                <a:uLnTx/>
                <a:uFillTx/>
                <a:latin typeface="Times New Roman" pitchFamily="18" charset="0"/>
                <a:ea typeface="+mn-ea"/>
                <a:cs typeface="Arial"/>
              </a:rPr>
              <a:t>Note that all of these inputs can be estimated empirically from our spreadsheet </a:t>
            </a:r>
            <a:r>
              <a:rPr kumimoji="0" lang="en-CA" sz="1800" b="0" i="0" u="none" strike="noStrike" kern="1200" cap="none" spc="0" normalizeH="0" baseline="0" noProof="0" dirty="0" err="1">
                <a:ln>
                  <a:noFill/>
                </a:ln>
                <a:solidFill>
                  <a:srgbClr val="000000"/>
                </a:solidFill>
                <a:effectLst/>
                <a:uLnTx/>
                <a:uFillTx/>
                <a:latin typeface="Times New Roman" pitchFamily="18" charset="0"/>
                <a:ea typeface="+mn-ea"/>
                <a:cs typeface="Arial"/>
              </a:rPr>
              <a:t>histretSP</a:t>
            </a:r>
            <a:r>
              <a:rPr kumimoji="0" lang="en-CA" sz="1800" b="0" i="0" u="none" strike="noStrike" kern="1200" cap="none" spc="0" normalizeH="0" baseline="0" noProof="0" dirty="0">
                <a:ln>
                  <a:noFill/>
                </a:ln>
                <a:solidFill>
                  <a:srgbClr val="000000"/>
                </a:solidFill>
                <a:effectLst/>
                <a:uLnTx/>
                <a:uFillTx/>
                <a:latin typeface="Times New Roman" pitchFamily="18" charset="0"/>
                <a:ea typeface="+mn-ea"/>
                <a:cs typeface="Arial"/>
              </a:rPr>
              <a:t>. </a:t>
            </a:r>
          </a:p>
        </p:txBody>
      </p:sp>
      <p:sp>
        <p:nvSpPr>
          <p:cNvPr id="5" name="Left Arrow 4"/>
          <p:cNvSpPr/>
          <p:nvPr/>
        </p:nvSpPr>
        <p:spPr>
          <a:xfrm>
            <a:off x="4622292" y="4395718"/>
            <a:ext cx="673608" cy="484632"/>
          </a:xfrm>
          <a:prstGeom prst="lef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Verdana"/>
              <a:ea typeface="+mn-ea"/>
              <a:cs typeface="Arial"/>
            </a:endParaRPr>
          </a:p>
        </p:txBody>
      </p:sp>
    </p:spTree>
    <p:extLst>
      <p:ext uri="{BB962C8B-B14F-4D97-AF65-F5344CB8AC3E}">
        <p14:creationId xmlns:p14="http://schemas.microsoft.com/office/powerpoint/2010/main" val="3132925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01"/>
          <p:cNvSpPr>
            <a:spLocks noGrp="1" noChangeArrowheads="1"/>
          </p:cNvSpPr>
          <p:nvPr>
            <p:ph type="title"/>
          </p:nvPr>
        </p:nvSpPr>
        <p:spPr/>
        <p:txBody>
          <a:bodyPr/>
          <a:lstStyle/>
          <a:p>
            <a:pPr eaLnBrk="1" hangingPunct="1"/>
            <a:r>
              <a:rPr lang="en-US" sz="3200" b="1">
                <a:solidFill>
                  <a:schemeClr val="tx1"/>
                </a:solidFill>
                <a:latin typeface="Times New Roman" pitchFamily="18" charset="0"/>
              </a:rPr>
              <a:t>Example - Portfolios</a:t>
            </a:r>
          </a:p>
        </p:txBody>
      </p:sp>
      <p:graphicFrame>
        <p:nvGraphicFramePr>
          <p:cNvPr id="224743" name="Group 487"/>
          <p:cNvGraphicFramePr>
            <a:graphicFrameLocks noGrp="1"/>
          </p:cNvGraphicFramePr>
          <p:nvPr>
            <p:ph idx="1"/>
            <p:extLst/>
          </p:nvPr>
        </p:nvGraphicFramePr>
        <p:xfrm>
          <a:off x="838200" y="1827213"/>
          <a:ext cx="7313612" cy="4114805"/>
        </p:xfrm>
        <a:graphic>
          <a:graphicData uri="http://schemas.openxmlformats.org/drawingml/2006/table">
            <a:tbl>
              <a:tblPr/>
              <a:tblGrid>
                <a:gridCol w="1831975">
                  <a:extLst>
                    <a:ext uri="{9D8B030D-6E8A-4147-A177-3AD203B41FA5}">
                      <a16:colId xmlns:a16="http://schemas.microsoft.com/office/drawing/2014/main" val="20000"/>
                    </a:ext>
                  </a:extLst>
                </a:gridCol>
                <a:gridCol w="1377950">
                  <a:extLst>
                    <a:ext uri="{9D8B030D-6E8A-4147-A177-3AD203B41FA5}">
                      <a16:colId xmlns:a16="http://schemas.microsoft.com/office/drawing/2014/main" val="20001"/>
                    </a:ext>
                  </a:extLst>
                </a:gridCol>
                <a:gridCol w="1377950">
                  <a:extLst>
                    <a:ext uri="{9D8B030D-6E8A-4147-A177-3AD203B41FA5}">
                      <a16:colId xmlns:a16="http://schemas.microsoft.com/office/drawing/2014/main" val="20002"/>
                    </a:ext>
                  </a:extLst>
                </a:gridCol>
                <a:gridCol w="1214437">
                  <a:extLst>
                    <a:ext uri="{9D8B030D-6E8A-4147-A177-3AD203B41FA5}">
                      <a16:colId xmlns:a16="http://schemas.microsoft.com/office/drawing/2014/main" val="20003"/>
                    </a:ext>
                  </a:extLst>
                </a:gridCol>
                <a:gridCol w="1511300">
                  <a:extLst>
                    <a:ext uri="{9D8B030D-6E8A-4147-A177-3AD203B41FA5}">
                      <a16:colId xmlns:a16="http://schemas.microsoft.com/office/drawing/2014/main" val="20004"/>
                    </a:ext>
                  </a:extLst>
                </a:gridCol>
              </a:tblGrid>
              <a:tr h="552449">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5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5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US" sz="25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Portfolio</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Portfolio </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Portfolio</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Weight(1)</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Weight(2)</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return</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effectLst/>
                          <a:latin typeface="Verdana" pitchFamily="34" charset="0"/>
                          <a:cs typeface="Arial" charset="0"/>
                        </a:rPr>
                        <a:t>StdDev</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2</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4.40%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9.56%</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3</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80%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20%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4.80%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9.35%</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70%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30%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5.20%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9.39%</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5</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5.60%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9.67%</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50%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50%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10.19%</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7</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40%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6.40%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10.89%</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8</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30%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70%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6.80%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11.75%</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20%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80%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7.20%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12.74%</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90%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7.60%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13.83%</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9686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11</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8.00%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effectLst/>
                          <a:latin typeface="Verdana" pitchFamily="34" charset="0"/>
                          <a:cs typeface="Arial" charset="0"/>
                        </a:rPr>
                        <a:t>15.00%</a:t>
                      </a:r>
                      <a:endParaRPr kumimoji="0" lang="en-US" sz="1900" b="0" i="0" u="none" strike="noStrike" cap="none" normalizeH="0" baseline="0" dirty="0">
                        <a:ln>
                          <a:noFill/>
                        </a:ln>
                        <a:solidFill>
                          <a:schemeClr val="tx1"/>
                        </a:solidFill>
                        <a:effectLst/>
                        <a:latin typeface="Verdana" pitchFamily="34" charset="0"/>
                        <a:cs typeface="Arial" charset="0"/>
                      </a:endParaRPr>
                    </a:p>
                  </a:txBody>
                  <a:tcPr anchor="b"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064156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Diversification</a:t>
            </a:r>
          </a:p>
        </p:txBody>
      </p:sp>
      <p:sp>
        <p:nvSpPr>
          <p:cNvPr id="23556" name="Rectangle 3"/>
          <p:cNvSpPr>
            <a:spLocks noGrp="1" noChangeArrowheads="1"/>
          </p:cNvSpPr>
          <p:nvPr>
            <p:ph type="body" idx="1"/>
          </p:nvPr>
        </p:nvSpPr>
        <p:spPr/>
        <p:txBody>
          <a:bodyPr/>
          <a:lstStyle/>
          <a:p>
            <a:pPr marL="222250" indent="-222250" eaLnBrk="1" hangingPunct="1"/>
            <a:r>
              <a:rPr lang="en-US" dirty="0">
                <a:latin typeface="Times New Roman" pitchFamily="18" charset="0"/>
              </a:rPr>
              <a:t> Investing in bonds has an expected return of 4% and a volatility of 10%</a:t>
            </a:r>
          </a:p>
          <a:p>
            <a:pPr marL="222250" indent="-222250" eaLnBrk="1" hangingPunct="1"/>
            <a:r>
              <a:rPr lang="en-US" dirty="0">
                <a:latin typeface="Times New Roman" pitchFamily="18" charset="0"/>
              </a:rPr>
              <a:t> But, a 50-50 mix of stocks and bonds has a volatility of 10.2% (about the same as bonds), but an expected return of 6%</a:t>
            </a:r>
          </a:p>
          <a:p>
            <a:pPr marL="222250" indent="-222250" eaLnBrk="1" hangingPunct="1"/>
            <a:r>
              <a:rPr lang="en-US" dirty="0">
                <a:latin typeface="Times New Roman" pitchFamily="18" charset="0"/>
              </a:rPr>
              <a:t> The 50-50 mix is better because of the   correlation of stocks and bonds</a:t>
            </a:r>
          </a:p>
        </p:txBody>
      </p:sp>
    </p:spTree>
    <p:extLst>
      <p:ext uri="{BB962C8B-B14F-4D97-AF65-F5344CB8AC3E}">
        <p14:creationId xmlns:p14="http://schemas.microsoft.com/office/powerpoint/2010/main" val="3807119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“Efficient” Portfolio and “Efficient Frontier”</a:t>
            </a:r>
          </a:p>
        </p:txBody>
      </p:sp>
      <p:sp>
        <p:nvSpPr>
          <p:cNvPr id="23556" name="Rectangle 3"/>
          <p:cNvSpPr>
            <a:spLocks noGrp="1" noChangeArrowheads="1"/>
          </p:cNvSpPr>
          <p:nvPr>
            <p:ph type="body" idx="1"/>
          </p:nvPr>
        </p:nvSpPr>
        <p:spPr>
          <a:xfrm>
            <a:off x="1370013" y="1827212"/>
            <a:ext cx="7313612" cy="4649787"/>
          </a:xfrm>
        </p:spPr>
        <p:txBody>
          <a:bodyPr/>
          <a:lstStyle/>
          <a:p>
            <a:pPr marL="222250" indent="-222250" eaLnBrk="1" hangingPunct="1"/>
            <a:r>
              <a:rPr lang="en-US" dirty="0">
                <a:latin typeface="Times New Roman" pitchFamily="18" charset="0"/>
              </a:rPr>
              <a:t> An “efficient” portfolio maximizes expected return for any level of risk (standard deviation)</a:t>
            </a:r>
          </a:p>
          <a:p>
            <a:pPr marL="622300" lvl="1" indent="-222250" eaLnBrk="1" hangingPunct="1"/>
            <a:r>
              <a:rPr lang="en-US" dirty="0">
                <a:latin typeface="Times New Roman" pitchFamily="18" charset="0"/>
              </a:rPr>
              <a:t>Note that “efficient” here has nothing to do with market efficiency, different use of word</a:t>
            </a:r>
          </a:p>
          <a:p>
            <a:pPr marL="622300" lvl="1" indent="-222250" eaLnBrk="1" hangingPunct="1"/>
            <a:endParaRPr lang="en-US" dirty="0">
              <a:latin typeface="Times New Roman" pitchFamily="18" charset="0"/>
            </a:endParaRPr>
          </a:p>
          <a:p>
            <a:pPr marL="222250" indent="-222250" eaLnBrk="1" hangingPunct="1"/>
            <a:r>
              <a:rPr lang="en-US" dirty="0">
                <a:latin typeface="Times New Roman" pitchFamily="18" charset="0"/>
              </a:rPr>
              <a:t>The “efficient frontier” is the set of all efficient portfolios</a:t>
            </a:r>
          </a:p>
          <a:p>
            <a:pPr marL="400050" lvl="1" indent="0" eaLnBrk="1" hangingPunct="1">
              <a:buNone/>
            </a:pPr>
            <a:endParaRPr lang="en-US" dirty="0">
              <a:latin typeface="Times New Roman" pitchFamily="18" charset="0"/>
            </a:endParaRPr>
          </a:p>
        </p:txBody>
      </p:sp>
    </p:spTree>
    <p:extLst>
      <p:ext uri="{BB962C8B-B14F-4D97-AF65-F5344CB8AC3E}">
        <p14:creationId xmlns:p14="http://schemas.microsoft.com/office/powerpoint/2010/main" val="101591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The Efficient Frontier in the Example</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2534"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graphicFrame>
        <p:nvGraphicFramePr>
          <p:cNvPr id="2051" name="Object 6"/>
          <p:cNvGraphicFramePr>
            <a:graphicFrameLocks noGrp="1" noChangeAspect="1"/>
          </p:cNvGraphicFramePr>
          <p:nvPr>
            <p:ph sz="half" idx="2"/>
            <p:extLst/>
          </p:nvPr>
        </p:nvGraphicFramePr>
        <p:xfrm>
          <a:off x="1512888" y="2035175"/>
          <a:ext cx="7170737" cy="3805238"/>
        </p:xfrm>
        <a:graphic>
          <a:graphicData uri="http://schemas.openxmlformats.org/presentationml/2006/ole">
            <mc:AlternateContent xmlns:mc="http://schemas.openxmlformats.org/markup-compatibility/2006">
              <mc:Choice xmlns:v="urn:schemas-microsoft-com:vml" Requires="v">
                <p:oleObj spid="_x0000_s22535" name="Chart" r:id="rId6" imgW="5114860" imgH="2438520" progId="Excel.Chart.8">
                  <p:embed/>
                </p:oleObj>
              </mc:Choice>
              <mc:Fallback>
                <p:oleObj name="Chart" r:id="rId6" imgW="5114860" imgH="2438520" progId="Excel.Chart.8">
                  <p:embed/>
                  <p:pic>
                    <p:nvPicPr>
                      <p:cNvPr id="205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888" y="2035175"/>
                        <a:ext cx="7170737"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1676400" y="6022757"/>
            <a:ext cx="6353630" cy="646331"/>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The efficient frontier includes only points on the curve above the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“minimum variance portfolio” (MVP)</a:t>
            </a:r>
          </a:p>
        </p:txBody>
      </p:sp>
      <p:cxnSp>
        <p:nvCxnSpPr>
          <p:cNvPr id="4" name="Straight Arrow Connector 3"/>
          <p:cNvCxnSpPr/>
          <p:nvPr/>
        </p:nvCxnSpPr>
        <p:spPr>
          <a:xfrm>
            <a:off x="3641847" y="3200400"/>
            <a:ext cx="609600" cy="45720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901359" y="2971800"/>
            <a:ext cx="684803" cy="369332"/>
          </a:xfrm>
          <a:prstGeom prst="rect">
            <a:avLst/>
          </a:prstGeom>
          <a:noFill/>
          <a:ln>
            <a:solidFill>
              <a:schemeClr val="tx1"/>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MVP</a:t>
            </a:r>
          </a:p>
        </p:txBody>
      </p:sp>
    </p:spTree>
    <p:extLst>
      <p:ext uri="{BB962C8B-B14F-4D97-AF65-F5344CB8AC3E}">
        <p14:creationId xmlns:p14="http://schemas.microsoft.com/office/powerpoint/2010/main" val="628505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Sharpe Ratio</a:t>
            </a:r>
          </a:p>
        </p:txBody>
      </p:sp>
      <mc:AlternateContent xmlns:mc="http://schemas.openxmlformats.org/markup-compatibility/2006" xmlns:a14="http://schemas.microsoft.com/office/drawing/2010/main">
        <mc:Choice Requires="a14">
          <p:sp>
            <p:nvSpPr>
              <p:cNvPr id="23556" name="Rectangle 3"/>
              <p:cNvSpPr>
                <a:spLocks noGrp="1" noChangeArrowheads="1"/>
              </p:cNvSpPr>
              <p:nvPr>
                <p:ph type="body" idx="1"/>
              </p:nvPr>
            </p:nvSpPr>
            <p:spPr/>
            <p:txBody>
              <a:bodyPr/>
              <a:lstStyle/>
              <a:p>
                <a:pPr marL="222250" indent="-222250" eaLnBrk="1" hangingPunct="1"/>
                <a:r>
                  <a:rPr lang="en-US" dirty="0">
                    <a:latin typeface="Times New Roman" pitchFamily="18" charset="0"/>
                  </a:rPr>
                  <a:t> Definition: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𝑝</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𝑓</m:t>
                            </m:r>
                          </m:sub>
                        </m:sSub>
                        <m:r>
                          <a:rPr lang="en-US" b="0" i="1" smtClean="0">
                            <a:latin typeface="Cambria Math" panose="02040503050406030204" pitchFamily="18" charset="0"/>
                          </a:rPr>
                          <m:t>]</m:t>
                        </m:r>
                      </m:num>
                      <m:den>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𝑝</m:t>
                            </m:r>
                          </m:sub>
                        </m:sSub>
                      </m:den>
                    </m:f>
                  </m:oMath>
                </a14:m>
                <a:endParaRPr lang="en-US" dirty="0">
                  <a:latin typeface="Times New Roman" pitchFamily="18" charset="0"/>
                </a:endParaRPr>
              </a:p>
              <a:p>
                <a:pPr marL="222250" indent="-222250" eaLnBrk="1" hangingPunct="1"/>
                <a:r>
                  <a:rPr lang="en-US" dirty="0">
                    <a:latin typeface="Times New Roman" pitchFamily="18" charset="0"/>
                  </a:rPr>
                  <a:t>A measure of performance, expected excess return divided by standard deviation</a:t>
                </a:r>
              </a:p>
              <a:p>
                <a:pPr marL="222250" indent="-222250" eaLnBrk="1" hangingPunct="1"/>
                <a:r>
                  <a:rPr lang="en-US" dirty="0">
                    <a:latin typeface="Times New Roman" pitchFamily="18" charset="0"/>
                  </a:rPr>
                  <a:t>The Maximal Sharpe Ratio Portfolio (MSRP) is special because it is the portfolio among all possibilities that gives us the highest Sharpe ratio</a:t>
                </a:r>
              </a:p>
            </p:txBody>
          </p:sp>
        </mc:Choice>
        <mc:Fallback xmlns="">
          <p:sp>
            <p:nvSpPr>
              <p:cNvPr id="23556" name="Rectangle 3"/>
              <p:cNvSpPr>
                <a:spLocks noGrp="1" noRot="1" noChangeAspect="1" noMove="1" noResize="1" noEditPoints="1" noAdjustHandles="1" noChangeArrowheads="1" noChangeShapeType="1" noTextEdit="1"/>
              </p:cNvSpPr>
              <p:nvPr>
                <p:ph type="body" idx="1"/>
              </p:nvPr>
            </p:nvSpPr>
            <p:spPr>
              <a:blipFill>
                <a:blip r:embed="rId3"/>
                <a:stretch>
                  <a:fillRect l="-751" r="-500"/>
                </a:stretch>
              </a:blipFill>
            </p:spPr>
            <p:txBody>
              <a:bodyPr/>
              <a:lstStyle/>
              <a:p>
                <a:r>
                  <a:rPr lang="en-US">
                    <a:noFill/>
                  </a:rPr>
                  <a:t> </a:t>
                </a:r>
              </a:p>
            </p:txBody>
          </p:sp>
        </mc:Fallback>
      </mc:AlternateContent>
    </p:spTree>
    <p:extLst>
      <p:ext uri="{BB962C8B-B14F-4D97-AF65-F5344CB8AC3E}">
        <p14:creationId xmlns:p14="http://schemas.microsoft.com/office/powerpoint/2010/main" val="61468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2" end="2"/>
                                            </p:txEl>
                                          </p:spTgt>
                                        </p:tgtEl>
                                        <p:attrNameLst>
                                          <p:attrName>style.visibility</p:attrName>
                                        </p:attrNameLst>
                                      </p:cBhvr>
                                      <p:to>
                                        <p:strVal val="visible"/>
                                      </p:to>
                                    </p:set>
                                    <p:anim calcmode="lin" valueType="num">
                                      <p:cBhvr additive="base">
                                        <p:cTn id="7"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700" b="1" dirty="0">
                <a:latin typeface="Times New Roman" pitchFamily="18" charset="0"/>
              </a:rPr>
              <a:t>Adding a risk-free asset</a:t>
            </a:r>
          </a:p>
        </p:txBody>
      </p:sp>
      <p:sp>
        <p:nvSpPr>
          <p:cNvPr id="23556" name="Rectangle 3"/>
          <p:cNvSpPr>
            <a:spLocks noGrp="1" noChangeArrowheads="1"/>
          </p:cNvSpPr>
          <p:nvPr>
            <p:ph type="body" idx="1"/>
          </p:nvPr>
        </p:nvSpPr>
        <p:spPr>
          <a:xfrm>
            <a:off x="1219200" y="1676400"/>
            <a:ext cx="7313612" cy="4573587"/>
          </a:xfrm>
        </p:spPr>
        <p:txBody>
          <a:bodyPr/>
          <a:lstStyle/>
          <a:p>
            <a:pPr marL="222250" indent="-222250" eaLnBrk="1" hangingPunct="1"/>
            <a:r>
              <a:rPr lang="en-US" dirty="0">
                <a:latin typeface="Times New Roman" pitchFamily="18" charset="0"/>
              </a:rPr>
              <a:t> If we add a risk-free asset to any risky asset efficient frontier, we end up improving the efficient frontier</a:t>
            </a:r>
          </a:p>
          <a:p>
            <a:pPr marL="222250" indent="-222250" eaLnBrk="1" hangingPunct="1"/>
            <a:r>
              <a:rPr lang="en-US" dirty="0">
                <a:latin typeface="Times New Roman" pitchFamily="18" charset="0"/>
              </a:rPr>
              <a:t>The new efficient frontier is a line, linear combinations of risk-free asset with a single portfolio, the Maximal Sharpe Ratio Portfolio</a:t>
            </a:r>
          </a:p>
          <a:p>
            <a:pPr marL="622300" lvl="1" indent="-222250" eaLnBrk="1" hangingPunct="1"/>
            <a:r>
              <a:rPr lang="en-US" dirty="0">
                <a:latin typeface="Times New Roman" pitchFamily="18" charset="0"/>
              </a:rPr>
              <a:t>(We can show this by calculating means and standard deviations of any asset with a risk free asset, both are linear in weights on the risk-free and risky asset, so we get a line in the mean vs standard deviation graph.)</a:t>
            </a:r>
          </a:p>
        </p:txBody>
      </p:sp>
    </p:spTree>
    <p:extLst>
      <p:ext uri="{BB962C8B-B14F-4D97-AF65-F5344CB8AC3E}">
        <p14:creationId xmlns:p14="http://schemas.microsoft.com/office/powerpoint/2010/main" val="13357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2" end="2"/>
                                            </p:txEl>
                                          </p:spTgt>
                                        </p:tgtEl>
                                        <p:attrNameLst>
                                          <p:attrName>style.visibility</p:attrName>
                                        </p:attrNameLst>
                                      </p:cBhvr>
                                      <p:to>
                                        <p:strVal val="visible"/>
                                      </p:to>
                                    </p:set>
                                    <p:anim calcmode="lin" valueType="num">
                                      <p:cBhvr additive="base">
                                        <p:cTn id="7"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pPr eaLnBrk="1" hangingPunct="1"/>
            <a:r>
              <a:rPr lang="en-US" sz="2400" b="1" dirty="0">
                <a:latin typeface="Times New Roman" pitchFamily="18" charset="0"/>
              </a:rPr>
              <a:t>Efficient Frontier with Riskless Asset</a:t>
            </a:r>
          </a:p>
        </p:txBody>
      </p:sp>
      <p:graphicFrame>
        <p:nvGraphicFramePr>
          <p:cNvPr id="2050" name="Object 3"/>
          <p:cNvGraphicFramePr>
            <a:graphicFrameLocks noGrp="1" noChangeAspect="1"/>
          </p:cNvGraphicFramePr>
          <p:nvPr>
            <p:ph sz="half" idx="1"/>
          </p:nvPr>
        </p:nvGraphicFramePr>
        <p:xfrm>
          <a:off x="1370013" y="2863850"/>
          <a:ext cx="3589337" cy="2039938"/>
        </p:xfrm>
        <a:graphic>
          <a:graphicData uri="http://schemas.openxmlformats.org/presentationml/2006/ole">
            <mc:AlternateContent xmlns:mc="http://schemas.openxmlformats.org/markup-compatibility/2006">
              <mc:Choice xmlns:v="urn:schemas-microsoft-com:vml" Requires="v">
                <p:oleObj spid="_x0000_s23558" name="Chart" r:id="rId4" imgW="8229600" imgH="4524482" progId="MSGraph.Chart.8">
                  <p:embed followColorScheme="full"/>
                </p:oleObj>
              </mc:Choice>
              <mc:Fallback>
                <p:oleObj name="Chart" r:id="rId4" imgW="8229600" imgH="4524482" progId="MSGraph.Chart.8">
                  <p:embed followColorScheme="full"/>
                  <p:pic>
                    <p:nvPicPr>
                      <p:cNvPr id="2050" name="Object 3"/>
                      <p:cNvPicPr>
                        <a:picLocks noChangeAspect="1" noChangeArrowheads="1"/>
                      </p:cNvPicPr>
                      <p:nvPr/>
                    </p:nvPicPr>
                    <p:blipFill>
                      <a:blip r:embed="rId5"/>
                      <a:srcRect/>
                      <a:stretch>
                        <a:fillRect/>
                      </a:stretch>
                    </p:blipFill>
                    <p:spPr bwMode="auto">
                      <a:xfrm>
                        <a:off x="1370013" y="2863850"/>
                        <a:ext cx="3589337" cy="2039938"/>
                      </a:xfrm>
                      <a:prstGeom prst="rect">
                        <a:avLst/>
                      </a:prstGeom>
                    </p:spPr>
                  </p:pic>
                </p:oleObj>
              </mc:Fallback>
            </mc:AlternateContent>
          </a:graphicData>
        </a:graphic>
      </p:graphicFrame>
      <p:graphicFrame>
        <p:nvGraphicFramePr>
          <p:cNvPr id="2051" name="Object 6"/>
          <p:cNvGraphicFramePr>
            <a:graphicFrameLocks noGrp="1" noChangeAspect="1"/>
          </p:cNvGraphicFramePr>
          <p:nvPr>
            <p:ph sz="half" idx="2"/>
            <p:extLst/>
          </p:nvPr>
        </p:nvGraphicFramePr>
        <p:xfrm>
          <a:off x="1295400" y="1600200"/>
          <a:ext cx="7170737" cy="3805238"/>
        </p:xfrm>
        <a:graphic>
          <a:graphicData uri="http://schemas.openxmlformats.org/presentationml/2006/ole">
            <mc:AlternateContent xmlns:mc="http://schemas.openxmlformats.org/markup-compatibility/2006">
              <mc:Choice xmlns:v="urn:schemas-microsoft-com:vml" Requires="v">
                <p:oleObj spid="_x0000_s23559" name="Chart" r:id="rId6" imgW="5114860" imgH="2438520" progId="Excel.Chart.8">
                  <p:embed/>
                </p:oleObj>
              </mc:Choice>
              <mc:Fallback>
                <p:oleObj name="Chart" r:id="rId6" imgW="5114860" imgH="2438520" progId="Excel.Chart.8">
                  <p:embed/>
                  <p:pic>
                    <p:nvPicPr>
                      <p:cNvPr id="205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1600200"/>
                        <a:ext cx="7170737"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228600" y="5269429"/>
            <a:ext cx="8610600" cy="1569660"/>
          </a:xfrm>
          <a:prstGeom prst="rect">
            <a:avLst/>
          </a:prstGeom>
          <a:solidFill>
            <a:schemeClr val="accent1">
              <a:lumMod val="20000"/>
              <a:lumOff val="80000"/>
            </a:schemeClr>
          </a:solidFill>
          <a:ln>
            <a:solidFill>
              <a:schemeClr val="accent4"/>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With a riskless asset, the new “efficient frontier” is the black arrow.</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Single contact point with risky efficient frontier is the MSRP, or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The MSRP or “tangency portfolio” plays a special role in asset pricing</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Under strong assumptions, all investors hold combination of riskless asset and tangency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Then, the tangency portfolio would have to be the “market portfolio”</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Arial"/>
              </a:rPr>
              <a:t>Leads to CAPM</a:t>
            </a:r>
          </a:p>
        </p:txBody>
      </p:sp>
      <p:cxnSp>
        <p:nvCxnSpPr>
          <p:cNvPr id="5" name="Straight Arrow Connector 4"/>
          <p:cNvCxnSpPr>
            <a:cxnSpLocks/>
          </p:cNvCxnSpPr>
          <p:nvPr/>
        </p:nvCxnSpPr>
        <p:spPr>
          <a:xfrm flipV="1">
            <a:off x="2133600" y="2133600"/>
            <a:ext cx="4419600" cy="17526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62318" y="2222004"/>
            <a:ext cx="1804725" cy="369332"/>
          </a:xfrm>
          <a:prstGeom prst="rect">
            <a:avLst/>
          </a:prstGeom>
          <a:solidFill>
            <a:schemeClr val="accent1">
              <a:lumMod val="20000"/>
              <a:lumOff val="80000"/>
            </a:schemeClr>
          </a:solidFill>
          <a:ln w="19050">
            <a:solidFill>
              <a:schemeClr val="accent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imes New Roman" pitchFamily="18" charset="0"/>
                <a:ea typeface="+mn-ea"/>
                <a:cs typeface="Arial"/>
              </a:rPr>
              <a:t>MSRP / tangency</a:t>
            </a:r>
          </a:p>
        </p:txBody>
      </p:sp>
      <p:cxnSp>
        <p:nvCxnSpPr>
          <p:cNvPr id="16" name="Straight Arrow Connector 15"/>
          <p:cNvCxnSpPr/>
          <p:nvPr/>
        </p:nvCxnSpPr>
        <p:spPr>
          <a:xfrm>
            <a:off x="3429000" y="2708275"/>
            <a:ext cx="638043" cy="33972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52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p:txBody>
          <a:bodyPr/>
          <a:lstStyle/>
          <a:p>
            <a:pPr eaLnBrk="1" hangingPunct="1"/>
            <a:r>
              <a:rPr lang="en-US" sz="2700" b="1" dirty="0">
                <a:latin typeface="Times New Roman" pitchFamily="18" charset="0"/>
              </a:rPr>
              <a:t>General Statement of Mean-Variance Objective Function with Two Assets</a:t>
            </a:r>
          </a:p>
        </p:txBody>
      </p:sp>
      <mc:AlternateContent xmlns:mc="http://schemas.openxmlformats.org/markup-compatibility/2006" xmlns:a14="http://schemas.microsoft.com/office/drawing/2010/main">
        <mc:Choice Requires="a14">
          <p:sp>
            <p:nvSpPr>
              <p:cNvPr id="1032" name="Rectangle 3"/>
              <p:cNvSpPr>
                <a:spLocks noGrp="1" noChangeArrowheads="1"/>
              </p:cNvSpPr>
              <p:nvPr>
                <p:ph type="body" sz="half" idx="1"/>
              </p:nvPr>
            </p:nvSpPr>
            <p:spPr>
              <a:xfrm>
                <a:off x="914400" y="1600200"/>
                <a:ext cx="7848600" cy="4530725"/>
              </a:xfrm>
            </p:spPr>
            <p:txBody>
              <a:bodyPr/>
              <a:lstStyle/>
              <a:p>
                <a:pPr eaLnBrk="1" hangingPunct="1">
                  <a:lnSpc>
                    <a:spcPct val="80000"/>
                  </a:lnSpc>
                </a:pPr>
                <a:r>
                  <a:rPr lang="en-US" sz="2100" dirty="0">
                    <a:latin typeface="Times New Roman" pitchFamily="18" charset="0"/>
                  </a:rPr>
                  <a:t>Solve the equation</a:t>
                </a:r>
              </a:p>
              <a:p>
                <a:pPr marL="0" indent="0" eaLnBrk="1" hangingPunct="1">
                  <a:lnSpc>
                    <a:spcPct val="80000"/>
                  </a:lnSpc>
                  <a:buNone/>
                </a:pPr>
                <a:r>
                  <a:rPr lang="en-US" sz="2100" dirty="0">
                    <a:latin typeface="Times New Roman" pitchFamily="18" charset="0"/>
                  </a:rPr>
                  <a:t> </a:t>
                </a:r>
              </a:p>
              <a:p>
                <a:pPr marL="0" indent="0" eaLnBrk="1" hangingPunct="1">
                  <a:lnSpc>
                    <a:spcPct val="80000"/>
                  </a:lnSpc>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𝑀𝑖𝑛</m:t>
                          </m:r>
                        </m:e>
                        <m:sub>
                          <m:r>
                            <a:rPr lang="en-US" sz="2400" b="0" i="1" smtClean="0">
                              <a:latin typeface="Cambria Math" panose="02040503050406030204" pitchFamily="18" charset="0"/>
                            </a:rPr>
                            <m:t>𝑤</m:t>
                          </m:r>
                        </m:sub>
                      </m:sSub>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𝑝</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𝑤</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2</m:t>
                          </m:r>
                        </m:sub>
                        <m:sup>
                          <m:r>
                            <a:rPr lang="en-US" sz="2400" i="1">
                              <a:latin typeface="Cambria Math" panose="02040503050406030204" pitchFamily="18" charset="0"/>
                            </a:rPr>
                            <m:t>2</m:t>
                          </m:r>
                        </m:sup>
                      </m:sSubSup>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2</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12</m:t>
                          </m:r>
                        </m:sub>
                      </m:sSub>
                    </m:oMath>
                  </m:oMathPara>
                </a14:m>
                <a:endParaRPr lang="en-US" sz="2400" dirty="0">
                  <a:latin typeface="Times New Roman" pitchFamily="18" charset="0"/>
                </a:endParaRPr>
              </a:p>
              <a:p>
                <a:pPr marL="0" indent="0" eaLnBrk="1" hangingPunct="1">
                  <a:lnSpc>
                    <a:spcPct val="80000"/>
                  </a:lnSpc>
                  <a:buNone/>
                </a:pPr>
                <a:endParaRPr lang="en-US" sz="2400" dirty="0">
                  <a:latin typeface="Times New Roman" pitchFamily="18" charset="0"/>
                </a:endParaRPr>
              </a:p>
              <a:p>
                <a:pPr eaLnBrk="1" hangingPunct="1">
                  <a:lnSpc>
                    <a:spcPct val="80000"/>
                  </a:lnSpc>
                </a:pPr>
                <a:r>
                  <a:rPr lang="en-US" sz="2100" dirty="0">
                    <a:latin typeface="Times New Roman" pitchFamily="18" charset="0"/>
                  </a:rPr>
                  <a:t>Subject to </a:t>
                </a:r>
                <a14:m>
                  <m:oMath xmlns:m="http://schemas.openxmlformats.org/officeDocument/2006/math">
                    <m:sSub>
                      <m:sSubPr>
                        <m:ctrlPr>
                          <a:rPr lang="en-US" sz="210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1</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1</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𝑤</m:t>
                        </m:r>
                      </m:e>
                      <m:sub>
                        <m:r>
                          <a:rPr lang="en-US" sz="2100" b="0" i="1" smtClean="0">
                            <a:latin typeface="Cambria Math" panose="02040503050406030204" pitchFamily="18" charset="0"/>
                          </a:rPr>
                          <m:t>2</m:t>
                        </m:r>
                      </m:sub>
                    </m:sSub>
                    <m:r>
                      <a:rPr lang="en-US" sz="2100" b="0" i="1" smtClean="0">
                        <a:latin typeface="Cambria Math" panose="02040503050406030204" pitchFamily="18" charset="0"/>
                      </a:rPr>
                      <m:t>𝐸</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𝑟</m:t>
                            </m:r>
                          </m:e>
                          <m:sub>
                            <m:r>
                              <a:rPr lang="en-US" sz="2100" b="0" i="1" smtClean="0">
                                <a:latin typeface="Cambria Math" panose="02040503050406030204" pitchFamily="18" charset="0"/>
                              </a:rPr>
                              <m:t>2</m:t>
                            </m:r>
                          </m:sub>
                        </m:sSub>
                      </m:e>
                    </m:d>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endParaRPr lang="en-US" sz="2100" dirty="0">
                  <a:latin typeface="Times New Roman" pitchFamily="18" charset="0"/>
                </a:endParaRPr>
              </a:p>
              <a:p>
                <a:pPr eaLnBrk="1" hangingPunct="1">
                  <a:lnSpc>
                    <a:spcPct val="80000"/>
                  </a:lnSpc>
                </a:pPr>
                <a:r>
                  <a:rPr lang="en-US" sz="2100" dirty="0">
                    <a:latin typeface="Times New Roman" pitchFamily="18" charset="0"/>
                  </a:rPr>
                  <a:t>The variance of return to asset class j is </a:t>
                </a:r>
                <a:r>
                  <a:rPr lang="en-US" sz="2100" dirty="0" err="1">
                    <a:latin typeface="Symbol" pitchFamily="18" charset="2"/>
                  </a:rPr>
                  <a:t>s</a:t>
                </a:r>
                <a:r>
                  <a:rPr lang="en-US" sz="2100" baseline="-25000" dirty="0" err="1">
                    <a:latin typeface="Times New Roman" pitchFamily="18" charset="0"/>
                  </a:rPr>
                  <a:t>j</a:t>
                </a:r>
                <a:endParaRPr lang="en-US" sz="2100" baseline="-25000" dirty="0">
                  <a:latin typeface="Times New Roman" pitchFamily="18" charset="0"/>
                </a:endParaRPr>
              </a:p>
              <a:p>
                <a:pPr eaLnBrk="1" hangingPunct="1">
                  <a:lnSpc>
                    <a:spcPct val="80000"/>
                  </a:lnSpc>
                </a:pPr>
                <a:r>
                  <a:rPr lang="en-US" sz="2100" dirty="0" err="1">
                    <a:latin typeface="Times New Roman" pitchFamily="18" charset="0"/>
                  </a:rPr>
                  <a:t>w</a:t>
                </a:r>
                <a:r>
                  <a:rPr lang="en-US" sz="2100" baseline="-25000" dirty="0" err="1">
                    <a:latin typeface="Times New Roman" pitchFamily="18" charset="0"/>
                  </a:rPr>
                  <a:t>i</a:t>
                </a:r>
                <a:r>
                  <a:rPr lang="en-US" sz="2100" dirty="0">
                    <a:latin typeface="Times New Roman" pitchFamily="18" charset="0"/>
                  </a:rPr>
                  <a:t> is the  weighting in asset class </a:t>
                </a:r>
                <a:r>
                  <a:rPr lang="en-US" sz="2100" dirty="0" err="1">
                    <a:latin typeface="Times New Roman" pitchFamily="18" charset="0"/>
                  </a:rPr>
                  <a:t>i</a:t>
                </a:r>
                <a:r>
                  <a:rPr lang="en-US" sz="2100" dirty="0">
                    <a:latin typeface="Times New Roman" pitchFamily="18" charset="0"/>
                  </a:rPr>
                  <a:t>  </a:t>
                </a:r>
              </a:p>
              <a:p>
                <a:pPr eaLnBrk="1" hangingPunct="1">
                  <a:lnSpc>
                    <a:spcPct val="80000"/>
                  </a:lnSpc>
                </a:pPr>
                <a:r>
                  <a:rPr lang="en-US" sz="2100" dirty="0">
                    <a:latin typeface="Times New Roman" pitchFamily="18" charset="0"/>
                  </a:rPr>
                  <a:t>The expected return on asset class j is E(</a:t>
                </a:r>
                <a:r>
                  <a:rPr lang="en-US" sz="2100" dirty="0" err="1">
                    <a:latin typeface="Times New Roman" pitchFamily="18" charset="0"/>
                  </a:rPr>
                  <a:t>r</a:t>
                </a:r>
                <a:r>
                  <a:rPr lang="en-US" sz="2100" baseline="-25000" dirty="0" err="1">
                    <a:latin typeface="Times New Roman" pitchFamily="18" charset="0"/>
                  </a:rPr>
                  <a:t>j</a:t>
                </a:r>
                <a:r>
                  <a:rPr lang="en-US" sz="2100" dirty="0">
                    <a:latin typeface="Times New Roman" pitchFamily="18" charset="0"/>
                  </a:rPr>
                  <a:t>) </a:t>
                </a:r>
              </a:p>
              <a:p>
                <a:pPr eaLnBrk="1" hangingPunct="1">
                  <a:lnSpc>
                    <a:spcPct val="80000"/>
                  </a:lnSpc>
                </a:pPr>
                <a:r>
                  <a:rPr lang="en-US" sz="2100" dirty="0">
                    <a:latin typeface="Times New Roman" pitchFamily="18" charset="0"/>
                  </a:rPr>
                  <a:t>The desired expected return is </a:t>
                </a:r>
                <a14:m>
                  <m:oMath xmlns:m="http://schemas.openxmlformats.org/officeDocument/2006/math">
                    <m:sSub>
                      <m:sSubPr>
                        <m:ctrlPr>
                          <a:rPr lang="en-US" sz="2100" i="1" smtClean="0">
                            <a:latin typeface="Cambria Math" panose="02040503050406030204" pitchFamily="18" charset="0"/>
                          </a:rPr>
                        </m:ctrlPr>
                      </m:sSubPr>
                      <m:e>
                        <m:acc>
                          <m:accPr>
                            <m:chr m:val="̅"/>
                            <m:ctrlPr>
                              <a:rPr lang="en-US" sz="2100" i="1" smtClean="0">
                                <a:latin typeface="Cambria Math" panose="02040503050406030204" pitchFamily="18" charset="0"/>
                              </a:rPr>
                            </m:ctrlPr>
                          </m:accPr>
                          <m:e>
                            <m:r>
                              <a:rPr lang="en-US" sz="2100" b="0" i="1" smtClean="0">
                                <a:latin typeface="Cambria Math" panose="02040503050406030204" pitchFamily="18" charset="0"/>
                              </a:rPr>
                              <m:t>𝑟</m:t>
                            </m:r>
                          </m:e>
                        </m:acc>
                      </m:e>
                      <m:sub>
                        <m:r>
                          <a:rPr lang="en-US" sz="2100" b="0" i="1" smtClean="0">
                            <a:latin typeface="Cambria Math" panose="02040503050406030204" pitchFamily="18" charset="0"/>
                          </a:rPr>
                          <m:t>𝑝</m:t>
                        </m:r>
                      </m:sub>
                    </m:sSub>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covariance of returns is </a:t>
                </a:r>
                <a:r>
                  <a:rPr lang="en-US" sz="2100" dirty="0" err="1">
                    <a:latin typeface="Symbol" pitchFamily="18" charset="2"/>
                  </a:rPr>
                  <a:t>s</a:t>
                </a:r>
                <a:r>
                  <a:rPr lang="en-US" sz="2100" baseline="-25000" dirty="0" err="1">
                    <a:latin typeface="Times New Roman" pitchFamily="18" charset="0"/>
                  </a:rPr>
                  <a:t>ij</a:t>
                </a:r>
                <a:endParaRPr lang="en-US" sz="2100" baseline="-25000" dirty="0">
                  <a:latin typeface="Times New Roman" pitchFamily="18" charset="0"/>
                </a:endParaRPr>
              </a:p>
              <a:p>
                <a:pPr eaLnBrk="1" hangingPunct="1">
                  <a:lnSpc>
                    <a:spcPct val="80000"/>
                  </a:lnSpc>
                </a:pPr>
                <a:r>
                  <a:rPr lang="en-US" sz="2100" dirty="0">
                    <a:latin typeface="Times New Roman" pitchFamily="18" charset="0"/>
                  </a:rPr>
                  <a:t>The variance of the portfolio return is </a:t>
                </a:r>
                <a14:m>
                  <m:oMath xmlns:m="http://schemas.openxmlformats.org/officeDocument/2006/math">
                    <m:sSubSup>
                      <m:sSubSupPr>
                        <m:ctrlPr>
                          <a:rPr lang="en-US" sz="2100" i="1" smtClean="0">
                            <a:latin typeface="Cambria Math" panose="02040503050406030204" pitchFamily="18" charset="0"/>
                          </a:rPr>
                        </m:ctrlPr>
                      </m:sSubSupPr>
                      <m:e>
                        <m:r>
                          <a:rPr lang="en-US" sz="2100" i="1" smtClean="0">
                            <a:latin typeface="Cambria Math" panose="02040503050406030204" pitchFamily="18" charset="0"/>
                            <a:ea typeface="Cambria Math" panose="02040503050406030204" pitchFamily="18" charset="0"/>
                          </a:rPr>
                          <m:t>𝜎</m:t>
                        </m:r>
                      </m:e>
                      <m:sub>
                        <m:r>
                          <a:rPr lang="en-US" sz="2100" b="0" i="1" smtClean="0">
                            <a:latin typeface="Cambria Math" panose="02040503050406030204" pitchFamily="18" charset="0"/>
                          </a:rPr>
                          <m:t>𝑝</m:t>
                        </m:r>
                      </m:sub>
                      <m:sup>
                        <m:r>
                          <a:rPr lang="en-US" sz="2100" b="0" i="1" smtClean="0">
                            <a:latin typeface="Cambria Math" panose="02040503050406030204" pitchFamily="18" charset="0"/>
                          </a:rPr>
                          <m:t>2</m:t>
                        </m:r>
                      </m:sup>
                    </m:sSubSup>
                  </m:oMath>
                </a14:m>
                <a:endParaRPr lang="en-US" sz="2100" dirty="0">
                  <a:latin typeface="Times New Roman" pitchFamily="18" charset="0"/>
                </a:endParaRPr>
              </a:p>
              <a:p>
                <a:pPr eaLnBrk="1" hangingPunct="1">
                  <a:lnSpc>
                    <a:spcPct val="80000"/>
                  </a:lnSpc>
                </a:pPr>
                <a:r>
                  <a:rPr lang="en-US" sz="2100" dirty="0">
                    <a:latin typeface="Times New Roman" pitchFamily="18" charset="0"/>
                  </a:rPr>
                  <a:t>The portfolio weights satisfy w1+w2=1 or equivalently w2=1-w1</a:t>
                </a:r>
              </a:p>
              <a:p>
                <a:pPr eaLnBrk="1" hangingPunct="1">
                  <a:lnSpc>
                    <a:spcPct val="80000"/>
                  </a:lnSpc>
                </a:pPr>
                <a:endParaRPr lang="en-US" sz="2100" dirty="0">
                  <a:latin typeface="Times New Roman" pitchFamily="18" charset="0"/>
                </a:endParaRPr>
              </a:p>
            </p:txBody>
          </p:sp>
        </mc:Choice>
        <mc:Fallback xmlns="">
          <p:sp>
            <p:nvSpPr>
              <p:cNvPr id="1032" name="Rectangle 3"/>
              <p:cNvSpPr>
                <a:spLocks noGrp="1" noRot="1" noChangeAspect="1" noMove="1" noResize="1" noEditPoints="1" noAdjustHandles="1" noChangeArrowheads="1" noChangeShapeType="1" noTextEdit="1"/>
              </p:cNvSpPr>
              <p:nvPr>
                <p:ph type="body" sz="half" idx="1"/>
              </p:nvPr>
            </p:nvSpPr>
            <p:spPr>
              <a:xfrm>
                <a:off x="914400" y="1600200"/>
                <a:ext cx="7848600" cy="4530725"/>
              </a:xfrm>
              <a:blipFill>
                <a:blip r:embed="rId3"/>
                <a:stretch>
                  <a:fillRect l="-233" t="-2288"/>
                </a:stretch>
              </a:blipFill>
            </p:spPr>
            <p:txBody>
              <a:bodyPr/>
              <a:lstStyle/>
              <a:p>
                <a:r>
                  <a:rPr lang="en-US">
                    <a:noFill/>
                  </a:rPr>
                  <a:t> </a:t>
                </a:r>
              </a:p>
            </p:txBody>
          </p:sp>
        </mc:Fallback>
      </mc:AlternateContent>
    </p:spTree>
    <p:extLst>
      <p:ext uri="{BB962C8B-B14F-4D97-AF65-F5344CB8AC3E}">
        <p14:creationId xmlns:p14="http://schemas.microsoft.com/office/powerpoint/2010/main" val="273849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28600"/>
            <a:ext cx="7772400" cy="1143000"/>
          </a:xfrm>
        </p:spPr>
        <p:txBody>
          <a:bodyPr/>
          <a:lstStyle/>
          <a:p>
            <a:pPr eaLnBrk="1" hangingPunct="1"/>
            <a:r>
              <a:rPr lang="en-US" sz="2800" b="1">
                <a:latin typeface="Times New Roman" pitchFamily="18" charset="0"/>
              </a:rPr>
              <a:t>Constructing the Mean-Variance Efficient Frontier: Three assets</a:t>
            </a:r>
          </a:p>
        </p:txBody>
      </p:sp>
      <p:sp>
        <p:nvSpPr>
          <p:cNvPr id="28676" name="Rectangle 3"/>
          <p:cNvSpPr>
            <a:spLocks noGrp="1" noChangeArrowheads="1"/>
          </p:cNvSpPr>
          <p:nvPr>
            <p:ph type="body" idx="1"/>
          </p:nvPr>
        </p:nvSpPr>
        <p:spPr>
          <a:xfrm>
            <a:off x="685800" y="1608783"/>
            <a:ext cx="8305800" cy="4343400"/>
          </a:xfrm>
        </p:spPr>
        <p:txBody>
          <a:bodyPr/>
          <a:lstStyle/>
          <a:p>
            <a:pPr eaLnBrk="1" hangingPunct="1"/>
            <a:r>
              <a:rPr lang="en-US" sz="2500" dirty="0">
                <a:latin typeface="Times New Roman" pitchFamily="18" charset="0"/>
              </a:rPr>
              <a:t>Suppose the client allows three risky asset classes:  </a:t>
            </a:r>
          </a:p>
          <a:p>
            <a:pPr eaLnBrk="1" hangingPunct="1">
              <a:buFont typeface="Wingdings" pitchFamily="2" charset="2"/>
              <a:buNone/>
            </a:pPr>
            <a:r>
              <a:rPr lang="en-US" sz="2500" dirty="0">
                <a:latin typeface="Times New Roman" pitchFamily="18" charset="0"/>
              </a:rPr>
              <a:t>	(1) government bonds, (2) stocks and (3) corporate bonds.</a:t>
            </a:r>
          </a:p>
          <a:p>
            <a:pPr eaLnBrk="1" hangingPunct="1">
              <a:buFont typeface="Wingdings" pitchFamily="2" charset="2"/>
              <a:buNone/>
            </a:pPr>
            <a:r>
              <a:rPr lang="en-US" sz="2500" dirty="0">
                <a:solidFill>
                  <a:srgbClr val="00B050"/>
                </a:solidFill>
                <a:latin typeface="Times New Roman" pitchFamily="18" charset="0"/>
              </a:rPr>
              <a:t>How would you develop the M-V frontier?</a:t>
            </a:r>
          </a:p>
          <a:p>
            <a:pPr eaLnBrk="1" hangingPunct="1">
              <a:buClr>
                <a:schemeClr val="tx1"/>
              </a:buClr>
            </a:pPr>
            <a:r>
              <a:rPr lang="en-US" sz="2500" dirty="0">
                <a:latin typeface="Times New Roman" pitchFamily="18" charset="0"/>
              </a:rPr>
              <a:t>To construct the M-V efficient frontier, first find the </a:t>
            </a:r>
            <a:r>
              <a:rPr lang="en-US" sz="2500" i="1" dirty="0">
                <a:latin typeface="Times New Roman" pitchFamily="18" charset="0"/>
              </a:rPr>
              <a:t>minimum variance portfolio</a:t>
            </a:r>
            <a:r>
              <a:rPr lang="en-US" sz="2500" dirty="0">
                <a:latin typeface="Times New Roman" pitchFamily="18" charset="0"/>
              </a:rPr>
              <a:t>.  </a:t>
            </a:r>
          </a:p>
          <a:p>
            <a:pPr eaLnBrk="1" hangingPunct="1">
              <a:buClr>
                <a:schemeClr val="tx1"/>
              </a:buClr>
            </a:pPr>
            <a:r>
              <a:rPr lang="en-US" sz="2500" dirty="0">
                <a:latin typeface="Times New Roman" pitchFamily="18" charset="0"/>
              </a:rPr>
              <a:t>This is the mix that is as far to the left in the M-V graph as possible, regardless of expected return.</a:t>
            </a:r>
          </a:p>
          <a:p>
            <a:pPr eaLnBrk="1" hangingPunct="1">
              <a:buClr>
                <a:schemeClr val="tx1"/>
              </a:buClr>
            </a:pPr>
            <a:r>
              <a:rPr lang="en-US" sz="2500" dirty="0">
                <a:latin typeface="Times New Roman" pitchFamily="18" charset="0"/>
              </a:rPr>
              <a:t>This comes from choosing the weights, </a:t>
            </a:r>
            <a:r>
              <a:rPr lang="en-US" sz="2500" i="1" dirty="0">
                <a:latin typeface="Times New Roman" pitchFamily="18" charset="0"/>
              </a:rPr>
              <a:t>w</a:t>
            </a:r>
            <a:r>
              <a:rPr lang="en-US" sz="2500" i="1" baseline="-25000" dirty="0">
                <a:latin typeface="Times New Roman" pitchFamily="18" charset="0"/>
              </a:rPr>
              <a:t>1 </a:t>
            </a:r>
            <a:r>
              <a:rPr lang="en-US" sz="2500" i="1" dirty="0">
                <a:latin typeface="Times New Roman" pitchFamily="18" charset="0"/>
              </a:rPr>
              <a:t> </a:t>
            </a:r>
            <a:r>
              <a:rPr lang="en-US" sz="2500" dirty="0">
                <a:latin typeface="Times New Roman" pitchFamily="18" charset="0"/>
              </a:rPr>
              <a:t>on T-bonds, </a:t>
            </a:r>
            <a:r>
              <a:rPr lang="en-US" sz="2500" i="1" dirty="0">
                <a:latin typeface="Times New Roman" pitchFamily="18" charset="0"/>
              </a:rPr>
              <a:t>w</a:t>
            </a:r>
            <a:r>
              <a:rPr lang="en-US" sz="2500" i="1" baseline="-25000" dirty="0">
                <a:latin typeface="Times New Roman" pitchFamily="18" charset="0"/>
              </a:rPr>
              <a:t>2 </a:t>
            </a:r>
            <a:r>
              <a:rPr lang="en-US" sz="2500" dirty="0">
                <a:latin typeface="Times New Roman" pitchFamily="18" charset="0"/>
              </a:rPr>
              <a:t>on stocks and </a:t>
            </a:r>
            <a:r>
              <a:rPr lang="en-US" sz="2500" i="1" dirty="0">
                <a:latin typeface="Times New Roman" pitchFamily="18" charset="0"/>
              </a:rPr>
              <a:t>w</a:t>
            </a:r>
            <a:r>
              <a:rPr lang="en-US" sz="2500" i="1" baseline="-25000" dirty="0">
                <a:latin typeface="Times New Roman" pitchFamily="18" charset="0"/>
              </a:rPr>
              <a:t>3</a:t>
            </a:r>
            <a:r>
              <a:rPr lang="en-US" sz="2500" i="1" dirty="0">
                <a:latin typeface="Times New Roman" pitchFamily="18" charset="0"/>
              </a:rPr>
              <a:t> </a:t>
            </a:r>
            <a:r>
              <a:rPr lang="en-US" sz="2500" i="1" baseline="-25000" dirty="0">
                <a:latin typeface="Times New Roman" pitchFamily="18" charset="0"/>
              </a:rPr>
              <a:t> </a:t>
            </a:r>
            <a:r>
              <a:rPr lang="en-US" sz="2500" dirty="0">
                <a:latin typeface="Times New Roman" pitchFamily="18" charset="0"/>
              </a:rPr>
              <a:t>= 1 </a:t>
            </a:r>
            <a:r>
              <a:rPr lang="en-US" sz="2500" i="1" dirty="0">
                <a:latin typeface="Times New Roman" pitchFamily="18" charset="0"/>
              </a:rPr>
              <a:t>-</a:t>
            </a:r>
            <a:r>
              <a:rPr lang="en-US" sz="2500" dirty="0">
                <a:latin typeface="Times New Roman" pitchFamily="18" charset="0"/>
              </a:rPr>
              <a:t> </a:t>
            </a:r>
            <a:r>
              <a:rPr lang="en-US" sz="2500" i="1" dirty="0">
                <a:latin typeface="Times New Roman" pitchFamily="18" charset="0"/>
              </a:rPr>
              <a:t>w</a:t>
            </a:r>
            <a:r>
              <a:rPr lang="en-US" sz="2500" i="1" baseline="-25000" dirty="0">
                <a:latin typeface="Times New Roman" pitchFamily="18" charset="0"/>
              </a:rPr>
              <a:t>1 </a:t>
            </a:r>
            <a:r>
              <a:rPr lang="en-US" sz="2500" i="1" dirty="0">
                <a:latin typeface="Times New Roman" pitchFamily="18" charset="0"/>
              </a:rPr>
              <a:t>- </a:t>
            </a:r>
            <a:r>
              <a:rPr lang="en-US" sz="2500" dirty="0">
                <a:latin typeface="Times New Roman" pitchFamily="18" charset="0"/>
              </a:rPr>
              <a:t>w</a:t>
            </a:r>
            <a:r>
              <a:rPr lang="en-US" sz="2500" baseline="-25000" dirty="0">
                <a:latin typeface="Times New Roman" pitchFamily="18" charset="0"/>
              </a:rPr>
              <a:t>2 </a:t>
            </a:r>
            <a:r>
              <a:rPr lang="en-US" sz="2500" dirty="0">
                <a:latin typeface="Times New Roman" pitchFamily="18" charset="0"/>
              </a:rPr>
              <a:t> in stock, to minimize the portfolio return variance (in Excel can use solver)</a:t>
            </a:r>
          </a:p>
        </p:txBody>
      </p:sp>
      <p:sp>
        <p:nvSpPr>
          <p:cNvPr id="4" name="TextBox 3"/>
          <p:cNvSpPr txBox="1"/>
          <p:nvPr/>
        </p:nvSpPr>
        <p:spPr>
          <a:xfrm>
            <a:off x="304800" y="6141045"/>
            <a:ext cx="8686800" cy="646331"/>
          </a:xfrm>
          <a:prstGeom prst="rect">
            <a:avLst/>
          </a:prstGeom>
          <a:solidFill>
            <a:srgbClr val="00B0F0"/>
          </a:solidFill>
          <a:ln w="25400">
            <a:solidFill>
              <a:schemeClr val="tx1"/>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A" sz="1800" b="0" i="0" u="none" strike="noStrike" kern="1200" cap="none" spc="0" normalizeH="0" baseline="0" noProof="0" dirty="0">
                <a:ln>
                  <a:noFill/>
                </a:ln>
                <a:solidFill>
                  <a:srgbClr val="000000"/>
                </a:solidFill>
                <a:effectLst/>
                <a:uLnTx/>
                <a:uFillTx/>
                <a:latin typeface="Times New Roman" pitchFamily="18" charset="0"/>
                <a:ea typeface="+mn-ea"/>
                <a:cs typeface="Arial"/>
              </a:rPr>
              <a:t>Again, all of the required inputs (means, variances, and </a:t>
            </a:r>
            <a:r>
              <a:rPr kumimoji="0" lang="en-CA" sz="1800" b="0" i="0" u="none" strike="noStrike" kern="1200" cap="none" spc="0" normalizeH="0" baseline="0" noProof="0" dirty="0" err="1">
                <a:ln>
                  <a:noFill/>
                </a:ln>
                <a:solidFill>
                  <a:srgbClr val="000000"/>
                </a:solidFill>
                <a:effectLst/>
                <a:uLnTx/>
                <a:uFillTx/>
                <a:latin typeface="Times New Roman" pitchFamily="18" charset="0"/>
                <a:ea typeface="+mn-ea"/>
                <a:cs typeface="Arial"/>
              </a:rPr>
              <a:t>covariances</a:t>
            </a:r>
            <a:r>
              <a:rPr kumimoji="0" lang="en-CA" sz="1800" b="0" i="0" u="none" strike="noStrike" kern="1200" cap="none" spc="0" normalizeH="0" baseline="0" noProof="0" dirty="0">
                <a:ln>
                  <a:noFill/>
                </a:ln>
                <a:solidFill>
                  <a:srgbClr val="000000"/>
                </a:solidFill>
                <a:effectLst/>
                <a:uLnTx/>
                <a:uFillTx/>
                <a:latin typeface="Times New Roman" pitchFamily="18" charset="0"/>
                <a:ea typeface="+mn-ea"/>
                <a:cs typeface="Arial"/>
              </a:rPr>
              <a:t>) can be estimated empirically from our spreadsheet </a:t>
            </a:r>
            <a:r>
              <a:rPr kumimoji="0" lang="en-CA" sz="1800" b="0" i="0" u="none" strike="noStrike" kern="1200" cap="none" spc="0" normalizeH="0" baseline="0" noProof="0" dirty="0" err="1">
                <a:ln>
                  <a:noFill/>
                </a:ln>
                <a:solidFill>
                  <a:srgbClr val="000000"/>
                </a:solidFill>
                <a:effectLst/>
                <a:uLnTx/>
                <a:uFillTx/>
                <a:latin typeface="Times New Roman" pitchFamily="18" charset="0"/>
                <a:ea typeface="+mn-ea"/>
                <a:cs typeface="Arial"/>
              </a:rPr>
              <a:t>histretSP</a:t>
            </a:r>
            <a:endParaRPr kumimoji="0" lang="en-CA" sz="1800" b="0" i="0" u="none" strike="noStrike" kern="1200" cap="none" spc="0" normalizeH="0" baseline="0" noProof="0" dirty="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3598005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sz="2800" b="1">
                <a:solidFill>
                  <a:schemeClr val="tx1"/>
                </a:solidFill>
                <a:latin typeface="Times New Roman" pitchFamily="18" charset="0"/>
              </a:rPr>
              <a:t>Constructing the Mean-Variance Efficient Frontier: Three assets</a:t>
            </a:r>
          </a:p>
        </p:txBody>
      </p:sp>
      <p:sp>
        <p:nvSpPr>
          <p:cNvPr id="29700" name="Rectangle 3"/>
          <p:cNvSpPr>
            <a:spLocks noGrp="1" noChangeArrowheads="1"/>
          </p:cNvSpPr>
          <p:nvPr>
            <p:ph type="body" idx="1"/>
          </p:nvPr>
        </p:nvSpPr>
        <p:spPr/>
        <p:txBody>
          <a:bodyPr/>
          <a:lstStyle/>
          <a:p>
            <a:pPr eaLnBrk="1" hangingPunct="1"/>
            <a:r>
              <a:rPr lang="en-US" sz="2500" dirty="0">
                <a:latin typeface="Times New Roman" pitchFamily="18" charset="0"/>
              </a:rPr>
              <a:t>The portfolio variance is:</a:t>
            </a:r>
          </a:p>
          <a:p>
            <a:pPr eaLnBrk="1" hangingPunct="1">
              <a:buFont typeface="Wingdings" pitchFamily="2" charset="2"/>
              <a:buNone/>
            </a:pPr>
            <a:r>
              <a:rPr lang="en-US" sz="2500"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1</a:t>
            </a:r>
            <a:r>
              <a:rPr lang="en-US" sz="2500" baseline="30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2</a:t>
            </a:r>
            <a:r>
              <a:rPr lang="en-US" sz="2500" baseline="30000" dirty="0">
                <a:latin typeface="Times New Roman" pitchFamily="18" charset="0"/>
              </a:rPr>
              <a:t>2</a:t>
            </a:r>
            <a:r>
              <a:rPr lang="en-US" sz="2500" dirty="0">
                <a:latin typeface="Times New Roman" pitchFamily="18" charset="0"/>
              </a:rPr>
              <a:t> + (1-w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baseline="30000" dirty="0">
                <a:latin typeface="Times New Roman" pitchFamily="18" charset="0"/>
              </a:rPr>
              <a:t>2</a:t>
            </a:r>
            <a:r>
              <a:rPr lang="en-US" sz="2500" dirty="0">
                <a:latin typeface="Symbol" pitchFamily="18" charset="2"/>
              </a:rPr>
              <a:t>s</a:t>
            </a:r>
            <a:r>
              <a:rPr lang="en-US" sz="2500" baseline="-25000" dirty="0">
                <a:latin typeface="Times New Roman" pitchFamily="18" charset="0"/>
              </a:rPr>
              <a:t>3</a:t>
            </a:r>
            <a:r>
              <a:rPr lang="en-US" sz="2500" baseline="30000" dirty="0">
                <a:latin typeface="Times New Roman" pitchFamily="18" charset="0"/>
              </a:rPr>
              <a:t>2</a:t>
            </a:r>
            <a:r>
              <a:rPr lang="en-US" sz="2500" dirty="0">
                <a:latin typeface="Times New Roman" pitchFamily="18" charset="0"/>
              </a:rPr>
              <a:t> +2w</a:t>
            </a:r>
            <a:r>
              <a:rPr lang="en-US" sz="2500" baseline="-25000" dirty="0">
                <a:latin typeface="Times New Roman" pitchFamily="18" charset="0"/>
              </a:rPr>
              <a:t>1w2</a:t>
            </a:r>
            <a:r>
              <a:rPr lang="en-US" sz="2500" dirty="0">
                <a:latin typeface="Symbol" pitchFamily="18" charset="2"/>
              </a:rPr>
              <a:t>s</a:t>
            </a:r>
            <a:r>
              <a:rPr lang="en-US" sz="2500" baseline="-25000" dirty="0">
                <a:latin typeface="Times New Roman" pitchFamily="18" charset="0"/>
              </a:rPr>
              <a:t>1,2</a:t>
            </a:r>
            <a:r>
              <a:rPr lang="en-US" sz="2500" dirty="0">
                <a:latin typeface="Times New Roman" pitchFamily="18" charset="0"/>
              </a:rPr>
              <a:t> +2w</a:t>
            </a:r>
            <a:r>
              <a:rPr lang="en-US" sz="2500" baseline="-25000" dirty="0">
                <a:latin typeface="Times New Roman" pitchFamily="18" charset="0"/>
              </a:rPr>
              <a:t>1</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1,3</a:t>
            </a:r>
            <a:r>
              <a:rPr lang="en-US" sz="2500" dirty="0">
                <a:latin typeface="Times New Roman" pitchFamily="18" charset="0"/>
              </a:rPr>
              <a:t> + 2w</a:t>
            </a:r>
            <a:r>
              <a:rPr lang="en-US" sz="2500" baseline="-25000" dirty="0">
                <a:latin typeface="Times New Roman" pitchFamily="18" charset="0"/>
              </a:rPr>
              <a:t>2</a:t>
            </a:r>
            <a:r>
              <a:rPr lang="en-US" sz="2500" dirty="0">
                <a:latin typeface="Times New Roman" pitchFamily="18" charset="0"/>
              </a:rPr>
              <a:t>(1-w</a:t>
            </a:r>
            <a:r>
              <a:rPr lang="en-US" sz="2500" baseline="-25000" dirty="0">
                <a:latin typeface="Times New Roman" pitchFamily="18" charset="0"/>
              </a:rPr>
              <a:t>1</a:t>
            </a:r>
            <a:r>
              <a:rPr lang="en-US" sz="2500" dirty="0">
                <a:latin typeface="Times New Roman" pitchFamily="18" charset="0"/>
              </a:rPr>
              <a:t>-w</a:t>
            </a:r>
            <a:r>
              <a:rPr lang="en-US" sz="2500" baseline="-25000" dirty="0">
                <a:latin typeface="Times New Roman" pitchFamily="18" charset="0"/>
              </a:rPr>
              <a:t>2</a:t>
            </a:r>
            <a:r>
              <a:rPr lang="en-US" sz="2500" dirty="0">
                <a:latin typeface="Times New Roman" pitchFamily="18" charset="0"/>
              </a:rPr>
              <a:t>)</a:t>
            </a:r>
            <a:r>
              <a:rPr lang="en-US" sz="2500" dirty="0">
                <a:latin typeface="Symbol" pitchFamily="18" charset="2"/>
              </a:rPr>
              <a:t>s</a:t>
            </a:r>
            <a:r>
              <a:rPr lang="en-US" sz="2500" baseline="-25000" dirty="0">
                <a:latin typeface="Times New Roman" pitchFamily="18" charset="0"/>
              </a:rPr>
              <a:t>2,3</a:t>
            </a:r>
          </a:p>
          <a:p>
            <a:pPr eaLnBrk="1" hangingPunct="1"/>
            <a:endParaRPr lang="en-US" sz="2500" baseline="-25000" dirty="0">
              <a:latin typeface="Times New Roman" pitchFamily="18" charset="0"/>
            </a:endParaRPr>
          </a:p>
          <a:p>
            <a:pPr eaLnBrk="1" hangingPunct="1"/>
            <a:r>
              <a:rPr lang="en-US" sz="2500" dirty="0">
                <a:latin typeface="Times New Roman" pitchFamily="18" charset="0"/>
              </a:rPr>
              <a:t>Where </a:t>
            </a:r>
            <a:r>
              <a:rPr lang="en-US" sz="2500" dirty="0" err="1">
                <a:latin typeface="Symbol" pitchFamily="18" charset="2"/>
              </a:rPr>
              <a:t>s</a:t>
            </a:r>
            <a:r>
              <a:rPr lang="en-US" sz="2500" baseline="-25000" dirty="0" err="1">
                <a:latin typeface="Times New Roman" pitchFamily="18" charset="0"/>
              </a:rPr>
              <a:t>i,j</a:t>
            </a:r>
            <a:r>
              <a:rPr lang="en-US" sz="2500" dirty="0">
                <a:latin typeface="Times New Roman" pitchFamily="18" charset="0"/>
              </a:rPr>
              <a:t> is the covariance of the returns of asset classes </a:t>
            </a:r>
            <a:r>
              <a:rPr lang="en-US" sz="2500" dirty="0" err="1">
                <a:latin typeface="Times New Roman" pitchFamily="18" charset="0"/>
              </a:rPr>
              <a:t>i</a:t>
            </a:r>
            <a:r>
              <a:rPr lang="en-US" sz="2500" dirty="0">
                <a:latin typeface="Times New Roman" pitchFamily="18" charset="0"/>
              </a:rPr>
              <a:t> and j and </a:t>
            </a:r>
            <a:r>
              <a:rPr lang="en-US" sz="2500" dirty="0" err="1">
                <a:latin typeface="Symbol" pitchFamily="18" charset="2"/>
              </a:rPr>
              <a:t>s</a:t>
            </a:r>
            <a:r>
              <a:rPr lang="en-US" sz="2500" baseline="-25000" dirty="0" err="1">
                <a:latin typeface="Times New Roman" pitchFamily="18" charset="0"/>
              </a:rPr>
              <a:t>j</a:t>
            </a:r>
            <a:r>
              <a:rPr lang="en-US" sz="2500" dirty="0">
                <a:latin typeface="Times New Roman" pitchFamily="18" charset="0"/>
              </a:rPr>
              <a:t> is the standard deviation of returns of asset j</a:t>
            </a:r>
          </a:p>
        </p:txBody>
      </p:sp>
    </p:spTree>
    <p:extLst>
      <p:ext uri="{BB962C8B-B14F-4D97-AF65-F5344CB8AC3E}">
        <p14:creationId xmlns:p14="http://schemas.microsoft.com/office/powerpoint/2010/main" val="1787043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a:solidFill>
                  <a:schemeClr val="tx1"/>
                </a:solidFill>
                <a:latin typeface="Times New Roman" pitchFamily="18" charset="0"/>
              </a:rPr>
              <a:t>Constructing the Mean-Variance Efficient Frontier: Three assets</a:t>
            </a:r>
          </a:p>
        </p:txBody>
      </p:sp>
      <p:sp>
        <p:nvSpPr>
          <p:cNvPr id="30724" name="Rectangle 3"/>
          <p:cNvSpPr>
            <a:spLocks noGrp="1" noChangeArrowheads="1"/>
          </p:cNvSpPr>
          <p:nvPr>
            <p:ph type="body" idx="1"/>
          </p:nvPr>
        </p:nvSpPr>
        <p:spPr>
          <a:xfrm>
            <a:off x="685800" y="1524000"/>
            <a:ext cx="7772400" cy="4572000"/>
          </a:xfrm>
        </p:spPr>
        <p:txBody>
          <a:bodyPr/>
          <a:lstStyle/>
          <a:p>
            <a:pPr eaLnBrk="1" hangingPunct="1">
              <a:lnSpc>
                <a:spcPct val="90000"/>
              </a:lnSpc>
            </a:pPr>
            <a:r>
              <a:rPr lang="en-US" sz="2500" dirty="0">
                <a:latin typeface="Times New Roman" pitchFamily="18" charset="0"/>
              </a:rPr>
              <a:t>We now solve a </a:t>
            </a:r>
            <a:r>
              <a:rPr lang="en-US" sz="2500" i="1" dirty="0">
                <a:latin typeface="Times New Roman" pitchFamily="18" charset="0"/>
              </a:rPr>
              <a:t>constrained minimization</a:t>
            </a:r>
            <a:r>
              <a:rPr lang="en-US" sz="2500" dirty="0">
                <a:latin typeface="Times New Roman" pitchFamily="18" charset="0"/>
              </a:rPr>
              <a:t>.</a:t>
            </a:r>
          </a:p>
          <a:p>
            <a:pPr eaLnBrk="1" hangingPunct="1">
              <a:lnSpc>
                <a:spcPct val="90000"/>
              </a:lnSpc>
            </a:pPr>
            <a:r>
              <a:rPr lang="en-US" sz="2500" dirty="0">
                <a:latin typeface="Times New Roman" pitchFamily="18" charset="0"/>
              </a:rPr>
              <a:t>We choose  </a:t>
            </a:r>
            <a:r>
              <a:rPr lang="en-US" sz="2500" i="1" dirty="0">
                <a:latin typeface="Times New Roman" pitchFamily="18" charset="0"/>
              </a:rPr>
              <a:t>w</a:t>
            </a:r>
            <a:r>
              <a:rPr lang="en-US" sz="2500" i="1" baseline="-25000" dirty="0">
                <a:latin typeface="Times New Roman" pitchFamily="18" charset="0"/>
              </a:rPr>
              <a:t>1 </a:t>
            </a:r>
            <a:r>
              <a:rPr lang="en-US" sz="2500" dirty="0">
                <a:latin typeface="Times New Roman" pitchFamily="18" charset="0"/>
              </a:rPr>
              <a:t>and </a:t>
            </a:r>
            <a:r>
              <a:rPr lang="en-US" sz="2500" i="1" dirty="0">
                <a:latin typeface="Times New Roman" pitchFamily="18" charset="0"/>
              </a:rPr>
              <a:t>w</a:t>
            </a:r>
            <a:r>
              <a:rPr lang="en-US" sz="2500" i="1" baseline="-25000" dirty="0">
                <a:latin typeface="Times New Roman" pitchFamily="18" charset="0"/>
              </a:rPr>
              <a:t>2</a:t>
            </a:r>
            <a:r>
              <a:rPr lang="en-US" sz="2500" i="1" dirty="0">
                <a:latin typeface="Times New Roman" pitchFamily="18" charset="0"/>
              </a:rPr>
              <a:t> </a:t>
            </a:r>
            <a:r>
              <a:rPr lang="en-US" sz="2500" dirty="0">
                <a:latin typeface="Times New Roman" pitchFamily="18" charset="0"/>
              </a:rPr>
              <a:t>to minimize</a:t>
            </a:r>
            <a:r>
              <a:rPr lang="en-US" sz="2500" i="1" dirty="0">
                <a:latin typeface="Times New Roman" pitchFamily="18" charset="0"/>
              </a:rPr>
              <a:t> </a:t>
            </a:r>
            <a:r>
              <a:rPr lang="en-US" sz="2500" dirty="0">
                <a:latin typeface="Symbol" pitchFamily="18" charset="2"/>
              </a:rPr>
              <a:t>s</a:t>
            </a:r>
            <a:r>
              <a:rPr lang="en-US" sz="2500" baseline="-25000" dirty="0">
                <a:latin typeface="Times New Roman" pitchFamily="18" charset="0"/>
              </a:rPr>
              <a:t>p</a:t>
            </a:r>
            <a:r>
              <a:rPr lang="en-US" sz="2500" baseline="30000" dirty="0">
                <a:latin typeface="Times New Roman" pitchFamily="18" charset="0"/>
              </a:rPr>
              <a:t>2</a:t>
            </a:r>
            <a:r>
              <a:rPr lang="en-US" sz="2500" i="1" dirty="0">
                <a:latin typeface="Times New Roman" pitchFamily="18" charset="0"/>
              </a:rPr>
              <a:t> subject</a:t>
            </a:r>
            <a:r>
              <a:rPr lang="en-US" sz="2500" dirty="0">
                <a:latin typeface="Times New Roman" pitchFamily="18" charset="0"/>
              </a:rPr>
              <a:t> </a:t>
            </a:r>
            <a:r>
              <a:rPr lang="en-US" sz="2500" i="1" dirty="0">
                <a:latin typeface="Times New Roman" pitchFamily="18" charset="0"/>
              </a:rPr>
              <a:t>to </a:t>
            </a:r>
            <a:r>
              <a:rPr lang="en-US" sz="2500" dirty="0">
                <a:latin typeface="Times New Roman" pitchFamily="18" charset="0"/>
              </a:rPr>
              <a:t>the portfolio having a specified expected return, </a:t>
            </a:r>
          </a:p>
          <a:p>
            <a:pPr eaLnBrk="1" hangingPunct="1">
              <a:lnSpc>
                <a:spcPct val="90000"/>
              </a:lnSpc>
              <a:buFont typeface="Wingdings" pitchFamily="2" charset="2"/>
              <a:buNone/>
            </a:pPr>
            <a:r>
              <a:rPr lang="en-US" sz="2500" dirty="0">
                <a:latin typeface="Times New Roman" pitchFamily="18" charset="0"/>
              </a:rPr>
              <a:t>     </a:t>
            </a:r>
            <a:r>
              <a:rPr lang="en-US" sz="2500"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 w</a:t>
            </a:r>
            <a:r>
              <a:rPr lang="en-US" sz="2500" baseline="-25000" dirty="0">
                <a:latin typeface="Times New Roman" pitchFamily="18" charset="0"/>
              </a:rPr>
              <a:t>1</a:t>
            </a:r>
            <a:r>
              <a:rPr lang="en-US" sz="2500" dirty="0">
                <a:latin typeface="Times New Roman" pitchFamily="18" charset="0"/>
              </a:rPr>
              <a:t>E(r</a:t>
            </a:r>
            <a:r>
              <a:rPr lang="en-US" sz="2500" baseline="-25000" dirty="0">
                <a:latin typeface="Times New Roman" pitchFamily="18" charset="0"/>
              </a:rPr>
              <a:t>1</a:t>
            </a:r>
            <a:r>
              <a:rPr lang="en-US" sz="2500" dirty="0">
                <a:latin typeface="Times New Roman" pitchFamily="18" charset="0"/>
              </a:rPr>
              <a:t>) + w</a:t>
            </a:r>
            <a:r>
              <a:rPr lang="en-US" sz="2500" baseline="-25000" dirty="0">
                <a:latin typeface="Times New Roman" pitchFamily="18" charset="0"/>
              </a:rPr>
              <a:t>2</a:t>
            </a:r>
            <a:r>
              <a:rPr lang="en-US" sz="2500" dirty="0">
                <a:latin typeface="Times New Roman" pitchFamily="18" charset="0"/>
              </a:rPr>
              <a:t>E(r</a:t>
            </a:r>
            <a:r>
              <a:rPr lang="en-US" sz="2500" baseline="-25000" dirty="0">
                <a:latin typeface="Times New Roman" pitchFamily="18" charset="0"/>
              </a:rPr>
              <a:t>2</a:t>
            </a:r>
            <a:r>
              <a:rPr lang="en-US" sz="2500" dirty="0">
                <a:latin typeface="Times New Roman" pitchFamily="18" charset="0"/>
              </a:rPr>
              <a:t>) +w</a:t>
            </a:r>
            <a:r>
              <a:rPr lang="en-US" sz="2500" baseline="-25000" dirty="0">
                <a:latin typeface="Times New Roman" pitchFamily="18" charset="0"/>
              </a:rPr>
              <a:t>3</a:t>
            </a:r>
            <a:r>
              <a:rPr lang="en-US" sz="2500" dirty="0">
                <a:latin typeface="Times New Roman" pitchFamily="18" charset="0"/>
              </a:rPr>
              <a:t>E(r</a:t>
            </a:r>
            <a:r>
              <a:rPr lang="en-US" sz="2500" baseline="-25000" dirty="0">
                <a:latin typeface="Times New Roman" pitchFamily="18" charset="0"/>
              </a:rPr>
              <a:t>3</a:t>
            </a:r>
            <a:r>
              <a:rPr lang="en-US" sz="2500" dirty="0">
                <a:latin typeface="Times New Roman" pitchFamily="18" charset="0"/>
              </a:rPr>
              <a:t>)  </a:t>
            </a:r>
          </a:p>
          <a:p>
            <a:pPr eaLnBrk="1" hangingPunct="1">
              <a:lnSpc>
                <a:spcPct val="90000"/>
              </a:lnSpc>
            </a:pPr>
            <a:r>
              <a:rPr lang="en-US" sz="2500" dirty="0">
                <a:latin typeface="Times New Roman" pitchFamily="18" charset="0"/>
              </a:rPr>
              <a:t>We set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at different levels, starting a little bigger than the expected return on the minimum variance portfolio, and then getting bigger.</a:t>
            </a:r>
          </a:p>
          <a:p>
            <a:pPr eaLnBrk="1" hangingPunct="1">
              <a:lnSpc>
                <a:spcPct val="90000"/>
              </a:lnSpc>
            </a:pPr>
            <a:r>
              <a:rPr lang="en-US" sz="2500" dirty="0">
                <a:latin typeface="Times New Roman" pitchFamily="18" charset="0"/>
              </a:rPr>
              <a:t>For each </a:t>
            </a:r>
            <a:r>
              <a:rPr lang="en-US" sz="2500" i="1" dirty="0" err="1">
                <a:latin typeface="Times New Roman" pitchFamily="18" charset="0"/>
              </a:rPr>
              <a:t>r</a:t>
            </a:r>
            <a:r>
              <a:rPr lang="en-US" sz="2500" baseline="-25000" dirty="0" err="1">
                <a:latin typeface="Times New Roman" pitchFamily="18" charset="0"/>
              </a:rPr>
              <a:t>p</a:t>
            </a:r>
            <a:r>
              <a:rPr lang="en-US" sz="2500" dirty="0">
                <a:latin typeface="Times New Roman" pitchFamily="18" charset="0"/>
              </a:rPr>
              <a:t> we solve the constrained minimization, getting the optimal asset class weights and the portfolio’s expected return and standard deviation.</a:t>
            </a:r>
          </a:p>
          <a:p>
            <a:pPr eaLnBrk="1" hangingPunct="1">
              <a:lnSpc>
                <a:spcPct val="90000"/>
              </a:lnSpc>
            </a:pPr>
            <a:r>
              <a:rPr lang="en-US" sz="2500" dirty="0">
                <a:latin typeface="Times New Roman" pitchFamily="18" charset="0"/>
              </a:rPr>
              <a:t>We can then plot these, to get the mean-variance efficient frontier.</a:t>
            </a:r>
          </a:p>
        </p:txBody>
      </p:sp>
    </p:spTree>
    <p:extLst>
      <p:ext uri="{BB962C8B-B14F-4D97-AF65-F5344CB8AC3E}">
        <p14:creationId xmlns:p14="http://schemas.microsoft.com/office/powerpoint/2010/main" val="4292771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81000"/>
            <a:ext cx="7772400" cy="1752600"/>
          </a:xfrm>
        </p:spPr>
        <p:txBody>
          <a:bodyPr/>
          <a:lstStyle/>
          <a:p>
            <a:pPr eaLnBrk="1" hangingPunct="1"/>
            <a:r>
              <a:rPr lang="en-US" sz="2800" b="1" dirty="0">
                <a:solidFill>
                  <a:schemeClr val="tx1"/>
                </a:solidFill>
                <a:latin typeface="Times New Roman" pitchFamily="18" charset="0"/>
              </a:rPr>
              <a:t>Simplification with two-fund separation</a:t>
            </a:r>
          </a:p>
        </p:txBody>
      </p:sp>
      <p:sp>
        <p:nvSpPr>
          <p:cNvPr id="30724" name="Rectangle 3"/>
          <p:cNvSpPr>
            <a:spLocks noGrp="1" noChangeArrowheads="1"/>
          </p:cNvSpPr>
          <p:nvPr>
            <p:ph type="body" idx="1"/>
          </p:nvPr>
        </p:nvSpPr>
        <p:spPr>
          <a:xfrm>
            <a:off x="685800" y="1600200"/>
            <a:ext cx="7772400" cy="4572000"/>
          </a:xfrm>
        </p:spPr>
        <p:txBody>
          <a:bodyPr/>
          <a:lstStyle/>
          <a:p>
            <a:pPr eaLnBrk="1" hangingPunct="1">
              <a:lnSpc>
                <a:spcPct val="90000"/>
              </a:lnSpc>
            </a:pPr>
            <a:r>
              <a:rPr lang="en-US" sz="2500" dirty="0">
                <a:latin typeface="Times New Roman" pitchFamily="18" charset="0"/>
              </a:rPr>
              <a:t>It turns out that any linear combination of portfolios on the efficient frontier is also an efficient portfolio, and all efficient portfolios can be obtained as a linear combination of any two efficient portfolios</a:t>
            </a:r>
          </a:p>
          <a:p>
            <a:pPr eaLnBrk="1" hangingPunct="1">
              <a:lnSpc>
                <a:spcPct val="90000"/>
              </a:lnSpc>
            </a:pPr>
            <a:r>
              <a:rPr lang="en-US" sz="2500" dirty="0">
                <a:latin typeface="Times New Roman" pitchFamily="18" charset="0"/>
              </a:rPr>
              <a:t>This is called “</a:t>
            </a:r>
            <a:r>
              <a:rPr lang="en-US" sz="2500" i="1" dirty="0">
                <a:latin typeface="Times New Roman" pitchFamily="18" charset="0"/>
              </a:rPr>
              <a:t>two fund separation</a:t>
            </a:r>
            <a:r>
              <a:rPr lang="en-US" sz="2500" dirty="0">
                <a:latin typeface="Times New Roman" pitchFamily="18" charset="0"/>
              </a:rPr>
              <a:t>” and what it means is that to trace out the entire efficient frontier, we need only obtain two efficient portfolios, and then take linear combinations of those two portfolios to trace out the rest of the frontier</a:t>
            </a:r>
          </a:p>
          <a:p>
            <a:pPr eaLnBrk="1" hangingPunct="1">
              <a:lnSpc>
                <a:spcPct val="90000"/>
              </a:lnSpc>
            </a:pPr>
            <a:r>
              <a:rPr lang="en-US" sz="2500" dirty="0">
                <a:latin typeface="Times New Roman" pitchFamily="18" charset="0"/>
              </a:rPr>
              <a:t>See the three-asset example in the spreadsheet MV3.xlsx</a:t>
            </a:r>
          </a:p>
          <a:p>
            <a:pPr eaLnBrk="1" hangingPunct="1">
              <a:lnSpc>
                <a:spcPct val="90000"/>
              </a:lnSpc>
            </a:pPr>
            <a:r>
              <a:rPr lang="en-US" sz="2500" dirty="0">
                <a:latin typeface="Times New Roman" pitchFamily="18" charset="0"/>
              </a:rPr>
              <a:t>You will do this in Python in Assignment 3</a:t>
            </a:r>
          </a:p>
        </p:txBody>
      </p:sp>
    </p:spTree>
    <p:extLst>
      <p:ext uri="{BB962C8B-B14F-4D97-AF65-F5344CB8AC3E}">
        <p14:creationId xmlns:p14="http://schemas.microsoft.com/office/powerpoint/2010/main" val="193725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914400" y="301625"/>
            <a:ext cx="8077200" cy="1143000"/>
          </a:xfrm>
        </p:spPr>
        <p:txBody>
          <a:bodyPr/>
          <a:lstStyle/>
          <a:p>
            <a:pPr eaLnBrk="1" hangingPunct="1"/>
            <a:r>
              <a:rPr lang="en-US" sz="3200" dirty="0">
                <a:latin typeface="Times New Roman" pitchFamily="18" charset="0"/>
              </a:rPr>
              <a:t>In Practice: Where Do We get (1) Expected Return, (2) Expected Variance and (3) Correlation?</a:t>
            </a:r>
          </a:p>
        </p:txBody>
      </p:sp>
      <p:sp>
        <p:nvSpPr>
          <p:cNvPr id="32772" name="Rectangle 3"/>
          <p:cNvSpPr>
            <a:spLocks noGrp="1" noChangeArrowheads="1"/>
          </p:cNvSpPr>
          <p:nvPr>
            <p:ph type="body" idx="1"/>
          </p:nvPr>
        </p:nvSpPr>
        <p:spPr/>
        <p:txBody>
          <a:bodyPr/>
          <a:lstStyle/>
          <a:p>
            <a:pPr eaLnBrk="1" hangingPunct="1"/>
            <a:r>
              <a:rPr lang="en-US" dirty="0">
                <a:latin typeface="Times New Roman" pitchFamily="18" charset="0"/>
              </a:rPr>
              <a:t>Three critical inputs to mean-variance portfolio optimization.  Where do these come from? </a:t>
            </a:r>
          </a:p>
          <a:p>
            <a:pPr lvl="1" eaLnBrk="1" hangingPunct="1"/>
            <a:r>
              <a:rPr lang="en-US" dirty="0">
                <a:latin typeface="Times New Roman" pitchFamily="18" charset="0"/>
              </a:rPr>
              <a:t>Repeat of history?</a:t>
            </a:r>
          </a:p>
          <a:p>
            <a:pPr lvl="1" eaLnBrk="1" hangingPunct="1"/>
            <a:r>
              <a:rPr lang="en-US" dirty="0">
                <a:latin typeface="Times New Roman" pitchFamily="18" charset="0"/>
              </a:rPr>
              <a:t>Tempered repeat of history?</a:t>
            </a:r>
          </a:p>
          <a:p>
            <a:pPr lvl="1" eaLnBrk="1" hangingPunct="1"/>
            <a:r>
              <a:rPr lang="en-US" dirty="0">
                <a:latin typeface="Times New Roman" pitchFamily="18" charset="0"/>
              </a:rPr>
              <a:t>Other?</a:t>
            </a:r>
          </a:p>
          <a:p>
            <a:pPr lvl="1" eaLnBrk="1" hangingPunct="1"/>
            <a:endParaRPr lang="en-US" dirty="0">
              <a:latin typeface="Times New Roman" pitchFamily="18" charset="0"/>
            </a:endParaRPr>
          </a:p>
          <a:p>
            <a:pPr eaLnBrk="1" hangingPunct="1"/>
            <a:r>
              <a:rPr lang="en-US" dirty="0">
                <a:latin typeface="Times New Roman" pitchFamily="18" charset="0"/>
              </a:rPr>
              <a:t>What are the issues with each?</a:t>
            </a:r>
          </a:p>
        </p:txBody>
      </p:sp>
    </p:spTree>
    <p:extLst>
      <p:ext uri="{BB962C8B-B14F-4D97-AF65-F5344CB8AC3E}">
        <p14:creationId xmlns:p14="http://schemas.microsoft.com/office/powerpoint/2010/main" val="4156333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General Mean-variance Math (see appendix)</a:t>
            </a:r>
          </a:p>
        </p:txBody>
      </p:sp>
      <p:sp>
        <p:nvSpPr>
          <p:cNvPr id="2" name="Content Placeholder 1"/>
          <p:cNvSpPr>
            <a:spLocks noGrp="1"/>
          </p:cNvSpPr>
          <p:nvPr>
            <p:ph idx="1"/>
          </p:nvPr>
        </p:nvSpPr>
        <p:spPr/>
        <p:txBody>
          <a:bodyPr/>
          <a:lstStyle/>
          <a:p>
            <a:r>
              <a:rPr lang="en-CA" dirty="0"/>
              <a:t>General formulas can be developed when the number of asset classes becomes large…</a:t>
            </a:r>
          </a:p>
          <a:p>
            <a:endParaRPr lang="en-CA" dirty="0"/>
          </a:p>
          <a:p>
            <a:r>
              <a:rPr lang="en-CA" dirty="0"/>
              <a:t>But, more importantly, how do the general problems/limitations of using this approach become magnified as the number of assets grows?</a:t>
            </a:r>
          </a:p>
        </p:txBody>
      </p:sp>
    </p:spTree>
    <p:extLst>
      <p:ext uri="{BB962C8B-B14F-4D97-AF65-F5344CB8AC3E}">
        <p14:creationId xmlns:p14="http://schemas.microsoft.com/office/powerpoint/2010/main" val="2498938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Asset Allocation in Practice</a:t>
            </a:r>
          </a:p>
        </p:txBody>
      </p:sp>
      <p:sp>
        <p:nvSpPr>
          <p:cNvPr id="2" name="Content Placeholder 1"/>
          <p:cNvSpPr>
            <a:spLocks noGrp="1"/>
          </p:cNvSpPr>
          <p:nvPr>
            <p:ph idx="1"/>
          </p:nvPr>
        </p:nvSpPr>
        <p:spPr>
          <a:xfrm>
            <a:off x="457200" y="1827212"/>
            <a:ext cx="8226425" cy="4649787"/>
          </a:xfrm>
        </p:spPr>
        <p:txBody>
          <a:bodyPr/>
          <a:lstStyle/>
          <a:p>
            <a:r>
              <a:rPr lang="en-CA" sz="2400" dirty="0"/>
              <a:t>60/40, 70/30 “rules”</a:t>
            </a:r>
          </a:p>
          <a:p>
            <a:r>
              <a:rPr lang="en-CA" sz="2400" dirty="0"/>
              <a:t>Life-cycle portfolios, 100-age in stocks, etc.</a:t>
            </a:r>
          </a:p>
          <a:p>
            <a:r>
              <a:rPr lang="en-CA" sz="2400" dirty="0"/>
              <a:t>As implemented by institutional investors in recent times, from 3-12 asset classes</a:t>
            </a:r>
          </a:p>
          <a:p>
            <a:endParaRPr lang="en-CA" sz="2400" dirty="0"/>
          </a:p>
          <a:p>
            <a:r>
              <a:rPr lang="en-CA" sz="2400" dirty="0">
                <a:hlinkClick r:id="rId3"/>
              </a:rPr>
              <a:t>Forbes</a:t>
            </a:r>
            <a:r>
              <a:rPr lang="en-CA" sz="2400" dirty="0"/>
              <a:t> on Practical Asset Allocation</a:t>
            </a:r>
          </a:p>
          <a:p>
            <a:r>
              <a:rPr lang="en-CA" sz="2400" dirty="0">
                <a:hlinkClick r:id="rId4"/>
              </a:rPr>
              <a:t>Charles Schwab</a:t>
            </a:r>
            <a:endParaRPr lang="en-CA" sz="2400" dirty="0"/>
          </a:p>
          <a:p>
            <a:r>
              <a:rPr lang="en-CA" sz="2400" dirty="0">
                <a:hlinkClick r:id="rId5"/>
              </a:rPr>
              <a:t>TIAA</a:t>
            </a:r>
            <a:r>
              <a:rPr lang="en-CA" sz="2400" dirty="0"/>
              <a:t> life-cycle funds</a:t>
            </a:r>
          </a:p>
          <a:p>
            <a:r>
              <a:rPr lang="en-CA" sz="2400" dirty="0">
                <a:hlinkClick r:id="rId6"/>
              </a:rPr>
              <a:t>Couch potato</a:t>
            </a:r>
            <a:r>
              <a:rPr lang="en-CA" sz="2400" dirty="0"/>
              <a:t> portfolio</a:t>
            </a:r>
          </a:p>
          <a:p>
            <a:pPr marL="0" indent="0">
              <a:buNone/>
            </a:pPr>
            <a:endParaRPr lang="en-CA" dirty="0"/>
          </a:p>
        </p:txBody>
      </p:sp>
    </p:spTree>
    <p:extLst>
      <p:ext uri="{BB962C8B-B14F-4D97-AF65-F5344CB8AC3E}">
        <p14:creationId xmlns:p14="http://schemas.microsoft.com/office/powerpoint/2010/main" val="504390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60420" name="Rectangle 3"/>
          <p:cNvSpPr>
            <a:spLocks noGrp="1" noChangeArrowheads="1"/>
          </p:cNvSpPr>
          <p:nvPr>
            <p:ph type="body" idx="1"/>
          </p:nvPr>
        </p:nvSpPr>
        <p:spPr/>
        <p:txBody>
          <a:bodyPr/>
          <a:lstStyle/>
          <a:p>
            <a:pPr marL="457200" indent="-457200" eaLnBrk="1" hangingPunct="1">
              <a:buFont typeface="+mj-lt"/>
              <a:buAutoNum type="arabicPeriod"/>
            </a:pPr>
            <a:r>
              <a:rPr lang="en-US" sz="2500" b="1" dirty="0">
                <a:latin typeface="Times New Roman" pitchFamily="18" charset="0"/>
              </a:rPr>
              <a:t>Strategic Asset Allocation </a:t>
            </a:r>
            <a:r>
              <a:rPr lang="en-US" sz="2500" dirty="0">
                <a:latin typeface="Times New Roman" pitchFamily="18" charset="0"/>
              </a:rPr>
              <a:t>– the decision of what portfolio weights to assign to each asset class</a:t>
            </a:r>
          </a:p>
          <a:p>
            <a:pPr marL="457200" indent="-457200" eaLnBrk="1" hangingPunct="1">
              <a:buFont typeface="+mj-lt"/>
              <a:buAutoNum type="arabicPeriod"/>
            </a:pPr>
            <a:r>
              <a:rPr lang="en-US" sz="2500" b="1" dirty="0">
                <a:latin typeface="Times New Roman" pitchFamily="18" charset="0"/>
              </a:rPr>
              <a:t>Tactical Asset Allocation </a:t>
            </a:r>
            <a:r>
              <a:rPr lang="en-US" sz="2500" dirty="0">
                <a:latin typeface="Times New Roman" pitchFamily="18" charset="0"/>
              </a:rPr>
              <a:t>– shifting weights in asset classes when you think returns will be low or high in that asset class (requires timing ability to succeed)</a:t>
            </a:r>
          </a:p>
          <a:p>
            <a:pPr marL="457200" indent="-457200" eaLnBrk="1" hangingPunct="1">
              <a:buFont typeface="+mj-lt"/>
              <a:buAutoNum type="arabicPeriod"/>
            </a:pPr>
            <a:r>
              <a:rPr lang="en-US" sz="2500" b="1" dirty="0">
                <a:latin typeface="Times New Roman" pitchFamily="18" charset="0"/>
              </a:rPr>
              <a:t>Active vs. Passive management </a:t>
            </a:r>
            <a:r>
              <a:rPr lang="en-US" sz="2500" dirty="0">
                <a:latin typeface="Times New Roman" pitchFamily="18" charset="0"/>
              </a:rPr>
              <a:t>of each asset class – performance relative to asset class benchmark</a:t>
            </a:r>
          </a:p>
          <a:p>
            <a:pPr eaLnBrk="1" hangingPunct="1"/>
            <a:endParaRPr lang="en-US" sz="2500" dirty="0">
              <a:latin typeface="Times New Roman" pitchFamily="18" charset="0"/>
            </a:endParaRPr>
          </a:p>
          <a:p>
            <a:pPr eaLnBrk="1" hangingPunct="1"/>
            <a:r>
              <a:rPr lang="en-US" sz="2500" dirty="0">
                <a:latin typeface="Times New Roman" pitchFamily="18" charset="0"/>
              </a:rPr>
              <a:t>Performance evaluation often tries to break down performance of a portfolio into these elements</a:t>
            </a:r>
          </a:p>
        </p:txBody>
      </p:sp>
    </p:spTree>
    <p:extLst>
      <p:ext uri="{BB962C8B-B14F-4D97-AF65-F5344CB8AC3E}">
        <p14:creationId xmlns:p14="http://schemas.microsoft.com/office/powerpoint/2010/main" val="3822636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Strategic Asset Allocation as first step in bigger picture</a:t>
            </a:r>
          </a:p>
        </p:txBody>
      </p:sp>
      <p:sp>
        <p:nvSpPr>
          <p:cNvPr id="2" name="Content Placeholder 1"/>
          <p:cNvSpPr>
            <a:spLocks noGrp="1"/>
          </p:cNvSpPr>
          <p:nvPr>
            <p:ph idx="1"/>
          </p:nvPr>
        </p:nvSpPr>
        <p:spPr>
          <a:xfrm>
            <a:off x="914400" y="1828800"/>
            <a:ext cx="1981200" cy="4495800"/>
          </a:xfrm>
        </p:spPr>
        <p:txBody>
          <a:bodyPr/>
          <a:lstStyle/>
          <a:p>
            <a:pPr marL="0" indent="0">
              <a:buNone/>
            </a:pPr>
            <a:r>
              <a:rPr lang="en-US" sz="1400" dirty="0"/>
              <a:t>Performance evaluation with SAA, TAA, and active management (Brinson et al. 1995, FAJ)</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676400"/>
            <a:ext cx="5527658" cy="4742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1492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Critiques of MPT</a:t>
            </a:r>
          </a:p>
        </p:txBody>
      </p:sp>
      <p:sp>
        <p:nvSpPr>
          <p:cNvPr id="60420" name="Rectangle 3"/>
          <p:cNvSpPr>
            <a:spLocks noGrp="1" noChangeArrowheads="1"/>
          </p:cNvSpPr>
          <p:nvPr>
            <p:ph type="body" idx="1"/>
          </p:nvPr>
        </p:nvSpPr>
        <p:spPr>
          <a:xfrm>
            <a:off x="533400" y="1827213"/>
            <a:ext cx="8610600" cy="4114800"/>
          </a:xfrm>
        </p:spPr>
        <p:txBody>
          <a:bodyPr/>
          <a:lstStyle/>
          <a:p>
            <a:pPr eaLnBrk="1" hangingPunct="1"/>
            <a:r>
              <a:rPr lang="en-US" sz="2500" dirty="0">
                <a:latin typeface="Times New Roman" pitchFamily="18" charset="0"/>
              </a:rPr>
              <a:t>1) The objective function: why maximize mean for given variance?  What about skewness, kurtosis, other considerations like </a:t>
            </a:r>
            <a:r>
              <a:rPr lang="en-US" sz="2500" dirty="0" err="1">
                <a:latin typeface="Times New Roman" pitchFamily="18" charset="0"/>
              </a:rPr>
              <a:t>nontradeable</a:t>
            </a:r>
            <a:r>
              <a:rPr lang="en-US" sz="2500" dirty="0">
                <a:latin typeface="Times New Roman" pitchFamily="18" charset="0"/>
              </a:rPr>
              <a:t> labor income?</a:t>
            </a:r>
          </a:p>
          <a:p>
            <a:pPr eaLnBrk="1" hangingPunct="1"/>
            <a:endParaRPr lang="en-US" sz="1400" dirty="0">
              <a:latin typeface="Times New Roman" pitchFamily="18" charset="0"/>
            </a:endParaRPr>
          </a:p>
          <a:p>
            <a:pPr eaLnBrk="1" hangingPunct="1"/>
            <a:r>
              <a:rPr lang="en-US" sz="2500" dirty="0">
                <a:latin typeface="Times New Roman" pitchFamily="18" charset="0"/>
              </a:rPr>
              <a:t>CPPIB </a:t>
            </a:r>
            <a:r>
              <a:rPr lang="en-US" sz="2500" dirty="0">
                <a:latin typeface="Times New Roman" pitchFamily="18" charset="0"/>
                <a:hlinkClick r:id="rId3"/>
              </a:rPr>
              <a:t>statement of investment objectives </a:t>
            </a:r>
            <a:r>
              <a:rPr lang="en-US" sz="2500" dirty="0">
                <a:latin typeface="Times New Roman" pitchFamily="18" charset="0"/>
              </a:rPr>
              <a:t>(mandate):</a:t>
            </a:r>
          </a:p>
          <a:p>
            <a:pPr marL="0" indent="0" eaLnBrk="1" hangingPunct="1">
              <a:buNone/>
            </a:pPr>
            <a:r>
              <a:rPr lang="en-US" sz="2800" b="1" dirty="0"/>
              <a:t>“to invest in the best interests of Canada Pension Plan contributors and beneficiaries and to maximize investment returns without undue risk of loss”</a:t>
            </a:r>
          </a:p>
          <a:p>
            <a:pPr marL="0" indent="0" eaLnBrk="1" hangingPunct="1">
              <a:buNone/>
            </a:pPr>
            <a:r>
              <a:rPr lang="en-US" sz="2400" dirty="0">
                <a:latin typeface="Times New Roman" panose="02020603050405020304" pitchFamily="18" charset="0"/>
                <a:cs typeface="Times New Roman" panose="02020603050405020304" pitchFamily="18" charset="0"/>
              </a:rPr>
              <a:t>How does this differ from mean-variance objective function?</a:t>
            </a:r>
          </a:p>
          <a:p>
            <a:pPr marL="0" indent="0" eaLnBrk="1" hangingPunct="1">
              <a:buNone/>
            </a:pPr>
            <a:r>
              <a:rPr lang="en-US" sz="2400" dirty="0">
                <a:latin typeface="Times New Roman" panose="02020603050405020304" pitchFamily="18" charset="0"/>
                <a:cs typeface="Times New Roman" panose="02020603050405020304" pitchFamily="18" charset="0"/>
              </a:rPr>
              <a:t>How can we implement objective functions besides mean-variance? (e.g., utility of wealth and simulation)</a:t>
            </a: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20785233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Additional Critiques of MPT</a:t>
            </a:r>
          </a:p>
        </p:txBody>
      </p:sp>
      <p:sp>
        <p:nvSpPr>
          <p:cNvPr id="60420" name="Rectangle 3"/>
          <p:cNvSpPr>
            <a:spLocks noGrp="1" noChangeArrowheads="1"/>
          </p:cNvSpPr>
          <p:nvPr>
            <p:ph type="body" idx="1"/>
          </p:nvPr>
        </p:nvSpPr>
        <p:spPr>
          <a:xfrm>
            <a:off x="914400" y="1827213"/>
            <a:ext cx="8077199" cy="4114800"/>
          </a:xfrm>
        </p:spPr>
        <p:txBody>
          <a:bodyPr/>
          <a:lstStyle/>
          <a:p>
            <a:pPr eaLnBrk="1" hangingPunct="1"/>
            <a:r>
              <a:rPr lang="en-US" sz="2500" dirty="0">
                <a:latin typeface="Times New Roman" pitchFamily="18" charset="0"/>
              </a:rPr>
              <a:t>2) Proliferation of asset classes, difficulty of estimating parameters, and instability of parameters (even seemingly simple ones like </a:t>
            </a:r>
            <a:r>
              <a:rPr lang="en-US" sz="2500" dirty="0">
                <a:latin typeface="Times New Roman" pitchFamily="18" charset="0"/>
                <a:hlinkClick r:id="rId3"/>
              </a:rPr>
              <a:t>bond-stock correlation</a:t>
            </a:r>
            <a:r>
              <a:rPr lang="en-US" sz="2500" dirty="0">
                <a:latin typeface="Times New Roman" pitchFamily="18" charset="0"/>
              </a:rPr>
              <a:t>) but also volatilities and means, </a:t>
            </a:r>
          </a:p>
          <a:p>
            <a:pPr eaLnBrk="1" hangingPunct="1"/>
            <a:r>
              <a:rPr lang="en-US" sz="2500" dirty="0">
                <a:latin typeface="Times New Roman" pitchFamily="18" charset="0"/>
              </a:rPr>
              <a:t>For large N difficulty of estimating covariance matrix and sensitivity to small errors (too many parameters) </a:t>
            </a:r>
            <a:r>
              <a:rPr lang="en-US" sz="2500" dirty="0">
                <a:latin typeface="Times New Roman" pitchFamily="18" charset="0"/>
                <a:sym typeface="Wingdings" panose="05000000000000000000" pitchFamily="2" charset="2"/>
              </a:rPr>
              <a:t> robustness of “</a:t>
            </a:r>
            <a:r>
              <a:rPr lang="en-US" sz="2500" dirty="0">
                <a:latin typeface="Times New Roman" pitchFamily="18" charset="0"/>
                <a:sym typeface="Wingdings" panose="05000000000000000000" pitchFamily="2" charset="2"/>
                <a:hlinkClick r:id="rId4"/>
              </a:rPr>
              <a:t>1/N</a:t>
            </a:r>
            <a:r>
              <a:rPr lang="en-US" sz="2500" dirty="0">
                <a:latin typeface="Times New Roman" pitchFamily="18" charset="0"/>
                <a:sym typeface="Wingdings" panose="05000000000000000000" pitchFamily="2" charset="2"/>
              </a:rPr>
              <a:t>” investing strategies</a:t>
            </a:r>
          </a:p>
          <a:p>
            <a:pPr marL="0" indent="0" eaLnBrk="1" hangingPunct="1">
              <a:buNone/>
            </a:pPr>
            <a:endParaRPr lang="en-US" sz="2500" dirty="0">
              <a:latin typeface="Times New Roman" pitchFamily="18" charset="0"/>
            </a:endParaRPr>
          </a:p>
          <a:p>
            <a:pPr marL="0" indent="0" eaLnBrk="1" hangingPunct="1">
              <a:buNone/>
            </a:pPr>
            <a:endParaRPr lang="en-US" sz="2500" dirty="0">
              <a:latin typeface="Times New Roman" pitchFamily="18" charset="0"/>
            </a:endParaRPr>
          </a:p>
          <a:p>
            <a:pPr marL="0" indent="0" eaLnBrk="1" hangingPunct="1">
              <a:buNone/>
            </a:pPr>
            <a:endParaRPr lang="en-US" sz="2400" dirty="0">
              <a:latin typeface="Times New Roman" panose="02020603050405020304" pitchFamily="18" charset="0"/>
              <a:cs typeface="Times New Roman" panose="02020603050405020304" pitchFamily="18" charset="0"/>
            </a:endParaRPr>
          </a:p>
          <a:p>
            <a:pPr marL="0" indent="0" eaLnBrk="1" hangingPunct="1">
              <a:buNone/>
            </a:pPr>
            <a:endParaRPr lang="en-US" sz="2500" dirty="0">
              <a:latin typeface="Times New Roman" pitchFamily="18" charset="0"/>
            </a:endParaRPr>
          </a:p>
        </p:txBody>
      </p:sp>
    </p:spTree>
    <p:extLst>
      <p:ext uri="{BB962C8B-B14F-4D97-AF65-F5344CB8AC3E}">
        <p14:creationId xmlns:p14="http://schemas.microsoft.com/office/powerpoint/2010/main" val="2300248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1370012" y="301625"/>
            <a:ext cx="7747967" cy="1143000"/>
          </a:xfrm>
        </p:spPr>
        <p:txBody>
          <a:bodyPr/>
          <a:lstStyle/>
          <a:p>
            <a:pPr eaLnBrk="1" hangingPunct="1"/>
            <a:r>
              <a:rPr lang="en-US" sz="3000" b="1" dirty="0">
                <a:latin typeface="Times New Roman" pitchFamily="18" charset="0"/>
              </a:rPr>
              <a:t>Adding more realism to asset allocation… </a:t>
            </a:r>
          </a:p>
        </p:txBody>
      </p:sp>
      <p:sp>
        <p:nvSpPr>
          <p:cNvPr id="60420" name="Rectangle 3"/>
          <p:cNvSpPr>
            <a:spLocks noGrp="1" noChangeArrowheads="1"/>
          </p:cNvSpPr>
          <p:nvPr>
            <p:ph type="body" idx="1"/>
          </p:nvPr>
        </p:nvSpPr>
        <p:spPr>
          <a:xfrm>
            <a:off x="507380" y="1444625"/>
            <a:ext cx="8610600" cy="4114800"/>
          </a:xfrm>
        </p:spPr>
        <p:txBody>
          <a:bodyPr/>
          <a:lstStyle/>
          <a:p>
            <a:pPr eaLnBrk="1" hangingPunct="1"/>
            <a:r>
              <a:rPr lang="en-US" sz="2000" dirty="0">
                <a:latin typeface="Times New Roman" pitchFamily="18" charset="0"/>
              </a:rPr>
              <a:t>A branch of the finance literature that tries to put the asset allocation problem into greater context is the “lifecycle portfolio choice” literature.</a:t>
            </a:r>
          </a:p>
          <a:p>
            <a:pPr eaLnBrk="1" hangingPunct="1"/>
            <a:endParaRPr lang="en-US" sz="1400" dirty="0">
              <a:latin typeface="Times New Roman" pitchFamily="18" charset="0"/>
            </a:endParaRPr>
          </a:p>
          <a:p>
            <a:pPr eaLnBrk="1" hangingPunct="1"/>
            <a:r>
              <a:rPr lang="en-US" sz="2000" dirty="0">
                <a:latin typeface="Times New Roman" pitchFamily="18" charset="0"/>
              </a:rPr>
              <a:t>Consider an investor of a given age, with a time to retirement (known or random), and a time to death (known or random)</a:t>
            </a:r>
          </a:p>
          <a:p>
            <a:pPr lvl="1" eaLnBrk="1" hangingPunct="1"/>
            <a:r>
              <a:rPr lang="en-US" sz="1800" dirty="0">
                <a:latin typeface="Times New Roman" pitchFamily="18" charset="0"/>
              </a:rPr>
              <a:t>The investor has an income stream (known or random)</a:t>
            </a:r>
          </a:p>
          <a:p>
            <a:pPr lvl="1" eaLnBrk="1" hangingPunct="1"/>
            <a:r>
              <a:rPr lang="en-US" sz="1800" dirty="0">
                <a:latin typeface="Times New Roman" pitchFamily="18" charset="0"/>
              </a:rPr>
              <a:t>Some fraction allocated to a retirement account (set to a constant to simplify the problem, solve for optimal to make more realistic)</a:t>
            </a:r>
          </a:p>
          <a:p>
            <a:pPr lvl="1" eaLnBrk="1" hangingPunct="1"/>
            <a:r>
              <a:rPr lang="en-US" sz="1800" dirty="0">
                <a:latin typeface="Times New Roman" pitchFamily="18" charset="0"/>
              </a:rPr>
              <a:t>Allocates retirement account to different asset classes</a:t>
            </a:r>
          </a:p>
          <a:p>
            <a:pPr lvl="1" eaLnBrk="1" hangingPunct="1"/>
            <a:r>
              <a:rPr lang="en-US" sz="1800" dirty="0">
                <a:latin typeface="Times New Roman" pitchFamily="18" charset="0"/>
              </a:rPr>
              <a:t>A utility of wealth at retirement simplifies the problem, solving for consumption and investment through retirement to death makes it harder</a:t>
            </a:r>
          </a:p>
          <a:p>
            <a:pPr lvl="1" eaLnBrk="1" hangingPunct="1"/>
            <a:r>
              <a:rPr lang="en-US" sz="1800" dirty="0">
                <a:latin typeface="Times New Roman" pitchFamily="18" charset="0"/>
              </a:rPr>
              <a:t>Specify a utility function, need not be mean-variance</a:t>
            </a:r>
          </a:p>
          <a:p>
            <a:pPr lvl="1" eaLnBrk="1" hangingPunct="1"/>
            <a:r>
              <a:rPr lang="en-US" sz="1800" dirty="0">
                <a:latin typeface="Times New Roman" pitchFamily="18" charset="0"/>
              </a:rPr>
              <a:t>Allow for variation in strategic asset allocation based on time to retirement? Allow market timing strategies using predictor variables?  Both make the solution more complex but are doable.</a:t>
            </a:r>
          </a:p>
          <a:p>
            <a:pPr lvl="1" eaLnBrk="1" hangingPunct="1"/>
            <a:r>
              <a:rPr lang="en-US" sz="1800" dirty="0">
                <a:latin typeface="Times New Roman" pitchFamily="18" charset="0"/>
              </a:rPr>
              <a:t>If you allow randomness, can solve using simulation (drawing paths)</a:t>
            </a:r>
          </a:p>
          <a:p>
            <a:pPr lvl="1" eaLnBrk="1" hangingPunct="1"/>
            <a:r>
              <a:rPr lang="en-US" sz="1800" dirty="0">
                <a:latin typeface="Times New Roman" pitchFamily="18" charset="0"/>
              </a:rPr>
              <a:t>Could also just look at expected returns</a:t>
            </a:r>
          </a:p>
        </p:txBody>
      </p:sp>
    </p:spTree>
    <p:extLst>
      <p:ext uri="{BB962C8B-B14F-4D97-AF65-F5344CB8AC3E}">
        <p14:creationId xmlns:p14="http://schemas.microsoft.com/office/powerpoint/2010/main" val="1970911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3000" b="1" dirty="0">
                <a:latin typeface="Times New Roman" pitchFamily="18" charset="0"/>
              </a:rPr>
              <a:t>Appendix: Mean-variance math</a:t>
            </a:r>
          </a:p>
        </p:txBody>
      </p:sp>
    </p:spTree>
    <p:extLst>
      <p:ext uri="{BB962C8B-B14F-4D97-AF65-F5344CB8AC3E}">
        <p14:creationId xmlns:p14="http://schemas.microsoft.com/office/powerpoint/2010/main" val="16526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Efficient Frontier</a:t>
            </a:r>
          </a:p>
        </p:txBody>
      </p:sp>
      <p:sp>
        <p:nvSpPr>
          <p:cNvPr id="5125" name="Line 5"/>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6" name="Line 6"/>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28" name="Rectangle 8"/>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29" name="Rectangle 9"/>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5130" name="Freeform 10"/>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1" name="Text Box 11"/>
          <p:cNvSpPr txBox="1">
            <a:spLocks noChangeArrowheads="1"/>
          </p:cNvSpPr>
          <p:nvPr/>
        </p:nvSpPr>
        <p:spPr bwMode="auto">
          <a:xfrm>
            <a:off x="6781800" y="2667000"/>
            <a:ext cx="2362200" cy="13112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risky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securities.</a:t>
            </a:r>
          </a:p>
        </p:txBody>
      </p:sp>
      <p:sp>
        <p:nvSpPr>
          <p:cNvPr id="5132" name="Text Box 12"/>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3" name="Line 13"/>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4" name="Line 14"/>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5" name="Text Box 15"/>
          <p:cNvSpPr txBox="1">
            <a:spLocks noChangeArrowheads="1"/>
          </p:cNvSpPr>
          <p:nvPr/>
        </p:nvSpPr>
        <p:spPr bwMode="auto">
          <a:xfrm>
            <a:off x="2209800" y="5867400"/>
            <a:ext cx="5334000" cy="7016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All possible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pairs that an investor can attain by holding </a:t>
            </a:r>
            <a:r>
              <a:rPr kumimoji="0" lang="en-US" sz="2000" b="1"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any</a:t>
            </a:r>
            <a:r>
              <a:rPr kumimoji="0" lang="en-US" sz="20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 security lie in this cone.</a:t>
            </a: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 </a:t>
            </a:r>
          </a:p>
        </p:txBody>
      </p:sp>
      <p:sp>
        <p:nvSpPr>
          <p:cNvPr id="5136" name="Line 16"/>
          <p:cNvSpPr>
            <a:spLocks noChangeShapeType="1"/>
          </p:cNvSpPr>
          <p:nvPr/>
        </p:nvSpPr>
        <p:spPr bwMode="auto">
          <a:xfrm flipV="1">
            <a:off x="3200400" y="4343400"/>
            <a:ext cx="762000" cy="1447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7" name="Text Box 17"/>
          <p:cNvSpPr txBox="1">
            <a:spLocks noChangeArrowheads="1"/>
          </p:cNvSpPr>
          <p:nvPr/>
        </p:nvSpPr>
        <p:spPr bwMode="auto">
          <a:xfrm>
            <a:off x="1295400" y="1905000"/>
            <a:ext cx="2343150" cy="396875"/>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Arial"/>
              </a:rPr>
              <a:t>Efficient investments</a:t>
            </a:r>
          </a:p>
        </p:txBody>
      </p:sp>
      <p:sp>
        <p:nvSpPr>
          <p:cNvPr id="5138" name="Line 18"/>
          <p:cNvSpPr>
            <a:spLocks noChangeShapeType="1"/>
          </p:cNvSpPr>
          <p:nvPr/>
        </p:nvSpPr>
        <p:spPr bwMode="auto">
          <a:xfrm>
            <a:off x="2514600" y="2362200"/>
            <a:ext cx="533400" cy="10668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5139" name="Line 19"/>
          <p:cNvSpPr>
            <a:spLocks noChangeShapeType="1"/>
          </p:cNvSpPr>
          <p:nvPr/>
        </p:nvSpPr>
        <p:spPr bwMode="auto">
          <a:xfrm flipH="1">
            <a:off x="5486400" y="3352800"/>
            <a:ext cx="12192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698387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4000"/>
              <a:t>Calculating Means and the Covariance Matrix</a:t>
            </a:r>
          </a:p>
        </p:txBody>
      </p:sp>
      <p:sp>
        <p:nvSpPr>
          <p:cNvPr id="14339" name="Rectangle 3"/>
          <p:cNvSpPr>
            <a:spLocks noGrp="1" noChangeArrowheads="1"/>
          </p:cNvSpPr>
          <p:nvPr>
            <p:ph type="body" sz="half" idx="1"/>
          </p:nvPr>
        </p:nvSpPr>
        <p:spPr/>
        <p:txBody>
          <a:bodyPr/>
          <a:lstStyle/>
          <a:p>
            <a:r>
              <a:rPr lang="en-US" sz="2800"/>
              <a:t>Means</a:t>
            </a:r>
          </a:p>
          <a:p>
            <a:endParaRPr lang="en-US" sz="2800"/>
          </a:p>
          <a:p>
            <a:endParaRPr lang="en-US" sz="2800"/>
          </a:p>
          <a:p>
            <a:endParaRPr lang="en-US" sz="2800"/>
          </a:p>
          <a:p>
            <a:r>
              <a:rPr lang="en-US" sz="2800"/>
              <a:t>Covariances</a:t>
            </a:r>
          </a:p>
        </p:txBody>
      </p:sp>
      <p:graphicFrame>
        <p:nvGraphicFramePr>
          <p:cNvPr id="14342" name="Object 6"/>
          <p:cNvGraphicFramePr>
            <a:graphicFrameLocks noChangeAspect="1"/>
          </p:cNvGraphicFramePr>
          <p:nvPr/>
        </p:nvGraphicFramePr>
        <p:xfrm>
          <a:off x="2882900" y="1676400"/>
          <a:ext cx="3425825" cy="2514600"/>
        </p:xfrm>
        <a:graphic>
          <a:graphicData uri="http://schemas.openxmlformats.org/presentationml/2006/ole">
            <mc:AlternateContent xmlns:mc="http://schemas.openxmlformats.org/markup-compatibility/2006">
              <mc:Choice xmlns:v="urn:schemas-microsoft-com:vml" Requires="v">
                <p:oleObj spid="_x0000_s24582" name="Equation" r:id="rId3" imgW="1244520" imgH="914400" progId="Equation.3">
                  <p:embed/>
                </p:oleObj>
              </mc:Choice>
              <mc:Fallback>
                <p:oleObj name="Equation" r:id="rId3" imgW="1244520" imgH="914400" progId="Equation.3">
                  <p:embed/>
                  <p:pic>
                    <p:nvPicPr>
                      <p:cNvPr id="1434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2900" y="1676400"/>
                        <a:ext cx="3425825"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3" name="Object 7"/>
          <p:cNvGraphicFramePr>
            <a:graphicFrameLocks noChangeAspect="1"/>
          </p:cNvGraphicFramePr>
          <p:nvPr/>
        </p:nvGraphicFramePr>
        <p:xfrm>
          <a:off x="1447800" y="4648200"/>
          <a:ext cx="5715000" cy="1363663"/>
        </p:xfrm>
        <a:graphic>
          <a:graphicData uri="http://schemas.openxmlformats.org/presentationml/2006/ole">
            <mc:AlternateContent xmlns:mc="http://schemas.openxmlformats.org/markup-compatibility/2006">
              <mc:Choice xmlns:v="urn:schemas-microsoft-com:vml" Requires="v">
                <p:oleObj spid="_x0000_s24583" name="Equation" r:id="rId5" imgW="1650960" imgH="393480" progId="Equation.3">
                  <p:embed/>
                </p:oleObj>
              </mc:Choice>
              <mc:Fallback>
                <p:oleObj name="Equation" r:id="rId5" imgW="1650960" imgH="393480" progId="Equation.3">
                  <p:embed/>
                  <p:pic>
                    <p:nvPicPr>
                      <p:cNvPr id="1434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648200"/>
                        <a:ext cx="5715000" cy="1363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Text Box 8"/>
          <p:cNvSpPr txBox="1">
            <a:spLocks noChangeArrowheads="1"/>
          </p:cNvSpPr>
          <p:nvPr/>
        </p:nvSpPr>
        <p:spPr bwMode="auto">
          <a:xfrm>
            <a:off x="7239000" y="3657600"/>
            <a:ext cx="10398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 rows</a:t>
            </a:r>
          </a:p>
        </p:txBody>
      </p:sp>
      <p:sp>
        <p:nvSpPr>
          <p:cNvPr id="14345" name="Line 9"/>
          <p:cNvSpPr>
            <a:spLocks noChangeShapeType="1"/>
          </p:cNvSpPr>
          <p:nvPr/>
        </p:nvSpPr>
        <p:spPr bwMode="auto">
          <a:xfrm flipH="1">
            <a:off x="4953000" y="3886200"/>
            <a:ext cx="2209800" cy="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14346" name="Line 10"/>
          <p:cNvSpPr>
            <a:spLocks noChangeShapeType="1"/>
          </p:cNvSpPr>
          <p:nvPr/>
        </p:nvSpPr>
        <p:spPr bwMode="auto">
          <a:xfrm flipH="1" flipV="1">
            <a:off x="6248400" y="3124200"/>
            <a:ext cx="990600" cy="7620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172635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The Covariance Matrix</a:t>
            </a:r>
          </a:p>
        </p:txBody>
      </p:sp>
      <p:graphicFrame>
        <p:nvGraphicFramePr>
          <p:cNvPr id="15366" name="Object 6"/>
          <p:cNvGraphicFramePr>
            <a:graphicFrameLocks noGrp="1" noChangeAspect="1"/>
          </p:cNvGraphicFramePr>
          <p:nvPr>
            <p:ph sz="quarter" idx="3"/>
          </p:nvPr>
        </p:nvGraphicFramePr>
        <p:xfrm>
          <a:off x="1143000" y="2286000"/>
          <a:ext cx="6705600" cy="2224088"/>
        </p:xfrm>
        <a:graphic>
          <a:graphicData uri="http://schemas.openxmlformats.org/presentationml/2006/ole">
            <mc:AlternateContent xmlns:mc="http://schemas.openxmlformats.org/markup-compatibility/2006">
              <mc:Choice xmlns:v="urn:schemas-microsoft-com:vml" Requires="v">
                <p:oleObj spid="_x0000_s25604" name="Equation" r:id="rId3" imgW="2831760" imgH="939600" progId="Equation.3">
                  <p:embed/>
                </p:oleObj>
              </mc:Choice>
              <mc:Fallback>
                <p:oleObj name="Equation" r:id="rId3" imgW="2831760" imgH="939600" progId="Equation.3">
                  <p:embed/>
                  <p:pic>
                    <p:nvPicPr>
                      <p:cNvPr id="1536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86000"/>
                        <a:ext cx="6705600" cy="222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27726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Calculating Portfolio Means and Returns</a:t>
            </a:r>
          </a:p>
        </p:txBody>
      </p:sp>
      <p:sp>
        <p:nvSpPr>
          <p:cNvPr id="10243" name="Rectangle 3"/>
          <p:cNvSpPr>
            <a:spLocks noGrp="1" noChangeArrowheads="1"/>
          </p:cNvSpPr>
          <p:nvPr>
            <p:ph type="body" sz="half" idx="1"/>
          </p:nvPr>
        </p:nvSpPr>
        <p:spPr>
          <a:xfrm>
            <a:off x="685800" y="1981200"/>
            <a:ext cx="8001000" cy="4114800"/>
          </a:xfrm>
        </p:spPr>
        <p:txBody>
          <a:bodyPr/>
          <a:lstStyle/>
          <a:p>
            <a:r>
              <a:rPr lang="en-US" sz="2800"/>
              <a:t>Given any set of portfolio weights (</a:t>
            </a:r>
            <a:r>
              <a:rPr lang="en-US" sz="2800">
                <a:sym typeface="Symbol" pitchFamily="18" charset="2"/>
              </a:rPr>
              <a:t>)</a:t>
            </a:r>
            <a:r>
              <a:rPr lang="en-US" sz="2800"/>
              <a:t> the portfolio mean and variance can be easily calculated:</a:t>
            </a:r>
          </a:p>
          <a:p>
            <a:pPr>
              <a:buFontTx/>
              <a:buNone/>
            </a:pPr>
            <a:endParaRPr lang="en-US" sz="2800"/>
          </a:p>
        </p:txBody>
      </p:sp>
      <p:graphicFrame>
        <p:nvGraphicFramePr>
          <p:cNvPr id="10244" name="Object 4"/>
          <p:cNvGraphicFramePr>
            <a:graphicFrameLocks noGrp="1" noChangeAspect="1"/>
          </p:cNvGraphicFramePr>
          <p:nvPr>
            <p:ph sz="quarter" idx="2"/>
            <p:extLst/>
          </p:nvPr>
        </p:nvGraphicFramePr>
        <p:xfrm>
          <a:off x="2743200" y="4191000"/>
          <a:ext cx="2895600" cy="1123194"/>
        </p:xfrm>
        <a:graphic>
          <a:graphicData uri="http://schemas.openxmlformats.org/presentationml/2006/ole">
            <mc:AlternateContent xmlns:mc="http://schemas.openxmlformats.org/markup-compatibility/2006">
              <mc:Choice xmlns:v="urn:schemas-microsoft-com:vml" Requires="v">
                <p:oleObj spid="_x0000_s26632" name="Equation" r:id="rId3" imgW="622080" imgH="241200" progId="Equation.3">
                  <p:embed/>
                </p:oleObj>
              </mc:Choice>
              <mc:Fallback>
                <p:oleObj name="Equation" r:id="rId3" imgW="622080" imgH="241200" progId="Equation.3">
                  <p:embed/>
                  <p:pic>
                    <p:nvPicPr>
                      <p:cNvPr id="102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191000"/>
                        <a:ext cx="2895600" cy="1123194"/>
                      </a:xfrm>
                      <a:prstGeom prst="rect">
                        <a:avLst/>
                      </a:prstGeom>
                      <a:noFill/>
                      <a:extLst/>
                    </p:spPr>
                  </p:pic>
                </p:oleObj>
              </mc:Fallback>
            </mc:AlternateContent>
          </a:graphicData>
        </a:graphic>
      </p:graphicFrame>
      <p:graphicFrame>
        <p:nvGraphicFramePr>
          <p:cNvPr id="10246" name="Object 6"/>
          <p:cNvGraphicFramePr>
            <a:graphicFrameLocks noGrp="1" noChangeAspect="1"/>
          </p:cNvGraphicFramePr>
          <p:nvPr>
            <p:ph sz="quarter" idx="3"/>
          </p:nvPr>
        </p:nvGraphicFramePr>
        <p:xfrm>
          <a:off x="1752600" y="5334000"/>
          <a:ext cx="4495800" cy="1123950"/>
        </p:xfrm>
        <a:graphic>
          <a:graphicData uri="http://schemas.openxmlformats.org/presentationml/2006/ole">
            <mc:AlternateContent xmlns:mc="http://schemas.openxmlformats.org/markup-compatibility/2006">
              <mc:Choice xmlns:v="urn:schemas-microsoft-com:vml" Requires="v">
                <p:oleObj spid="_x0000_s26633" name="Equation" r:id="rId5" imgW="965160" imgH="241200" progId="Equation.3">
                  <p:embed/>
                </p:oleObj>
              </mc:Choice>
              <mc:Fallback>
                <p:oleObj name="Equation" r:id="rId5" imgW="965160" imgH="241200" progId="Equation.3">
                  <p:embed/>
                  <p:pic>
                    <p:nvPicPr>
                      <p:cNvPr id="1024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334000"/>
                        <a:ext cx="44958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8" name="Object 8"/>
          <p:cNvGraphicFramePr>
            <a:graphicFrameLocks noChangeAspect="1"/>
          </p:cNvGraphicFramePr>
          <p:nvPr>
            <p:extLst/>
          </p:nvPr>
        </p:nvGraphicFramePr>
        <p:xfrm>
          <a:off x="1981200" y="3276600"/>
          <a:ext cx="4991100" cy="954590"/>
        </p:xfrm>
        <a:graphic>
          <a:graphicData uri="http://schemas.openxmlformats.org/presentationml/2006/ole">
            <mc:AlternateContent xmlns:mc="http://schemas.openxmlformats.org/markup-compatibility/2006">
              <mc:Choice xmlns:v="urn:schemas-microsoft-com:vml" Requires="v">
                <p:oleObj spid="_x0000_s26634" name="Equation" r:id="rId7" imgW="1193760" imgH="228600" progId="Equation.3">
                  <p:embed/>
                </p:oleObj>
              </mc:Choice>
              <mc:Fallback>
                <p:oleObj name="Equation" r:id="rId7" imgW="1193760" imgH="228600" progId="Equation.3">
                  <p:embed/>
                  <p:pic>
                    <p:nvPicPr>
                      <p:cNvPr id="10248"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276600"/>
                        <a:ext cx="4991100" cy="954590"/>
                      </a:xfrm>
                      <a:prstGeom prst="rect">
                        <a:avLst/>
                      </a:prstGeom>
                      <a:noFill/>
                      <a:extLst/>
                    </p:spPr>
                  </p:pic>
                </p:oleObj>
              </mc:Fallback>
            </mc:AlternateContent>
          </a:graphicData>
        </a:graphic>
      </p:graphicFrame>
    </p:spTree>
    <p:extLst>
      <p:ext uri="{BB962C8B-B14F-4D97-AF65-F5344CB8AC3E}">
        <p14:creationId xmlns:p14="http://schemas.microsoft.com/office/powerpoint/2010/main" val="334094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noChangeArrowheads="1"/>
          </p:cNvSpPr>
          <p:nvPr>
            <p:ph type="title"/>
          </p:nvPr>
        </p:nvSpPr>
        <p:spPr/>
        <p:txBody>
          <a:bodyPr/>
          <a:lstStyle/>
          <a:p>
            <a:r>
              <a:rPr lang="en-US" sz="4000"/>
              <a:t>A Formal Description of the Efficient Frontier</a:t>
            </a:r>
          </a:p>
        </p:txBody>
      </p:sp>
      <p:sp>
        <p:nvSpPr>
          <p:cNvPr id="19463" name="Rectangle 7"/>
          <p:cNvSpPr>
            <a:spLocks noGrp="1" noChangeArrowheads="1"/>
          </p:cNvSpPr>
          <p:nvPr>
            <p:ph type="body" sz="half" idx="1"/>
          </p:nvPr>
        </p:nvSpPr>
        <p:spPr>
          <a:xfrm>
            <a:off x="685800" y="1981200"/>
            <a:ext cx="8001000" cy="1219200"/>
          </a:xfrm>
        </p:spPr>
        <p:txBody>
          <a:bodyPr/>
          <a:lstStyle/>
          <a:p>
            <a:r>
              <a:rPr lang="en-US" sz="2800"/>
              <a:t>The portfolio on the efficient frontier with mean return E solves the following constrained optimization problem:</a:t>
            </a:r>
          </a:p>
        </p:txBody>
      </p:sp>
      <p:graphicFrame>
        <p:nvGraphicFramePr>
          <p:cNvPr id="19464" name="Object 8"/>
          <p:cNvGraphicFramePr>
            <a:graphicFrameLocks noGrp="1" noChangeAspect="1"/>
          </p:cNvGraphicFramePr>
          <p:nvPr>
            <p:ph sz="quarter" idx="2"/>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27654" name="Equation" r:id="rId3" imgW="647640" imgH="279360" progId="Equation.3">
                  <p:embed/>
                </p:oleObj>
              </mc:Choice>
              <mc:Fallback>
                <p:oleObj name="Equation" r:id="rId3" imgW="647640" imgH="279360" progId="Equation.3">
                  <p:embed/>
                  <p:pic>
                    <p:nvPicPr>
                      <p:cNvPr id="194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Text Box 10"/>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19467" name="Object 11"/>
          <p:cNvGraphicFramePr>
            <a:graphicFrameLocks noGrp="1" noChangeAspect="1"/>
          </p:cNvGraphicFramePr>
          <p:nvPr>
            <p:ph sz="quarter" idx="3"/>
          </p:nvPr>
        </p:nvGraphicFramePr>
        <p:xfrm>
          <a:off x="3429000" y="5029200"/>
          <a:ext cx="1600200" cy="1236663"/>
        </p:xfrm>
        <a:graphic>
          <a:graphicData uri="http://schemas.openxmlformats.org/presentationml/2006/ole">
            <mc:AlternateContent xmlns:mc="http://schemas.openxmlformats.org/markup-compatibility/2006">
              <mc:Choice xmlns:v="urn:schemas-microsoft-com:vml" Requires="v">
                <p:oleObj spid="_x0000_s27655" name="Equation" r:id="rId5" imgW="558720" imgH="431640" progId="Equation.3">
                  <p:embed/>
                </p:oleObj>
              </mc:Choice>
              <mc:Fallback>
                <p:oleObj name="Equation" r:id="rId5" imgW="558720" imgH="431640" progId="Equation.3">
                  <p:embed/>
                  <p:pic>
                    <p:nvPicPr>
                      <p:cNvPr id="1946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5029200"/>
                        <a:ext cx="1600200" cy="1236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4463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7772400" cy="1143000"/>
          </a:xfrm>
        </p:spPr>
        <p:txBody>
          <a:bodyPr/>
          <a:lstStyle/>
          <a:p>
            <a:r>
              <a:rPr lang="en-US" dirty="0"/>
              <a:t>Calculating Efficient Risky Portfolios Without Constraints</a:t>
            </a:r>
          </a:p>
        </p:txBody>
      </p:sp>
      <p:sp>
        <p:nvSpPr>
          <p:cNvPr id="11267" name="Rectangle 3"/>
          <p:cNvSpPr>
            <a:spLocks noGrp="1" noChangeArrowheads="1"/>
          </p:cNvSpPr>
          <p:nvPr>
            <p:ph type="body" sz="half" idx="1"/>
          </p:nvPr>
        </p:nvSpPr>
        <p:spPr>
          <a:xfrm>
            <a:off x="685800" y="1981200"/>
            <a:ext cx="7467600" cy="2133600"/>
          </a:xfrm>
        </p:spPr>
        <p:txBody>
          <a:bodyPr/>
          <a:lstStyle/>
          <a:p>
            <a:pPr>
              <a:lnSpc>
                <a:spcPct val="90000"/>
              </a:lnSpc>
            </a:pPr>
            <a:r>
              <a:rPr lang="en-US" sz="2800"/>
              <a:t>Any two efficient risky portfolios (mutual funds) can be combined to generate the entire efficient frontier.</a:t>
            </a:r>
          </a:p>
          <a:p>
            <a:pPr>
              <a:lnSpc>
                <a:spcPct val="90000"/>
              </a:lnSpc>
            </a:pPr>
            <a:r>
              <a:rPr lang="en-US" sz="2800"/>
              <a:t>Formulas for the minimum variance and tangency portfolios are given by:</a:t>
            </a:r>
          </a:p>
        </p:txBody>
      </p:sp>
      <p:graphicFrame>
        <p:nvGraphicFramePr>
          <p:cNvPr id="11268" name="Object 4"/>
          <p:cNvGraphicFramePr>
            <a:graphicFrameLocks noGrp="1" noChangeAspect="1"/>
          </p:cNvGraphicFramePr>
          <p:nvPr>
            <p:ph sz="half" idx="2"/>
          </p:nvPr>
        </p:nvGraphicFramePr>
        <p:xfrm>
          <a:off x="2895600" y="4114800"/>
          <a:ext cx="3505200" cy="2538413"/>
        </p:xfrm>
        <a:graphic>
          <a:graphicData uri="http://schemas.openxmlformats.org/presentationml/2006/ole">
            <mc:AlternateContent xmlns:mc="http://schemas.openxmlformats.org/markup-compatibility/2006">
              <mc:Choice xmlns:v="urn:schemas-microsoft-com:vml" Requires="v">
                <p:oleObj spid="_x0000_s28676" name="Equation" r:id="rId3" imgW="1333440" imgH="965160" progId="Equation.3">
                  <p:embed/>
                </p:oleObj>
              </mc:Choice>
              <mc:Fallback>
                <p:oleObj name="Equation" r:id="rId3" imgW="1333440" imgH="965160" progId="Equation.3">
                  <p:embed/>
                  <p:pic>
                    <p:nvPicPr>
                      <p:cNvPr id="112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114800"/>
                        <a:ext cx="3505200" cy="2538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50770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The Efficient Frontier</a:t>
            </a:r>
          </a:p>
        </p:txBody>
      </p:sp>
      <p:sp>
        <p:nvSpPr>
          <p:cNvPr id="26627" name="Line 3"/>
          <p:cNvSpPr>
            <a:spLocks noChangeShapeType="1"/>
          </p:cNvSpPr>
          <p:nvPr/>
        </p:nvSpPr>
        <p:spPr bwMode="auto">
          <a:xfrm>
            <a:off x="1905000" y="2286000"/>
            <a:ext cx="0" cy="29718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8" name="Line 4"/>
          <p:cNvSpPr>
            <a:spLocks noChangeShapeType="1"/>
          </p:cNvSpPr>
          <p:nvPr/>
        </p:nvSpPr>
        <p:spPr bwMode="auto">
          <a:xfrm>
            <a:off x="1752600" y="5105400"/>
            <a:ext cx="5257800" cy="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29" name="Rectangle 5"/>
          <p:cNvSpPr>
            <a:spLocks noChangeArrowheads="1"/>
          </p:cNvSpPr>
          <p:nvPr/>
        </p:nvSpPr>
        <p:spPr bwMode="auto">
          <a:xfrm>
            <a:off x="1219200" y="2133600"/>
            <a:ext cx="506413"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0" name="Rectangle 6"/>
          <p:cNvSpPr>
            <a:spLocks noChangeArrowheads="1"/>
          </p:cNvSpPr>
          <p:nvPr/>
        </p:nvSpPr>
        <p:spPr bwMode="auto">
          <a:xfrm>
            <a:off x="6400800" y="5105400"/>
            <a:ext cx="520700" cy="7620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400" b="0" i="0" u="none" strike="noStrike" kern="1200" cap="none" spc="0" normalizeH="0" baseline="0" noProof="0">
                <a:ln>
                  <a:noFill/>
                </a:ln>
                <a:solidFill>
                  <a:srgbClr val="006666"/>
                </a:solidFill>
                <a:effectLst/>
                <a:uLnTx/>
                <a:uFillTx/>
                <a:latin typeface="Times New Roman" pitchFamily="18" charset="0"/>
                <a:ea typeface="+mn-ea"/>
                <a:cs typeface="Arial"/>
                <a:sym typeface="Symbol" pitchFamily="18" charset="2"/>
              </a:rPr>
              <a:t></a:t>
            </a:r>
          </a:p>
        </p:txBody>
      </p:sp>
      <p:sp>
        <p:nvSpPr>
          <p:cNvPr id="26631" name="Freeform 7"/>
          <p:cNvSpPr>
            <a:spLocks/>
          </p:cNvSpPr>
          <p:nvPr/>
        </p:nvSpPr>
        <p:spPr bwMode="auto">
          <a:xfrm>
            <a:off x="3505200" y="2057400"/>
            <a:ext cx="2590800" cy="3048000"/>
          </a:xfrm>
          <a:custGeom>
            <a:avLst/>
            <a:gdLst/>
            <a:ahLst/>
            <a:cxnLst>
              <a:cxn ang="0">
                <a:pos x="1888" y="0"/>
              </a:cxn>
              <a:cxn ang="0">
                <a:pos x="16" y="624"/>
              </a:cxn>
              <a:cxn ang="0">
                <a:pos x="1792" y="1344"/>
              </a:cxn>
            </a:cxnLst>
            <a:rect l="0" t="0" r="r" b="b"/>
            <a:pathLst>
              <a:path w="1888" h="1344">
                <a:moveTo>
                  <a:pt x="1888" y="0"/>
                </a:moveTo>
                <a:cubicBezTo>
                  <a:pt x="960" y="200"/>
                  <a:pt x="32" y="400"/>
                  <a:pt x="16" y="624"/>
                </a:cubicBezTo>
                <a:cubicBezTo>
                  <a:pt x="0" y="848"/>
                  <a:pt x="1504" y="1224"/>
                  <a:pt x="1792" y="1344"/>
                </a:cubicBezTo>
              </a:path>
            </a:pathLst>
          </a:custGeom>
          <a:solidFill>
            <a:schemeClr val="hlink"/>
          </a:solid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3" name="Text Box 9"/>
          <p:cNvSpPr txBox="1">
            <a:spLocks noChangeArrowheads="1"/>
          </p:cNvSpPr>
          <p:nvPr/>
        </p:nvSpPr>
        <p:spPr bwMode="auto">
          <a:xfrm>
            <a:off x="1371600" y="3886200"/>
            <a:ext cx="3540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r</a:t>
            </a:r>
            <a:r>
              <a:rPr kumimoji="0" lang="en-US" sz="1800" b="0" i="0" u="none" strike="noStrike" kern="1200" cap="none" spc="0" normalizeH="0" baseline="-25000" noProof="0">
                <a:ln>
                  <a:noFill/>
                </a:ln>
                <a:solidFill>
                  <a:srgbClr val="000000"/>
                </a:solidFill>
                <a:effectLst/>
                <a:uLnTx/>
                <a:uFillTx/>
                <a:latin typeface="Times New Roman" pitchFamily="18" charset="0"/>
                <a:ea typeface="+mn-ea"/>
                <a:cs typeface="Arial"/>
              </a:rPr>
              <a:t>f</a:t>
            </a: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4" name="Line 10"/>
          <p:cNvSpPr>
            <a:spLocks noChangeShapeType="1"/>
          </p:cNvSpPr>
          <p:nvPr/>
        </p:nvSpPr>
        <p:spPr bwMode="auto">
          <a:xfrm flipV="1">
            <a:off x="1905000" y="2133600"/>
            <a:ext cx="3505200" cy="19812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35" name="Line 11"/>
          <p:cNvSpPr>
            <a:spLocks noChangeShapeType="1"/>
          </p:cNvSpPr>
          <p:nvPr/>
        </p:nvSpPr>
        <p:spPr bwMode="auto">
          <a:xfrm>
            <a:off x="1905000" y="4114800"/>
            <a:ext cx="2590800" cy="914400"/>
          </a:xfrm>
          <a:prstGeom prst="line">
            <a:avLst/>
          </a:prstGeom>
          <a:noFill/>
          <a:ln w="9525">
            <a:solidFill>
              <a:schemeClr val="tx1"/>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1" name="Text Box 17"/>
          <p:cNvSpPr txBox="1">
            <a:spLocks noChangeArrowheads="1"/>
          </p:cNvSpPr>
          <p:nvPr/>
        </p:nvSpPr>
        <p:spPr bwMode="auto">
          <a:xfrm>
            <a:off x="2286000" y="1828800"/>
            <a:ext cx="252571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Tangency portfolio</a:t>
            </a:r>
          </a:p>
        </p:txBody>
      </p:sp>
      <p:sp>
        <p:nvSpPr>
          <p:cNvPr id="26642" name="Line 18"/>
          <p:cNvSpPr>
            <a:spLocks noChangeShapeType="1"/>
          </p:cNvSpPr>
          <p:nvPr/>
        </p:nvSpPr>
        <p:spPr bwMode="auto">
          <a:xfrm>
            <a:off x="3581400" y="2362200"/>
            <a:ext cx="457200" cy="5334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3" name="Text Box 19"/>
          <p:cNvSpPr txBox="1">
            <a:spLocks noChangeArrowheads="1"/>
          </p:cNvSpPr>
          <p:nvPr/>
        </p:nvSpPr>
        <p:spPr bwMode="auto">
          <a:xfrm>
            <a:off x="1752600" y="5257800"/>
            <a:ext cx="3649663" cy="45720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Minimum variance portfolio</a:t>
            </a:r>
          </a:p>
        </p:txBody>
      </p:sp>
      <p:sp>
        <p:nvSpPr>
          <p:cNvPr id="26644" name="Line 20"/>
          <p:cNvSpPr>
            <a:spLocks noChangeShapeType="1"/>
          </p:cNvSpPr>
          <p:nvPr/>
        </p:nvSpPr>
        <p:spPr bwMode="auto">
          <a:xfrm flipV="1">
            <a:off x="2667000" y="3429000"/>
            <a:ext cx="838200" cy="17526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
        <p:nvSpPr>
          <p:cNvPr id="26645" name="Text Box 21"/>
          <p:cNvSpPr txBox="1">
            <a:spLocks noChangeArrowheads="1"/>
          </p:cNvSpPr>
          <p:nvPr/>
        </p:nvSpPr>
        <p:spPr bwMode="auto">
          <a:xfrm>
            <a:off x="6324600" y="2438400"/>
            <a:ext cx="2606675" cy="22828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All efficient risky portfolios are combinations of the minimum variance and tangency portfolio</a:t>
            </a:r>
          </a:p>
        </p:txBody>
      </p:sp>
      <p:sp>
        <p:nvSpPr>
          <p:cNvPr id="26646" name="Line 22"/>
          <p:cNvSpPr>
            <a:spLocks noChangeShapeType="1"/>
          </p:cNvSpPr>
          <p:nvPr/>
        </p:nvSpPr>
        <p:spPr bwMode="auto">
          <a:xfrm flipH="1" flipV="1">
            <a:off x="5257800" y="2362200"/>
            <a:ext cx="990600" cy="121920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endParaRPr>
          </a:p>
        </p:txBody>
      </p:sp>
    </p:spTree>
    <p:extLst>
      <p:ext uri="{BB962C8B-B14F-4D97-AF65-F5344CB8AC3E}">
        <p14:creationId xmlns:p14="http://schemas.microsoft.com/office/powerpoint/2010/main" val="1264200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4000"/>
              <a:t>Efficient Portfolios with Constraints</a:t>
            </a:r>
          </a:p>
        </p:txBody>
      </p:sp>
      <p:sp>
        <p:nvSpPr>
          <p:cNvPr id="27651" name="Rectangle 3"/>
          <p:cNvSpPr>
            <a:spLocks noGrp="1" noChangeArrowheads="1"/>
          </p:cNvSpPr>
          <p:nvPr>
            <p:ph type="body" idx="1"/>
          </p:nvPr>
        </p:nvSpPr>
        <p:spPr/>
        <p:txBody>
          <a:bodyPr/>
          <a:lstStyle/>
          <a:p>
            <a:r>
              <a:rPr lang="en-US"/>
              <a:t>In general, the efficient set will contain short positions in some assets.</a:t>
            </a:r>
          </a:p>
          <a:p>
            <a:r>
              <a:rPr lang="en-US"/>
              <a:t>In many applications, no short-sale constraints may be enforced.</a:t>
            </a:r>
          </a:p>
          <a:p>
            <a:r>
              <a:rPr lang="en-US"/>
              <a:t>To find efficient portfolios in this case a numerical solution technique is required.</a:t>
            </a:r>
          </a:p>
          <a:p>
            <a:endParaRPr lang="en-US"/>
          </a:p>
        </p:txBody>
      </p:sp>
    </p:spTree>
    <p:extLst>
      <p:ext uri="{BB962C8B-B14F-4D97-AF65-F5344CB8AC3E}">
        <p14:creationId xmlns:p14="http://schemas.microsoft.com/office/powerpoint/2010/main" val="30672303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z="4000"/>
              <a:t>Efficient Portfolios with Short Sales Constraints</a:t>
            </a:r>
          </a:p>
        </p:txBody>
      </p:sp>
      <p:sp>
        <p:nvSpPr>
          <p:cNvPr id="28676" name="Rectangle 4"/>
          <p:cNvSpPr>
            <a:spLocks noChangeArrowheads="1"/>
          </p:cNvSpPr>
          <p:nvPr/>
        </p:nvSpPr>
        <p:spPr bwMode="auto">
          <a:xfrm>
            <a:off x="685800" y="1981200"/>
            <a:ext cx="8001000" cy="1447800"/>
          </a:xfrm>
          <a:prstGeom prst="rect">
            <a:avLst/>
          </a:prstGeom>
          <a:noFill/>
          <a:ln w="9525">
            <a:noFill/>
            <a:miter lim="800000"/>
            <a:headEnd/>
            <a:tailEnd/>
          </a:ln>
          <a:effectLst/>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1200" cap="none" spc="0" normalizeH="0" baseline="0" noProof="0">
                <a:ln>
                  <a:noFill/>
                </a:ln>
                <a:solidFill>
                  <a:srgbClr val="000000"/>
                </a:solidFill>
                <a:effectLst/>
                <a:uLnTx/>
                <a:uFillTx/>
                <a:latin typeface="Times New Roman" pitchFamily="18" charset="0"/>
                <a:ea typeface="+mn-ea"/>
                <a:cs typeface="Arial"/>
              </a:rPr>
              <a:t>The portfolio on the efficient frontier with mean return E solves the following constrained optimization problem:</a:t>
            </a:r>
          </a:p>
        </p:txBody>
      </p:sp>
      <p:graphicFrame>
        <p:nvGraphicFramePr>
          <p:cNvPr id="28677" name="Object 5"/>
          <p:cNvGraphicFramePr>
            <a:graphicFrameLocks noChangeAspect="1"/>
          </p:cNvGraphicFramePr>
          <p:nvPr/>
        </p:nvGraphicFramePr>
        <p:xfrm>
          <a:off x="3352800" y="3581400"/>
          <a:ext cx="1752600" cy="755650"/>
        </p:xfrm>
        <a:graphic>
          <a:graphicData uri="http://schemas.openxmlformats.org/presentationml/2006/ole">
            <mc:AlternateContent xmlns:mc="http://schemas.openxmlformats.org/markup-compatibility/2006">
              <mc:Choice xmlns:v="urn:schemas-microsoft-com:vml" Requires="v">
                <p:oleObj spid="_x0000_s29702" name="Equation" r:id="rId3" imgW="647640" imgH="279360" progId="Equation.3">
                  <p:embed/>
                </p:oleObj>
              </mc:Choice>
              <mc:Fallback>
                <p:oleObj name="Equation" r:id="rId3" imgW="647640" imgH="279360" progId="Equation.3">
                  <p:embed/>
                  <p:pic>
                    <p:nvPicPr>
                      <p:cNvPr id="2867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81400"/>
                        <a:ext cx="17526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8" name="Text Box 6"/>
          <p:cNvSpPr txBox="1">
            <a:spLocks noChangeArrowheads="1"/>
          </p:cNvSpPr>
          <p:nvPr/>
        </p:nvSpPr>
        <p:spPr bwMode="auto">
          <a:xfrm>
            <a:off x="1828800" y="4419600"/>
            <a:ext cx="2073275" cy="4572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Arial"/>
              </a:rPr>
              <a:t>Subject to:</a:t>
            </a:r>
          </a:p>
        </p:txBody>
      </p:sp>
      <p:graphicFrame>
        <p:nvGraphicFramePr>
          <p:cNvPr id="28679" name="Object 7"/>
          <p:cNvGraphicFramePr>
            <a:graphicFrameLocks noChangeAspect="1"/>
          </p:cNvGraphicFramePr>
          <p:nvPr/>
        </p:nvGraphicFramePr>
        <p:xfrm>
          <a:off x="3429000" y="4719638"/>
          <a:ext cx="1600200" cy="1855787"/>
        </p:xfrm>
        <a:graphic>
          <a:graphicData uri="http://schemas.openxmlformats.org/presentationml/2006/ole">
            <mc:AlternateContent xmlns:mc="http://schemas.openxmlformats.org/markup-compatibility/2006">
              <mc:Choice xmlns:v="urn:schemas-microsoft-com:vml" Requires="v">
                <p:oleObj spid="_x0000_s29703" name="Equation" r:id="rId5" imgW="558720" imgH="647640" progId="Equation.3">
                  <p:embed/>
                </p:oleObj>
              </mc:Choice>
              <mc:Fallback>
                <p:oleObj name="Equation" r:id="rId5" imgW="558720" imgH="647640" progId="Equation.3">
                  <p:embed/>
                  <p:pic>
                    <p:nvPicPr>
                      <p:cNvPr id="2867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719638"/>
                        <a:ext cx="1600200" cy="185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7119933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2931</TotalTime>
  <Words>3443</Words>
  <Application>Microsoft Office PowerPoint</Application>
  <PresentationFormat>On-screen Show (4:3)</PresentationFormat>
  <Paragraphs>409</Paragraphs>
  <Slides>47</Slides>
  <Notes>28</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47</vt:i4>
      </vt:variant>
    </vt:vector>
  </HeadingPairs>
  <TitlesOfParts>
    <vt:vector size="59" baseType="lpstr">
      <vt:lpstr>Arial</vt:lpstr>
      <vt:lpstr>Calibri</vt:lpstr>
      <vt:lpstr>Cambria Math</vt:lpstr>
      <vt:lpstr>Symbol</vt:lpstr>
      <vt:lpstr>Times New Roman</vt:lpstr>
      <vt:lpstr>Verdana</vt:lpstr>
      <vt:lpstr>Wingdings</vt:lpstr>
      <vt:lpstr>Custom Design</vt:lpstr>
      <vt:lpstr>Eclipse</vt:lpstr>
      <vt:lpstr>Office Theme</vt:lpstr>
      <vt:lpstr>Equation</vt:lpstr>
      <vt:lpstr>Chart</vt:lpstr>
      <vt:lpstr>Asset Allocation </vt:lpstr>
      <vt:lpstr>Course Progress: Topics</vt:lpstr>
      <vt:lpstr>Outline</vt:lpstr>
      <vt:lpstr>Asset Allocation: General Approach</vt:lpstr>
      <vt:lpstr>Asset Allocation in Context</vt:lpstr>
      <vt:lpstr>Data in General</vt:lpstr>
      <vt:lpstr>Data and Assignment 2</vt:lpstr>
      <vt:lpstr>A First Analysis of the Data</vt:lpstr>
      <vt:lpstr>Real vs Nominal</vt:lpstr>
      <vt:lpstr>Assignment 2</vt:lpstr>
      <vt:lpstr>Asset Allocation: Mean-Variance Approach</vt:lpstr>
      <vt:lpstr>Investment Vehicles / Asset Classes  </vt:lpstr>
      <vt:lpstr>The “Modern Portfolio Theory” Recipe</vt:lpstr>
      <vt:lpstr> Required Formulas</vt:lpstr>
      <vt:lpstr> Portfolio Mean Returns</vt:lpstr>
      <vt:lpstr> Portfolio Variances</vt:lpstr>
      <vt:lpstr> Two Asset Example</vt:lpstr>
      <vt:lpstr>Example - Portfolios</vt:lpstr>
      <vt:lpstr>Diversification</vt:lpstr>
      <vt:lpstr>“Efficient” Portfolio and “Efficient Frontier”</vt:lpstr>
      <vt:lpstr>The Efficient Frontier in the Example</vt:lpstr>
      <vt:lpstr>Sharpe Ratio</vt:lpstr>
      <vt:lpstr>Adding a risk-free asset</vt:lpstr>
      <vt:lpstr>Efficient Frontier with Riskless Asset</vt:lpstr>
      <vt:lpstr>General Statement of Mean-Variance Objective Function with Two Assets</vt:lpstr>
      <vt:lpstr>Constructing the Mean-Variance Efficient Frontier: Three assets</vt:lpstr>
      <vt:lpstr>Constructing the Mean-Variance Efficient Frontier: Three assets</vt:lpstr>
      <vt:lpstr>Constructing the Mean-Variance Efficient Frontier: Three assets</vt:lpstr>
      <vt:lpstr>Simplification with two-fund separation</vt:lpstr>
      <vt:lpstr>In Practice: Where Do We get (1) Expected Return, (2) Expected Variance and (3) Correlation?</vt:lpstr>
      <vt:lpstr>General Mean-variance Math (see appendix)</vt:lpstr>
      <vt:lpstr>Asset Allocation in Practice</vt:lpstr>
      <vt:lpstr>Strategic Asset Allocation as first step in bigger picture</vt:lpstr>
      <vt:lpstr>Strategic Asset Allocation as first step in bigger picture</vt:lpstr>
      <vt:lpstr>Critiques of MPT</vt:lpstr>
      <vt:lpstr>Additional Critiques of MPT</vt:lpstr>
      <vt:lpstr>Adding more realism to asset allocation… </vt:lpstr>
      <vt:lpstr>Appendix: Mean-variance math</vt:lpstr>
      <vt:lpstr>The Efficient Frontier</vt:lpstr>
      <vt:lpstr>Calculating Means and the Covariance Matrix</vt:lpstr>
      <vt:lpstr>The Covariance Matrix</vt:lpstr>
      <vt:lpstr>Calculating Portfolio Means and Returns</vt:lpstr>
      <vt:lpstr>A Formal Description of the Efficient Frontier</vt:lpstr>
      <vt:lpstr>Calculating Efficient Risky Portfolios Without Constraints</vt:lpstr>
      <vt:lpstr>The Efficient Frontier</vt:lpstr>
      <vt:lpstr>Efficient Portfolios with Constraints</vt:lpstr>
      <vt:lpstr>Efficient Portfolios with Short Sales Constraints</vt:lpstr>
    </vt:vector>
  </TitlesOfParts>
  <Company>Commerce 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Adlai Fisher</dc:creator>
  <cp:lastModifiedBy>Fisher, Adlai</cp:lastModifiedBy>
  <cp:revision>174</cp:revision>
  <cp:lastPrinted>2021-06-17T19:34:15Z</cp:lastPrinted>
  <dcterms:created xsi:type="dcterms:W3CDTF">2003-01-06T15:33:27Z</dcterms:created>
  <dcterms:modified xsi:type="dcterms:W3CDTF">2025-03-06T15:10:34Z</dcterms:modified>
</cp:coreProperties>
</file>