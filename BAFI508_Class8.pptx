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52" r:id="rId2"/>
    <p:sldMasterId id="2147483783" r:id="rId3"/>
    <p:sldMasterId id="2147483795" r:id="rId4"/>
    <p:sldMasterId id="2147483810" r:id="rId5"/>
  </p:sldMasterIdLst>
  <p:notesMasterIdLst>
    <p:notesMasterId r:id="rId16"/>
  </p:notesMasterIdLst>
  <p:handoutMasterIdLst>
    <p:handoutMasterId r:id="rId17"/>
  </p:handoutMasterIdLst>
  <p:sldIdLst>
    <p:sldId id="360" r:id="rId6"/>
    <p:sldId id="469" r:id="rId7"/>
    <p:sldId id="479" r:id="rId8"/>
    <p:sldId id="424" r:id="rId9"/>
    <p:sldId id="489" r:id="rId10"/>
    <p:sldId id="490" r:id="rId11"/>
    <p:sldId id="497" r:id="rId12"/>
    <p:sldId id="495" r:id="rId13"/>
    <p:sldId id="498" r:id="rId14"/>
    <p:sldId id="496" r:id="rId15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34" autoAdjust="0"/>
  </p:normalViewPr>
  <p:slideViewPr>
    <p:cSldViewPr>
      <p:cViewPr varScale="1">
        <p:scale>
          <a:sx n="60" d="100"/>
          <a:sy n="60" d="100"/>
        </p:scale>
        <p:origin x="1464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2341"/>
    </p:cViewPr>
  </p:sorterViewPr>
  <p:notesViewPr>
    <p:cSldViewPr>
      <p:cViewPr varScale="1">
        <p:scale>
          <a:sx n="36" d="100"/>
          <a:sy n="36" d="100"/>
        </p:scale>
        <p:origin x="-1476" y="-8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132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A4C62E0-18C7-4D23-B410-4E9B29B277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226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8132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310" y="4421823"/>
            <a:ext cx="5618480" cy="4189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5AD670F-EEE4-4643-B99A-F7C5550EF6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3161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58255" indent="-291636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66546" indent="-23330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33164" indent="-23330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99782" indent="-23330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66401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033019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99637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966256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E187B77-373F-4821-8163-D6883C49DA06}" type="slidenum">
              <a:rPr lang="en-US" smtClean="0">
                <a:latin typeface="Arial" charset="0"/>
              </a:rPr>
              <a:pPr eaLnBrk="1" hangingPunct="1"/>
              <a:t>1</a:t>
            </a:fld>
            <a:endParaRPr lang="en-US">
              <a:latin typeface="Arial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00922C-A417-476D-9B3C-8B4196C75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9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5D9D9-EE7F-4543-AB66-3F1DFD9571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62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EDA56-4DEF-4D65-BE6E-1572598CCA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1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B9AFE-E56C-49E8-A944-FCDC7E7BB6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6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38A06-030F-4B24-A54A-A906CA3E1A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5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DF1AF-B7E0-4B48-B1A4-13DEF0A055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93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1908C-9AD0-4D26-BF73-D883910CB4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3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7DE90-684E-41A8-9571-6CF6F374268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40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CB6DE-A44F-4C48-B01C-E1B18EC615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18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005DC-5D55-4265-A123-04676CC7600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0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81000"/>
            <a:ext cx="2076450" cy="5745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076950" cy="5745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EF797-BE74-40B7-A394-58CB629C4BA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43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dirty="0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</p:grpSp>
      <p:sp>
        <p:nvSpPr>
          <p:cNvPr id="22938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938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05AEEC-73E6-411C-AA98-3DDC2916B1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3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E8A0A-EE35-4DF5-AFAF-A698601D8D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11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E7A17-1D39-49F4-B474-963C20B1A9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29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E63F7-40EB-41E4-A711-0041EFAF01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66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262BE-238D-40AB-871C-1C92CD3529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303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4427D-8FE6-42E8-91A1-1C8012C4B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277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95824-7CFA-458E-924D-9B5C50FA35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191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95EF6-6B49-44B8-BD05-2CAC3D105D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74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1DFEA-A30A-49FD-9949-4290970265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13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3780B6-30FD-46FE-9E23-CCC1752C6F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59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7D353-EF69-40C9-B526-58E78279C1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42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02225" y="39608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4E393-D6FA-41B5-A562-24BDACF19F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50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90852-DBB6-4ABE-BE71-C281E66542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79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582F5-EC73-484C-AB33-F9ADA9F738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612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7358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270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923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094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9775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460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8804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3526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075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0151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5566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endParaRPr>
            </a:p>
          </p:txBody>
        </p:sp>
      </p:grpSp>
      <p:sp>
        <p:nvSpPr>
          <p:cNvPr id="22938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938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05AEEC-73E6-411C-AA98-3DDC2916B12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3780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BE8A0A-EE35-4DF5-AFAF-A698601D8D9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6742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7A17-1D39-49F4-B474-963C20B1A9E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5916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0E63F7-40EB-41E4-A711-0041EFAF01A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55203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A262BE-238D-40AB-871C-1C92CD35293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55444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54427D-8FE6-42E8-91A1-1C8012C4B87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9449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C95824-7CFA-458E-924D-9B5C50FA354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01535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95EF6-6B49-44B8-BD05-2CAC3D105DB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2704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91DFEA-A30A-49FD-9949-4290970265F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91270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780B6-30FD-46FE-9E23-CCC1752C6FC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66583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97D353-EF69-40C9-B526-58E78279C1D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58440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02225" y="39608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54E393-D6FA-41B5-A562-24BDACF19FE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29504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0852-DBB6-4ABE-BE71-C281E665425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01578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582F5-EC73-484C-AB33-F9ADA9F738A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48289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623954-8EFA-4AFD-BA5F-5B0887686A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4362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FC7350-4CB5-4EE5-B57F-431B87D6041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0088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359358-D4FE-4DE7-A841-61DEAF4006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8018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AB7E90-6BD7-49F3-BEE4-D0356AA0536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0265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3F9774-B582-490C-8C0D-B21C6832618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35014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304538-1F64-4863-83D5-0797144A40D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2639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77CBF5-A1B1-4DF0-BAAE-6F91C88C3C4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5035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23E2D0-3904-477B-A9BE-1E8AE394CD4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4095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375D66-1900-4785-90CD-467AA927C88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3597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8399BC-9178-4825-8930-3A91C17633E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7640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9D3AF0-EC29-400F-B2C4-531BEAB0AE0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0207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D6993F-2258-424F-A958-5A2D6223B6E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95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229600" cy="1143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841ECCDC-96A6-466B-B5D2-D6BCF59D24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655" name="Line 7"/>
          <p:cNvSpPr>
            <a:spLocks noChangeShapeType="1"/>
          </p:cNvSpPr>
          <p:nvPr userDrawn="1"/>
        </p:nvSpPr>
        <p:spPr bwMode="auto">
          <a:xfrm>
            <a:off x="609600" y="1371600"/>
            <a:ext cx="807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228355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dirty="0"/>
            </a:p>
          </p:txBody>
        </p:sp>
        <p:sp>
          <p:nvSpPr>
            <p:cNvPr id="228356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  <p:sp>
          <p:nvSpPr>
            <p:cNvPr id="228357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09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836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836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836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A6AF8879-9647-4193-B88F-B0D6F43862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3/20/2025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58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228355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228356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endParaRPr>
            </a:p>
          </p:txBody>
        </p:sp>
        <p:sp>
          <p:nvSpPr>
            <p:cNvPr id="228357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</p:grpSp>
      <p:sp>
        <p:nvSpPr>
          <p:cNvPr id="409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836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22836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22836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AF8879-9647-4193-B88F-B0D6F438621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04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A4E7FF-644F-4A76-85A3-30DBA228FF9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51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43038" y="1148555"/>
            <a:ext cx="7239000" cy="105886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</a:rPr>
              <a:t>Class 8: CAPM, Factor Models, and Cross-Sectional Trading Strategies</a:t>
            </a: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dirty="0">
              <a:latin typeface="Times New Roman" pitchFamily="18" charset="0"/>
            </a:endParaRPr>
          </a:p>
          <a:p>
            <a:pPr eaLnBrk="1" hangingPunct="1"/>
            <a:r>
              <a:rPr lang="en-US" dirty="0">
                <a:latin typeface="Times New Roman" pitchFamily="18" charset="0"/>
              </a:rPr>
              <a:t>Data-driven Investments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Adlai Fisher</a:t>
            </a:r>
          </a:p>
          <a:p>
            <a:pPr eaLnBrk="1" hangingPunct="1"/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990600"/>
            <a:ext cx="9067800" cy="5916148"/>
          </a:xfrm>
        </p:spPr>
        <p:txBody>
          <a:bodyPr>
            <a:normAutofit/>
          </a:bodyPr>
          <a:lstStyle/>
          <a:p>
            <a:r>
              <a:rPr lang="en-US" sz="2400" dirty="0"/>
              <a:t>Make sure to sign up for final project groups!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514350" indent="-457200"/>
            <a:r>
              <a:rPr lang="en-US" sz="2400" dirty="0" err="1"/>
              <a:t>Hou</a:t>
            </a:r>
            <a:r>
              <a:rPr lang="en-US" sz="2400" dirty="0"/>
              <a:t>, </a:t>
            </a:r>
            <a:r>
              <a:rPr lang="en-US" sz="2400" dirty="0" err="1"/>
              <a:t>Xue</a:t>
            </a:r>
            <a:r>
              <a:rPr lang="en-US" sz="2400" dirty="0"/>
              <a:t>, and Zhang, “Replicating Anomalies,” </a:t>
            </a:r>
            <a:r>
              <a:rPr lang="en-US" sz="2400" i="1" dirty="0"/>
              <a:t>Review of Financial Studies</a:t>
            </a:r>
            <a:r>
              <a:rPr lang="en-US" sz="2400" dirty="0"/>
              <a:t>, 2020, should have references for all anomalies we discuss</a:t>
            </a:r>
            <a:endParaRPr lang="en-US" sz="2000" dirty="0"/>
          </a:p>
          <a:p>
            <a:pPr marL="914400" lvl="1" indent="-457200"/>
            <a:endParaRPr lang="en-US" sz="2000" dirty="0"/>
          </a:p>
          <a:p>
            <a:pPr marL="514350" indent="-457200"/>
            <a:r>
              <a:rPr lang="en-US" sz="2400" dirty="0"/>
              <a:t>Project proposals next Tuesday</a:t>
            </a:r>
          </a:p>
          <a:p>
            <a:pPr marL="914400" lvl="1" indent="-457200"/>
            <a:r>
              <a:rPr lang="en-US" sz="2000" dirty="0"/>
              <a:t>Two pages written plus 7 minute presentation in class (5 </a:t>
            </a:r>
            <a:r>
              <a:rPr lang="en-US" sz="2000" dirty="0" err="1"/>
              <a:t>mins</a:t>
            </a:r>
            <a:r>
              <a:rPr lang="en-US" sz="2000" dirty="0"/>
              <a:t> for Q&amp;A plus turnover)</a:t>
            </a:r>
          </a:p>
          <a:p>
            <a:pPr marL="914400" lvl="1" indent="-457200"/>
            <a:r>
              <a:rPr lang="en-US" sz="2000" dirty="0"/>
              <a:t>For Tuesday, please have your presentation loaded on a laptop with USB-C or HDMI adapter to ease transitions.</a:t>
            </a:r>
          </a:p>
          <a:p>
            <a:pPr marL="457200" lvl="1" indent="0">
              <a:buNone/>
            </a:pPr>
            <a:endParaRPr lang="en-US" sz="2000" dirty="0"/>
          </a:p>
          <a:p>
            <a:pPr marL="514350" indent="-457200"/>
            <a:r>
              <a:rPr lang="en-US" sz="2400" dirty="0"/>
              <a:t>Final project memoranda (after proposal feedback) due end of final exam period</a:t>
            </a:r>
          </a:p>
          <a:p>
            <a:pPr marL="514350" indent="-457200"/>
            <a:endParaRPr lang="en-US" sz="2400" dirty="0"/>
          </a:p>
          <a:p>
            <a:pPr marL="514350" indent="-457200"/>
            <a:r>
              <a:rPr lang="en-US" sz="2400" dirty="0"/>
              <a:t>We will have extra 1 </a:t>
            </a:r>
            <a:r>
              <a:rPr lang="en-US" sz="2400" dirty="0" err="1"/>
              <a:t>hr</a:t>
            </a:r>
            <a:r>
              <a:rPr lang="en-US" sz="2400" dirty="0"/>
              <a:t> from 12-1 to accommodate presentations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26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Proposals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751700"/>
            <a:ext cx="9067800" cy="6155048"/>
          </a:xfrm>
        </p:spPr>
        <p:txBody>
          <a:bodyPr>
            <a:normAutofit/>
          </a:bodyPr>
          <a:lstStyle/>
          <a:p>
            <a:r>
              <a:rPr lang="en-US" sz="2000" dirty="0"/>
              <a:t>Hopefully you are well on your way with background readings, sample code, and data.  We will continue to discuss today.</a:t>
            </a:r>
          </a:p>
          <a:p>
            <a:pPr marL="685800" lvl="1"/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13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715962"/>
            <a:ext cx="9067800" cy="6190786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sz="2400" dirty="0"/>
              <a:t>First analysis of characteristic-sorted portfolio returns (together in class)</a:t>
            </a:r>
          </a:p>
          <a:p>
            <a:pPr lvl="1" indent="-342900"/>
            <a:r>
              <a:rPr lang="en-US" sz="2000" dirty="0"/>
              <a:t>Long-short portfolios</a:t>
            </a:r>
          </a:p>
          <a:p>
            <a:pPr lvl="1" indent="-342900"/>
            <a:r>
              <a:rPr lang="en-US" sz="2000" dirty="0"/>
              <a:t>Evaluating means</a:t>
            </a:r>
          </a:p>
          <a:p>
            <a:pPr lvl="1" indent="-342900"/>
            <a:r>
              <a:rPr lang="en-US" sz="2000" dirty="0"/>
              <a:t>Market-model regression and CAPM alpha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r>
              <a:rPr lang="en-US" sz="2400" dirty="0" err="1"/>
              <a:t>Fama</a:t>
            </a:r>
            <a:r>
              <a:rPr lang="en-US" sz="2400" dirty="0"/>
              <a:t>-French Factors</a:t>
            </a:r>
          </a:p>
          <a:p>
            <a:pPr lvl="1" indent="-342900"/>
            <a:r>
              <a:rPr lang="en-US" sz="2000" dirty="0"/>
              <a:t>Discussion of where the factors come from</a:t>
            </a:r>
          </a:p>
          <a:p>
            <a:pPr lvl="1" indent="-342900"/>
            <a:r>
              <a:rPr lang="en-US" sz="2000" dirty="0"/>
              <a:t>FF3 alpha and factor loadings in the class example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r>
              <a:rPr lang="en-US" sz="2400" dirty="0"/>
              <a:t>Discussion of project proposals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16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-14654" y="234166"/>
            <a:ext cx="8991600" cy="4397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Performance Evaluation Exercise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(practice)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209" y="930275"/>
            <a:ext cx="8763000" cy="5791200"/>
          </a:xfrm>
        </p:spPr>
        <p:txBody>
          <a:bodyPr/>
          <a:lstStyle/>
          <a:p>
            <a:endParaRPr lang="en-US" sz="2800" dirty="0"/>
          </a:p>
          <a:p>
            <a:r>
              <a:rPr lang="en-US" sz="2000" dirty="0"/>
              <a:t>Using the momentum portfolios from Ken French’s website from class (can do this with others):</a:t>
            </a:r>
          </a:p>
          <a:p>
            <a:pPr lvl="1"/>
            <a:r>
              <a:rPr lang="en-US" sz="1600" dirty="0"/>
              <a:t>Operating profitability (OP)</a:t>
            </a:r>
          </a:p>
          <a:p>
            <a:pPr lvl="1"/>
            <a:r>
              <a:rPr lang="en-US" sz="1600" dirty="0"/>
              <a:t>Investment (Inv)</a:t>
            </a:r>
          </a:p>
          <a:p>
            <a:pPr lvl="1"/>
            <a:r>
              <a:rPr lang="en-US" sz="1600" dirty="0"/>
              <a:t>Market beta</a:t>
            </a:r>
          </a:p>
          <a:p>
            <a:pPr lvl="1"/>
            <a:r>
              <a:rPr lang="en-US" sz="1600" dirty="0"/>
              <a:t>Variance and/or residual variance</a:t>
            </a:r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Download the following data:</a:t>
            </a:r>
          </a:p>
          <a:p>
            <a:pPr lvl="1"/>
            <a:r>
              <a:rPr lang="en-US" sz="1600" dirty="0"/>
              <a:t>The decile or quintile portfolio data for the strategy from Ken French’s website</a:t>
            </a:r>
          </a:p>
          <a:p>
            <a:pPr lvl="1"/>
            <a:r>
              <a:rPr lang="en-US" sz="1600" dirty="0"/>
              <a:t>The data Fama-French 3 factors</a:t>
            </a:r>
          </a:p>
          <a:p>
            <a:pPr lvl="1"/>
            <a:r>
              <a:rPr lang="en-US" sz="1600" dirty="0"/>
              <a:t>We will do all analysis with monthly data</a:t>
            </a:r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FC7350-4CB5-4EE5-B57F-431B87D6041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46985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52"/>
            <a:ext cx="8991600" cy="4397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Performance Evaluation Exercise: Part 2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763000" cy="5791200"/>
          </a:xfrm>
        </p:spPr>
        <p:txBody>
          <a:bodyPr/>
          <a:lstStyle/>
          <a:p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For the portfolios in your strategy, and the corresponding long-short portfolio, evaluate each of the following: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600" dirty="0"/>
              <a:t>The average returns of each portfolio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600" dirty="0"/>
              <a:t>Run CAPM regressions for each portfolio (quintile or decile)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600" dirty="0"/>
              <a:t>Run FF 3-factor regressions for each portfolio (quintile or decile)</a:t>
            </a:r>
          </a:p>
          <a:p>
            <a:pPr marL="800100" lvl="1" indent="-342900">
              <a:buFont typeface="+mj-lt"/>
              <a:buAutoNum type="alphaLcPeriod"/>
            </a:pPr>
            <a:endParaRPr lang="en-US" sz="1600" dirty="0"/>
          </a:p>
          <a:p>
            <a:pPr marL="400050">
              <a:buFont typeface="+mj-lt"/>
              <a:buAutoNum type="arabicPeriod"/>
            </a:pPr>
            <a:r>
              <a:rPr lang="en-US" sz="2000" dirty="0"/>
              <a:t>Think about how you would format these results for presentation and how you would discuss these results.  What are the key results and what do they mean? </a:t>
            </a:r>
          </a:p>
          <a:p>
            <a:pPr marL="400050">
              <a:buFont typeface="+mj-lt"/>
              <a:buAutoNum type="arabicPeriod"/>
            </a:pPr>
            <a:endParaRPr lang="en-US" sz="2000" dirty="0"/>
          </a:p>
          <a:p>
            <a:pPr marL="400050"/>
            <a:r>
              <a:rPr lang="en-US" sz="2000" dirty="0"/>
              <a:t>Your projects require this kind of analysis, with portfolios that you form from scratch!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FC7350-4CB5-4EE5-B57F-431B87D6041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3821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Why Portfolios?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715962"/>
            <a:ext cx="9067800" cy="6190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Alternatives and discussion of pros-cons</a:t>
            </a:r>
          </a:p>
          <a:p>
            <a:r>
              <a:rPr lang="en-US" sz="2400" dirty="0"/>
              <a:t>Linear regression on characteristics</a:t>
            </a:r>
          </a:p>
          <a:p>
            <a:r>
              <a:rPr lang="en-US" sz="2400" dirty="0"/>
              <a:t>Portfolio sorts on characteristics (our projects)</a:t>
            </a:r>
          </a:p>
          <a:p>
            <a:r>
              <a:rPr lang="en-US" sz="2400" dirty="0"/>
              <a:t>ML approach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Other types of quant strategies</a:t>
            </a:r>
          </a:p>
          <a:p>
            <a:r>
              <a:rPr lang="en-US" sz="2400" dirty="0"/>
              <a:t>High-frequency (arb)</a:t>
            </a:r>
          </a:p>
          <a:p>
            <a:r>
              <a:rPr lang="en-US" sz="2400" dirty="0"/>
              <a:t>Time-series</a:t>
            </a:r>
          </a:p>
          <a:p>
            <a:pPr marL="857250" lvl="1" indent="-457200"/>
            <a:endParaRPr lang="en-US" sz="2000" dirty="0"/>
          </a:p>
          <a:p>
            <a:pPr marL="857250" lvl="1" indent="-457200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28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Idea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Study a known strategy, read the literature, build portfolios from scratch, carry out appropriate analysis including performance analysis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Propose some interesting modification:  </a:t>
            </a:r>
          </a:p>
          <a:p>
            <a:pPr marL="857250" lvl="1" indent="-457200"/>
            <a:r>
              <a:rPr lang="en-US" sz="2400" dirty="0"/>
              <a:t>Is momentum stronger in small firms than large firms (double sort)?</a:t>
            </a:r>
          </a:p>
          <a:p>
            <a:pPr marL="857250" lvl="1" indent="-457200"/>
            <a:r>
              <a:rPr lang="en-US" sz="2400" dirty="0"/>
              <a:t>Is a certain anomaly stronger within or across industries? In which industries?</a:t>
            </a:r>
          </a:p>
          <a:p>
            <a:pPr marL="857250" lvl="1" indent="-457200"/>
            <a:endParaRPr lang="en-US" sz="2400" dirty="0"/>
          </a:p>
          <a:p>
            <a:pPr marL="857250" lvl="1" indent="-457200"/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85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Pitch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pPr marL="857250" lvl="1" indent="-457200"/>
            <a:endParaRPr lang="en-US" sz="2400" dirty="0"/>
          </a:p>
          <a:p>
            <a:pPr marL="457200" indent="-457200"/>
            <a:r>
              <a:rPr lang="en-US" sz="2800" dirty="0"/>
              <a:t>Explain an anomaly that you are interested in to class</a:t>
            </a:r>
          </a:p>
          <a:p>
            <a:pPr marL="457200" indent="-457200"/>
            <a:endParaRPr lang="en-US" sz="2800" dirty="0"/>
          </a:p>
          <a:p>
            <a:pPr marL="457200" indent="-457200"/>
            <a:r>
              <a:rPr lang="en-US" sz="2400" dirty="0"/>
              <a:t>Ideally have implemented that anomaly by changing our sample code to get first-pass results, and show those results</a:t>
            </a:r>
          </a:p>
          <a:p>
            <a:pPr marL="857250" lvl="1" indent="-457200"/>
            <a:r>
              <a:rPr lang="en-US" sz="2000" dirty="0"/>
              <a:t>Explain changes you needed to make to code/algorithm</a:t>
            </a:r>
          </a:p>
          <a:p>
            <a:pPr marL="857250" lvl="1" indent="-457200"/>
            <a:r>
              <a:rPr lang="en-US" sz="2000" dirty="0"/>
              <a:t>If you do not have results, explain what you have done and any roadblocks</a:t>
            </a:r>
          </a:p>
          <a:p>
            <a:pPr marL="857250" lvl="1" indent="-457200"/>
            <a:r>
              <a:rPr lang="en-US" sz="2000" dirty="0"/>
              <a:t>Remember to extend sample code where possible, by, for example, looking at long-short portfolios</a:t>
            </a:r>
          </a:p>
          <a:p>
            <a:pPr marL="857250" lvl="1" indent="-457200"/>
            <a:endParaRPr lang="en-US" sz="2000" dirty="0"/>
          </a:p>
          <a:p>
            <a:pPr marL="457200" indent="-457200"/>
            <a:r>
              <a:rPr lang="en-US" sz="2400" dirty="0"/>
              <a:t>Give your proposal to extend analysis</a:t>
            </a:r>
          </a:p>
          <a:p>
            <a:pPr marL="857250" lvl="1" indent="-457200"/>
            <a:r>
              <a:rPr lang="en-US" sz="2000" dirty="0"/>
              <a:t>I.e., first level sort by size, or industry</a:t>
            </a:r>
          </a:p>
          <a:p>
            <a:pPr marL="857250" lvl="1" indent="-457200"/>
            <a:r>
              <a:rPr lang="en-US" sz="2000" dirty="0"/>
              <a:t>Changing lookback period for momentum</a:t>
            </a:r>
          </a:p>
          <a:p>
            <a:pPr marL="857250" lvl="1" indent="-457200"/>
            <a:r>
              <a:rPr lang="en-US" sz="2000" dirty="0"/>
              <a:t>Variation by time period</a:t>
            </a:r>
          </a:p>
          <a:p>
            <a:pPr marL="857250" lvl="1" indent="-457200"/>
            <a:r>
              <a:rPr lang="en-US" sz="2000" dirty="0"/>
              <a:t>Any other extension you consider interesting</a:t>
            </a:r>
          </a:p>
          <a:p>
            <a:pPr marL="857250" lvl="1" indent="-457200"/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3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r>
              <a:rPr lang="en-US" sz="2800" dirty="0"/>
              <a:t>Simplest projects to start with: an annual accounting ratio</a:t>
            </a:r>
          </a:p>
          <a:p>
            <a:pPr lvl="1"/>
            <a:r>
              <a:rPr lang="en-US" sz="2400" dirty="0"/>
              <a:t>Very simple change to sample code to get started</a:t>
            </a:r>
          </a:p>
          <a:p>
            <a:pPr lvl="1"/>
            <a:r>
              <a:rPr lang="en-US" sz="2400" dirty="0"/>
              <a:t>Replace CAPX/Assets with P/E, or P/D, or EBIT/Assets</a:t>
            </a:r>
          </a:p>
          <a:p>
            <a:pPr lvl="1"/>
            <a:endParaRPr lang="en-US" sz="2400" dirty="0"/>
          </a:p>
          <a:p>
            <a:r>
              <a:rPr lang="en-US" sz="2800" dirty="0"/>
              <a:t>A little more coding to get started</a:t>
            </a:r>
          </a:p>
          <a:p>
            <a:pPr lvl="1"/>
            <a:r>
              <a:rPr lang="en-US" sz="2400" dirty="0"/>
              <a:t>Something requiring computations of past data</a:t>
            </a:r>
          </a:p>
          <a:p>
            <a:pPr lvl="1"/>
            <a:r>
              <a:rPr lang="en-US" sz="2400" dirty="0"/>
              <a:t>Momentum (past twelve months returns)</a:t>
            </a:r>
          </a:p>
          <a:p>
            <a:pPr lvl="1"/>
            <a:r>
              <a:rPr lang="en-US" sz="2400" dirty="0"/>
              <a:t>Beta (need to run a regression for each firm)</a:t>
            </a:r>
          </a:p>
          <a:p>
            <a:pPr lvl="1"/>
            <a:r>
              <a:rPr lang="en-US" sz="2400" dirty="0"/>
              <a:t>Vol (need to calculate sum of squared returns for each firm)</a:t>
            </a:r>
          </a:p>
          <a:p>
            <a:pPr lvl="1"/>
            <a:endParaRPr lang="en-US" sz="2400" dirty="0"/>
          </a:p>
          <a:p>
            <a:r>
              <a:rPr lang="en-US" sz="2800" dirty="0"/>
              <a:t>Choose level of difficulty as you see appropriate.  Can still do an A level project choosing something that has a simpler starting point.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412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3429</TotalTime>
  <Words>668</Words>
  <Application>Microsoft Office PowerPoint</Application>
  <PresentationFormat>On-screen Show (4:3)</PresentationFormat>
  <Paragraphs>133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宋体</vt:lpstr>
      <vt:lpstr>Arial</vt:lpstr>
      <vt:lpstr>Calibri</vt:lpstr>
      <vt:lpstr>Times New Roman</vt:lpstr>
      <vt:lpstr>Verdana</vt:lpstr>
      <vt:lpstr>Wingdings</vt:lpstr>
      <vt:lpstr>Custom Design</vt:lpstr>
      <vt:lpstr>Eclipse</vt:lpstr>
      <vt:lpstr>Office Theme</vt:lpstr>
      <vt:lpstr>1_Eclipse</vt:lpstr>
      <vt:lpstr>1_默认设计模板</vt:lpstr>
      <vt:lpstr>Class 8: CAPM, Factor Models, and Cross-Sectional Trading Strategies</vt:lpstr>
      <vt:lpstr>Course Update</vt:lpstr>
      <vt:lpstr>Project Proposals</vt:lpstr>
      <vt:lpstr>Outline for Today</vt:lpstr>
      <vt:lpstr>Performance Evaluation Exercise  (practice)</vt:lpstr>
      <vt:lpstr>Performance Evaluation Exercise: Part 2</vt:lpstr>
      <vt:lpstr>Why Portfolios?</vt:lpstr>
      <vt:lpstr>Project Idea Discussion</vt:lpstr>
      <vt:lpstr>Pitch Objectives</vt:lpstr>
      <vt:lpstr>Comments</vt:lpstr>
    </vt:vector>
  </TitlesOfParts>
  <Company>Commerce 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Adlai Fisher</dc:creator>
  <cp:lastModifiedBy>Fisher, Adlai</cp:lastModifiedBy>
  <cp:revision>226</cp:revision>
  <cp:lastPrinted>2021-06-17T19:34:15Z</cp:lastPrinted>
  <dcterms:created xsi:type="dcterms:W3CDTF">2003-01-06T15:33:27Z</dcterms:created>
  <dcterms:modified xsi:type="dcterms:W3CDTF">2025-03-20T14:26:39Z</dcterms:modified>
</cp:coreProperties>
</file>