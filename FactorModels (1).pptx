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2" r:id="rId2"/>
    <p:sldMasterId id="2147483783" r:id="rId3"/>
    <p:sldMasterId id="2147483795" r:id="rId4"/>
    <p:sldMasterId id="2147483808" r:id="rId5"/>
  </p:sldMasterIdLst>
  <p:notesMasterIdLst>
    <p:notesMasterId r:id="rId56"/>
  </p:notesMasterIdLst>
  <p:handoutMasterIdLst>
    <p:handoutMasterId r:id="rId57"/>
  </p:handoutMasterIdLst>
  <p:sldIdLst>
    <p:sldId id="360" r:id="rId6"/>
    <p:sldId id="479" r:id="rId7"/>
    <p:sldId id="480" r:id="rId8"/>
    <p:sldId id="481" r:id="rId9"/>
    <p:sldId id="427" r:id="rId10"/>
    <p:sldId id="431" r:id="rId11"/>
    <p:sldId id="428" r:id="rId12"/>
    <p:sldId id="429" r:id="rId13"/>
    <p:sldId id="403" r:id="rId14"/>
    <p:sldId id="430" r:id="rId15"/>
    <p:sldId id="482" r:id="rId16"/>
    <p:sldId id="432"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 id="447" r:id="rId32"/>
    <p:sldId id="448" r:id="rId33"/>
    <p:sldId id="449" r:id="rId34"/>
    <p:sldId id="450" r:id="rId35"/>
    <p:sldId id="452" r:id="rId36"/>
    <p:sldId id="453" r:id="rId37"/>
    <p:sldId id="454" r:id="rId38"/>
    <p:sldId id="455" r:id="rId39"/>
    <p:sldId id="456" r:id="rId40"/>
    <p:sldId id="457" r:id="rId41"/>
    <p:sldId id="458" r:id="rId42"/>
    <p:sldId id="459" r:id="rId43"/>
    <p:sldId id="463" r:id="rId44"/>
    <p:sldId id="464" r:id="rId45"/>
    <p:sldId id="466" r:id="rId46"/>
    <p:sldId id="467" r:id="rId47"/>
    <p:sldId id="470" r:id="rId48"/>
    <p:sldId id="471" r:id="rId49"/>
    <p:sldId id="472" r:id="rId50"/>
    <p:sldId id="473" r:id="rId51"/>
    <p:sldId id="474" r:id="rId52"/>
    <p:sldId id="475" r:id="rId53"/>
    <p:sldId id="477" r:id="rId54"/>
    <p:sldId id="478" r:id="rId5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34" autoAdjust="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2341"/>
    </p:cViewPr>
  </p:sorterViewPr>
  <p:notesViewPr>
    <p:cSldViewPr>
      <p:cViewPr varScale="1">
        <p:scale>
          <a:sx n="36" d="100"/>
          <a:sy n="36" d="100"/>
        </p:scale>
        <p:origin x="-147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5357806785484375E-2"/>
          <c:y val="4.1719321015061997E-2"/>
          <c:w val="0.84722919907104099"/>
          <c:h val="0.8354848710154561"/>
        </c:manualLayout>
      </c:layout>
      <c:scatterChart>
        <c:scatterStyle val="smoothMarker"/>
        <c:varyColors val="0"/>
        <c:ser>
          <c:idx val="0"/>
          <c:order val="0"/>
          <c:xVal>
            <c:numRef>
              <c:f>'2-asset'!$D$10:$D$20</c:f>
              <c:numCache>
                <c:formatCode>General</c:formatCode>
                <c:ptCount val="11"/>
                <c:pt idx="0">
                  <c:v>0.1</c:v>
                </c:pt>
                <c:pt idx="1">
                  <c:v>9.5577193932443946E-2</c:v>
                </c:pt>
                <c:pt idx="2">
                  <c:v>9.3487967140161957E-2</c:v>
                </c:pt>
                <c:pt idx="3">
                  <c:v>9.3888231424390997E-2</c:v>
                </c:pt>
                <c:pt idx="4">
                  <c:v>9.6747092979582602E-2</c:v>
                </c:pt>
                <c:pt idx="5">
                  <c:v>0.10185774393731682</c:v>
                </c:pt>
                <c:pt idx="6">
                  <c:v>0.10890362712049585</c:v>
                </c:pt>
                <c:pt idx="7">
                  <c:v>0.11753722814495839</c:v>
                </c:pt>
                <c:pt idx="8">
                  <c:v>0.12743625857659191</c:v>
                </c:pt>
                <c:pt idx="9">
                  <c:v>0.13832931721077782</c:v>
                </c:pt>
                <c:pt idx="10">
                  <c:v>0.15</c:v>
                </c:pt>
              </c:numCache>
            </c:numRef>
          </c:xVal>
          <c:yVal>
            <c:numRef>
              <c:f>'2-asset'!$C$10:$C$20</c:f>
              <c:numCache>
                <c:formatCode>General</c:formatCode>
                <c:ptCount val="11"/>
                <c:pt idx="0">
                  <c:v>0.04</c:v>
                </c:pt>
                <c:pt idx="1">
                  <c:v>4.4000000000000004E-2</c:v>
                </c:pt>
                <c:pt idx="2">
                  <c:v>4.8000000000000001E-2</c:v>
                </c:pt>
                <c:pt idx="3">
                  <c:v>5.2000000000000005E-2</c:v>
                </c:pt>
                <c:pt idx="4">
                  <c:v>5.6000000000000001E-2</c:v>
                </c:pt>
                <c:pt idx="5">
                  <c:v>0.06</c:v>
                </c:pt>
                <c:pt idx="6">
                  <c:v>6.4000000000000001E-2</c:v>
                </c:pt>
                <c:pt idx="7">
                  <c:v>6.7999999999999991E-2</c:v>
                </c:pt>
                <c:pt idx="8">
                  <c:v>7.2000000000000008E-2</c:v>
                </c:pt>
                <c:pt idx="9">
                  <c:v>7.5999999999999998E-2</c:v>
                </c:pt>
                <c:pt idx="10">
                  <c:v>7.9999999999999988E-2</c:v>
                </c:pt>
              </c:numCache>
            </c:numRef>
          </c:yVal>
          <c:smooth val="1"/>
          <c:extLst>
            <c:ext xmlns:c16="http://schemas.microsoft.com/office/drawing/2014/chart" uri="{C3380CC4-5D6E-409C-BE32-E72D297353CC}">
              <c16:uniqueId val="{00000000-2819-4F7F-8A61-93380F9DC314}"/>
            </c:ext>
          </c:extLst>
        </c:ser>
        <c:dLbls>
          <c:showLegendKey val="0"/>
          <c:showVal val="0"/>
          <c:showCatName val="0"/>
          <c:showSerName val="0"/>
          <c:showPercent val="0"/>
          <c:showBubbleSize val="0"/>
        </c:dLbls>
        <c:axId val="74022272"/>
        <c:axId val="80969728"/>
      </c:scatterChart>
      <c:valAx>
        <c:axId val="74022272"/>
        <c:scaling>
          <c:orientation val="minMax"/>
        </c:scaling>
        <c:delete val="0"/>
        <c:axPos val="b"/>
        <c:numFmt formatCode="General" sourceLinked="1"/>
        <c:majorTickMark val="out"/>
        <c:minorTickMark val="none"/>
        <c:tickLblPos val="nextTo"/>
        <c:txPr>
          <a:bodyPr rot="0" vert="horz"/>
          <a:lstStyle/>
          <a:p>
            <a:pPr>
              <a:defRPr sz="1600" b="0" i="0" u="none" strike="noStrike" baseline="0">
                <a:solidFill>
                  <a:srgbClr val="000000"/>
                </a:solidFill>
                <a:latin typeface="Calibri"/>
                <a:ea typeface="Calibri"/>
                <a:cs typeface="Calibri"/>
              </a:defRPr>
            </a:pPr>
            <a:endParaRPr lang="en-US"/>
          </a:p>
        </c:txPr>
        <c:crossAx val="80969728"/>
        <c:crosses val="autoZero"/>
        <c:crossBetween val="midCat"/>
      </c:valAx>
      <c:valAx>
        <c:axId val="80969728"/>
        <c:scaling>
          <c:orientation val="minMax"/>
        </c:scaling>
        <c:delete val="0"/>
        <c:axPos val="l"/>
        <c:majorGridlines/>
        <c:numFmt formatCode="General" sourceLinked="1"/>
        <c:majorTickMark val="out"/>
        <c:minorTickMark val="none"/>
        <c:tickLblPos val="nextTo"/>
        <c:txPr>
          <a:bodyPr/>
          <a:lstStyle/>
          <a:p>
            <a:pPr>
              <a:defRPr sz="1600" baseline="0"/>
            </a:pPr>
            <a:endParaRPr lang="en-US"/>
          </a:p>
        </c:txPr>
        <c:crossAx val="74022272"/>
        <c:crosses val="autoZero"/>
        <c:crossBetween val="midCat"/>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5939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5939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0A4C62E0-18C7-4D23-B410-4E9B29B27715}" type="slidenum">
              <a:rPr lang="en-US"/>
              <a:pPr>
                <a:defRPr/>
              </a:pPr>
              <a:t>‹#›</a:t>
            </a:fld>
            <a:endParaRPr lang="en-US" dirty="0"/>
          </a:p>
        </p:txBody>
      </p:sp>
    </p:spTree>
    <p:extLst>
      <p:ext uri="{BB962C8B-B14F-4D97-AF65-F5344CB8AC3E}">
        <p14:creationId xmlns:p14="http://schemas.microsoft.com/office/powerpoint/2010/main" val="3124226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5AD670F-EEE4-4643-B99A-F7C5550EF606}" type="slidenum">
              <a:rPr lang="en-US"/>
              <a:pPr>
                <a:defRPr/>
              </a:pPr>
              <a:t>‹#›</a:t>
            </a:fld>
            <a:endParaRPr lang="en-US" dirty="0"/>
          </a:p>
        </p:txBody>
      </p:sp>
    </p:spTree>
    <p:extLst>
      <p:ext uri="{BB962C8B-B14F-4D97-AF65-F5344CB8AC3E}">
        <p14:creationId xmlns:p14="http://schemas.microsoft.com/office/powerpoint/2010/main" val="30163161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4E187B77-373F-4821-8163-D6883C49DA06}" type="slidenum">
              <a:rPr lang="en-US" smtClean="0">
                <a:latin typeface="Arial" charset="0"/>
              </a:rPr>
              <a:pPr eaLnBrk="1" hangingPunct="1"/>
              <a:t>1</a:t>
            </a:fld>
            <a:endParaRPr lang="en-US">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262306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3</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57396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F4D6B29F-CA7E-478F-8327-3AB4B7C45918}" type="slidenum">
              <a:rPr lang="en-US">
                <a:solidFill>
                  <a:srgbClr val="000000"/>
                </a:solidFill>
                <a:latin typeface="Arial" charset="0"/>
              </a:rPr>
              <a:pPr defTabSz="933237" eaLnBrk="1" hangingPunct="1">
                <a:defRPr/>
              </a:pPr>
              <a:t>4</a:t>
            </a:fld>
            <a:endParaRPr lang="en-US">
              <a:solidFill>
                <a:srgbClr val="000000"/>
              </a:solidFill>
              <a:latin typeface="Arial"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25448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5</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66211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6</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89152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7</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74951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8</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25509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9</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10</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07693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795D7A2D-9085-4351-8FC5-83A3A719D7B0}" type="slidenum">
              <a:rPr lang="en-US" smtClean="0">
                <a:latin typeface="Arial" charset="0"/>
              </a:rPr>
              <a:pPr eaLnBrk="1" hangingPunct="1"/>
              <a:t>11</a:t>
            </a:fld>
            <a:endParaRPr 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345392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57785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00922C-A417-476D-9B3C-8B4196C7586B}" type="slidenum">
              <a:rPr lang="en-US"/>
              <a:pPr>
                <a:defRPr/>
              </a:pPr>
              <a:t>‹#›</a:t>
            </a:fld>
            <a:endParaRPr lang="en-US" dirty="0"/>
          </a:p>
        </p:txBody>
      </p:sp>
    </p:spTree>
    <p:extLst>
      <p:ext uri="{BB962C8B-B14F-4D97-AF65-F5344CB8AC3E}">
        <p14:creationId xmlns:p14="http://schemas.microsoft.com/office/powerpoint/2010/main" val="87119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05D9D9-EE7F-4543-AB66-3F1DFD9571CF}" type="slidenum">
              <a:rPr lang="en-US"/>
              <a:pPr>
                <a:defRPr/>
              </a:pPr>
              <a:t>‹#›</a:t>
            </a:fld>
            <a:endParaRPr lang="en-US" dirty="0"/>
          </a:p>
        </p:txBody>
      </p:sp>
    </p:spTree>
    <p:extLst>
      <p:ext uri="{BB962C8B-B14F-4D97-AF65-F5344CB8AC3E}">
        <p14:creationId xmlns:p14="http://schemas.microsoft.com/office/powerpoint/2010/main" val="192462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1EDA56-4DEF-4D65-BE6E-1572598CCA17}" type="slidenum">
              <a:rPr lang="en-US"/>
              <a:pPr>
                <a:defRPr/>
              </a:pPr>
              <a:t>‹#›</a:t>
            </a:fld>
            <a:endParaRPr lang="en-US" dirty="0"/>
          </a:p>
        </p:txBody>
      </p:sp>
    </p:spTree>
    <p:extLst>
      <p:ext uri="{BB962C8B-B14F-4D97-AF65-F5344CB8AC3E}">
        <p14:creationId xmlns:p14="http://schemas.microsoft.com/office/powerpoint/2010/main" val="199761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04B9AFE-E56C-49E8-A944-FCDC7E7BB63A}" type="slidenum">
              <a:rPr lang="en-US"/>
              <a:pPr>
                <a:defRPr/>
              </a:pPr>
              <a:t>‹#›</a:t>
            </a:fld>
            <a:endParaRPr lang="en-US" dirty="0"/>
          </a:p>
        </p:txBody>
      </p:sp>
    </p:spTree>
    <p:extLst>
      <p:ext uri="{BB962C8B-B14F-4D97-AF65-F5344CB8AC3E}">
        <p14:creationId xmlns:p14="http://schemas.microsoft.com/office/powerpoint/2010/main" val="263366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838A06-030F-4B24-A54A-A906CA3E1AA3}" type="slidenum">
              <a:rPr lang="en-US"/>
              <a:pPr>
                <a:defRPr/>
              </a:pPr>
              <a:t>‹#›</a:t>
            </a:fld>
            <a:endParaRPr lang="en-US" dirty="0"/>
          </a:p>
        </p:txBody>
      </p:sp>
    </p:spTree>
    <p:extLst>
      <p:ext uri="{BB962C8B-B14F-4D97-AF65-F5344CB8AC3E}">
        <p14:creationId xmlns:p14="http://schemas.microsoft.com/office/powerpoint/2010/main" val="1387358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9CDF1AF-B7E0-4B48-B1A4-13DEF0A055DE}" type="slidenum">
              <a:rPr lang="en-US"/>
              <a:pPr>
                <a:defRPr/>
              </a:pPr>
              <a:t>‹#›</a:t>
            </a:fld>
            <a:endParaRPr lang="en-US" dirty="0"/>
          </a:p>
        </p:txBody>
      </p:sp>
    </p:spTree>
    <p:extLst>
      <p:ext uri="{BB962C8B-B14F-4D97-AF65-F5344CB8AC3E}">
        <p14:creationId xmlns:p14="http://schemas.microsoft.com/office/powerpoint/2010/main" val="3187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F21908C-9AD0-4D26-BF73-D883910CB44E}" type="slidenum">
              <a:rPr lang="en-US"/>
              <a:pPr>
                <a:defRPr/>
              </a:pPr>
              <a:t>‹#›</a:t>
            </a:fld>
            <a:endParaRPr lang="en-US" dirty="0"/>
          </a:p>
        </p:txBody>
      </p:sp>
    </p:spTree>
    <p:extLst>
      <p:ext uri="{BB962C8B-B14F-4D97-AF65-F5344CB8AC3E}">
        <p14:creationId xmlns:p14="http://schemas.microsoft.com/office/powerpoint/2010/main" val="34763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A7DE90-684E-41A8-9571-6CF6F374268A}" type="slidenum">
              <a:rPr lang="en-US"/>
              <a:pPr>
                <a:defRPr/>
              </a:pPr>
              <a:t>‹#›</a:t>
            </a:fld>
            <a:endParaRPr lang="en-US" dirty="0"/>
          </a:p>
        </p:txBody>
      </p:sp>
    </p:spTree>
    <p:extLst>
      <p:ext uri="{BB962C8B-B14F-4D97-AF65-F5344CB8AC3E}">
        <p14:creationId xmlns:p14="http://schemas.microsoft.com/office/powerpoint/2010/main" val="997407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DFCB6DE-A44F-4C48-B01C-E1B18EC6157F}" type="slidenum">
              <a:rPr lang="en-US"/>
              <a:pPr>
                <a:defRPr/>
              </a:pPr>
              <a:t>‹#›</a:t>
            </a:fld>
            <a:endParaRPr lang="en-US" dirty="0"/>
          </a:p>
        </p:txBody>
      </p:sp>
    </p:spTree>
    <p:extLst>
      <p:ext uri="{BB962C8B-B14F-4D97-AF65-F5344CB8AC3E}">
        <p14:creationId xmlns:p14="http://schemas.microsoft.com/office/powerpoint/2010/main" val="264018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1005DC-5D55-4265-A123-04676CC76002}" type="slidenum">
              <a:rPr lang="en-US"/>
              <a:pPr>
                <a:defRPr/>
              </a:pPr>
              <a:t>‹#›</a:t>
            </a:fld>
            <a:endParaRPr lang="en-US" dirty="0"/>
          </a:p>
        </p:txBody>
      </p:sp>
    </p:spTree>
    <p:extLst>
      <p:ext uri="{BB962C8B-B14F-4D97-AF65-F5344CB8AC3E}">
        <p14:creationId xmlns:p14="http://schemas.microsoft.com/office/powerpoint/2010/main" val="3791209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5745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81000"/>
            <a:ext cx="6076950"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A4EF797-BE74-40B7-A394-58CB629C4BA9}" type="slidenum">
              <a:rPr lang="en-US"/>
              <a:pPr>
                <a:defRPr/>
              </a:pPr>
              <a:t>‹#›</a:t>
            </a:fld>
            <a:endParaRPr lang="en-US" dirty="0"/>
          </a:p>
        </p:txBody>
      </p:sp>
    </p:spTree>
    <p:extLst>
      <p:ext uri="{BB962C8B-B14F-4D97-AF65-F5344CB8AC3E}">
        <p14:creationId xmlns:p14="http://schemas.microsoft.com/office/powerpoint/2010/main" val="669543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222625" y="304800"/>
            <a:ext cx="11909425"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headEnd/>
              <a:tailEnd/>
            </a:ln>
            <a:effectLst/>
          </p:spPr>
          <p:txBody>
            <a:bodyPr/>
            <a:lstStyle/>
            <a:p>
              <a:pPr>
                <a:defRPr/>
              </a:pPr>
              <a:endParaRPr lang="en-US" dirty="0"/>
            </a:p>
          </p:txBody>
        </p:sp>
        <p:sp>
          <p:nvSpPr>
            <p:cNvPr id="6" name="AutoShape 4"/>
            <p:cNvSpPr>
              <a:spLocks noChangeArrowheads="1"/>
            </p:cNvSpPr>
            <p:nvPr/>
          </p:nvSpPr>
          <p:spPr bwMode="auto">
            <a:xfrm>
              <a:off x="-1584" y="864"/>
              <a:ext cx="2304" cy="2304"/>
            </a:xfrm>
            <a:custGeom>
              <a:avLst/>
              <a:gdLst>
                <a:gd name="G0" fmla="+- 12083 0 0"/>
                <a:gd name="G1" fmla="+- -3200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44083" y="2368"/>
                </a:cxn>
                <a:cxn ang="0">
                  <a:pos x="64000" y="32000"/>
                </a:cxn>
                <a:cxn ang="0">
                  <a:pos x="44083" y="61631"/>
                </a:cxn>
                <a:cxn ang="0">
                  <a:pos x="44083" y="61631"/>
                </a:cxn>
                <a:cxn ang="0">
                  <a:pos x="44082" y="61631"/>
                </a:cxn>
                <a:cxn ang="0">
                  <a:pos x="44083" y="61632"/>
                </a:cxn>
                <a:cxn ang="0">
                  <a:pos x="44083" y="2368"/>
                </a:cxn>
                <a:cxn ang="0">
                  <a:pos x="44082" y="2368"/>
                </a:cxn>
                <a:cxn ang="0">
                  <a:pos x="44083" y="2368"/>
                </a:cxn>
              </a:cxnLst>
              <a:rect l="T13" t="T15" r="T17" b="T19"/>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w="9525">
              <a:noFill/>
              <a:miter lim="800000"/>
              <a:headEnd/>
              <a:tailEnd/>
            </a:ln>
          </p:spPr>
          <p:txBody>
            <a:bodyPr/>
            <a:lstStyle/>
            <a:p>
              <a:pPr>
                <a:defRPr/>
              </a:pPr>
              <a:endParaRPr lang="en-US" sz="2400" dirty="0"/>
            </a:p>
          </p:txBody>
        </p:sp>
        <p:sp>
          <p:nvSpPr>
            <p:cNvPr id="7" name="AutoShape 5"/>
            <p:cNvSpPr>
              <a:spLocks noChangeArrowheads="1"/>
            </p:cNvSpPr>
            <p:nvPr/>
          </p:nvSpPr>
          <p:spPr bwMode="auto">
            <a:xfrm>
              <a:off x="-2030" y="192"/>
              <a:ext cx="2544" cy="2544"/>
            </a:xfrm>
            <a:custGeom>
              <a:avLst/>
              <a:gdLst>
                <a:gd name="G0" fmla="+- 18994 0 0"/>
                <a:gd name="G1" fmla="+- -30013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994" y="6246"/>
                </a:cxn>
                <a:cxn ang="0">
                  <a:pos x="64000" y="32000"/>
                </a:cxn>
                <a:cxn ang="0">
                  <a:pos x="50994" y="57753"/>
                </a:cxn>
                <a:cxn ang="0">
                  <a:pos x="50994" y="57753"/>
                </a:cxn>
                <a:cxn ang="0">
                  <a:pos x="50993" y="57753"/>
                </a:cxn>
                <a:cxn ang="0">
                  <a:pos x="50994" y="57754"/>
                </a:cxn>
                <a:cxn ang="0">
                  <a:pos x="50994" y="6246"/>
                </a:cxn>
                <a:cxn ang="0">
                  <a:pos x="50993" y="6246"/>
                </a:cxn>
                <a:cxn ang="0">
                  <a:pos x="50994" y="6246"/>
                </a:cxn>
              </a:cxnLst>
              <a:rect l="T13" t="T15" r="T17" b="T19"/>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grpSp>
      <p:sp>
        <p:nvSpPr>
          <p:cNvPr id="229382"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22938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en-US"/>
              <a:t>Click to edit Master subtitle style</a:t>
            </a:r>
          </a:p>
        </p:txBody>
      </p:sp>
      <p:sp>
        <p:nvSpPr>
          <p:cNvPr id="8" name="Rectangle 8"/>
          <p:cNvSpPr>
            <a:spLocks noGrp="1" noChangeArrowheads="1"/>
          </p:cNvSpPr>
          <p:nvPr>
            <p:ph type="dt" sz="half" idx="10"/>
          </p:nvPr>
        </p:nvSpPr>
        <p:spPr/>
        <p:txBody>
          <a:bodyPr/>
          <a:lstStyle>
            <a:lvl1pPr>
              <a:defRPr/>
            </a:lvl1pPr>
          </a:lstStyle>
          <a:p>
            <a:pPr>
              <a:defRPr/>
            </a:pPr>
            <a:endParaRPr lang="en-US"/>
          </a:p>
        </p:txBody>
      </p:sp>
      <p:sp>
        <p:nvSpPr>
          <p:cNvPr id="9" name="Rectangle 9"/>
          <p:cNvSpPr>
            <a:spLocks noGrp="1" noChangeArrowheads="1"/>
          </p:cNvSpPr>
          <p:nvPr>
            <p:ph type="ftr" sz="quarter" idx="11"/>
          </p:nvPr>
        </p:nvSpPr>
        <p:spPr/>
        <p:txBody>
          <a:bodyPr/>
          <a:lstStyle>
            <a:lvl1pPr>
              <a:defRPr/>
            </a:lvl1pPr>
          </a:lstStyle>
          <a:p>
            <a:pPr>
              <a:defRPr/>
            </a:pPr>
            <a:endParaRPr lang="en-US"/>
          </a:p>
        </p:txBody>
      </p:sp>
      <p:sp>
        <p:nvSpPr>
          <p:cNvPr id="10" name="Rectangle 10"/>
          <p:cNvSpPr>
            <a:spLocks noGrp="1" noChangeArrowheads="1"/>
          </p:cNvSpPr>
          <p:nvPr>
            <p:ph type="sldNum" sz="quarter" idx="12"/>
          </p:nvPr>
        </p:nvSpPr>
        <p:spPr/>
        <p:txBody>
          <a:bodyPr/>
          <a:lstStyle>
            <a:lvl1pPr>
              <a:defRPr/>
            </a:lvl1pPr>
          </a:lstStyle>
          <a:p>
            <a:pPr>
              <a:defRPr/>
            </a:pPr>
            <a:fld id="{6405AEEC-73E6-411C-AA98-3DDC2916B129}" type="slidenum">
              <a:rPr lang="en-US"/>
              <a:pPr>
                <a:defRPr/>
              </a:pPr>
              <a:t>‹#›</a:t>
            </a:fld>
            <a:endParaRPr lang="en-US" dirty="0"/>
          </a:p>
        </p:txBody>
      </p:sp>
    </p:spTree>
    <p:extLst>
      <p:ext uri="{BB962C8B-B14F-4D97-AF65-F5344CB8AC3E}">
        <p14:creationId xmlns:p14="http://schemas.microsoft.com/office/powerpoint/2010/main" val="12547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5FBE8A0A-EE35-4DF5-AFAF-A698601D8D96}" type="slidenum">
              <a:rPr lang="en-US"/>
              <a:pPr>
                <a:defRPr/>
              </a:pPr>
              <a:t>‹#›</a:t>
            </a:fld>
            <a:endParaRPr lang="en-US" dirty="0"/>
          </a:p>
        </p:txBody>
      </p:sp>
    </p:spTree>
    <p:extLst>
      <p:ext uri="{BB962C8B-B14F-4D97-AF65-F5344CB8AC3E}">
        <p14:creationId xmlns:p14="http://schemas.microsoft.com/office/powerpoint/2010/main" val="3688611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B3E7A17-1D39-49F4-B474-963C20B1A9E1}" type="slidenum">
              <a:rPr lang="en-US"/>
              <a:pPr>
                <a:defRPr/>
              </a:pPr>
              <a:t>‹#›</a:t>
            </a:fld>
            <a:endParaRPr lang="en-US" dirty="0"/>
          </a:p>
        </p:txBody>
      </p:sp>
    </p:spTree>
    <p:extLst>
      <p:ext uri="{BB962C8B-B14F-4D97-AF65-F5344CB8AC3E}">
        <p14:creationId xmlns:p14="http://schemas.microsoft.com/office/powerpoint/2010/main" val="3018629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20E63F7-40EB-41E4-A711-0041EFAF01A5}" type="slidenum">
              <a:rPr lang="en-US"/>
              <a:pPr>
                <a:defRPr/>
              </a:pPr>
              <a:t>‹#›</a:t>
            </a:fld>
            <a:endParaRPr lang="en-US" dirty="0"/>
          </a:p>
        </p:txBody>
      </p:sp>
    </p:spTree>
    <p:extLst>
      <p:ext uri="{BB962C8B-B14F-4D97-AF65-F5344CB8AC3E}">
        <p14:creationId xmlns:p14="http://schemas.microsoft.com/office/powerpoint/2010/main" val="3208666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a:defRPr/>
            </a:pPr>
            <a:endParaRPr lang="en-US"/>
          </a:p>
        </p:txBody>
      </p:sp>
      <p:sp>
        <p:nvSpPr>
          <p:cNvPr id="8" name="Rectangle 9"/>
          <p:cNvSpPr>
            <a:spLocks noGrp="1" noChangeArrowheads="1"/>
          </p:cNvSpPr>
          <p:nvPr>
            <p:ph type="ftr" sz="quarter" idx="11"/>
          </p:nvPr>
        </p:nvSpPr>
        <p:spPr>
          <a:ln/>
        </p:spPr>
        <p:txBody>
          <a:bodyPr/>
          <a:lstStyle>
            <a:lvl1pPr>
              <a:defRPr/>
            </a:lvl1pPr>
          </a:lstStyle>
          <a:p>
            <a:pPr>
              <a:defRPr/>
            </a:pPr>
            <a:endParaRPr lang="en-US"/>
          </a:p>
        </p:txBody>
      </p:sp>
      <p:sp>
        <p:nvSpPr>
          <p:cNvPr id="9" name="Rectangle 10"/>
          <p:cNvSpPr>
            <a:spLocks noGrp="1" noChangeArrowheads="1"/>
          </p:cNvSpPr>
          <p:nvPr>
            <p:ph type="sldNum" sz="quarter" idx="12"/>
          </p:nvPr>
        </p:nvSpPr>
        <p:spPr>
          <a:ln/>
        </p:spPr>
        <p:txBody>
          <a:bodyPr/>
          <a:lstStyle>
            <a:lvl1pPr>
              <a:defRPr/>
            </a:lvl1pPr>
          </a:lstStyle>
          <a:p>
            <a:pPr>
              <a:defRPr/>
            </a:pPr>
            <a:fld id="{F6A262BE-238D-40AB-871C-1C92CD352937}" type="slidenum">
              <a:rPr lang="en-US"/>
              <a:pPr>
                <a:defRPr/>
              </a:pPr>
              <a:t>‹#›</a:t>
            </a:fld>
            <a:endParaRPr lang="en-US" dirty="0"/>
          </a:p>
        </p:txBody>
      </p:sp>
    </p:spTree>
    <p:extLst>
      <p:ext uri="{BB962C8B-B14F-4D97-AF65-F5344CB8AC3E}">
        <p14:creationId xmlns:p14="http://schemas.microsoft.com/office/powerpoint/2010/main" val="2395303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a:defRPr/>
            </a:pPr>
            <a:endParaRPr lang="en-US"/>
          </a:p>
        </p:txBody>
      </p:sp>
      <p:sp>
        <p:nvSpPr>
          <p:cNvPr id="4" name="Rectangle 9"/>
          <p:cNvSpPr>
            <a:spLocks noGrp="1" noChangeArrowheads="1"/>
          </p:cNvSpPr>
          <p:nvPr>
            <p:ph type="ftr" sz="quarter" idx="11"/>
          </p:nvPr>
        </p:nvSpPr>
        <p:spPr>
          <a:ln/>
        </p:spPr>
        <p:txBody>
          <a:bodyPr/>
          <a:lstStyle>
            <a:lvl1pPr>
              <a:defRPr/>
            </a:lvl1pPr>
          </a:lstStyle>
          <a:p>
            <a:pPr>
              <a:defRPr/>
            </a:pPr>
            <a:endParaRPr lang="en-US"/>
          </a:p>
        </p:txBody>
      </p:sp>
      <p:sp>
        <p:nvSpPr>
          <p:cNvPr id="5" name="Rectangle 10"/>
          <p:cNvSpPr>
            <a:spLocks noGrp="1" noChangeArrowheads="1"/>
          </p:cNvSpPr>
          <p:nvPr>
            <p:ph type="sldNum" sz="quarter" idx="12"/>
          </p:nvPr>
        </p:nvSpPr>
        <p:spPr>
          <a:ln/>
        </p:spPr>
        <p:txBody>
          <a:bodyPr/>
          <a:lstStyle>
            <a:lvl1pPr>
              <a:defRPr/>
            </a:lvl1pPr>
          </a:lstStyle>
          <a:p>
            <a:pPr>
              <a:defRPr/>
            </a:pPr>
            <a:fld id="{7354427D-8FE6-42E8-91A1-1C8012C4B878}" type="slidenum">
              <a:rPr lang="en-US"/>
              <a:pPr>
                <a:defRPr/>
              </a:pPr>
              <a:t>‹#›</a:t>
            </a:fld>
            <a:endParaRPr lang="en-US" dirty="0"/>
          </a:p>
        </p:txBody>
      </p:sp>
    </p:spTree>
    <p:extLst>
      <p:ext uri="{BB962C8B-B14F-4D97-AF65-F5344CB8AC3E}">
        <p14:creationId xmlns:p14="http://schemas.microsoft.com/office/powerpoint/2010/main" val="615277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p>
        </p:txBody>
      </p:sp>
      <p:sp>
        <p:nvSpPr>
          <p:cNvPr id="3" name="Rectangle 9"/>
          <p:cNvSpPr>
            <a:spLocks noGrp="1" noChangeArrowheads="1"/>
          </p:cNvSpPr>
          <p:nvPr>
            <p:ph type="ftr" sz="quarter" idx="11"/>
          </p:nvPr>
        </p:nvSpPr>
        <p:spPr>
          <a:ln/>
        </p:spPr>
        <p:txBody>
          <a:bodyPr/>
          <a:lstStyle>
            <a:lvl1pPr>
              <a:defRPr/>
            </a:lvl1pPr>
          </a:lstStyle>
          <a:p>
            <a:pPr>
              <a:defRPr/>
            </a:pPr>
            <a:endParaRPr lang="en-US"/>
          </a:p>
        </p:txBody>
      </p:sp>
      <p:sp>
        <p:nvSpPr>
          <p:cNvPr id="4" name="Rectangle 10"/>
          <p:cNvSpPr>
            <a:spLocks noGrp="1" noChangeArrowheads="1"/>
          </p:cNvSpPr>
          <p:nvPr>
            <p:ph type="sldNum" sz="quarter" idx="12"/>
          </p:nvPr>
        </p:nvSpPr>
        <p:spPr>
          <a:ln/>
        </p:spPr>
        <p:txBody>
          <a:bodyPr/>
          <a:lstStyle>
            <a:lvl1pPr>
              <a:defRPr/>
            </a:lvl1pPr>
          </a:lstStyle>
          <a:p>
            <a:pPr>
              <a:defRPr/>
            </a:pPr>
            <a:fld id="{E5C95824-7CFA-458E-924D-9B5C50FA354A}" type="slidenum">
              <a:rPr lang="en-US"/>
              <a:pPr>
                <a:defRPr/>
              </a:pPr>
              <a:t>‹#›</a:t>
            </a:fld>
            <a:endParaRPr lang="en-US" dirty="0"/>
          </a:p>
        </p:txBody>
      </p:sp>
    </p:spTree>
    <p:extLst>
      <p:ext uri="{BB962C8B-B14F-4D97-AF65-F5344CB8AC3E}">
        <p14:creationId xmlns:p14="http://schemas.microsoft.com/office/powerpoint/2010/main" val="2028419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4E695EF6-6B49-44B8-BD05-2CAC3D105DBA}" type="slidenum">
              <a:rPr lang="en-US"/>
              <a:pPr>
                <a:defRPr/>
              </a:pPr>
              <a:t>‹#›</a:t>
            </a:fld>
            <a:endParaRPr lang="en-US" dirty="0"/>
          </a:p>
        </p:txBody>
      </p:sp>
    </p:spTree>
    <p:extLst>
      <p:ext uri="{BB962C8B-B14F-4D97-AF65-F5344CB8AC3E}">
        <p14:creationId xmlns:p14="http://schemas.microsoft.com/office/powerpoint/2010/main" val="2463474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591DFEA-A30A-49FD-9949-4290970265F9}" type="slidenum">
              <a:rPr lang="en-US"/>
              <a:pPr>
                <a:defRPr/>
              </a:pPr>
              <a:t>‹#›</a:t>
            </a:fld>
            <a:endParaRPr lang="en-US" dirty="0"/>
          </a:p>
        </p:txBody>
      </p:sp>
    </p:spTree>
    <p:extLst>
      <p:ext uri="{BB962C8B-B14F-4D97-AF65-F5344CB8AC3E}">
        <p14:creationId xmlns:p14="http://schemas.microsoft.com/office/powerpoint/2010/main" val="1009113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8D3780B6-30FD-46FE-9E23-CCC1752C6FCF}" type="slidenum">
              <a:rPr lang="en-US"/>
              <a:pPr>
                <a:defRPr/>
              </a:pPr>
              <a:t>‹#›</a:t>
            </a:fld>
            <a:endParaRPr lang="en-US" dirty="0"/>
          </a:p>
        </p:txBody>
      </p:sp>
    </p:spTree>
    <p:extLst>
      <p:ext uri="{BB962C8B-B14F-4D97-AF65-F5344CB8AC3E}">
        <p14:creationId xmlns:p14="http://schemas.microsoft.com/office/powerpoint/2010/main" val="1214659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397D353-EF69-40C9-B526-58E78279C1D1}" type="slidenum">
              <a:rPr lang="en-US"/>
              <a:pPr>
                <a:defRPr/>
              </a:pPr>
              <a:t>‹#›</a:t>
            </a:fld>
            <a:endParaRPr lang="en-US" dirty="0"/>
          </a:p>
        </p:txBody>
      </p:sp>
    </p:spTree>
    <p:extLst>
      <p:ext uri="{BB962C8B-B14F-4D97-AF65-F5344CB8AC3E}">
        <p14:creationId xmlns:p14="http://schemas.microsoft.com/office/powerpoint/2010/main" val="4995422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02225" y="18272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02225" y="39608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pPr>
              <a:defRPr/>
            </a:pPr>
            <a:endParaRPr lang="en-US"/>
          </a:p>
        </p:txBody>
      </p:sp>
      <p:sp>
        <p:nvSpPr>
          <p:cNvPr id="7" name="Rectangle 9"/>
          <p:cNvSpPr>
            <a:spLocks noGrp="1" noChangeArrowheads="1"/>
          </p:cNvSpPr>
          <p:nvPr>
            <p:ph type="ftr" sz="quarter" idx="11"/>
          </p:nvPr>
        </p:nvSpPr>
        <p:spPr>
          <a:ln/>
        </p:spPr>
        <p:txBody>
          <a:bodyPr/>
          <a:lstStyle>
            <a:lvl1pPr>
              <a:defRPr/>
            </a:lvl1pPr>
          </a:lstStyle>
          <a:p>
            <a:pPr>
              <a:defRPr/>
            </a:pPr>
            <a:endParaRPr lang="en-US"/>
          </a:p>
        </p:txBody>
      </p:sp>
      <p:sp>
        <p:nvSpPr>
          <p:cNvPr id="8" name="Rectangle 10"/>
          <p:cNvSpPr>
            <a:spLocks noGrp="1" noChangeArrowheads="1"/>
          </p:cNvSpPr>
          <p:nvPr>
            <p:ph type="sldNum" sz="quarter" idx="12"/>
          </p:nvPr>
        </p:nvSpPr>
        <p:spPr>
          <a:ln/>
        </p:spPr>
        <p:txBody>
          <a:bodyPr/>
          <a:lstStyle>
            <a:lvl1pPr>
              <a:defRPr/>
            </a:lvl1pPr>
          </a:lstStyle>
          <a:p>
            <a:pPr>
              <a:defRPr/>
            </a:pPr>
            <a:fld id="{1654E393-D6FA-41B5-A562-24BDACF19FE6}" type="slidenum">
              <a:rPr lang="en-US"/>
              <a:pPr>
                <a:defRPr/>
              </a:pPr>
              <a:t>‹#›</a:t>
            </a:fld>
            <a:endParaRPr lang="en-US" dirty="0"/>
          </a:p>
        </p:txBody>
      </p:sp>
    </p:spTree>
    <p:extLst>
      <p:ext uri="{BB962C8B-B14F-4D97-AF65-F5344CB8AC3E}">
        <p14:creationId xmlns:p14="http://schemas.microsoft.com/office/powerpoint/2010/main" val="444250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able Placeholder 2"/>
          <p:cNvSpPr>
            <a:spLocks noGrp="1"/>
          </p:cNvSpPr>
          <p:nvPr>
            <p:ph type="tbl"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3CD90852-DBB6-4ABE-BE71-C281E6654258}" type="slidenum">
              <a:rPr lang="en-US"/>
              <a:pPr>
                <a:defRPr/>
              </a:pPr>
              <a:t>‹#›</a:t>
            </a:fld>
            <a:endParaRPr lang="en-US" dirty="0"/>
          </a:p>
        </p:txBody>
      </p:sp>
    </p:spTree>
    <p:extLst>
      <p:ext uri="{BB962C8B-B14F-4D97-AF65-F5344CB8AC3E}">
        <p14:creationId xmlns:p14="http://schemas.microsoft.com/office/powerpoint/2010/main" val="2434779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Chart Placeholder 2"/>
          <p:cNvSpPr>
            <a:spLocks noGrp="1"/>
          </p:cNvSpPr>
          <p:nvPr>
            <p:ph type="chart"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98D582F5-EC73-484C-AB33-F9ADA9F738AD}" type="slidenum">
              <a:rPr lang="en-US"/>
              <a:pPr>
                <a:defRPr/>
              </a:pPr>
              <a:t>‹#›</a:t>
            </a:fld>
            <a:endParaRPr lang="en-US" dirty="0"/>
          </a:p>
        </p:txBody>
      </p:sp>
    </p:spTree>
    <p:extLst>
      <p:ext uri="{BB962C8B-B14F-4D97-AF65-F5344CB8AC3E}">
        <p14:creationId xmlns:p14="http://schemas.microsoft.com/office/powerpoint/2010/main" val="36582612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987358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992706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109230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81094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39775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84608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78804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73526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420755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20151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65566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6623954-8EFA-4AFD-BA5F-5B0887686A43}"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875822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4224367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7359358-D4FE-4DE7-A841-61DEAF4006CC}"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555096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3565771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93F9774-B582-490C-8C0D-B21C6832618D}"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3065696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A304538-1F64-4863-83D5-0797144A40D3}"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865695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377CBF5-A1B1-4DF0-BAAE-6F91C88C3C46}"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0418473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923E2D0-3904-477B-A9BE-1E8AE394CD4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2378146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375D66-1900-4785-90CD-467AA927C88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1710215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B8399BC-9178-4825-8930-3A91C17633E5}"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1957245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19D3AF0-EC29-400F-B2C4-531BEAB0AE0A}"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2921213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D6993F-2258-424F-A958-5A2D6223B6E6}"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8962606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222625" y="304800"/>
            <a:ext cx="11909425"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endParaRPr>
            </a:p>
          </p:txBody>
        </p:sp>
        <p:sp>
          <p:nvSpPr>
            <p:cNvPr id="6" name="AutoShape 4"/>
            <p:cNvSpPr>
              <a:spLocks noChangeArrowheads="1"/>
            </p:cNvSpPr>
            <p:nvPr/>
          </p:nvSpPr>
          <p:spPr bwMode="auto">
            <a:xfrm>
              <a:off x="-1584" y="864"/>
              <a:ext cx="2304" cy="2304"/>
            </a:xfrm>
            <a:custGeom>
              <a:avLst/>
              <a:gdLst>
                <a:gd name="G0" fmla="+- 12083 0 0"/>
                <a:gd name="G1" fmla="+- -3200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44083" y="2368"/>
                </a:cxn>
                <a:cxn ang="0">
                  <a:pos x="64000" y="32000"/>
                </a:cxn>
                <a:cxn ang="0">
                  <a:pos x="44083" y="61631"/>
                </a:cxn>
                <a:cxn ang="0">
                  <a:pos x="44083" y="61631"/>
                </a:cxn>
                <a:cxn ang="0">
                  <a:pos x="44082" y="61631"/>
                </a:cxn>
                <a:cxn ang="0">
                  <a:pos x="44083" y="61632"/>
                </a:cxn>
                <a:cxn ang="0">
                  <a:pos x="44083" y="2368"/>
                </a:cxn>
                <a:cxn ang="0">
                  <a:pos x="44082" y="2368"/>
                </a:cxn>
                <a:cxn ang="0">
                  <a:pos x="44083" y="2368"/>
                </a:cxn>
              </a:cxnLst>
              <a:rect l="T13" t="T15" r="T17" b="T19"/>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Arial"/>
              </a:endParaRPr>
            </a:p>
          </p:txBody>
        </p:sp>
        <p:sp>
          <p:nvSpPr>
            <p:cNvPr id="7" name="AutoShape 5"/>
            <p:cNvSpPr>
              <a:spLocks noChangeArrowheads="1"/>
            </p:cNvSpPr>
            <p:nvPr/>
          </p:nvSpPr>
          <p:spPr bwMode="auto">
            <a:xfrm>
              <a:off x="-2030" y="192"/>
              <a:ext cx="2544" cy="2544"/>
            </a:xfrm>
            <a:custGeom>
              <a:avLst/>
              <a:gdLst>
                <a:gd name="G0" fmla="+- 18994 0 0"/>
                <a:gd name="G1" fmla="+- -30013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994" y="6246"/>
                </a:cxn>
                <a:cxn ang="0">
                  <a:pos x="64000" y="32000"/>
                </a:cxn>
                <a:cxn ang="0">
                  <a:pos x="50994" y="57753"/>
                </a:cxn>
                <a:cxn ang="0">
                  <a:pos x="50994" y="57753"/>
                </a:cxn>
                <a:cxn ang="0">
                  <a:pos x="50993" y="57753"/>
                </a:cxn>
                <a:cxn ang="0">
                  <a:pos x="50994" y="57754"/>
                </a:cxn>
                <a:cxn ang="0">
                  <a:pos x="50994" y="6246"/>
                </a:cxn>
                <a:cxn ang="0">
                  <a:pos x="50993" y="6246"/>
                </a:cxn>
                <a:cxn ang="0">
                  <a:pos x="50994" y="6246"/>
                </a:cxn>
              </a:cxnLst>
              <a:rect l="T13" t="T15" r="T17" b="T19"/>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n-ea"/>
                <a:cs typeface="Arial"/>
              </a:endParaRPr>
            </a:p>
          </p:txBody>
        </p:sp>
      </p:grpSp>
      <p:sp>
        <p:nvSpPr>
          <p:cNvPr id="229382"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22938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en-US"/>
              <a:t>Click to edit Master subtitle style</a:t>
            </a:r>
          </a:p>
        </p:txBody>
      </p:sp>
      <p:sp>
        <p:nvSpPr>
          <p:cNvPr id="8" name="Rectangle 8"/>
          <p:cNvSpPr>
            <a:spLocks noGrp="1" noChangeArrowheads="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9" name="Rectangle 9"/>
          <p:cNvSpPr>
            <a:spLocks noGrp="1" noChangeArrowheads="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10" name="Rectangle 10"/>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405AEEC-73E6-411C-AA98-3DDC2916B129}"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42523102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FBE8A0A-EE35-4DF5-AFAF-A698601D8D96}"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32867575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3E7A17-1D39-49F4-B474-963C20B1A9E1}"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001200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20E63F7-40EB-41E4-A711-0041EFAF01A5}"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4975381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8"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9"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6A262BE-238D-40AB-871C-1C92CD352937}"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39480641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4"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354427D-8FE6-42E8-91A1-1C8012C4B878}"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0117185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3"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4"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5C95824-7CFA-458E-924D-9B5C50FA354A}"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1877176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E695EF6-6B49-44B8-BD05-2CAC3D105DBA}"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9219681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591DFEA-A30A-49FD-9949-4290970265F9}"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509984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D3780B6-30FD-46FE-9E23-CCC1752C6FCF}"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37994629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397D353-EF69-40C9-B526-58E78279C1D1}"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004410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02225" y="18272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02225" y="39608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8"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654E393-D6FA-41B5-A562-24BDACF19FE6}"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57617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able Placeholder 2"/>
          <p:cNvSpPr>
            <a:spLocks noGrp="1"/>
          </p:cNvSpPr>
          <p:nvPr>
            <p:ph type="tbl"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CD90852-DBB6-4ABE-BE71-C281E6654258}"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252230949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Chart Placeholder 2"/>
          <p:cNvSpPr>
            <a:spLocks noGrp="1"/>
          </p:cNvSpPr>
          <p:nvPr>
            <p:ph type="chart"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5" name="Rectangle 9"/>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Rectangle 10"/>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8D582F5-EC73-484C-AB33-F9ADA9F738AD}"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387187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5.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81000" y="381000"/>
            <a:ext cx="8229600" cy="1143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841ECCDC-96A6-466B-B5D2-D6BCF59D2469}" type="slidenum">
              <a:rPr lang="en-US"/>
              <a:pPr>
                <a:defRPr/>
              </a:pPr>
              <a:t>‹#›</a:t>
            </a:fld>
            <a:endParaRPr lang="en-US" dirty="0"/>
          </a:p>
        </p:txBody>
      </p:sp>
      <p:sp>
        <p:nvSpPr>
          <p:cNvPr id="27655" name="Line 7"/>
          <p:cNvSpPr>
            <a:spLocks noChangeShapeType="1"/>
          </p:cNvSpPr>
          <p:nvPr userDrawn="1"/>
        </p:nvSpPr>
        <p:spPr bwMode="auto">
          <a:xfrm>
            <a:off x="609600" y="1371600"/>
            <a:ext cx="8077200" cy="0"/>
          </a:xfrm>
          <a:prstGeom prst="line">
            <a:avLst/>
          </a:prstGeom>
          <a:noFill/>
          <a:ln w="28575">
            <a:solidFill>
              <a:schemeClr val="tx1"/>
            </a:solidFill>
            <a:round/>
            <a:headEnd/>
            <a:tailEnd/>
          </a:ln>
          <a:effectLst/>
        </p:spPr>
        <p:txBody>
          <a:body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3238500" y="0"/>
            <a:ext cx="11925300" cy="3810000"/>
            <a:chOff x="-2040" y="0"/>
            <a:chExt cx="7512" cy="2400"/>
          </a:xfrm>
        </p:grpSpPr>
        <p:sp>
          <p:nvSpPr>
            <p:cNvPr id="228355" name="AutoShape 3"/>
            <p:cNvSpPr>
              <a:spLocks noChangeArrowheads="1"/>
            </p:cNvSpPr>
            <p:nvPr/>
          </p:nvSpPr>
          <p:spPr bwMode="auto">
            <a:xfrm>
              <a:off x="-2040" y="432"/>
              <a:ext cx="2592" cy="1968"/>
            </a:xfrm>
            <a:custGeom>
              <a:avLst/>
              <a:gdLst>
                <a:gd name="G0" fmla="+- 18296 0 0"/>
                <a:gd name="G1" fmla="+- -30880 0 0"/>
                <a:gd name="G2" fmla="+- 31512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296" y="5746"/>
                </a:cxn>
                <a:cxn ang="0">
                  <a:pos x="64000" y="32000"/>
                </a:cxn>
                <a:cxn ang="0">
                  <a:pos x="50296" y="58253"/>
                </a:cxn>
                <a:cxn ang="0">
                  <a:pos x="50296" y="58253"/>
                </a:cxn>
                <a:cxn ang="0">
                  <a:pos x="50295" y="58253"/>
                </a:cxn>
                <a:cxn ang="0">
                  <a:pos x="50296" y="58254"/>
                </a:cxn>
                <a:cxn ang="0">
                  <a:pos x="50296" y="5746"/>
                </a:cxn>
                <a:cxn ang="0">
                  <a:pos x="50295" y="5746"/>
                </a:cxn>
                <a:cxn ang="0">
                  <a:pos x="50296" y="5746"/>
                </a:cxn>
              </a:cxnLst>
              <a:rect l="T13" t="T15" r="T17" b="T19"/>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w="9525">
              <a:noFill/>
              <a:miter lim="800000"/>
              <a:headEnd/>
              <a:tailEnd/>
            </a:ln>
          </p:spPr>
          <p:txBody>
            <a:bodyPr/>
            <a:lstStyle/>
            <a:p>
              <a:pPr>
                <a:defRPr/>
              </a:pPr>
              <a:endParaRPr lang="en-US" sz="2400" dirty="0"/>
            </a:p>
          </p:txBody>
        </p:sp>
        <p:sp>
          <p:nvSpPr>
            <p:cNvPr id="228356" name="AutoShape 4"/>
            <p:cNvSpPr>
              <a:spLocks noChangeArrowheads="1"/>
            </p:cNvSpPr>
            <p:nvPr/>
          </p:nvSpPr>
          <p:spPr bwMode="auto">
            <a:xfrm>
              <a:off x="-1528" y="0"/>
              <a:ext cx="1949" cy="1987"/>
            </a:xfrm>
            <a:custGeom>
              <a:avLst/>
              <a:gdLst>
                <a:gd name="G0" fmla="+- 18077 0 0"/>
                <a:gd name="G1" fmla="+- -3088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077" y="5595"/>
                </a:cxn>
                <a:cxn ang="0">
                  <a:pos x="64000" y="32000"/>
                </a:cxn>
                <a:cxn ang="0">
                  <a:pos x="50077" y="58404"/>
                </a:cxn>
                <a:cxn ang="0">
                  <a:pos x="50077" y="58404"/>
                </a:cxn>
                <a:cxn ang="0">
                  <a:pos x="50076" y="58404"/>
                </a:cxn>
                <a:cxn ang="0">
                  <a:pos x="50077" y="58405"/>
                </a:cxn>
                <a:cxn ang="0">
                  <a:pos x="50077" y="5595"/>
                </a:cxn>
                <a:cxn ang="0">
                  <a:pos x="50076" y="5595"/>
                </a:cxn>
                <a:cxn ang="0">
                  <a:pos x="50077" y="5595"/>
                </a:cxn>
              </a:cxnLst>
              <a:rect l="T13" t="T15" r="T17" b="T19"/>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sp>
          <p:nvSpPr>
            <p:cNvPr id="228357" name="Line 5"/>
            <p:cNvSpPr>
              <a:spLocks noChangeShapeType="1"/>
            </p:cNvSpPr>
            <p:nvPr/>
          </p:nvSpPr>
          <p:spPr bwMode="auto">
            <a:xfrm>
              <a:off x="864" y="960"/>
              <a:ext cx="4608" cy="0"/>
            </a:xfrm>
            <a:prstGeom prst="line">
              <a:avLst/>
            </a:prstGeom>
            <a:noFill/>
            <a:ln w="12700">
              <a:solidFill>
                <a:schemeClr val="tx1"/>
              </a:solidFill>
              <a:round/>
              <a:headEnd/>
              <a:tailEnd/>
            </a:ln>
            <a:effectLst/>
          </p:spPr>
          <p:txBody>
            <a:bodyPr/>
            <a:lstStyle/>
            <a:p>
              <a:pPr>
                <a:defRPr/>
              </a:pPr>
              <a:endParaRPr lang="en-US" dirty="0"/>
            </a:p>
          </p:txBody>
        </p:sp>
      </p:grpSp>
      <p:sp>
        <p:nvSpPr>
          <p:cNvPr id="4099" name="Rectangle 6"/>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7"/>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836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n-lt"/>
              </a:defRPr>
            </a:lvl1pPr>
          </a:lstStyle>
          <a:p>
            <a:pPr>
              <a:defRPr/>
            </a:pPr>
            <a:endParaRPr lang="en-US"/>
          </a:p>
        </p:txBody>
      </p:sp>
      <p:sp>
        <p:nvSpPr>
          <p:cNvPr id="22836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n-lt"/>
              </a:defRPr>
            </a:lvl1pPr>
          </a:lstStyle>
          <a:p>
            <a:pPr>
              <a:defRPr/>
            </a:pPr>
            <a:endParaRPr lang="en-US"/>
          </a:p>
        </p:txBody>
      </p:sp>
      <p:sp>
        <p:nvSpPr>
          <p:cNvPr id="22836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n-lt"/>
              </a:defRPr>
            </a:lvl1pPr>
          </a:lstStyle>
          <a:p>
            <a:pPr>
              <a:defRPr/>
            </a:pPr>
            <a:fld id="{A6AF8879-9647-4193-B88F-B0D6F43862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1"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3/30/2023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01585622"/>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a:ea typeface="宋体"/>
              <a:cs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a:ea typeface="宋体"/>
              <a:cs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6A4E7FF-644F-4A76-85A3-30DBA228FF98}" type="slidenum">
              <a:rPr kumimoji="0" lang="en-US" altLang="zh-CN" sz="1400" b="0" i="0" u="none" strike="noStrike" kern="1200" cap="none" spc="0" normalizeH="0" baseline="0" noProof="0">
                <a:ln>
                  <a:noFill/>
                </a:ln>
                <a:solidFill>
                  <a:srgbClr val="000000"/>
                </a:solidFill>
                <a:effectLst/>
                <a:uLnTx/>
                <a:uFillTx/>
                <a:latin typeface="Arial"/>
                <a:ea typeface="宋体"/>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a:ea typeface="宋体"/>
              <a:cs typeface="Arial" charset="0"/>
            </a:endParaRPr>
          </a:p>
        </p:txBody>
      </p:sp>
    </p:spTree>
    <p:extLst>
      <p:ext uri="{BB962C8B-B14F-4D97-AF65-F5344CB8AC3E}">
        <p14:creationId xmlns:p14="http://schemas.microsoft.com/office/powerpoint/2010/main" val="4130753964"/>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3238500" y="0"/>
            <a:ext cx="11925300" cy="3810000"/>
            <a:chOff x="-2040" y="0"/>
            <a:chExt cx="7512" cy="2400"/>
          </a:xfrm>
        </p:grpSpPr>
        <p:sp>
          <p:nvSpPr>
            <p:cNvPr id="228355" name="AutoShape 3"/>
            <p:cNvSpPr>
              <a:spLocks noChangeArrowheads="1"/>
            </p:cNvSpPr>
            <p:nvPr/>
          </p:nvSpPr>
          <p:spPr bwMode="auto">
            <a:xfrm>
              <a:off x="-2040" y="432"/>
              <a:ext cx="2592" cy="1968"/>
            </a:xfrm>
            <a:custGeom>
              <a:avLst/>
              <a:gdLst>
                <a:gd name="G0" fmla="+- 18296 0 0"/>
                <a:gd name="G1" fmla="+- -30880 0 0"/>
                <a:gd name="G2" fmla="+- 31512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296" y="5746"/>
                </a:cxn>
                <a:cxn ang="0">
                  <a:pos x="64000" y="32000"/>
                </a:cxn>
                <a:cxn ang="0">
                  <a:pos x="50296" y="58253"/>
                </a:cxn>
                <a:cxn ang="0">
                  <a:pos x="50296" y="58253"/>
                </a:cxn>
                <a:cxn ang="0">
                  <a:pos x="50295" y="58253"/>
                </a:cxn>
                <a:cxn ang="0">
                  <a:pos x="50296" y="58254"/>
                </a:cxn>
                <a:cxn ang="0">
                  <a:pos x="50296" y="5746"/>
                </a:cxn>
                <a:cxn ang="0">
                  <a:pos x="50295" y="5746"/>
                </a:cxn>
                <a:cxn ang="0">
                  <a:pos x="50296" y="5746"/>
                </a:cxn>
              </a:cxnLst>
              <a:rect l="T13" t="T15" r="T17" b="T19"/>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Arial"/>
              </a:endParaRPr>
            </a:p>
          </p:txBody>
        </p:sp>
        <p:sp>
          <p:nvSpPr>
            <p:cNvPr id="228356" name="AutoShape 4"/>
            <p:cNvSpPr>
              <a:spLocks noChangeArrowheads="1"/>
            </p:cNvSpPr>
            <p:nvPr/>
          </p:nvSpPr>
          <p:spPr bwMode="auto">
            <a:xfrm>
              <a:off x="-1528" y="0"/>
              <a:ext cx="1949" cy="1987"/>
            </a:xfrm>
            <a:custGeom>
              <a:avLst/>
              <a:gdLst>
                <a:gd name="G0" fmla="+- 18077 0 0"/>
                <a:gd name="G1" fmla="+- -3088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077" y="5595"/>
                </a:cxn>
                <a:cxn ang="0">
                  <a:pos x="64000" y="32000"/>
                </a:cxn>
                <a:cxn ang="0">
                  <a:pos x="50077" y="58404"/>
                </a:cxn>
                <a:cxn ang="0">
                  <a:pos x="50077" y="58404"/>
                </a:cxn>
                <a:cxn ang="0">
                  <a:pos x="50076" y="58404"/>
                </a:cxn>
                <a:cxn ang="0">
                  <a:pos x="50077" y="58405"/>
                </a:cxn>
                <a:cxn ang="0">
                  <a:pos x="50077" y="5595"/>
                </a:cxn>
                <a:cxn ang="0">
                  <a:pos x="50076" y="5595"/>
                </a:cxn>
                <a:cxn ang="0">
                  <a:pos x="50077" y="5595"/>
                </a:cxn>
              </a:cxnLst>
              <a:rect l="T13" t="T15" r="T17" b="T19"/>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n-ea"/>
                <a:cs typeface="Arial"/>
              </a:endParaRPr>
            </a:p>
          </p:txBody>
        </p:sp>
        <p:sp>
          <p:nvSpPr>
            <p:cNvPr id="228357" name="Line 5"/>
            <p:cNvSpPr>
              <a:spLocks noChangeShapeType="1"/>
            </p:cNvSpPr>
            <p:nvPr/>
          </p:nvSpPr>
          <p:spPr bwMode="auto">
            <a:xfrm>
              <a:off x="864" y="960"/>
              <a:ext cx="4608" cy="0"/>
            </a:xfrm>
            <a:prstGeom prst="line">
              <a:avLst/>
            </a:prstGeom>
            <a:noFill/>
            <a:ln w="12700">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endParaRPr>
            </a:p>
          </p:txBody>
        </p:sp>
      </p:grpSp>
      <p:sp>
        <p:nvSpPr>
          <p:cNvPr id="4099" name="Rectangle 6"/>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7"/>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836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22836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22836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6AF8879-9647-4193-B88F-B0D6F438621F}"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373862466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chart" Target="../charts/chart1.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4.wmf"/><Relationship Id="rId2" Type="http://schemas.openxmlformats.org/officeDocument/2006/relationships/slideLayout" Target="../slideLayouts/slideLayout2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hyperlink" Target="https://mba.tuck.dartmouth.edu/pages/faculty/ken.french/data_library.html" TargetMode="External"/><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7.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7.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7.xml"/><Relationship Id="rId1" Type="http://schemas.openxmlformats.org/officeDocument/2006/relationships/vmlDrawing" Target="../drawings/vmlDrawing6.v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3" Type="http://schemas.openxmlformats.org/officeDocument/2006/relationships/hyperlink" Target="http://mba.tuck.dartmouth.edu/pages/faculty/ken.french/data_library.html" TargetMode="External"/><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447800" y="838200"/>
            <a:ext cx="7239000" cy="1447800"/>
          </a:xfrm>
        </p:spPr>
        <p:txBody>
          <a:bodyPr/>
          <a:lstStyle/>
          <a:p>
            <a:pPr eaLnBrk="1" hangingPunct="1"/>
            <a:r>
              <a:rPr lang="en-US" sz="3600" b="1" dirty="0">
                <a:latin typeface="Times New Roman" pitchFamily="18" charset="0"/>
              </a:rPr>
              <a:t>CAPM, Factor Models, and Cross-sectional Trading Strategies</a:t>
            </a:r>
          </a:p>
        </p:txBody>
      </p:sp>
      <p:sp>
        <p:nvSpPr>
          <p:cNvPr id="6147" name="Rectangle 5"/>
          <p:cNvSpPr>
            <a:spLocks noGrp="1" noChangeArrowheads="1"/>
          </p:cNvSpPr>
          <p:nvPr>
            <p:ph type="subTitle" idx="1"/>
          </p:nvPr>
        </p:nvSpPr>
        <p:spPr/>
        <p:txBody>
          <a:bodyPr/>
          <a:lstStyle/>
          <a:p>
            <a:pPr eaLnBrk="1" hangingPunct="1"/>
            <a:r>
              <a:rPr lang="en-US" dirty="0">
                <a:latin typeface="Times New Roman" pitchFamily="18" charset="0"/>
              </a:rPr>
              <a:t>BAFI508: Data-driven Investments</a:t>
            </a:r>
          </a:p>
          <a:p>
            <a:pPr eaLnBrk="1" hangingPunct="1"/>
            <a:r>
              <a:rPr lang="en-US" dirty="0">
                <a:latin typeface="Times New Roman" pitchFamily="18" charset="0"/>
              </a:rPr>
              <a:t>Adlai Fisher</a:t>
            </a:r>
          </a:p>
          <a:p>
            <a:pPr eaLnBrk="1" hangingPunct="1"/>
            <a:endParaRPr lang="en-US"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Alternative to MPT: Factor Investing</a:t>
            </a:r>
          </a:p>
        </p:txBody>
      </p:sp>
      <p:sp>
        <p:nvSpPr>
          <p:cNvPr id="60420" name="Rectangle 3"/>
          <p:cNvSpPr>
            <a:spLocks noGrp="1" noChangeArrowheads="1"/>
          </p:cNvSpPr>
          <p:nvPr>
            <p:ph type="body" idx="1"/>
          </p:nvPr>
        </p:nvSpPr>
        <p:spPr>
          <a:xfrm>
            <a:off x="990600" y="1658232"/>
            <a:ext cx="7848600" cy="4878387"/>
          </a:xfrm>
        </p:spPr>
        <p:txBody>
          <a:bodyPr/>
          <a:lstStyle/>
          <a:p>
            <a:pPr marL="0" indent="0" eaLnBrk="1" hangingPunct="1">
              <a:buNone/>
            </a:pPr>
            <a:r>
              <a:rPr lang="en-US" sz="2500" dirty="0">
                <a:latin typeface="Times New Roman" pitchFamily="18" charset="0"/>
              </a:rPr>
              <a:t>Might be better to focus on sources of risk, K perhaps less than N, more importantly, provides structure theoretically and empirically</a:t>
            </a:r>
          </a:p>
          <a:p>
            <a:pPr eaLnBrk="1" hangingPunct="1"/>
            <a:r>
              <a:rPr lang="en-US" sz="2500" dirty="0">
                <a:latin typeface="Times New Roman" pitchFamily="18" charset="0"/>
              </a:rPr>
              <a:t>Used and advocated by CPPIB, Norway Pension Fund, Black Rock, MSCI</a:t>
            </a:r>
          </a:p>
          <a:p>
            <a:pPr eaLnBrk="1" hangingPunct="1"/>
            <a:r>
              <a:rPr lang="en-US" sz="2500" dirty="0">
                <a:latin typeface="Times New Roman" pitchFamily="18" charset="0"/>
              </a:rPr>
              <a:t>Theory: expand CAPM to APT, multiple risk factors, “empirical” or “macro” factors</a:t>
            </a:r>
          </a:p>
          <a:p>
            <a:pPr eaLnBrk="1" hangingPunct="1"/>
            <a:endParaRPr lang="en-US" sz="2500" dirty="0">
              <a:latin typeface="Times New Roman" pitchFamily="18" charset="0"/>
            </a:endParaRPr>
          </a:p>
          <a:p>
            <a:pPr marL="0" indent="0" algn="ctr" eaLnBrk="1" hangingPunct="1">
              <a:buNone/>
            </a:pPr>
            <a:r>
              <a:rPr lang="en-US" sz="2500" dirty="0">
                <a:latin typeface="Times New Roman" pitchFamily="18" charset="0"/>
              </a:rPr>
              <a:t>CAPM can be motivated by mean-variance analysis, APT by other risk factors, see following…</a:t>
            </a: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3128236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Capital Asset Pricing Model (CAPM)</a:t>
            </a:r>
          </a:p>
        </p:txBody>
      </p:sp>
      <p:sp>
        <p:nvSpPr>
          <p:cNvPr id="23556" name="Rectangle 3"/>
          <p:cNvSpPr>
            <a:spLocks noGrp="1" noChangeArrowheads="1"/>
          </p:cNvSpPr>
          <p:nvPr>
            <p:ph type="body" idx="1"/>
          </p:nvPr>
        </p:nvSpPr>
        <p:spPr>
          <a:xfrm>
            <a:off x="609600" y="1524000"/>
            <a:ext cx="8458200" cy="5257800"/>
          </a:xfrm>
        </p:spPr>
        <p:txBody>
          <a:bodyPr/>
          <a:lstStyle/>
          <a:p>
            <a:pPr marL="222250" indent="-222250" eaLnBrk="1" hangingPunct="1"/>
            <a:r>
              <a:rPr lang="en-US" sz="2400" dirty="0">
                <a:latin typeface="Times New Roman" pitchFamily="18" charset="0"/>
              </a:rPr>
              <a:t>With a risk-free asset, </a:t>
            </a:r>
            <a:r>
              <a:rPr lang="en-US" sz="2400" i="1" u="sng" dirty="0">
                <a:latin typeface="Times New Roman" pitchFamily="18" charset="0"/>
              </a:rPr>
              <a:t>and mean-variance focused investors</a:t>
            </a:r>
            <a:r>
              <a:rPr lang="en-US" sz="2400" dirty="0">
                <a:latin typeface="Times New Roman" pitchFamily="18" charset="0"/>
              </a:rPr>
              <a:t>, all investors would choose a point on the mean-variance efficient line, some combination of riskless asset and tangency portfolio</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If a world like this existed, the tangency portfolio must be the “market portfolio,” which is the basket of all risky assets that exist</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A mean-variance investor evaluates the risk of any asset according to how that asset contributes to the variance of the portfolio of risky assets they hold.  If all investors hold this same portfolio of risky assets, this leads to agreement about what is risk and to the CAPM…</a:t>
            </a:r>
          </a:p>
          <a:p>
            <a:pPr marL="0" indent="0" eaLnBrk="1" hangingPunct="1">
              <a:buNone/>
            </a:pPr>
            <a:endParaRPr lang="en-US" sz="2000" b="0" dirty="0">
              <a:latin typeface="Times New Roman" pitchFamily="18" charset="0"/>
              <a:ea typeface="Cambria Math" panose="02040503050406030204" pitchFamily="18" charset="0"/>
            </a:endParaRPr>
          </a:p>
          <a:p>
            <a:pPr marL="0" indent="0" eaLnBrk="1" hangingPunct="1">
              <a:buNone/>
            </a:pPr>
            <a:endParaRPr lang="en-US" sz="1800" dirty="0">
              <a:latin typeface="Times New Roman" pitchFamily="18" charset="0"/>
            </a:endParaRPr>
          </a:p>
        </p:txBody>
      </p:sp>
    </p:spTree>
    <p:extLst>
      <p:ext uri="{BB962C8B-B14F-4D97-AF65-F5344CB8AC3E}">
        <p14:creationId xmlns:p14="http://schemas.microsoft.com/office/powerpoint/2010/main" val="1911438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Efficient Frontier with Riskless Asset</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15367" name="Chart" r:id="rId4" imgW="8229600" imgH="4524211" progId="MSGraph.Chart.8">
                  <p:embed followColorScheme="full"/>
                </p:oleObj>
              </mc:Choice>
              <mc:Fallback>
                <p:oleObj name="Chart" r:id="rId4" imgW="8229600" imgH="4524211"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sp>
        <p:nvSpPr>
          <p:cNvPr id="2" name="TextBox 1"/>
          <p:cNvSpPr txBox="1"/>
          <p:nvPr/>
        </p:nvSpPr>
        <p:spPr>
          <a:xfrm>
            <a:off x="266700" y="5371623"/>
            <a:ext cx="8610600" cy="1477328"/>
          </a:xfrm>
          <a:prstGeom prst="rect">
            <a:avLst/>
          </a:prstGeom>
          <a:solidFill>
            <a:schemeClr val="accent1">
              <a:lumMod val="20000"/>
              <a:lumOff val="80000"/>
            </a:schemeClr>
          </a:solidFill>
          <a:ln>
            <a:solidFill>
              <a:schemeClr val="accent4"/>
            </a:solidFill>
          </a:ln>
        </p:spPr>
        <p:txBody>
          <a:bodyPr wrap="square" rtlCol="0">
            <a:spAutoFit/>
          </a:bodyPr>
          <a:lstStyle/>
          <a:p>
            <a:r>
              <a:rPr lang="en-US" dirty="0"/>
              <a:t>With a riskless asset, the new “efficient frontier” is the black arrow.</a:t>
            </a:r>
          </a:p>
          <a:p>
            <a:pPr marL="285750" indent="-285750">
              <a:buFont typeface="Arial" panose="020B0604020202020204" pitchFamily="34" charset="0"/>
              <a:buChar char="•"/>
            </a:pPr>
            <a:r>
              <a:rPr lang="en-US" dirty="0"/>
              <a:t>Single contact with risky frontier is MSRP, or “tangency portfolio”</a:t>
            </a:r>
          </a:p>
          <a:p>
            <a:pPr marL="285750" indent="-285750">
              <a:buFont typeface="Arial" panose="020B0604020202020204" pitchFamily="34" charset="0"/>
              <a:buChar char="•"/>
            </a:pPr>
            <a:r>
              <a:rPr lang="en-US" dirty="0"/>
              <a:t>All M-V investors hold combination of riskless asset and tangency portfolio!</a:t>
            </a:r>
          </a:p>
          <a:p>
            <a:pPr marL="285750" indent="-285750">
              <a:buFont typeface="Arial" panose="020B0604020202020204" pitchFamily="34" charset="0"/>
              <a:buChar char="•"/>
            </a:pPr>
            <a:r>
              <a:rPr lang="en-US" dirty="0"/>
              <a:t>Tangency portfolio is “market portfolio”!</a:t>
            </a:r>
          </a:p>
          <a:p>
            <a:pPr marL="285750" indent="-285750">
              <a:buFont typeface="Arial" panose="020B0604020202020204" pitchFamily="34" charset="0"/>
              <a:buChar char="•"/>
            </a:pPr>
            <a:r>
              <a:rPr lang="en-US" dirty="0"/>
              <a:t>Leads to CAPM</a:t>
            </a:r>
          </a:p>
        </p:txBody>
      </p:sp>
      <p:cxnSp>
        <p:nvCxnSpPr>
          <p:cNvPr id="5" name="Straight Arrow Connector 4"/>
          <p:cNvCxnSpPr>
            <a:cxnSpLocks/>
          </p:cNvCxnSpPr>
          <p:nvPr/>
        </p:nvCxnSpPr>
        <p:spPr>
          <a:xfrm flipV="1">
            <a:off x="1447800" y="1676400"/>
            <a:ext cx="5791200" cy="3198884"/>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048000" y="1815683"/>
            <a:ext cx="1804725" cy="369332"/>
          </a:xfrm>
          <a:prstGeom prst="rect">
            <a:avLst/>
          </a:prstGeom>
          <a:solidFill>
            <a:schemeClr val="accent1">
              <a:lumMod val="20000"/>
              <a:lumOff val="80000"/>
            </a:schemeClr>
          </a:solidFill>
          <a:ln w="19050">
            <a:solidFill>
              <a:schemeClr val="accent4"/>
            </a:solidFill>
          </a:ln>
        </p:spPr>
        <p:txBody>
          <a:bodyPr wrap="none" rtlCol="0">
            <a:spAutoFit/>
          </a:bodyPr>
          <a:lstStyle/>
          <a:p>
            <a:r>
              <a:rPr lang="en-US" dirty="0"/>
              <a:t>MSRP / tangency</a:t>
            </a:r>
          </a:p>
        </p:txBody>
      </p:sp>
      <p:cxnSp>
        <p:nvCxnSpPr>
          <p:cNvPr id="16" name="Straight Arrow Connector 15"/>
          <p:cNvCxnSpPr/>
          <p:nvPr/>
        </p:nvCxnSpPr>
        <p:spPr>
          <a:xfrm>
            <a:off x="4707797" y="2285326"/>
            <a:ext cx="638043" cy="3397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Chart 9">
            <a:extLst>
              <a:ext uri="{FF2B5EF4-FFF2-40B4-BE49-F238E27FC236}">
                <a16:creationId xmlns:a16="http://schemas.microsoft.com/office/drawing/2014/main" id="{00000000-0008-0000-0000-000006040000}"/>
              </a:ext>
            </a:extLst>
          </p:cNvPr>
          <p:cNvGraphicFramePr>
            <a:graphicFrameLocks/>
          </p:cNvGraphicFramePr>
          <p:nvPr>
            <p:extLst/>
          </p:nvPr>
        </p:nvGraphicFramePr>
        <p:xfrm>
          <a:off x="762000" y="1506179"/>
          <a:ext cx="7313612" cy="38062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59225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431181" y="100010"/>
            <a:ext cx="8229600" cy="1143000"/>
          </a:xfrm>
        </p:spPr>
        <p:txBody>
          <a:bodyPr/>
          <a:lstStyle/>
          <a:p>
            <a:pPr eaLnBrk="1" hangingPunct="1"/>
            <a:r>
              <a:rPr lang="en-US" sz="3000" b="1" dirty="0">
                <a:latin typeface="Times New Roman" pitchFamily="18" charset="0"/>
              </a:rPr>
              <a:t>Capital Asset Pricing Model (CAPM)</a:t>
            </a:r>
          </a:p>
        </p:txBody>
      </p:sp>
      <p:sp>
        <p:nvSpPr>
          <p:cNvPr id="60420" name="Rectangle 3"/>
          <p:cNvSpPr>
            <a:spLocks noGrp="1" noChangeArrowheads="1"/>
          </p:cNvSpPr>
          <p:nvPr>
            <p:ph idx="1"/>
          </p:nvPr>
        </p:nvSpPr>
        <p:spPr>
          <a:xfrm>
            <a:off x="152400" y="3322637"/>
            <a:ext cx="8839200" cy="2590800"/>
          </a:xfrm>
        </p:spPr>
        <p:txBody>
          <a:bodyPr>
            <a:normAutofit/>
          </a:bodyPr>
          <a:lstStyle/>
          <a:p>
            <a:pPr eaLnBrk="1" hangingPunct="1"/>
            <a:r>
              <a:rPr lang="en-US" sz="2500" dirty="0">
                <a:latin typeface="Times New Roman" pitchFamily="18" charset="0"/>
              </a:rPr>
              <a:t>In the mean-variance asset allocation problem with a risk-free asset, all investors hold some combination of the risk-free asset and the tangency portfolio, which must be the market portfolio</a:t>
            </a:r>
          </a:p>
          <a:p>
            <a:pPr eaLnBrk="1" hangingPunct="1"/>
            <a:r>
              <a:rPr lang="en-US" sz="2500" dirty="0">
                <a:latin typeface="Times New Roman" pitchFamily="18" charset="0"/>
              </a:rPr>
              <a:t>So the “risk” of any individual asset, and its expected return “reward” depends on its covariance with the market portfolio</a:t>
            </a:r>
          </a:p>
        </p:txBody>
      </p:sp>
      <p:graphicFrame>
        <p:nvGraphicFramePr>
          <p:cNvPr id="2" name="Object 1"/>
          <p:cNvGraphicFramePr>
            <a:graphicFrameLocks noGrp="1" noChangeAspect="1"/>
          </p:cNvGraphicFramePr>
          <p:nvPr>
            <p:extLst>
              <p:ext uri="{D42A27DB-BD31-4B8C-83A1-F6EECF244321}">
                <p14:modId xmlns:p14="http://schemas.microsoft.com/office/powerpoint/2010/main" val="874863950"/>
              </p:ext>
            </p:extLst>
          </p:nvPr>
        </p:nvGraphicFramePr>
        <p:xfrm>
          <a:off x="304800" y="1642665"/>
          <a:ext cx="4818712" cy="708819"/>
        </p:xfrm>
        <a:graphic>
          <a:graphicData uri="http://schemas.openxmlformats.org/presentationml/2006/ole">
            <mc:AlternateContent xmlns:mc="http://schemas.openxmlformats.org/markup-compatibility/2006">
              <mc:Choice xmlns:v="urn:schemas-microsoft-com:vml" Requires="v">
                <p:oleObj spid="_x0000_s12317" name="Equation" r:id="rId4" imgW="1638000" imgH="241200" progId="Equation.3">
                  <p:embed/>
                </p:oleObj>
              </mc:Choice>
              <mc:Fallback>
                <p:oleObj name="Equation" r:id="rId4" imgW="1638000" imgH="241200" progId="Equation.3">
                  <p:embed/>
                  <p:pic>
                    <p:nvPicPr>
                      <p:cNvPr id="2" name="Object 1"/>
                      <p:cNvPicPr>
                        <a:picLocks noGrp="1" noChangeAspect="1" noChangeArrowheads="1"/>
                      </p:cNvPicPr>
                      <p:nvPr/>
                    </p:nvPicPr>
                    <p:blipFill>
                      <a:blip r:embed="rId5"/>
                      <a:srcRect/>
                      <a:stretch>
                        <a:fillRect/>
                      </a:stretch>
                    </p:blipFill>
                    <p:spPr bwMode="auto">
                      <a:xfrm>
                        <a:off x="304800" y="1642665"/>
                        <a:ext cx="4818712" cy="708819"/>
                      </a:xfrm>
                      <a:prstGeom prst="rect">
                        <a:avLst/>
                      </a:prstGeom>
                      <a:noFill/>
                      <a:ln>
                        <a:noFill/>
                      </a:ln>
                      <a:extLst/>
                    </p:spPr>
                  </p:pic>
                </p:oleObj>
              </mc:Fallback>
            </mc:AlternateContent>
          </a:graphicData>
        </a:graphic>
      </p:graphicFrame>
      <p:graphicFrame>
        <p:nvGraphicFramePr>
          <p:cNvPr id="5" name="Object 4"/>
          <p:cNvGraphicFramePr>
            <a:graphicFrameLocks noGrp="1" noChangeAspect="1"/>
          </p:cNvGraphicFramePr>
          <p:nvPr>
            <p:extLst>
              <p:ext uri="{D42A27DB-BD31-4B8C-83A1-F6EECF244321}">
                <p14:modId xmlns:p14="http://schemas.microsoft.com/office/powerpoint/2010/main" val="3657317649"/>
              </p:ext>
            </p:extLst>
          </p:nvPr>
        </p:nvGraphicFramePr>
        <p:xfrm>
          <a:off x="5931783" y="1460895"/>
          <a:ext cx="2747583" cy="1072357"/>
        </p:xfrm>
        <a:graphic>
          <a:graphicData uri="http://schemas.openxmlformats.org/presentationml/2006/ole">
            <mc:AlternateContent xmlns:mc="http://schemas.openxmlformats.org/markup-compatibility/2006">
              <mc:Choice xmlns:v="urn:schemas-microsoft-com:vml" Requires="v">
                <p:oleObj spid="_x0000_s12318" name="Equation" r:id="rId6" imgW="1104840" imgH="431640" progId="Equation.3">
                  <p:embed/>
                </p:oleObj>
              </mc:Choice>
              <mc:Fallback>
                <p:oleObj name="Equation" r:id="rId6" imgW="1104840" imgH="431640" progId="Equation.3">
                  <p:embed/>
                  <p:pic>
                    <p:nvPicPr>
                      <p:cNvPr id="2" name="Object 1"/>
                      <p:cNvPicPr>
                        <a:picLocks noGrp="1" noChangeAspect="1" noChangeArrowheads="1"/>
                      </p:cNvPicPr>
                      <p:nvPr/>
                    </p:nvPicPr>
                    <p:blipFill>
                      <a:blip r:embed="rId7"/>
                      <a:srcRect/>
                      <a:stretch>
                        <a:fillRect/>
                      </a:stretch>
                    </p:blipFill>
                    <p:spPr bwMode="auto">
                      <a:xfrm>
                        <a:off x="5931783" y="1460895"/>
                        <a:ext cx="2747583" cy="107235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6622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431181" y="100010"/>
            <a:ext cx="8229600" cy="890590"/>
          </a:xfrm>
        </p:spPr>
        <p:txBody>
          <a:bodyPr/>
          <a:lstStyle/>
          <a:p>
            <a:pPr eaLnBrk="1" hangingPunct="1"/>
            <a:r>
              <a:rPr lang="en-US" sz="3000" b="1" dirty="0">
                <a:latin typeface="Times New Roman" pitchFamily="18" charset="0"/>
              </a:rPr>
              <a:t>Why the CAPM May or May Not Work</a:t>
            </a:r>
          </a:p>
        </p:txBody>
      </p:sp>
      <p:sp>
        <p:nvSpPr>
          <p:cNvPr id="60420" name="Rectangle 3"/>
          <p:cNvSpPr>
            <a:spLocks noGrp="1" noChangeArrowheads="1"/>
          </p:cNvSpPr>
          <p:nvPr>
            <p:ph idx="1"/>
          </p:nvPr>
        </p:nvSpPr>
        <p:spPr>
          <a:xfrm>
            <a:off x="126381" y="990600"/>
            <a:ext cx="8839200" cy="5715000"/>
          </a:xfrm>
        </p:spPr>
        <p:txBody>
          <a:bodyPr>
            <a:normAutofit lnSpcReduction="10000"/>
          </a:bodyPr>
          <a:lstStyle/>
          <a:p>
            <a:pPr eaLnBrk="1" hangingPunct="1"/>
            <a:r>
              <a:rPr lang="en-US" sz="2500" dirty="0">
                <a:latin typeface="Times New Roman" pitchFamily="18" charset="0"/>
              </a:rPr>
              <a:t>Critique: Empirically, investors do not all hold the same market portfolio in combination with the risk-free asset</a:t>
            </a:r>
          </a:p>
          <a:p>
            <a:pPr lvl="1"/>
            <a:r>
              <a:rPr lang="en-US" sz="2100" dirty="0">
                <a:latin typeface="Times New Roman" pitchFamily="18" charset="0"/>
              </a:rPr>
              <a:t>Counterpoint: We want to test the pricing implications of the CAPM, not necessarily the holdings implications.  Some investor may hold more of some given asset than the theory predicts, and some may hold less, but in aggregate we as a collective still hold the market portfolio.  So the theory asks us to test whether covariance with that market portfolio is the sole driver of expected returns.</a:t>
            </a:r>
          </a:p>
          <a:p>
            <a:pPr eaLnBrk="1" hangingPunct="1"/>
            <a:r>
              <a:rPr lang="en-US" sz="2500" dirty="0">
                <a:latin typeface="Times New Roman" pitchFamily="18" charset="0"/>
              </a:rPr>
              <a:t>Omissions of the CAPM</a:t>
            </a:r>
          </a:p>
          <a:p>
            <a:pPr lvl="1"/>
            <a:r>
              <a:rPr lang="en-US" sz="2100" dirty="0">
                <a:latin typeface="Times New Roman" pitchFamily="18" charset="0"/>
              </a:rPr>
              <a:t>Investor heterogeneity (discussed above)</a:t>
            </a:r>
          </a:p>
          <a:p>
            <a:pPr lvl="1"/>
            <a:r>
              <a:rPr lang="en-US" sz="2100" dirty="0">
                <a:latin typeface="Times New Roman" pitchFamily="18" charset="0"/>
              </a:rPr>
              <a:t>Theory only considers mean and variance, omits skewness, kurtosis, disaster risk</a:t>
            </a:r>
          </a:p>
          <a:p>
            <a:pPr lvl="1"/>
            <a:r>
              <a:rPr lang="en-US" sz="2100" dirty="0">
                <a:latin typeface="Times New Roman" pitchFamily="18" charset="0"/>
              </a:rPr>
              <a:t>Theory is static rather than </a:t>
            </a:r>
            <a:r>
              <a:rPr lang="en-US" sz="2100" dirty="0" err="1">
                <a:latin typeface="Times New Roman" pitchFamily="18" charset="0"/>
              </a:rPr>
              <a:t>multiperiod</a:t>
            </a:r>
            <a:r>
              <a:rPr lang="en-US" sz="2100" dirty="0">
                <a:latin typeface="Times New Roman" pitchFamily="18" charset="0"/>
              </a:rPr>
              <a:t>: Variations in beta, expected return, volatility, other moments, “conditioning” variables and “hedging risks”</a:t>
            </a:r>
          </a:p>
          <a:p>
            <a:pPr lvl="1"/>
            <a:r>
              <a:rPr lang="en-US" sz="2100" dirty="0">
                <a:latin typeface="Times New Roman" pitchFamily="18" charset="0"/>
              </a:rPr>
              <a:t>Non-tradeable assets and less liquid assets: human capital and labor income, housing</a:t>
            </a:r>
          </a:p>
        </p:txBody>
      </p:sp>
    </p:spTree>
    <p:extLst>
      <p:ext uri="{BB962C8B-B14F-4D97-AF65-F5344CB8AC3E}">
        <p14:creationId xmlns:p14="http://schemas.microsoft.com/office/powerpoint/2010/main" val="1754153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457200" y="228600"/>
            <a:ext cx="8229600" cy="1143000"/>
          </a:xfrm>
        </p:spPr>
        <p:txBody>
          <a:bodyPr/>
          <a:lstStyle/>
          <a:p>
            <a:pPr eaLnBrk="1" hangingPunct="1"/>
            <a:r>
              <a:rPr lang="en-US" sz="3000" b="1" dirty="0">
                <a:latin typeface="Times New Roman" pitchFamily="18" charset="0"/>
              </a:rPr>
              <a:t>Testing the CAPM with the “Market Model” Regression and “Performance Evaluation”</a:t>
            </a:r>
          </a:p>
        </p:txBody>
      </p:sp>
      <p:sp>
        <p:nvSpPr>
          <p:cNvPr id="60420" name="Rectangle 3"/>
          <p:cNvSpPr>
            <a:spLocks noGrp="1" noChangeArrowheads="1"/>
          </p:cNvSpPr>
          <p:nvPr>
            <p:ph idx="1"/>
          </p:nvPr>
        </p:nvSpPr>
        <p:spPr>
          <a:xfrm>
            <a:off x="152400" y="2362200"/>
            <a:ext cx="8839200" cy="4343400"/>
          </a:xfrm>
        </p:spPr>
        <p:txBody>
          <a:bodyPr>
            <a:normAutofit lnSpcReduction="10000"/>
          </a:bodyPr>
          <a:lstStyle/>
          <a:p>
            <a:pPr eaLnBrk="1" hangingPunct="1"/>
            <a:r>
              <a:rPr lang="en-US" sz="2500" dirty="0">
                <a:latin typeface="Times New Roman" pitchFamily="18" charset="0"/>
              </a:rPr>
              <a:t>If the CAPM holds, we should have </a:t>
            </a:r>
            <a:r>
              <a:rPr lang="en-US" sz="2500" dirty="0" err="1">
                <a:latin typeface="Times New Roman" pitchFamily="18" charset="0"/>
              </a:rPr>
              <a:t>alpha_i</a:t>
            </a:r>
            <a:r>
              <a:rPr lang="en-US" sz="2500" dirty="0">
                <a:latin typeface="Times New Roman" pitchFamily="18" charset="0"/>
              </a:rPr>
              <a:t> is equal to zero for all assets </a:t>
            </a:r>
            <a:r>
              <a:rPr lang="en-US" sz="2500" dirty="0" err="1">
                <a:latin typeface="Times New Roman" pitchFamily="18" charset="0"/>
              </a:rPr>
              <a:t>i</a:t>
            </a:r>
            <a:r>
              <a:rPr lang="en-US" sz="2500" dirty="0">
                <a:latin typeface="Times New Roman" pitchFamily="18" charset="0"/>
              </a:rPr>
              <a:t>, and we can test that empirically</a:t>
            </a:r>
          </a:p>
          <a:p>
            <a:pPr eaLnBrk="1" hangingPunct="1"/>
            <a:r>
              <a:rPr lang="en-US" sz="2500" dirty="0">
                <a:latin typeface="Times New Roman" pitchFamily="18" charset="0"/>
              </a:rPr>
              <a:t>For example, you could run this regression for any portfolio returns, and we will run this regression in class and in your final project</a:t>
            </a:r>
          </a:p>
          <a:p>
            <a:pPr eaLnBrk="1" hangingPunct="1"/>
            <a:r>
              <a:rPr lang="en-US" sz="2500" dirty="0">
                <a:latin typeface="Times New Roman" pitchFamily="18" charset="0"/>
              </a:rPr>
              <a:t>This is called “performance evaluation” using the CAPM as a benchmark.  Alpha is a measure of performance (higher is better).  Beta is “systematic risk” or market risk.</a:t>
            </a:r>
          </a:p>
          <a:p>
            <a:pPr eaLnBrk="1" hangingPunct="1"/>
            <a:r>
              <a:rPr lang="en-US" sz="2500" dirty="0">
                <a:latin typeface="Times New Roman" pitchFamily="18" charset="0"/>
              </a:rPr>
              <a:t>The residual captures idiosyncratic (diversifiable) risk.  If the residuals do not have a systematic factor structure in a large portfolio they become less important.</a:t>
            </a:r>
          </a:p>
        </p:txBody>
      </p:sp>
      <p:graphicFrame>
        <p:nvGraphicFramePr>
          <p:cNvPr id="6" name="Object 5"/>
          <p:cNvGraphicFramePr>
            <a:graphicFrameLocks noGrp="1" noChangeAspect="1"/>
          </p:cNvGraphicFramePr>
          <p:nvPr>
            <p:extLst>
              <p:ext uri="{D42A27DB-BD31-4B8C-83A1-F6EECF244321}">
                <p14:modId xmlns:p14="http://schemas.microsoft.com/office/powerpoint/2010/main" val="2207007960"/>
              </p:ext>
            </p:extLst>
          </p:nvPr>
        </p:nvGraphicFramePr>
        <p:xfrm>
          <a:off x="1752600" y="1524000"/>
          <a:ext cx="5459949" cy="685800"/>
        </p:xfrm>
        <a:graphic>
          <a:graphicData uri="http://schemas.openxmlformats.org/presentationml/2006/ole">
            <mc:AlternateContent xmlns:mc="http://schemas.openxmlformats.org/markup-compatibility/2006">
              <mc:Choice xmlns:v="urn:schemas-microsoft-com:vml" Requires="v">
                <p:oleObj spid="_x0000_s13330" name="Equation" r:id="rId4" imgW="1917360" imgH="241200" progId="Equation.3">
                  <p:embed/>
                </p:oleObj>
              </mc:Choice>
              <mc:Fallback>
                <p:oleObj name="Equation" r:id="rId4" imgW="1917360" imgH="241200" progId="Equation.3">
                  <p:embed/>
                  <p:pic>
                    <p:nvPicPr>
                      <p:cNvPr id="2" name="Object 1"/>
                      <p:cNvPicPr>
                        <a:picLocks noGrp="1" noChangeAspect="1" noChangeArrowheads="1"/>
                      </p:cNvPicPr>
                      <p:nvPr/>
                    </p:nvPicPr>
                    <p:blipFill>
                      <a:blip r:embed="rId5"/>
                      <a:srcRect/>
                      <a:stretch>
                        <a:fillRect/>
                      </a:stretch>
                    </p:blipFill>
                    <p:spPr bwMode="auto">
                      <a:xfrm>
                        <a:off x="1752600" y="1524000"/>
                        <a:ext cx="5459949" cy="685800"/>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825769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381000" y="152400"/>
            <a:ext cx="8229600" cy="1143000"/>
          </a:xfrm>
        </p:spPr>
        <p:txBody>
          <a:bodyPr/>
          <a:lstStyle/>
          <a:p>
            <a:pPr eaLnBrk="1" hangingPunct="1"/>
            <a:r>
              <a:rPr lang="en-US" sz="3000" b="1" dirty="0">
                <a:latin typeface="Times New Roman" pitchFamily="18" charset="0"/>
              </a:rPr>
              <a:t>CAPM: Basic Empirical Evidence</a:t>
            </a:r>
          </a:p>
        </p:txBody>
      </p:sp>
      <p:sp>
        <p:nvSpPr>
          <p:cNvPr id="60420" name="Rectangle 3"/>
          <p:cNvSpPr>
            <a:spLocks noGrp="1" noChangeArrowheads="1"/>
          </p:cNvSpPr>
          <p:nvPr>
            <p:ph idx="1"/>
          </p:nvPr>
        </p:nvSpPr>
        <p:spPr>
          <a:xfrm>
            <a:off x="152400" y="1478078"/>
            <a:ext cx="8915400" cy="3398722"/>
          </a:xfrm>
        </p:spPr>
        <p:txBody>
          <a:bodyPr>
            <a:normAutofit/>
          </a:bodyPr>
          <a:lstStyle/>
          <a:p>
            <a:pPr eaLnBrk="1" hangingPunct="1"/>
            <a:r>
              <a:rPr lang="en-US" sz="2500" dirty="0">
                <a:latin typeface="Times New Roman" pitchFamily="18" charset="0"/>
              </a:rPr>
              <a:t>Starting in the 1980’s increasing findings of “anomalies” (or nonzero alphas) relative to CAPM</a:t>
            </a:r>
          </a:p>
          <a:p>
            <a:pPr lvl="1" eaLnBrk="1" hangingPunct="1"/>
            <a:r>
              <a:rPr lang="en-US" sz="2100" dirty="0">
                <a:latin typeface="Times New Roman" pitchFamily="18" charset="0"/>
              </a:rPr>
              <a:t>Size, B/M, E/P, etc.</a:t>
            </a:r>
          </a:p>
          <a:p>
            <a:pPr lvl="1" eaLnBrk="1" hangingPunct="1"/>
            <a:r>
              <a:rPr lang="en-US" sz="2100" dirty="0" err="1">
                <a:latin typeface="Times New Roman" pitchFamily="18" charset="0"/>
              </a:rPr>
              <a:t>Fama</a:t>
            </a:r>
            <a:r>
              <a:rPr lang="en-US" sz="2100" dirty="0">
                <a:latin typeface="Times New Roman" pitchFamily="18" charset="0"/>
              </a:rPr>
              <a:t> and French (1992, 1993) are two papers that consolidated knowledge in this area</a:t>
            </a:r>
          </a:p>
          <a:p>
            <a:pPr lvl="1" eaLnBrk="1" hangingPunct="1"/>
            <a:r>
              <a:rPr lang="en-US" sz="2100" dirty="0">
                <a:latin typeface="Times New Roman" pitchFamily="18" charset="0"/>
              </a:rPr>
              <a:t>Now a vast array of “anomalies” have been presented in the </a:t>
            </a:r>
            <a:r>
              <a:rPr lang="en-US" sz="2100">
                <a:latin typeface="Times New Roman" pitchFamily="18" charset="0"/>
              </a:rPr>
              <a:t>finance literature (e.g., HXZ, 2020)</a:t>
            </a:r>
            <a:endParaRPr lang="en-US" sz="2100" dirty="0">
              <a:latin typeface="Times New Roman" pitchFamily="18" charset="0"/>
            </a:endParaRPr>
          </a:p>
          <a:p>
            <a:pPr lvl="1" eaLnBrk="1" hangingPunct="1"/>
            <a:r>
              <a:rPr lang="en-US" sz="2100" dirty="0">
                <a:latin typeface="Times New Roman" pitchFamily="18" charset="0"/>
              </a:rPr>
              <a:t>Look at </a:t>
            </a:r>
            <a:r>
              <a:rPr lang="en-US" sz="2100" dirty="0">
                <a:latin typeface="Times New Roman" pitchFamily="18" charset="0"/>
                <a:hlinkClick r:id="rId3"/>
              </a:rPr>
              <a:t>Ken French’s website</a:t>
            </a:r>
            <a:r>
              <a:rPr lang="en-US" sz="2100" dirty="0">
                <a:latin typeface="Times New Roman" pitchFamily="18" charset="0"/>
              </a:rPr>
              <a:t> to get an idea of the portfolios used to beat the CAPM.</a:t>
            </a:r>
          </a:p>
        </p:txBody>
      </p:sp>
    </p:spTree>
    <p:extLst>
      <p:ext uri="{BB962C8B-B14F-4D97-AF65-F5344CB8AC3E}">
        <p14:creationId xmlns:p14="http://schemas.microsoft.com/office/powerpoint/2010/main" val="1186490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More General Factor Models: Arbitrage Pricing Theory</a:t>
            </a:r>
          </a:p>
        </p:txBody>
      </p:sp>
      <p:sp>
        <p:nvSpPr>
          <p:cNvPr id="60420" name="Rectangle 3"/>
          <p:cNvSpPr>
            <a:spLocks noGrp="1" noChangeArrowheads="1"/>
          </p:cNvSpPr>
          <p:nvPr>
            <p:ph idx="1"/>
          </p:nvPr>
        </p:nvSpPr>
        <p:spPr>
          <a:xfrm>
            <a:off x="838200" y="2743200"/>
            <a:ext cx="8001000" cy="2590800"/>
          </a:xfrm>
        </p:spPr>
        <p:txBody>
          <a:bodyPr/>
          <a:lstStyle/>
          <a:p>
            <a:pPr eaLnBrk="1" hangingPunct="1"/>
            <a:r>
              <a:rPr lang="en-US" sz="2500" dirty="0">
                <a:latin typeface="Times New Roman" pitchFamily="18" charset="0"/>
              </a:rPr>
              <a:t>Multi-factor analog to CAPM</a:t>
            </a:r>
          </a:p>
          <a:p>
            <a:pPr eaLnBrk="1" hangingPunct="1"/>
            <a:r>
              <a:rPr lang="en-US" sz="2500" dirty="0">
                <a:latin typeface="Times New Roman" pitchFamily="18" charset="0"/>
              </a:rPr>
              <a:t>Two important ways of implementing empirically</a:t>
            </a:r>
          </a:p>
          <a:p>
            <a:pPr marL="914400" lvl="1" indent="-457200" eaLnBrk="1" hangingPunct="1">
              <a:buClrTx/>
              <a:buFont typeface="+mj-lt"/>
              <a:buAutoNum type="arabicPeriod"/>
            </a:pPr>
            <a:r>
              <a:rPr lang="en-US" sz="2100" dirty="0">
                <a:latin typeface="Times New Roman" pitchFamily="18" charset="0"/>
              </a:rPr>
              <a:t>Macro factors (e.g., Chen, Roll, and Ross, 1988; factor investing)</a:t>
            </a:r>
          </a:p>
          <a:p>
            <a:pPr marL="914400" lvl="1" indent="-457200" eaLnBrk="1" hangingPunct="1">
              <a:buClrTx/>
              <a:buFont typeface="+mj-lt"/>
              <a:buAutoNum type="arabicPeriod"/>
            </a:pPr>
            <a:r>
              <a:rPr lang="en-US" sz="2100" dirty="0">
                <a:latin typeface="Times New Roman" pitchFamily="18" charset="0"/>
              </a:rPr>
              <a:t>Empirical factors (e.g., Fama and French, 92, 93), this is where we are going next</a:t>
            </a:r>
          </a:p>
        </p:txBody>
      </p:sp>
      <p:graphicFrame>
        <p:nvGraphicFramePr>
          <p:cNvPr id="2" name="Object 1"/>
          <p:cNvGraphicFramePr>
            <a:graphicFrameLocks noGrp="1" noChangeAspect="1"/>
          </p:cNvGraphicFramePr>
          <p:nvPr>
            <p:extLst>
              <p:ext uri="{D42A27DB-BD31-4B8C-83A1-F6EECF244321}">
                <p14:modId xmlns:p14="http://schemas.microsoft.com/office/powerpoint/2010/main" val="2088315702"/>
              </p:ext>
            </p:extLst>
          </p:nvPr>
        </p:nvGraphicFramePr>
        <p:xfrm>
          <a:off x="2514600" y="1743559"/>
          <a:ext cx="3835400" cy="647700"/>
        </p:xfrm>
        <a:graphic>
          <a:graphicData uri="http://schemas.openxmlformats.org/presentationml/2006/ole">
            <mc:AlternateContent xmlns:mc="http://schemas.openxmlformats.org/markup-compatibility/2006">
              <mc:Choice xmlns:v="urn:schemas-microsoft-com:vml" Requires="v">
                <p:oleObj spid="_x0000_s10290" name="Equation" r:id="rId4" imgW="1726920" imgH="291960" progId="Equation.3">
                  <p:embed/>
                </p:oleObj>
              </mc:Choice>
              <mc:Fallback>
                <p:oleObj name="Equation" r:id="rId4" imgW="1726920" imgH="291960" progId="Equation.3">
                  <p:embed/>
                  <p:pic>
                    <p:nvPicPr>
                      <p:cNvPr id="0" name="Object 4"/>
                      <p:cNvPicPr>
                        <a:picLocks noGrp="1" noChangeAspect="1" noChangeArrowheads="1"/>
                      </p:cNvPicPr>
                      <p:nvPr/>
                    </p:nvPicPr>
                    <p:blipFill>
                      <a:blip r:embed="rId5"/>
                      <a:srcRect/>
                      <a:stretch>
                        <a:fillRect/>
                      </a:stretch>
                    </p:blipFill>
                    <p:spPr bwMode="auto">
                      <a:xfrm>
                        <a:off x="2514600" y="1743559"/>
                        <a:ext cx="3835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4897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381000" y="16727"/>
            <a:ext cx="8229600" cy="1143000"/>
          </a:xfrm>
        </p:spPr>
        <p:txBody>
          <a:bodyPr/>
          <a:lstStyle/>
          <a:p>
            <a:pPr eaLnBrk="1" hangingPunct="1"/>
            <a:r>
              <a:rPr lang="en-US" sz="3000" b="1" dirty="0">
                <a:latin typeface="Times New Roman" pitchFamily="18" charset="0"/>
              </a:rPr>
              <a:t>Empirical Implementation of Factor Models</a:t>
            </a:r>
          </a:p>
        </p:txBody>
      </p:sp>
      <p:sp>
        <p:nvSpPr>
          <p:cNvPr id="60420" name="Rectangle 3"/>
          <p:cNvSpPr>
            <a:spLocks noGrp="1" noChangeArrowheads="1"/>
          </p:cNvSpPr>
          <p:nvPr>
            <p:ph idx="1"/>
          </p:nvPr>
        </p:nvSpPr>
        <p:spPr>
          <a:xfrm>
            <a:off x="0" y="2006600"/>
            <a:ext cx="8991600" cy="4454526"/>
          </a:xfrm>
        </p:spPr>
        <p:txBody>
          <a:bodyPr>
            <a:normAutofit fontScale="92500" lnSpcReduction="10000"/>
          </a:bodyPr>
          <a:lstStyle/>
          <a:p>
            <a:pPr eaLnBrk="1" hangingPunct="1"/>
            <a:r>
              <a:rPr lang="en-US" sz="2500" dirty="0">
                <a:latin typeface="Times New Roman" pitchFamily="18" charset="0"/>
              </a:rPr>
              <a:t>Multi-factor analog to market model regression</a:t>
            </a:r>
          </a:p>
          <a:p>
            <a:pPr eaLnBrk="1" hangingPunct="1"/>
            <a:r>
              <a:rPr lang="en-US" sz="2500" dirty="0">
                <a:latin typeface="Times New Roman" pitchFamily="18" charset="0"/>
              </a:rPr>
              <a:t>The alpha or measure of performance is now with respect to a multi-factor benchmark, the factors </a:t>
            </a:r>
            <a:r>
              <a:rPr lang="en-US" sz="2500" dirty="0" err="1">
                <a:latin typeface="Times New Roman" pitchFamily="18" charset="0"/>
              </a:rPr>
              <a:t>F_kt</a:t>
            </a:r>
            <a:r>
              <a:rPr lang="en-US" sz="2500" dirty="0">
                <a:latin typeface="Times New Roman" pitchFamily="18" charset="0"/>
              </a:rPr>
              <a:t>, and the betas measure exposure to those factors</a:t>
            </a:r>
          </a:p>
          <a:p>
            <a:pPr eaLnBrk="1" hangingPunct="1"/>
            <a:r>
              <a:rPr lang="en-US" sz="2500" dirty="0">
                <a:latin typeface="Times New Roman" pitchFamily="18" charset="0"/>
              </a:rPr>
              <a:t>For example, the </a:t>
            </a:r>
            <a:r>
              <a:rPr lang="en-US" sz="2500" dirty="0" err="1">
                <a:latin typeface="Times New Roman" pitchFamily="18" charset="0"/>
              </a:rPr>
              <a:t>Fama</a:t>
            </a:r>
            <a:r>
              <a:rPr lang="en-US" sz="2500" dirty="0">
                <a:latin typeface="Times New Roman" pitchFamily="18" charset="0"/>
              </a:rPr>
              <a:t>-French 3-factor model where the three factors are the excess return on the market, a “size” factor that is long small stocks and short big stocks (SMB), and a “value” factor that is long value stocks and short growth stocks (HML) </a:t>
            </a:r>
          </a:p>
          <a:p>
            <a:pPr eaLnBrk="1" hangingPunct="1"/>
            <a:r>
              <a:rPr lang="en-US" sz="2500" dirty="0">
                <a:latin typeface="Times New Roman" pitchFamily="18" charset="0"/>
              </a:rPr>
              <a:t>Important to note: when the factors are tradeable, they are “zero cost” portfolios (R_M-</a:t>
            </a:r>
            <a:r>
              <a:rPr lang="en-US" sz="2500" dirty="0" err="1">
                <a:latin typeface="Times New Roman" pitchFamily="18" charset="0"/>
              </a:rPr>
              <a:t>r_f</a:t>
            </a:r>
            <a:r>
              <a:rPr lang="en-US" sz="2500" dirty="0">
                <a:latin typeface="Times New Roman" pitchFamily="18" charset="0"/>
              </a:rPr>
              <a:t>: excess return on market. Small – Big.  High – Low.)</a:t>
            </a:r>
          </a:p>
          <a:p>
            <a:pPr eaLnBrk="1" hangingPunct="1"/>
            <a:r>
              <a:rPr lang="en-US" sz="2500" dirty="0">
                <a:latin typeface="Times New Roman" pitchFamily="18" charset="0"/>
              </a:rPr>
              <a:t>Other factors: capital investment, profitability, macro factors, etc.</a:t>
            </a:r>
          </a:p>
        </p:txBody>
      </p:sp>
      <p:graphicFrame>
        <p:nvGraphicFramePr>
          <p:cNvPr id="2" name="Object 1"/>
          <p:cNvGraphicFramePr>
            <a:graphicFrameLocks noGrp="1" noChangeAspect="1"/>
          </p:cNvGraphicFramePr>
          <p:nvPr>
            <p:extLst>
              <p:ext uri="{D42A27DB-BD31-4B8C-83A1-F6EECF244321}">
                <p14:modId xmlns:p14="http://schemas.microsoft.com/office/powerpoint/2010/main" val="49146805"/>
              </p:ext>
            </p:extLst>
          </p:nvPr>
        </p:nvGraphicFramePr>
        <p:xfrm>
          <a:off x="1990725" y="1160463"/>
          <a:ext cx="5421313" cy="846137"/>
        </p:xfrm>
        <a:graphic>
          <a:graphicData uri="http://schemas.openxmlformats.org/presentationml/2006/ole">
            <mc:AlternateContent xmlns:mc="http://schemas.openxmlformats.org/markup-compatibility/2006">
              <mc:Choice xmlns:v="urn:schemas-microsoft-com:vml" Requires="v">
                <p:oleObj spid="_x0000_s14352" name="Equation" r:id="rId4" imgW="1866600" imgH="291960" progId="Equation.3">
                  <p:embed/>
                </p:oleObj>
              </mc:Choice>
              <mc:Fallback>
                <p:oleObj name="Equation" r:id="rId4" imgW="1866600" imgH="291960" progId="Equation.3">
                  <p:embed/>
                  <p:pic>
                    <p:nvPicPr>
                      <p:cNvPr id="2" name="Object 1"/>
                      <p:cNvPicPr>
                        <a:picLocks noGrp="1" noChangeAspect="1" noChangeArrowheads="1"/>
                      </p:cNvPicPr>
                      <p:nvPr/>
                    </p:nvPicPr>
                    <p:blipFill>
                      <a:blip r:embed="rId5"/>
                      <a:srcRect/>
                      <a:stretch>
                        <a:fillRect/>
                      </a:stretch>
                    </p:blipFill>
                    <p:spPr bwMode="auto">
                      <a:xfrm>
                        <a:off x="1990725" y="1160463"/>
                        <a:ext cx="5421313" cy="84613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11432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381000" y="16727"/>
            <a:ext cx="8229600" cy="1143000"/>
          </a:xfrm>
        </p:spPr>
        <p:txBody>
          <a:bodyPr/>
          <a:lstStyle/>
          <a:p>
            <a:pPr eaLnBrk="1" hangingPunct="1"/>
            <a:r>
              <a:rPr lang="en-US" sz="3000" b="1" dirty="0" smtClean="0">
                <a:latin typeface="Times New Roman" pitchFamily="18" charset="0"/>
              </a:rPr>
              <a:t>Comments</a:t>
            </a:r>
            <a:endParaRPr lang="en-US" sz="3000" b="1" dirty="0">
              <a:latin typeface="Times New Roman" pitchFamily="18" charset="0"/>
            </a:endParaRPr>
          </a:p>
        </p:txBody>
      </p:sp>
      <p:sp>
        <p:nvSpPr>
          <p:cNvPr id="60420" name="Rectangle 3"/>
          <p:cNvSpPr>
            <a:spLocks noGrp="1" noChangeArrowheads="1"/>
          </p:cNvSpPr>
          <p:nvPr>
            <p:ph idx="1"/>
          </p:nvPr>
        </p:nvSpPr>
        <p:spPr>
          <a:xfrm>
            <a:off x="0" y="2006600"/>
            <a:ext cx="8991600" cy="4454526"/>
          </a:xfrm>
        </p:spPr>
        <p:txBody>
          <a:bodyPr>
            <a:normAutofit fontScale="77500" lnSpcReduction="20000"/>
          </a:bodyPr>
          <a:lstStyle/>
          <a:p>
            <a:pPr eaLnBrk="1" hangingPunct="1"/>
            <a:r>
              <a:rPr lang="en-US" sz="2500" dirty="0" smtClean="0">
                <a:latin typeface="Times New Roman" pitchFamily="18" charset="0"/>
              </a:rPr>
              <a:t>This regression is used in your sample code, and in the performance evaluation part of your project</a:t>
            </a:r>
          </a:p>
          <a:p>
            <a:pPr eaLnBrk="1" hangingPunct="1"/>
            <a:endParaRPr lang="en-US" sz="2500" dirty="0">
              <a:latin typeface="Times New Roman" pitchFamily="18" charset="0"/>
            </a:endParaRPr>
          </a:p>
          <a:p>
            <a:pPr eaLnBrk="1" hangingPunct="1"/>
            <a:r>
              <a:rPr lang="en-US" sz="2500" dirty="0" smtClean="0">
                <a:latin typeface="Times New Roman" pitchFamily="18" charset="0"/>
              </a:rPr>
              <a:t>The left hand side: your test assets</a:t>
            </a:r>
          </a:p>
          <a:p>
            <a:pPr lvl="1"/>
            <a:r>
              <a:rPr lang="en-US" sz="2100" dirty="0" smtClean="0">
                <a:latin typeface="Times New Roman" pitchFamily="18" charset="0"/>
              </a:rPr>
              <a:t>Any </a:t>
            </a:r>
            <a:r>
              <a:rPr lang="en-US" sz="2100" i="1" dirty="0" smtClean="0">
                <a:latin typeface="Times New Roman" pitchFamily="18" charset="0"/>
              </a:rPr>
              <a:t>long</a:t>
            </a:r>
            <a:r>
              <a:rPr lang="en-US" sz="2100" dirty="0" smtClean="0">
                <a:latin typeface="Times New Roman" pitchFamily="18" charset="0"/>
              </a:rPr>
              <a:t> portfolio </a:t>
            </a:r>
            <a:r>
              <a:rPr lang="en-US" sz="2100" dirty="0" err="1" smtClean="0">
                <a:latin typeface="Times New Roman" pitchFamily="18" charset="0"/>
              </a:rPr>
              <a:t>i</a:t>
            </a:r>
            <a:r>
              <a:rPr lang="en-US" sz="2100" dirty="0" smtClean="0">
                <a:latin typeface="Times New Roman" pitchFamily="18" charset="0"/>
              </a:rPr>
              <a:t> less the risk free rate</a:t>
            </a:r>
          </a:p>
          <a:p>
            <a:pPr lvl="1"/>
            <a:r>
              <a:rPr lang="en-US" sz="2100" dirty="0" smtClean="0">
                <a:latin typeface="Times New Roman" pitchFamily="18" charset="0"/>
              </a:rPr>
              <a:t>We can also use long-short portfolios, but note that in this case we do not subtract the risk free rate: (</a:t>
            </a:r>
            <a:r>
              <a:rPr lang="en-US" sz="2100" dirty="0" err="1" smtClean="0">
                <a:latin typeface="Times New Roman" pitchFamily="18" charset="0"/>
              </a:rPr>
              <a:t>r_long-rft</a:t>
            </a:r>
            <a:r>
              <a:rPr lang="en-US" sz="2100" dirty="0" smtClean="0">
                <a:latin typeface="Times New Roman" pitchFamily="18" charset="0"/>
              </a:rPr>
              <a:t>)-(</a:t>
            </a:r>
            <a:r>
              <a:rPr lang="en-US" sz="2100" dirty="0" err="1" smtClean="0">
                <a:latin typeface="Times New Roman" pitchFamily="18" charset="0"/>
              </a:rPr>
              <a:t>r_short-r_ft</a:t>
            </a:r>
            <a:r>
              <a:rPr lang="en-US" sz="2100" dirty="0" smtClean="0">
                <a:latin typeface="Times New Roman" pitchFamily="18" charset="0"/>
              </a:rPr>
              <a:t>) = </a:t>
            </a:r>
            <a:r>
              <a:rPr lang="en-US" sz="2100" dirty="0" err="1" smtClean="0">
                <a:latin typeface="Times New Roman" pitchFamily="18" charset="0"/>
              </a:rPr>
              <a:t>r_long-r_short</a:t>
            </a:r>
            <a:endParaRPr lang="en-US" sz="2100" dirty="0" smtClean="0">
              <a:latin typeface="Times New Roman" pitchFamily="18" charset="0"/>
            </a:endParaRPr>
          </a:p>
          <a:p>
            <a:pPr lvl="1"/>
            <a:r>
              <a:rPr lang="en-US" sz="2100" dirty="0" smtClean="0">
                <a:latin typeface="Times New Roman" pitchFamily="18" charset="0"/>
              </a:rPr>
              <a:t>The left-hand side is always a </a:t>
            </a:r>
            <a:r>
              <a:rPr lang="en-US" sz="2100" i="1" dirty="0" smtClean="0">
                <a:latin typeface="Times New Roman" pitchFamily="18" charset="0"/>
              </a:rPr>
              <a:t>zero-cost</a:t>
            </a:r>
            <a:r>
              <a:rPr lang="en-US" sz="2100" dirty="0" smtClean="0">
                <a:latin typeface="Times New Roman" pitchFamily="18" charset="0"/>
              </a:rPr>
              <a:t> portfolio</a:t>
            </a:r>
          </a:p>
          <a:p>
            <a:pPr lvl="2"/>
            <a:r>
              <a:rPr lang="en-US" sz="1700" dirty="0" smtClean="0">
                <a:latin typeface="Times New Roman" pitchFamily="18" charset="0"/>
              </a:rPr>
              <a:t>Long portfolio short </a:t>
            </a:r>
            <a:r>
              <a:rPr lang="en-US" sz="1700" dirty="0" err="1" smtClean="0">
                <a:latin typeface="Times New Roman" pitchFamily="18" charset="0"/>
              </a:rPr>
              <a:t>t-bills</a:t>
            </a:r>
            <a:endParaRPr lang="en-US" sz="1700" dirty="0" smtClean="0">
              <a:latin typeface="Times New Roman" pitchFamily="18" charset="0"/>
            </a:endParaRPr>
          </a:p>
          <a:p>
            <a:pPr lvl="2"/>
            <a:r>
              <a:rPr lang="en-US" sz="1700" dirty="0" smtClean="0">
                <a:latin typeface="Times New Roman" pitchFamily="18" charset="0"/>
              </a:rPr>
              <a:t>Long-short portfolio</a:t>
            </a:r>
          </a:p>
          <a:p>
            <a:pPr lvl="2"/>
            <a:endParaRPr lang="en-US" sz="1700" dirty="0">
              <a:latin typeface="Times New Roman" pitchFamily="18" charset="0"/>
            </a:endParaRPr>
          </a:p>
          <a:p>
            <a:r>
              <a:rPr lang="en-US" sz="2500" dirty="0" smtClean="0">
                <a:latin typeface="Times New Roman" pitchFamily="18" charset="0"/>
              </a:rPr>
              <a:t>The left-hand side: your asset pricing model or benchmark factors</a:t>
            </a:r>
          </a:p>
          <a:p>
            <a:pPr lvl="1"/>
            <a:r>
              <a:rPr lang="en-US" sz="2100" dirty="0" smtClean="0">
                <a:latin typeface="Times New Roman" pitchFamily="18" charset="0"/>
              </a:rPr>
              <a:t>CAPM</a:t>
            </a:r>
          </a:p>
          <a:p>
            <a:pPr lvl="1"/>
            <a:r>
              <a:rPr lang="en-US" sz="2100" dirty="0" smtClean="0">
                <a:latin typeface="Times New Roman" pitchFamily="18" charset="0"/>
              </a:rPr>
              <a:t>FF3</a:t>
            </a:r>
          </a:p>
          <a:p>
            <a:pPr lvl="1"/>
            <a:r>
              <a:rPr lang="en-US" sz="2100" dirty="0" smtClean="0">
                <a:latin typeface="Times New Roman" pitchFamily="18" charset="0"/>
              </a:rPr>
              <a:t>FF5</a:t>
            </a:r>
          </a:p>
          <a:p>
            <a:pPr lvl="1"/>
            <a:r>
              <a:rPr lang="en-US" sz="2100" dirty="0" smtClean="0">
                <a:latin typeface="Times New Roman" pitchFamily="18" charset="0"/>
              </a:rPr>
              <a:t>Why are these good benchmarks? Are there others?</a:t>
            </a:r>
            <a:endParaRPr lang="en-US" sz="2100" dirty="0" smtClean="0">
              <a:latin typeface="Times New Roman" pitchFamily="18" charset="0"/>
            </a:endParaRPr>
          </a:p>
          <a:p>
            <a:pPr lvl="1"/>
            <a:endParaRPr lang="en-US" sz="2100" dirty="0">
              <a:latin typeface="Times New Roman" pitchFamily="18" charset="0"/>
            </a:endParaRPr>
          </a:p>
          <a:p>
            <a:r>
              <a:rPr lang="en-US" sz="2500" dirty="0" smtClean="0">
                <a:latin typeface="Times New Roman" pitchFamily="18" charset="0"/>
              </a:rPr>
              <a:t>If you understand these concepts it is enough to do your final project well</a:t>
            </a:r>
            <a:endParaRPr lang="en-US" sz="2500" dirty="0">
              <a:latin typeface="Times New Roman" pitchFamily="18" charset="0"/>
            </a:endParaRPr>
          </a:p>
        </p:txBody>
      </p:sp>
      <p:graphicFrame>
        <p:nvGraphicFramePr>
          <p:cNvPr id="2" name="Object 1"/>
          <p:cNvGraphicFramePr>
            <a:graphicFrameLocks noGrp="1" noChangeAspect="1"/>
          </p:cNvGraphicFramePr>
          <p:nvPr>
            <p:extLst/>
          </p:nvPr>
        </p:nvGraphicFramePr>
        <p:xfrm>
          <a:off x="1990725" y="1160463"/>
          <a:ext cx="5421313" cy="846137"/>
        </p:xfrm>
        <a:graphic>
          <a:graphicData uri="http://schemas.openxmlformats.org/presentationml/2006/ole">
            <mc:AlternateContent xmlns:mc="http://schemas.openxmlformats.org/markup-compatibility/2006">
              <mc:Choice xmlns:v="urn:schemas-microsoft-com:vml" Requires="v">
                <p:oleObj spid="_x0000_s16386" name="Equation" r:id="rId4" imgW="1866600" imgH="291960" progId="Equation.3">
                  <p:embed/>
                </p:oleObj>
              </mc:Choice>
              <mc:Fallback>
                <p:oleObj name="Equation" r:id="rId4" imgW="1866600" imgH="291960" progId="Equation.3">
                  <p:embed/>
                  <p:pic>
                    <p:nvPicPr>
                      <p:cNvPr id="2" name="Object 1"/>
                      <p:cNvPicPr>
                        <a:picLocks noGrp="1" noChangeAspect="1" noChangeArrowheads="1"/>
                      </p:cNvPicPr>
                      <p:nvPr/>
                    </p:nvPicPr>
                    <p:blipFill>
                      <a:blip r:embed="rId5"/>
                      <a:srcRect/>
                      <a:stretch>
                        <a:fillRect/>
                      </a:stretch>
                    </p:blipFill>
                    <p:spPr bwMode="auto">
                      <a:xfrm>
                        <a:off x="1990725" y="1160463"/>
                        <a:ext cx="5421313" cy="846137"/>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25642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42852"/>
            <a:ext cx="8991600" cy="439718"/>
          </a:xfrm>
        </p:spPr>
        <p:txBody>
          <a:bodyPr/>
          <a:lstStyle/>
          <a:p>
            <a:pPr>
              <a:spcAft>
                <a:spcPts val="600"/>
              </a:spcAft>
            </a:pPr>
            <a:r>
              <a:rPr lang="en-US" dirty="0"/>
              <a:t>	</a:t>
            </a:r>
            <a:r>
              <a:rPr lang="en-US" sz="4000" b="1" dirty="0">
                <a:solidFill>
                  <a:schemeClr val="bg1"/>
                </a:solidFill>
              </a:rPr>
              <a:t>Development of Factor Models</a:t>
            </a:r>
            <a:endParaRPr lang="en-US" b="1" dirty="0">
              <a:solidFill>
                <a:schemeClr val="bg1"/>
              </a:solidFill>
            </a:endParaRPr>
          </a:p>
        </p:txBody>
      </p:sp>
      <p:sp>
        <p:nvSpPr>
          <p:cNvPr id="6147" name="Rectangle 3"/>
          <p:cNvSpPr>
            <a:spLocks noGrp="1" noChangeArrowheads="1"/>
          </p:cNvSpPr>
          <p:nvPr>
            <p:ph type="body" idx="1"/>
          </p:nvPr>
        </p:nvSpPr>
        <p:spPr>
          <a:xfrm>
            <a:off x="228600" y="685800"/>
            <a:ext cx="8763000" cy="5791200"/>
          </a:xfrm>
        </p:spPr>
        <p:txBody>
          <a:bodyPr/>
          <a:lstStyle/>
          <a:p>
            <a:r>
              <a:rPr lang="en-US" sz="2800" dirty="0"/>
              <a:t>The first empirical attempts at factor models focused on economically motivated factors</a:t>
            </a:r>
          </a:p>
          <a:p>
            <a:pPr lvl="1"/>
            <a:r>
              <a:rPr lang="en-US" sz="2400" dirty="0"/>
              <a:t>Chen, Roll, and Ross (1986): industrial production, expected inflation, unexpected inflation, credit spread, term spread</a:t>
            </a:r>
          </a:p>
          <a:p>
            <a:pPr lvl="1"/>
            <a:r>
              <a:rPr lang="en-US" sz="2400" dirty="0"/>
              <a:t>This approach, although sensible, found only modest empirical success</a:t>
            </a:r>
          </a:p>
          <a:p>
            <a:pPr lvl="1"/>
            <a:endParaRPr lang="en-US" sz="1400" dirty="0"/>
          </a:p>
          <a:p>
            <a:r>
              <a:rPr lang="en-US" sz="2800" dirty="0"/>
              <a:t>An alternative approach of using corporate-level characteristics and empirical evidence to identify the most important cross-sectional determinants of returns was developed by Fama and French (92,93)</a:t>
            </a:r>
          </a:p>
          <a:p>
            <a:pPr lvl="1"/>
            <a:r>
              <a:rPr lang="en-US" sz="2400" dirty="0"/>
              <a:t>Still ongoing debate about what factors to use, but the basics of the empirical approach persist</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66027688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42852"/>
            <a:ext cx="8991600" cy="439718"/>
          </a:xfrm>
        </p:spPr>
        <p:txBody>
          <a:bodyPr/>
          <a:lstStyle/>
          <a:p>
            <a:pPr>
              <a:spcAft>
                <a:spcPts val="600"/>
              </a:spcAft>
            </a:pPr>
            <a:r>
              <a:rPr lang="en-US" sz="4000" b="1" dirty="0">
                <a:solidFill>
                  <a:schemeClr val="bg1"/>
                </a:solidFill>
              </a:rPr>
              <a:t>Step 1: FF92</a:t>
            </a:r>
            <a:endParaRPr lang="en-US" b="1" dirty="0">
              <a:solidFill>
                <a:schemeClr val="bg1"/>
              </a:solidFill>
            </a:endParaRPr>
          </a:p>
        </p:txBody>
      </p:sp>
      <p:sp>
        <p:nvSpPr>
          <p:cNvPr id="6147" name="Rectangle 3"/>
          <p:cNvSpPr>
            <a:spLocks noGrp="1" noChangeArrowheads="1"/>
          </p:cNvSpPr>
          <p:nvPr>
            <p:ph type="body" idx="1"/>
          </p:nvPr>
        </p:nvSpPr>
        <p:spPr>
          <a:xfrm>
            <a:off x="228600" y="685800"/>
            <a:ext cx="8763000" cy="5791200"/>
          </a:xfrm>
        </p:spPr>
        <p:txBody>
          <a:bodyPr/>
          <a:lstStyle/>
          <a:p>
            <a:pPr marL="0" indent="0">
              <a:buNone/>
            </a:pPr>
            <a:endParaRPr lang="en-US" sz="2800" dirty="0"/>
          </a:p>
          <a:p>
            <a:r>
              <a:rPr lang="en-US" sz="2800" dirty="0"/>
              <a:t>The importance of Fama and French 1992</a:t>
            </a:r>
          </a:p>
          <a:p>
            <a:pPr lvl="1"/>
            <a:r>
              <a:rPr lang="en-US" sz="2400" dirty="0"/>
              <a:t>Results</a:t>
            </a:r>
          </a:p>
          <a:p>
            <a:pPr lvl="2"/>
            <a:r>
              <a:rPr lang="en-US" sz="2000" dirty="0"/>
              <a:t>Size and B/M predict returns better than beta</a:t>
            </a:r>
          </a:p>
          <a:p>
            <a:pPr lvl="2"/>
            <a:r>
              <a:rPr lang="en-US" sz="2000" dirty="0"/>
              <a:t>Drive out other variables that had been shown to predict returns, such as E/P and Leverage</a:t>
            </a:r>
          </a:p>
          <a:p>
            <a:pPr lvl="1"/>
            <a:r>
              <a:rPr lang="en-US" sz="2400" dirty="0"/>
              <a:t>Empirical Methods</a:t>
            </a:r>
          </a:p>
          <a:p>
            <a:pPr lvl="2"/>
            <a:r>
              <a:rPr lang="en-US" sz="2000" dirty="0"/>
              <a:t>Portfolio formation strategies</a:t>
            </a:r>
          </a:p>
          <a:p>
            <a:pPr lvl="2"/>
            <a:r>
              <a:rPr lang="en-US" sz="2000" dirty="0"/>
              <a:t>Double sorts</a:t>
            </a:r>
          </a:p>
          <a:p>
            <a:pPr lvl="2"/>
            <a:r>
              <a:rPr lang="en-US" sz="2000" dirty="0"/>
              <a:t>Fama-</a:t>
            </a:r>
            <a:r>
              <a:rPr lang="en-US" sz="2000" dirty="0" err="1"/>
              <a:t>MacBeth</a:t>
            </a:r>
            <a:r>
              <a:rPr lang="en-US" sz="2000" dirty="0"/>
              <a:t> regressions</a:t>
            </a:r>
          </a:p>
          <a:p>
            <a:pPr lvl="2"/>
            <a:r>
              <a:rPr lang="en-US" sz="2000" dirty="0"/>
              <a:t>No factor model yet (the factor model is in FF93)</a:t>
            </a:r>
            <a:endParaRPr lang="en-US" sz="2400" dirty="0"/>
          </a:p>
          <a:p>
            <a:pPr>
              <a:buNone/>
            </a:pPr>
            <a:endParaRPr lang="en-US" sz="2800" dirty="0"/>
          </a:p>
          <a:p>
            <a:endParaRPr lang="en-US" sz="2000" dirty="0"/>
          </a:p>
          <a:p>
            <a:pPr lvl="1"/>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02732475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00034" y="142852"/>
            <a:ext cx="8229600" cy="439718"/>
          </a:xfrm>
        </p:spPr>
        <p:txBody>
          <a:bodyPr/>
          <a:lstStyle/>
          <a:p>
            <a:pPr>
              <a:spcAft>
                <a:spcPts val="600"/>
              </a:spcAft>
            </a:pPr>
            <a:r>
              <a:rPr lang="en-US" sz="4000" b="1" dirty="0">
                <a:solidFill>
                  <a:schemeClr val="bg1"/>
                </a:solidFill>
              </a:rPr>
              <a:t>Background </a:t>
            </a:r>
            <a:endParaRPr lang="en-US" b="1" dirty="0">
              <a:solidFill>
                <a:schemeClr val="bg1"/>
              </a:solidFill>
            </a:endParaRPr>
          </a:p>
        </p:txBody>
      </p:sp>
      <p:sp>
        <p:nvSpPr>
          <p:cNvPr id="6147" name="Rectangle 3"/>
          <p:cNvSpPr>
            <a:spLocks noGrp="1" noChangeArrowheads="1"/>
          </p:cNvSpPr>
          <p:nvPr>
            <p:ph type="body" idx="1"/>
          </p:nvPr>
        </p:nvSpPr>
        <p:spPr>
          <a:xfrm>
            <a:off x="428596" y="857232"/>
            <a:ext cx="8501122" cy="5357850"/>
          </a:xfrm>
        </p:spPr>
        <p:txBody>
          <a:bodyPr/>
          <a:lstStyle/>
          <a:p>
            <a:r>
              <a:rPr lang="en-US" sz="2800" dirty="0"/>
              <a:t>CAPM predicts that returns increase with beta</a:t>
            </a:r>
          </a:p>
          <a:p>
            <a:pPr>
              <a:buNone/>
            </a:pPr>
            <a:endParaRPr lang="en-US" sz="1000" dirty="0"/>
          </a:p>
          <a:p>
            <a:r>
              <a:rPr lang="en-US" sz="2800" dirty="0"/>
              <a:t>Early findings are positive</a:t>
            </a:r>
          </a:p>
          <a:p>
            <a:pPr lvl="1"/>
            <a:r>
              <a:rPr lang="en-US" sz="2000" dirty="0"/>
              <a:t>Black, Jensen, and </a:t>
            </a:r>
            <a:r>
              <a:rPr lang="en-US" sz="2000" dirty="0" err="1"/>
              <a:t>Scholes</a:t>
            </a:r>
            <a:r>
              <a:rPr lang="en-US" sz="2000" dirty="0"/>
              <a:t> (1972)</a:t>
            </a:r>
          </a:p>
          <a:p>
            <a:pPr lvl="1"/>
            <a:r>
              <a:rPr lang="en-US" sz="2000" dirty="0" err="1"/>
              <a:t>Fama</a:t>
            </a:r>
            <a:r>
              <a:rPr lang="en-US" sz="2000" dirty="0"/>
              <a:t> and </a:t>
            </a:r>
            <a:r>
              <a:rPr lang="en-US" sz="2000" dirty="0" err="1"/>
              <a:t>MacBeth</a:t>
            </a:r>
            <a:r>
              <a:rPr lang="en-US" sz="2000" dirty="0"/>
              <a:t> (1973)</a:t>
            </a:r>
          </a:p>
          <a:p>
            <a:pPr lvl="1">
              <a:buNone/>
            </a:pPr>
            <a:endParaRPr lang="en-US" sz="1000" dirty="0"/>
          </a:p>
          <a:p>
            <a:r>
              <a:rPr lang="en-US" sz="2800" dirty="0"/>
              <a:t>Contradictory evidence later</a:t>
            </a:r>
          </a:p>
          <a:p>
            <a:pPr lvl="1"/>
            <a:r>
              <a:rPr lang="en-US" sz="2000" dirty="0"/>
              <a:t>Size: </a:t>
            </a:r>
            <a:r>
              <a:rPr lang="en-US" sz="2000" dirty="0" err="1"/>
              <a:t>Banz</a:t>
            </a:r>
            <a:r>
              <a:rPr lang="en-US" sz="2000" dirty="0"/>
              <a:t> (1981)</a:t>
            </a:r>
          </a:p>
          <a:p>
            <a:pPr lvl="1"/>
            <a:r>
              <a:rPr lang="en-US" sz="2000" dirty="0"/>
              <a:t>B/M: </a:t>
            </a:r>
            <a:r>
              <a:rPr lang="en-US" sz="2000" dirty="0" err="1"/>
              <a:t>Stattman</a:t>
            </a:r>
            <a:r>
              <a:rPr lang="en-US" sz="2000" dirty="0"/>
              <a:t> (1980); Rosenberg, Reid, and </a:t>
            </a:r>
            <a:r>
              <a:rPr lang="en-US" sz="2000" dirty="0" err="1"/>
              <a:t>Lanstein</a:t>
            </a:r>
            <a:r>
              <a:rPr lang="en-US" sz="2000" dirty="0"/>
              <a:t> (1985); Chan, </a:t>
            </a:r>
            <a:r>
              <a:rPr lang="en-US" sz="2000" dirty="0" err="1"/>
              <a:t>Hamao</a:t>
            </a:r>
            <a:r>
              <a:rPr lang="en-US" sz="2000" dirty="0"/>
              <a:t>, and </a:t>
            </a:r>
            <a:r>
              <a:rPr lang="en-US" sz="2000" dirty="0" err="1"/>
              <a:t>Lakonishok</a:t>
            </a:r>
            <a:r>
              <a:rPr lang="en-US" sz="2000" dirty="0"/>
              <a:t> (1991) in Japan</a:t>
            </a:r>
          </a:p>
          <a:p>
            <a:pPr lvl="1"/>
            <a:r>
              <a:rPr lang="en-US" sz="2000" dirty="0"/>
              <a:t>E/P: </a:t>
            </a:r>
            <a:r>
              <a:rPr lang="en-US" sz="2000" dirty="0" err="1"/>
              <a:t>Basu</a:t>
            </a:r>
            <a:r>
              <a:rPr lang="en-US" sz="2000" dirty="0"/>
              <a:t> (1983)</a:t>
            </a:r>
          </a:p>
          <a:p>
            <a:pPr lvl="1"/>
            <a:r>
              <a:rPr lang="en-US" sz="2000" dirty="0"/>
              <a:t>Leverage: </a:t>
            </a:r>
            <a:r>
              <a:rPr lang="en-US" sz="2000" dirty="0" err="1"/>
              <a:t>Bhandari</a:t>
            </a:r>
            <a:r>
              <a:rPr lang="en-US" sz="2000" dirty="0"/>
              <a:t> (1988)</a:t>
            </a:r>
          </a:p>
          <a:p>
            <a:pPr lvl="1">
              <a:buNone/>
            </a:pPr>
            <a:endParaRPr lang="en-US" sz="2000" dirty="0"/>
          </a:p>
          <a:p>
            <a:pPr lvl="1"/>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56636053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Motivation of FF92</a:t>
            </a:r>
          </a:p>
        </p:txBody>
      </p:sp>
      <p:sp>
        <p:nvSpPr>
          <p:cNvPr id="40963" name="Rectangle 3"/>
          <p:cNvSpPr>
            <a:spLocks noGrp="1" noChangeArrowheads="1"/>
          </p:cNvSpPr>
          <p:nvPr>
            <p:ph type="body" sz="half" idx="1"/>
          </p:nvPr>
        </p:nvSpPr>
        <p:spPr>
          <a:xfrm>
            <a:off x="357158" y="1714489"/>
            <a:ext cx="8572560" cy="2928958"/>
          </a:xfrm>
        </p:spPr>
        <p:txBody>
          <a:bodyPr/>
          <a:lstStyle/>
          <a:p>
            <a:r>
              <a:rPr lang="en-GB" altLang="zh-CN" dirty="0">
                <a:ea typeface="宋体" charset="-122"/>
              </a:rPr>
              <a:t>Which of the previously identified anomalies are robust in explaining returns</a:t>
            </a:r>
          </a:p>
          <a:p>
            <a:endParaRPr lang="en-GB" altLang="zh-CN" dirty="0">
              <a:ea typeface="宋体" charset="-122"/>
            </a:endParaRPr>
          </a:p>
          <a:p>
            <a:r>
              <a:rPr lang="en-GB" altLang="zh-CN" dirty="0">
                <a:ea typeface="宋体" charset="-122"/>
              </a:rPr>
              <a:t>Findings: Size and B/M, not beta</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714662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Data</a:t>
            </a:r>
          </a:p>
        </p:txBody>
      </p:sp>
      <p:sp>
        <p:nvSpPr>
          <p:cNvPr id="40963" name="Rectangle 3"/>
          <p:cNvSpPr>
            <a:spLocks noGrp="1" noChangeArrowheads="1"/>
          </p:cNvSpPr>
          <p:nvPr>
            <p:ph type="body" sz="half" idx="1"/>
          </p:nvPr>
        </p:nvSpPr>
        <p:spPr>
          <a:xfrm>
            <a:off x="357158" y="928670"/>
            <a:ext cx="8572560" cy="2928958"/>
          </a:xfrm>
        </p:spPr>
        <p:txBody>
          <a:bodyPr/>
          <a:lstStyle/>
          <a:p>
            <a:r>
              <a:rPr lang="en-GB" altLang="zh-CN" dirty="0">
                <a:ea typeface="宋体" charset="-122"/>
              </a:rPr>
              <a:t>Use all CRSP firms on NYSE, AMEX, or NASDAQ with data available on COMPUSTAT</a:t>
            </a:r>
          </a:p>
          <a:p>
            <a:endParaRPr lang="en-GB" altLang="zh-CN" dirty="0">
              <a:ea typeface="宋体" charset="-122"/>
            </a:endParaRPr>
          </a:p>
          <a:p>
            <a:r>
              <a:rPr lang="en-GB" altLang="zh-CN" dirty="0">
                <a:ea typeface="宋体" charset="-122"/>
              </a:rPr>
              <a:t>Exclude financial firms </a:t>
            </a:r>
          </a:p>
          <a:p>
            <a:pPr lvl="1"/>
            <a:r>
              <a:rPr lang="en-GB" altLang="zh-CN" dirty="0">
                <a:ea typeface="宋体" charset="-122"/>
              </a:rPr>
              <a:t>Reason that the high leverage in financial firms probably does not mean the same thing as high leverage in other firms </a:t>
            </a:r>
          </a:p>
          <a:p>
            <a:pPr lvl="1"/>
            <a:endParaRPr lang="en-GB" altLang="zh-CN" dirty="0">
              <a:ea typeface="宋体" charset="-122"/>
            </a:endParaRPr>
          </a:p>
          <a:p>
            <a:r>
              <a:rPr lang="en-GB" altLang="zh-CN" dirty="0">
                <a:ea typeface="宋体" charset="-122"/>
              </a:rPr>
              <a:t>COMPUSTAT data used only starting in 1962</a:t>
            </a:r>
          </a:p>
          <a:p>
            <a:pPr lvl="1"/>
            <a:r>
              <a:rPr lang="en-GB" altLang="zh-CN" dirty="0">
                <a:ea typeface="宋体" charset="-122"/>
              </a:rPr>
              <a:t>Earlier dates have a selection bias towards large firms</a:t>
            </a:r>
          </a:p>
          <a:p>
            <a:pPr lvl="1"/>
            <a:endParaRPr lang="en-GB" altLang="zh-CN" dirty="0">
              <a:ea typeface="宋体" charset="-122"/>
            </a:endParaRPr>
          </a:p>
          <a:p>
            <a:r>
              <a:rPr lang="en-GB" altLang="zh-CN" dirty="0">
                <a:ea typeface="宋体" charset="-122"/>
              </a:rPr>
              <a:t>NASDAQ firms added to CRSP in 1973</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633994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Data</a:t>
            </a:r>
          </a:p>
        </p:txBody>
      </p:sp>
      <p:sp>
        <p:nvSpPr>
          <p:cNvPr id="40963" name="Rectangle 3"/>
          <p:cNvSpPr>
            <a:spLocks noGrp="1" noChangeArrowheads="1"/>
          </p:cNvSpPr>
          <p:nvPr>
            <p:ph type="body" sz="half" idx="1"/>
          </p:nvPr>
        </p:nvSpPr>
        <p:spPr>
          <a:xfrm>
            <a:off x="357158" y="1285860"/>
            <a:ext cx="8786842" cy="2928958"/>
          </a:xfrm>
        </p:spPr>
        <p:txBody>
          <a:bodyPr/>
          <a:lstStyle/>
          <a:p>
            <a:r>
              <a:rPr lang="en-GB" altLang="zh-CN" dirty="0">
                <a:ea typeface="宋体" charset="-122"/>
              </a:rPr>
              <a:t>Want to ensure that all accounting variables are available before the returns they are used to explain</a:t>
            </a:r>
          </a:p>
          <a:p>
            <a:pPr lvl="1"/>
            <a:r>
              <a:rPr lang="en-GB" altLang="zh-CN" dirty="0">
                <a:ea typeface="宋体" charset="-122"/>
              </a:rPr>
              <a:t>Match accounting data for all fiscal year ends in calendar year t-1 with returns for July of year t to June of t+1</a:t>
            </a:r>
          </a:p>
          <a:p>
            <a:pPr lvl="1"/>
            <a:r>
              <a:rPr lang="en-GB" altLang="zh-CN" dirty="0">
                <a:ea typeface="宋体" charset="-122"/>
              </a:rPr>
              <a:t>Provides a six month minimum gap between fiscal yearend and returns, which is conservative</a:t>
            </a:r>
          </a:p>
          <a:p>
            <a:pPr lvl="1"/>
            <a:r>
              <a:rPr lang="en-GB" altLang="zh-CN" dirty="0">
                <a:ea typeface="宋体" charset="-122"/>
              </a:rPr>
              <a:t>Firms required to file 10Ks with SEC within 90 days, but on average 20% do not comply.</a:t>
            </a:r>
          </a:p>
          <a:p>
            <a:pPr lvl="1"/>
            <a:r>
              <a:rPr lang="en-GB" altLang="zh-CN" dirty="0">
                <a:ea typeface="宋体" charset="-122"/>
              </a:rPr>
              <a:t>In addition, many firms take the full 90 days, and their reports are not made public immediately</a:t>
            </a: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42278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Data</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Use market equity at end of December of t-1 to compute B/M, leverage, and E/P</a:t>
            </a:r>
          </a:p>
          <a:p>
            <a:endParaRPr lang="en-GB" altLang="zh-CN" dirty="0">
              <a:ea typeface="宋体" charset="-122"/>
            </a:endParaRPr>
          </a:p>
          <a:p>
            <a:r>
              <a:rPr lang="en-GB" altLang="zh-CN" dirty="0">
                <a:ea typeface="宋体" charset="-122"/>
              </a:rPr>
              <a:t>Use market equity at end of June of year t to measure size</a:t>
            </a:r>
          </a:p>
          <a:p>
            <a:endParaRPr lang="en-GB" altLang="zh-CN" dirty="0">
              <a:ea typeface="宋体" charset="-122"/>
            </a:endParaRPr>
          </a:p>
          <a:p>
            <a:r>
              <a:rPr lang="en-GB" altLang="zh-CN" dirty="0">
                <a:ea typeface="宋体" charset="-122"/>
              </a:rPr>
              <a:t>Criteria for inclusion</a:t>
            </a:r>
          </a:p>
          <a:p>
            <a:pPr lvl="1"/>
            <a:r>
              <a:rPr lang="en-GB" altLang="zh-CN" dirty="0">
                <a:ea typeface="宋体" charset="-122"/>
              </a:rPr>
              <a:t>Stock price for Dec. of t-1 and June of t</a:t>
            </a:r>
          </a:p>
          <a:p>
            <a:pPr lvl="1"/>
            <a:r>
              <a:rPr lang="en-GB" altLang="zh-CN" dirty="0">
                <a:ea typeface="宋体" charset="-122"/>
              </a:rPr>
              <a:t>Monthly returns for 24 of 60 months preceding July of t</a:t>
            </a:r>
          </a:p>
          <a:p>
            <a:pPr lvl="1"/>
            <a:r>
              <a:rPr lang="en-GB" altLang="zh-CN" dirty="0">
                <a:ea typeface="宋体" charset="-122"/>
              </a:rPr>
              <a:t>COMPUSTAT data for book assets (A), book equity (BE), and earnings (E), for fiscal year ending in cal year t-1</a:t>
            </a: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432993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Empirical Approach</a:t>
            </a:r>
          </a:p>
        </p:txBody>
      </p:sp>
      <mc:AlternateContent xmlns:mc="http://schemas.openxmlformats.org/markup-compatibility/2006" xmlns:a14="http://schemas.microsoft.com/office/drawing/2010/main">
        <mc:Choice Requires="a14">
          <p:sp>
            <p:nvSpPr>
              <p:cNvPr id="40963" name="Rectangle 3"/>
              <p:cNvSpPr>
                <a:spLocks noGrp="1" noChangeArrowheads="1"/>
              </p:cNvSpPr>
              <p:nvPr>
                <p:ph type="body" sz="half" idx="1"/>
              </p:nvPr>
            </p:nvSpPr>
            <p:spPr>
              <a:xfrm>
                <a:off x="368531" y="1066800"/>
                <a:ext cx="8786842" cy="2928958"/>
              </a:xfrm>
            </p:spPr>
            <p:txBody>
              <a:bodyPr/>
              <a:lstStyle/>
              <a:p>
                <a:r>
                  <a:rPr lang="en-GB" altLang="zh-CN" sz="2400" dirty="0">
                    <a:ea typeface="宋体" charset="-122"/>
                  </a:rPr>
                  <a:t>Use cross-sectional regression approach of Fama and </a:t>
                </a:r>
                <a:r>
                  <a:rPr lang="en-GB" altLang="zh-CN" sz="2400" dirty="0" err="1">
                    <a:ea typeface="宋体" charset="-122"/>
                  </a:rPr>
                  <a:t>MacBeth</a:t>
                </a:r>
                <a:r>
                  <a:rPr lang="en-GB" altLang="zh-CN" sz="2400" dirty="0">
                    <a:ea typeface="宋体" charset="-122"/>
                  </a:rPr>
                  <a:t> (1973). For each month of data, estimate the purely cross-sectional regression </a:t>
                </a:r>
                <a:endParaRPr lang="en-GB" altLang="zh-CN" sz="2400" i="1" dirty="0">
                  <a:latin typeface="Cambria Math"/>
                  <a:ea typeface="宋体" charset="-122"/>
                </a:endParaRPr>
              </a:p>
              <a:p>
                <a:pPr marL="0" indent="0">
                  <a:buNone/>
                </a:pPr>
                <a14:m>
                  <m:oMathPara xmlns:m="http://schemas.openxmlformats.org/officeDocument/2006/math">
                    <m:oMathParaPr>
                      <m:jc m:val="centerGroup"/>
                    </m:oMathParaPr>
                    <m:oMath xmlns:m="http://schemas.openxmlformats.org/officeDocument/2006/math">
                      <m:sSub>
                        <m:sSubPr>
                          <m:ctrlPr>
                            <a:rPr lang="en-GB" altLang="zh-CN" sz="2400" i="1" smtClean="0">
                              <a:latin typeface="Cambria Math" panose="02040503050406030204" pitchFamily="18" charset="0"/>
                              <a:ea typeface="宋体" charset="-122"/>
                            </a:rPr>
                          </m:ctrlPr>
                        </m:sSubPr>
                        <m:e>
                          <m:r>
                            <a:rPr lang="en-US" altLang="zh-CN" sz="2400" b="0" i="1" smtClean="0">
                              <a:latin typeface="Cambria Math"/>
                              <a:ea typeface="宋体" charset="-122"/>
                            </a:rPr>
                            <m:t>𝑅</m:t>
                          </m:r>
                        </m:e>
                        <m:sub>
                          <m:r>
                            <a:rPr lang="en-US" altLang="zh-CN" sz="2400" b="0" i="1" smtClean="0">
                              <a:latin typeface="Cambria Math"/>
                              <a:ea typeface="宋体" charset="-122"/>
                            </a:rPr>
                            <m:t>𝑖𝑡</m:t>
                          </m:r>
                        </m:sub>
                      </m:sSub>
                      <m:r>
                        <a:rPr lang="en-US" altLang="zh-CN" sz="2400" b="0" i="1" smtClean="0">
                          <a:latin typeface="Cambria Math"/>
                          <a:ea typeface="宋体" charset="-122"/>
                        </a:rPr>
                        <m:t>−</m:t>
                      </m:r>
                      <m:sSub>
                        <m:sSubPr>
                          <m:ctrlPr>
                            <a:rPr lang="en-US" altLang="zh-CN" sz="2400" b="0" i="1" smtClean="0">
                              <a:latin typeface="Cambria Math" panose="02040503050406030204" pitchFamily="18" charset="0"/>
                              <a:ea typeface="宋体" charset="-122"/>
                            </a:rPr>
                          </m:ctrlPr>
                        </m:sSubPr>
                        <m:e>
                          <m:r>
                            <a:rPr lang="en-US" altLang="zh-CN" sz="2400" b="0" i="1" smtClean="0">
                              <a:latin typeface="Cambria Math"/>
                              <a:ea typeface="宋体" charset="-122"/>
                            </a:rPr>
                            <m:t>𝑟</m:t>
                          </m:r>
                        </m:e>
                        <m:sub>
                          <m:r>
                            <a:rPr lang="en-US" altLang="zh-CN" sz="2400" b="0" i="1" smtClean="0">
                              <a:latin typeface="Cambria Math"/>
                              <a:ea typeface="宋体" charset="-122"/>
                            </a:rPr>
                            <m:t>𝑓𝑡</m:t>
                          </m:r>
                        </m:sub>
                      </m:sSub>
                      <m:r>
                        <a:rPr lang="en-US" altLang="zh-CN" sz="2400" b="0" i="1" smtClean="0">
                          <a:latin typeface="Cambria Math"/>
                          <a:ea typeface="宋体" charset="-122"/>
                        </a:rPr>
                        <m:t>=</m:t>
                      </m:r>
                      <m:sSub>
                        <m:sSubPr>
                          <m:ctrlPr>
                            <a:rPr lang="en-US" altLang="zh-CN" sz="2400" b="0" i="1" smtClean="0">
                              <a:latin typeface="Cambria Math" panose="02040503050406030204" pitchFamily="18" charset="0"/>
                              <a:ea typeface="宋体" charset="-122"/>
                            </a:rPr>
                          </m:ctrlPr>
                        </m:sSubPr>
                        <m:e>
                          <m:r>
                            <a:rPr lang="en-US" altLang="zh-CN" sz="2400" b="0" i="1" smtClean="0">
                              <a:latin typeface="Cambria Math"/>
                              <a:ea typeface="宋体" charset="-122"/>
                            </a:rPr>
                            <m:t>𝑎</m:t>
                          </m:r>
                        </m:e>
                        <m:sub>
                          <m:r>
                            <a:rPr lang="en-US" altLang="zh-CN" sz="2400" b="0" i="1" smtClean="0">
                              <a:latin typeface="Cambria Math"/>
                              <a:ea typeface="宋体" charset="-122"/>
                            </a:rPr>
                            <m:t>0</m:t>
                          </m:r>
                          <m:r>
                            <a:rPr lang="en-US" altLang="zh-CN" sz="2400" b="0" i="1" smtClean="0">
                              <a:latin typeface="Cambria Math"/>
                              <a:ea typeface="宋体" charset="-122"/>
                            </a:rPr>
                            <m:t>𝑡</m:t>
                          </m:r>
                        </m:sub>
                      </m:sSub>
                      <m:r>
                        <a:rPr lang="en-US" altLang="zh-CN" sz="2400" b="0" i="1" smtClean="0">
                          <a:latin typeface="Cambria Math"/>
                          <a:ea typeface="宋体" charset="-122"/>
                        </a:rPr>
                        <m:t>+</m:t>
                      </m:r>
                      <m:nary>
                        <m:naryPr>
                          <m:chr m:val="∑"/>
                          <m:ctrlPr>
                            <a:rPr lang="en-US" altLang="zh-CN" sz="2400" b="0" i="1" smtClean="0">
                              <a:latin typeface="Cambria Math" panose="02040503050406030204" pitchFamily="18" charset="0"/>
                              <a:ea typeface="宋体" charset="-122"/>
                            </a:rPr>
                          </m:ctrlPr>
                        </m:naryPr>
                        <m:sub>
                          <m:r>
                            <m:rPr>
                              <m:brk m:alnAt="23"/>
                            </m:rPr>
                            <a:rPr lang="en-US" altLang="zh-CN" sz="2400" b="0" i="1" smtClean="0">
                              <a:latin typeface="Cambria Math"/>
                              <a:ea typeface="宋体" charset="-122"/>
                            </a:rPr>
                            <m:t>𝑛</m:t>
                          </m:r>
                          <m:r>
                            <a:rPr lang="en-US" altLang="zh-CN" sz="2400" b="0" i="1" smtClean="0">
                              <a:latin typeface="Cambria Math"/>
                              <a:ea typeface="宋体" charset="-122"/>
                            </a:rPr>
                            <m:t>=1</m:t>
                          </m:r>
                        </m:sub>
                        <m:sup>
                          <m:r>
                            <a:rPr lang="en-US" altLang="zh-CN" sz="2400" b="0" i="1" smtClean="0">
                              <a:latin typeface="Cambria Math"/>
                              <a:ea typeface="宋体" charset="-122"/>
                            </a:rPr>
                            <m:t>𝑁</m:t>
                          </m:r>
                        </m:sup>
                        <m:e>
                          <m:sSub>
                            <m:sSubPr>
                              <m:ctrlPr>
                                <a:rPr lang="en-US" altLang="zh-CN" sz="2400" b="0" i="1" smtClean="0">
                                  <a:latin typeface="Cambria Math" panose="02040503050406030204" pitchFamily="18" charset="0"/>
                                  <a:ea typeface="宋体" charset="-122"/>
                                </a:rPr>
                              </m:ctrlPr>
                            </m:sSubPr>
                            <m:e>
                              <m:r>
                                <a:rPr lang="en-US" altLang="zh-CN" sz="2400" b="0" i="1" smtClean="0">
                                  <a:latin typeface="Cambria Math"/>
                                  <a:ea typeface="宋体" charset="-122"/>
                                </a:rPr>
                                <m:t>𝑎</m:t>
                              </m:r>
                            </m:e>
                            <m:sub>
                              <m:r>
                                <a:rPr lang="en-US" altLang="zh-CN" sz="2400" b="0" i="1" smtClean="0">
                                  <a:latin typeface="Cambria Math"/>
                                  <a:ea typeface="宋体" charset="-122"/>
                                </a:rPr>
                                <m:t>𝑛𝑡</m:t>
                              </m:r>
                            </m:sub>
                          </m:sSub>
                          <m:sSub>
                            <m:sSubPr>
                              <m:ctrlPr>
                                <a:rPr lang="en-US" altLang="zh-CN" sz="2400" b="0" i="1" smtClean="0">
                                  <a:latin typeface="Cambria Math" panose="02040503050406030204" pitchFamily="18" charset="0"/>
                                  <a:ea typeface="宋体" charset="-122"/>
                                </a:rPr>
                              </m:ctrlPr>
                            </m:sSubPr>
                            <m:e>
                              <m:r>
                                <a:rPr lang="en-US" altLang="zh-CN" sz="2400" b="0" i="1" smtClean="0">
                                  <a:latin typeface="Cambria Math"/>
                                  <a:ea typeface="宋体" charset="-122"/>
                                </a:rPr>
                                <m:t>𝐶</m:t>
                              </m:r>
                            </m:e>
                            <m:sub>
                              <m:r>
                                <a:rPr lang="en-US" altLang="zh-CN" sz="2400" b="0" i="1" smtClean="0">
                                  <a:latin typeface="Cambria Math"/>
                                  <a:ea typeface="宋体" charset="-122"/>
                                </a:rPr>
                                <m:t>𝑖</m:t>
                              </m:r>
                              <m:r>
                                <a:rPr lang="en-US" altLang="zh-CN" sz="2400" b="0" i="1" smtClean="0">
                                  <a:latin typeface="Cambria Math"/>
                                  <a:ea typeface="宋体" charset="-122"/>
                                </a:rPr>
                                <m:t>,</m:t>
                              </m:r>
                              <m:r>
                                <a:rPr lang="en-US" altLang="zh-CN" sz="2400" b="0" i="1" smtClean="0">
                                  <a:latin typeface="Cambria Math"/>
                                  <a:ea typeface="宋体" charset="-122"/>
                                </a:rPr>
                                <m:t>𝑛</m:t>
                              </m:r>
                              <m:r>
                                <a:rPr lang="en-US" altLang="zh-CN" sz="2400" b="0" i="1" smtClean="0">
                                  <a:latin typeface="Cambria Math"/>
                                  <a:ea typeface="宋体" charset="-122"/>
                                </a:rPr>
                                <m:t>,</m:t>
                              </m:r>
                              <m:r>
                                <a:rPr lang="en-US" altLang="zh-CN" sz="2400" b="0" i="1" smtClean="0">
                                  <a:latin typeface="Cambria Math"/>
                                  <a:ea typeface="宋体" charset="-122"/>
                                </a:rPr>
                                <m:t>𝑡</m:t>
                              </m:r>
                            </m:sub>
                          </m:sSub>
                        </m:e>
                      </m:nary>
                    </m:oMath>
                  </m:oMathPara>
                </a14:m>
                <a:endParaRPr lang="en-GB" altLang="zh-CN" sz="2400" dirty="0">
                  <a:ea typeface="宋体" charset="-122"/>
                </a:endParaRPr>
              </a:p>
              <a:p>
                <a:r>
                  <a:rPr lang="en-GB" altLang="zh-CN" sz="2400" dirty="0">
                    <a:ea typeface="宋体" charset="-122"/>
                  </a:rPr>
                  <a:t>The a</a:t>
                </a:r>
                <a:r>
                  <a:rPr lang="en-GB" altLang="zh-CN" sz="2400" baseline="-25000" dirty="0">
                    <a:ea typeface="宋体" charset="-122"/>
                  </a:rPr>
                  <a:t>t</a:t>
                </a:r>
                <a:r>
                  <a:rPr lang="en-GB" altLang="zh-CN" sz="2400" dirty="0">
                    <a:ea typeface="宋体" charset="-122"/>
                  </a:rPr>
                  <a:t> are estimated by regression, one for each time period. The C are firm characteristics – E/P, D/E, B/M, beta  </a:t>
                </a:r>
              </a:p>
              <a:p>
                <a:r>
                  <a:rPr lang="en-GB" altLang="zh-CN" sz="2400" dirty="0">
                    <a:ea typeface="宋体" charset="-122"/>
                  </a:rPr>
                  <a:t>We then calculate </a:t>
                </a:r>
                <a14:m>
                  <m:oMath xmlns:m="http://schemas.openxmlformats.org/officeDocument/2006/math">
                    <m:sSub>
                      <m:sSubPr>
                        <m:ctrlPr>
                          <a:rPr lang="en-GB" altLang="zh-CN" sz="2400" i="1" smtClean="0">
                            <a:latin typeface="Cambria Math" panose="02040503050406030204" pitchFamily="18" charset="0"/>
                            <a:ea typeface="宋体" charset="-122"/>
                          </a:rPr>
                        </m:ctrlPr>
                      </m:sSubPr>
                      <m:e>
                        <m:acc>
                          <m:accPr>
                            <m:chr m:val="̅"/>
                            <m:ctrlPr>
                              <a:rPr lang="en-GB" altLang="zh-CN" sz="2400" i="1" smtClean="0">
                                <a:latin typeface="Cambria Math" panose="02040503050406030204" pitchFamily="18" charset="0"/>
                                <a:ea typeface="宋体" charset="-122"/>
                              </a:rPr>
                            </m:ctrlPr>
                          </m:accPr>
                          <m:e>
                            <m:r>
                              <a:rPr lang="en-US" altLang="zh-CN" sz="2400" b="0" i="1" smtClean="0">
                                <a:latin typeface="Cambria Math"/>
                                <a:ea typeface="宋体" charset="-122"/>
                              </a:rPr>
                              <m:t>𝑎</m:t>
                            </m:r>
                          </m:e>
                        </m:acc>
                      </m:e>
                      <m:sub>
                        <m:r>
                          <a:rPr lang="en-US" altLang="zh-CN" sz="2400" b="0" i="1" smtClean="0">
                            <a:latin typeface="Cambria Math"/>
                            <a:ea typeface="宋体" charset="-122"/>
                          </a:rPr>
                          <m:t>𝑛</m:t>
                        </m:r>
                      </m:sub>
                    </m:sSub>
                    <m:r>
                      <a:rPr lang="en-US" altLang="zh-CN" sz="2400" b="0" i="1" smtClean="0">
                        <a:latin typeface="Cambria Math"/>
                        <a:ea typeface="宋体" charset="-122"/>
                      </a:rPr>
                      <m:t>=</m:t>
                    </m:r>
                    <m:nary>
                      <m:naryPr>
                        <m:chr m:val="∑"/>
                        <m:ctrlPr>
                          <a:rPr lang="en-US" altLang="zh-CN" sz="2400" i="1">
                            <a:latin typeface="Cambria Math" panose="02040503050406030204" pitchFamily="18" charset="0"/>
                            <a:ea typeface="宋体" charset="-122"/>
                          </a:rPr>
                        </m:ctrlPr>
                      </m:naryPr>
                      <m:sub>
                        <m:r>
                          <m:rPr>
                            <m:brk m:alnAt="23"/>
                          </m:rPr>
                          <a:rPr lang="en-US" altLang="zh-CN" sz="2400" i="1">
                            <a:latin typeface="Cambria Math"/>
                            <a:ea typeface="宋体" charset="-122"/>
                          </a:rPr>
                          <m:t>𝑛</m:t>
                        </m:r>
                        <m:r>
                          <a:rPr lang="en-US" altLang="zh-CN" sz="2400" i="1">
                            <a:latin typeface="Cambria Math"/>
                            <a:ea typeface="宋体" charset="-122"/>
                          </a:rPr>
                          <m:t>=1</m:t>
                        </m:r>
                      </m:sub>
                      <m:sup>
                        <m:r>
                          <a:rPr lang="en-US" altLang="zh-CN" sz="2400" i="1">
                            <a:latin typeface="Cambria Math"/>
                            <a:ea typeface="宋体" charset="-122"/>
                          </a:rPr>
                          <m:t>𝑁</m:t>
                        </m:r>
                      </m:sup>
                      <m:e>
                        <m:sSub>
                          <m:sSubPr>
                            <m:ctrlPr>
                              <a:rPr lang="en-US" altLang="zh-CN" sz="2400" i="1">
                                <a:latin typeface="Cambria Math" panose="02040503050406030204" pitchFamily="18" charset="0"/>
                                <a:ea typeface="宋体" charset="-122"/>
                              </a:rPr>
                            </m:ctrlPr>
                          </m:sSubPr>
                          <m:e>
                            <m:r>
                              <a:rPr lang="en-US" altLang="zh-CN" sz="2400" i="1">
                                <a:latin typeface="Cambria Math"/>
                                <a:ea typeface="宋体" charset="-122"/>
                              </a:rPr>
                              <m:t>𝑎</m:t>
                            </m:r>
                          </m:e>
                          <m:sub>
                            <m:r>
                              <a:rPr lang="en-US" altLang="zh-CN" sz="2400" i="1">
                                <a:latin typeface="Cambria Math"/>
                                <a:ea typeface="宋体" charset="-122"/>
                              </a:rPr>
                              <m:t>𝑛𝑡</m:t>
                            </m:r>
                          </m:sub>
                        </m:sSub>
                        <m:r>
                          <a:rPr lang="en-US" altLang="zh-CN" sz="2400" b="0" i="1" smtClean="0">
                            <a:latin typeface="Cambria Math"/>
                            <a:ea typeface="宋体" charset="-122"/>
                          </a:rPr>
                          <m:t>/</m:t>
                        </m:r>
                        <m:r>
                          <a:rPr lang="en-US" altLang="zh-CN" sz="2400" b="0" i="1" smtClean="0">
                            <a:latin typeface="Cambria Math"/>
                            <a:ea typeface="宋体" charset="-122"/>
                          </a:rPr>
                          <m:t>𝑁</m:t>
                        </m:r>
                      </m:e>
                    </m:nary>
                  </m:oMath>
                </a14:m>
                <a:r>
                  <a:rPr lang="en-GB" altLang="zh-CN" sz="2400" dirty="0">
                    <a:ea typeface="宋体" charset="-122"/>
                  </a:rPr>
                  <a:t>, which are the </a:t>
                </a:r>
                <a:r>
                  <a:rPr lang="en-GB" altLang="zh-CN" sz="2400" i="1" dirty="0">
                    <a:ea typeface="宋体" charset="-122"/>
                  </a:rPr>
                  <a:t>FM regression coefficients</a:t>
                </a:r>
                <a:r>
                  <a:rPr lang="en-GB" altLang="zh-CN" sz="2400" dirty="0">
                    <a:ea typeface="宋体" charset="-122"/>
                  </a:rPr>
                  <a:t>.  Their standard errors are calculated as the standard deviation of the </a:t>
                </a:r>
                <a14:m>
                  <m:oMath xmlns:m="http://schemas.openxmlformats.org/officeDocument/2006/math">
                    <m:sSub>
                      <m:sSubPr>
                        <m:ctrlPr>
                          <a:rPr lang="en-US" altLang="zh-CN" sz="2400" i="1">
                            <a:latin typeface="Cambria Math" panose="02040503050406030204" pitchFamily="18" charset="0"/>
                            <a:ea typeface="宋体" charset="-122"/>
                          </a:rPr>
                        </m:ctrlPr>
                      </m:sSubPr>
                      <m:e>
                        <m:r>
                          <a:rPr lang="en-US" altLang="zh-CN" sz="2400" i="1">
                            <a:latin typeface="Cambria Math"/>
                            <a:ea typeface="宋体" charset="-122"/>
                          </a:rPr>
                          <m:t>𝑎</m:t>
                        </m:r>
                      </m:e>
                      <m:sub>
                        <m:r>
                          <a:rPr lang="en-US" altLang="zh-CN" sz="2400" i="1">
                            <a:latin typeface="Cambria Math"/>
                            <a:ea typeface="宋体" charset="-122"/>
                          </a:rPr>
                          <m:t>𝑛𝑡</m:t>
                        </m:r>
                      </m:sub>
                    </m:sSub>
                  </m:oMath>
                </a14:m>
                <a:r>
                  <a:rPr lang="en-GB" altLang="zh-CN" sz="2400" dirty="0">
                    <a:ea typeface="宋体" charset="-122"/>
                  </a:rPr>
                  <a:t>.</a:t>
                </a:r>
              </a:p>
              <a:p>
                <a:r>
                  <a:rPr lang="en-GB" altLang="zh-CN" sz="2400" dirty="0">
                    <a:ea typeface="宋体" charset="-122"/>
                  </a:rPr>
                  <a:t>Results in Table III -- we want to know which characteristics are most important to explaining the cross-section of returns</a:t>
                </a:r>
              </a:p>
            </p:txBody>
          </p:sp>
        </mc:Choice>
        <mc:Fallback xmlns="">
          <p:sp>
            <p:nvSpPr>
              <p:cNvPr id="40963" name="Rectangle 3"/>
              <p:cNvSpPr>
                <a:spLocks noGrp="1" noRot="1" noChangeAspect="1" noMove="1" noResize="1" noEditPoints="1" noAdjustHandles="1" noChangeArrowheads="1" noChangeShapeType="1" noTextEdit="1"/>
              </p:cNvSpPr>
              <p:nvPr>
                <p:ph type="body" sz="half" idx="1"/>
              </p:nvPr>
            </p:nvSpPr>
            <p:spPr>
              <a:xfrm>
                <a:off x="368531" y="1066800"/>
                <a:ext cx="8786842" cy="2928958"/>
              </a:xfrm>
              <a:blipFill rotWithShape="1">
                <a:blip r:embed="rId2"/>
                <a:stretch>
                  <a:fillRect l="-902" t="-1458" r="-1734" b="-7604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031830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Measurement issues</a:t>
            </a:r>
          </a:p>
        </p:txBody>
      </p:sp>
      <p:sp>
        <p:nvSpPr>
          <p:cNvPr id="40963" name="Rectangle 3"/>
          <p:cNvSpPr>
            <a:spLocks noGrp="1" noChangeArrowheads="1"/>
          </p:cNvSpPr>
          <p:nvPr>
            <p:ph type="body" sz="half" idx="1"/>
          </p:nvPr>
        </p:nvSpPr>
        <p:spPr>
          <a:xfrm>
            <a:off x="0" y="1066800"/>
            <a:ext cx="9155373" cy="2928958"/>
          </a:xfrm>
        </p:spPr>
        <p:txBody>
          <a:bodyPr/>
          <a:lstStyle/>
          <a:p>
            <a:r>
              <a:rPr lang="en-GB" altLang="zh-CN" dirty="0">
                <a:ea typeface="宋体" charset="-122"/>
              </a:rPr>
              <a:t>Most firm characteristics (P/E, B/M) are measured well</a:t>
            </a:r>
          </a:p>
          <a:p>
            <a:r>
              <a:rPr lang="en-GB" altLang="zh-CN" dirty="0">
                <a:ea typeface="宋体" charset="-122"/>
              </a:rPr>
              <a:t>On the other hand, beta is not known exactly at any point in time, we only have a noisy estimate (betas change over time, different ways of estimating beta, etc.)</a:t>
            </a:r>
          </a:p>
          <a:p>
            <a:r>
              <a:rPr lang="en-GB" altLang="zh-CN" dirty="0">
                <a:ea typeface="宋体" charset="-122"/>
              </a:rPr>
              <a:t>We know that noise in a </a:t>
            </a:r>
            <a:r>
              <a:rPr lang="en-GB" altLang="zh-CN" dirty="0" err="1">
                <a:ea typeface="宋体" charset="-122"/>
              </a:rPr>
              <a:t>regressor</a:t>
            </a:r>
            <a:r>
              <a:rPr lang="en-GB" altLang="zh-CN" dirty="0">
                <a:ea typeface="宋体" charset="-122"/>
              </a:rPr>
              <a:t> causes attenuation bias (coefficient biased toward zero), and FF want to convince us that beta doesn’t matter, so they try their best to eliminate noise.</a:t>
            </a:r>
          </a:p>
          <a:p>
            <a:r>
              <a:rPr lang="en-GB" altLang="zh-CN" dirty="0">
                <a:ea typeface="宋体" charset="-122"/>
              </a:rPr>
              <a:t>They use a portfolio approach, developed earlier in the literature, to accomplish this</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402699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The FF92 Beta estimate</a:t>
            </a:r>
          </a:p>
        </p:txBody>
      </p:sp>
      <p:sp>
        <p:nvSpPr>
          <p:cNvPr id="40963" name="Rectangle 3"/>
          <p:cNvSpPr>
            <a:spLocks noGrp="1" noChangeArrowheads="1"/>
          </p:cNvSpPr>
          <p:nvPr>
            <p:ph type="body" sz="half" idx="1"/>
          </p:nvPr>
        </p:nvSpPr>
        <p:spPr>
          <a:xfrm>
            <a:off x="-11373" y="1981200"/>
            <a:ext cx="9155373" cy="2928958"/>
          </a:xfrm>
        </p:spPr>
        <p:txBody>
          <a:bodyPr/>
          <a:lstStyle/>
          <a:p>
            <a:pPr>
              <a:buNone/>
            </a:pPr>
            <a:r>
              <a:rPr lang="en-GB" altLang="zh-CN" b="1" dirty="0">
                <a:ea typeface="宋体" charset="-122"/>
              </a:rPr>
              <a:t>Pre-ranking beta </a:t>
            </a:r>
            <a:r>
              <a:rPr lang="en-GB" altLang="zh-CN" dirty="0">
                <a:ea typeface="宋体" charset="-122"/>
              </a:rPr>
              <a:t>for each firm: estimated on 24 to 60 monthly returns (as available) in the 5 years before July of year t.</a:t>
            </a:r>
          </a:p>
          <a:p>
            <a:pPr lvl="1"/>
            <a:r>
              <a:rPr lang="en-GB" altLang="zh-CN" dirty="0">
                <a:ea typeface="宋体" charset="-122"/>
              </a:rPr>
              <a:t>These are noisy estimates of firm beta</a:t>
            </a:r>
          </a:p>
          <a:p>
            <a:pPr lvl="1"/>
            <a:r>
              <a:rPr lang="en-GB" altLang="zh-CN" dirty="0">
                <a:ea typeface="宋体" charset="-122"/>
              </a:rPr>
              <a:t>And also biased (this occurs whenever you have a noisy estimate of something and sort on it; high pre-ranking beta indicates that positive noise is likely; low pre-ranking beta indicates negative noise is likely)</a:t>
            </a:r>
          </a:p>
          <a:p>
            <a:pPr marL="457200" lvl="1" indent="0">
              <a:buNone/>
            </a:pPr>
            <a:endParaRPr lang="en-GB" altLang="zh-CN" dirty="0">
              <a:ea typeface="宋体" charset="-122"/>
            </a:endParaRPr>
          </a:p>
          <a:p>
            <a:pPr marL="57150" indent="0">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109800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Post-ranking Beta</a:t>
            </a:r>
          </a:p>
        </p:txBody>
      </p:sp>
      <p:sp>
        <p:nvSpPr>
          <p:cNvPr id="40963" name="Rectangle 3"/>
          <p:cNvSpPr>
            <a:spLocks noGrp="1" noChangeArrowheads="1"/>
          </p:cNvSpPr>
          <p:nvPr>
            <p:ph type="body" sz="half" idx="1"/>
          </p:nvPr>
        </p:nvSpPr>
        <p:spPr>
          <a:xfrm>
            <a:off x="0" y="685800"/>
            <a:ext cx="9155373" cy="2928958"/>
          </a:xfrm>
        </p:spPr>
        <p:txBody>
          <a:bodyPr/>
          <a:lstStyle/>
          <a:p>
            <a:pPr marL="57150" indent="0">
              <a:buNone/>
            </a:pPr>
            <a:r>
              <a:rPr lang="en-GB" altLang="zh-CN" dirty="0">
                <a:ea typeface="宋体" charset="-122"/>
              </a:rPr>
              <a:t>To address problems with the pre-ranking beta, FF double sort firms into portfolios</a:t>
            </a:r>
          </a:p>
          <a:p>
            <a:pPr marL="514350" indent="-457200"/>
            <a:r>
              <a:rPr lang="en-GB" altLang="zh-CN" sz="2400" dirty="0">
                <a:ea typeface="宋体" charset="-122"/>
              </a:rPr>
              <a:t>First by size </a:t>
            </a:r>
            <a:r>
              <a:rPr lang="en-GB" altLang="zh-CN" sz="2400" dirty="0" err="1">
                <a:ea typeface="宋体" charset="-122"/>
              </a:rPr>
              <a:t>decile</a:t>
            </a:r>
            <a:r>
              <a:rPr lang="en-GB" altLang="zh-CN" sz="2400" dirty="0">
                <a:ea typeface="宋体" charset="-122"/>
              </a:rPr>
              <a:t>, using NYSE breakpoints (produces a large spread in betas, NYSE breakpoints used to provide robustness to the addition of NASDAQ stocks in 1973)</a:t>
            </a:r>
          </a:p>
          <a:p>
            <a:pPr marL="514350" indent="-457200"/>
            <a:r>
              <a:rPr lang="en-GB" altLang="zh-CN" sz="2400" dirty="0">
                <a:ea typeface="宋体" charset="-122"/>
              </a:rPr>
              <a:t>Then by pre-ranking beta </a:t>
            </a:r>
            <a:r>
              <a:rPr lang="en-GB" altLang="zh-CN" sz="2400" dirty="0" err="1">
                <a:ea typeface="宋体" charset="-122"/>
              </a:rPr>
              <a:t>decile</a:t>
            </a:r>
            <a:r>
              <a:rPr lang="en-GB" altLang="zh-CN" sz="2400" dirty="0">
                <a:ea typeface="宋体" charset="-122"/>
              </a:rPr>
              <a:t> (to generate beta variation unrelated to size)</a:t>
            </a:r>
          </a:p>
          <a:p>
            <a:pPr marL="514350" indent="-457200"/>
            <a:r>
              <a:rPr lang="en-GB" altLang="zh-CN" sz="2400" dirty="0">
                <a:ea typeface="宋体" charset="-122"/>
              </a:rPr>
              <a:t>These are </a:t>
            </a:r>
            <a:r>
              <a:rPr lang="en-GB" altLang="zh-CN" sz="2400" i="1" dirty="0">
                <a:ea typeface="宋体" charset="-122"/>
              </a:rPr>
              <a:t>dependent</a:t>
            </a:r>
            <a:r>
              <a:rPr lang="en-GB" altLang="zh-CN" sz="2400" dirty="0">
                <a:ea typeface="宋体" charset="-122"/>
              </a:rPr>
              <a:t> sorts</a:t>
            </a:r>
          </a:p>
          <a:p>
            <a:pPr marL="914400" lvl="1" indent="-457200"/>
            <a:r>
              <a:rPr lang="en-GB" altLang="zh-CN" dirty="0">
                <a:ea typeface="宋体" charset="-122"/>
              </a:rPr>
              <a:t>One could also reverse the dependent sorts (first by pre-ranking beta, then size)</a:t>
            </a:r>
          </a:p>
          <a:p>
            <a:pPr marL="914400" lvl="1" indent="-457200"/>
            <a:r>
              <a:rPr lang="en-GB" altLang="zh-CN" dirty="0">
                <a:ea typeface="宋体" charset="-122"/>
              </a:rPr>
              <a:t>Or alternatively, independent sorts (does not guarantee an equal number of firms in each portfolio</a:t>
            </a:r>
          </a:p>
          <a:p>
            <a:pPr marL="514350" indent="-457200"/>
            <a:r>
              <a:rPr lang="en-GB" altLang="zh-CN" dirty="0">
                <a:ea typeface="宋体" charset="-122"/>
              </a:rPr>
              <a:t>Gives 100 portfolios (10x10), rebalanced once per year, can calculate portfolio returns </a:t>
            </a:r>
          </a:p>
          <a:p>
            <a:pPr marL="914400" lvl="1" indent="-457200"/>
            <a:endParaRPr lang="en-GB" altLang="zh-CN" dirty="0">
              <a:ea typeface="宋体" charset="-122"/>
            </a:endParaRPr>
          </a:p>
          <a:p>
            <a:pPr marL="914400" lvl="1" indent="-457200"/>
            <a:endParaRPr lang="en-GB" altLang="zh-CN" dirty="0">
              <a:ea typeface="宋体" charset="-122"/>
            </a:endParaRPr>
          </a:p>
          <a:p>
            <a:pPr marL="514350" indent="-457200"/>
            <a:endParaRPr lang="en-GB" altLang="zh-CN" dirty="0">
              <a:ea typeface="宋体" charset="-122"/>
            </a:endParaRPr>
          </a:p>
          <a:p>
            <a:pPr marL="514350" indent="-457200"/>
            <a:endParaRPr lang="en-GB" altLang="zh-CN" dirty="0">
              <a:ea typeface="宋体" charset="-122"/>
            </a:endParaRPr>
          </a:p>
          <a:p>
            <a:pPr marL="57150" indent="0">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206179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Portfolio Returns</a:t>
            </a:r>
          </a:p>
        </p:txBody>
      </p:sp>
      <p:sp>
        <p:nvSpPr>
          <p:cNvPr id="40963" name="Rectangle 3"/>
          <p:cNvSpPr>
            <a:spLocks noGrp="1" noChangeArrowheads="1"/>
          </p:cNvSpPr>
          <p:nvPr>
            <p:ph type="body" sz="half" idx="1"/>
          </p:nvPr>
        </p:nvSpPr>
        <p:spPr>
          <a:xfrm>
            <a:off x="357158" y="785794"/>
            <a:ext cx="8786842" cy="1119206"/>
          </a:xfrm>
        </p:spPr>
        <p:txBody>
          <a:bodyPr/>
          <a:lstStyle/>
          <a:p>
            <a:r>
              <a:rPr lang="en-GB" altLang="zh-CN" dirty="0">
                <a:ea typeface="宋体" charset="-122"/>
              </a:rPr>
              <a:t>Average equal-weighted monthly returns of the size-beta portfolios, July 1963 to December 1990.</a:t>
            </a:r>
          </a:p>
          <a:p>
            <a:pPr marL="457200" lvl="1" indent="0">
              <a:buNone/>
            </a:pPr>
            <a:endParaRPr lang="en-GB" altLang="zh-CN" dirty="0">
              <a:ea typeface="宋体" charset="-122"/>
            </a:endParaRP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828800"/>
            <a:ext cx="9077325"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9755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Post-ranking Beta</a:t>
            </a:r>
          </a:p>
        </p:txBody>
      </p:sp>
      <p:sp>
        <p:nvSpPr>
          <p:cNvPr id="40963" name="Rectangle 3"/>
          <p:cNvSpPr>
            <a:spLocks noGrp="1" noChangeArrowheads="1"/>
          </p:cNvSpPr>
          <p:nvPr>
            <p:ph type="body" sz="half" idx="1"/>
          </p:nvPr>
        </p:nvSpPr>
        <p:spPr>
          <a:xfrm>
            <a:off x="0" y="1066800"/>
            <a:ext cx="9155373" cy="1676400"/>
          </a:xfrm>
        </p:spPr>
        <p:txBody>
          <a:bodyPr/>
          <a:lstStyle/>
          <a:p>
            <a:pPr marL="57150" indent="0">
              <a:buNone/>
            </a:pPr>
            <a:r>
              <a:rPr lang="en-GB" altLang="zh-CN" dirty="0">
                <a:ea typeface="宋体" charset="-122"/>
              </a:rPr>
              <a:t>For each of the 100 size-beta portfolios, FF calculate a full-sample beta estimate: this gives a single beta for each portfolio</a:t>
            </a:r>
          </a:p>
          <a:p>
            <a:pPr marL="57150" indent="0">
              <a:buNone/>
            </a:pPr>
            <a:endParaRPr lang="en-GB" altLang="zh-CN" dirty="0">
              <a:ea typeface="宋体" charset="-122"/>
            </a:endParaRPr>
          </a:p>
          <a:p>
            <a:pPr marL="514350" indent="-457200"/>
            <a:endParaRPr lang="en-GB" altLang="zh-CN" sz="1000" i="1" dirty="0">
              <a:ea typeface="宋体" charset="-122"/>
            </a:endParaRPr>
          </a:p>
          <a:p>
            <a:pPr marL="514350" indent="-457200"/>
            <a:endParaRPr lang="en-GB" altLang="zh-CN" i="1"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585923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Post-ranking Beta Estimates</a:t>
            </a:r>
          </a:p>
        </p:txBody>
      </p:sp>
      <p:sp>
        <p:nvSpPr>
          <p:cNvPr id="40963" name="Rectangle 3"/>
          <p:cNvSpPr>
            <a:spLocks noGrp="1" noChangeArrowheads="1"/>
          </p:cNvSpPr>
          <p:nvPr>
            <p:ph type="body" sz="half" idx="1"/>
          </p:nvPr>
        </p:nvSpPr>
        <p:spPr>
          <a:xfrm>
            <a:off x="374561" y="1124744"/>
            <a:ext cx="8786842" cy="2928958"/>
          </a:xfrm>
        </p:spPr>
        <p:txBody>
          <a:bodyPr/>
          <a:lstStyle/>
          <a:p>
            <a:r>
              <a:rPr lang="en-GB" altLang="zh-CN" dirty="0">
                <a:ea typeface="宋体" charset="-122"/>
              </a:rPr>
              <a:t>Their double sort procedure produces a large spread in betas, and closely reproduces ordering of pre-ranking betas</a:t>
            </a:r>
          </a:p>
          <a:p>
            <a:pPr marL="0" indent="0">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970712" y="-185480"/>
            <a:ext cx="3212197" cy="9145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336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Estimated Firm Beta</a:t>
            </a:r>
          </a:p>
        </p:txBody>
      </p:sp>
      <p:sp>
        <p:nvSpPr>
          <p:cNvPr id="40963" name="Rectangle 3"/>
          <p:cNvSpPr>
            <a:spLocks noGrp="1" noChangeArrowheads="1"/>
          </p:cNvSpPr>
          <p:nvPr>
            <p:ph type="body" sz="half" idx="1"/>
          </p:nvPr>
        </p:nvSpPr>
        <p:spPr>
          <a:xfrm>
            <a:off x="-11373" y="1905000"/>
            <a:ext cx="9155373" cy="1447800"/>
          </a:xfrm>
        </p:spPr>
        <p:txBody>
          <a:bodyPr/>
          <a:lstStyle/>
          <a:p>
            <a:pPr marL="57150" indent="0">
              <a:buNone/>
            </a:pPr>
            <a:r>
              <a:rPr lang="en-GB" altLang="zh-CN" sz="2400" dirty="0">
                <a:ea typeface="宋体" charset="-122"/>
              </a:rPr>
              <a:t>An individual stock at time t is simply assigned the full sample beta estimate of the size-beta portfolio that it belongs to at time t</a:t>
            </a:r>
          </a:p>
          <a:p>
            <a:pPr marL="57150" indent="0">
              <a:buNone/>
            </a:pPr>
            <a:endParaRPr lang="en-GB" altLang="zh-CN" sz="2400" dirty="0">
              <a:ea typeface="宋体" charset="-122"/>
            </a:endParaRPr>
          </a:p>
          <a:p>
            <a:pPr marL="57150" indent="0">
              <a:buNone/>
            </a:pPr>
            <a:endParaRPr lang="en-GB" altLang="zh-CN" sz="1000"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062372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err="1">
                <a:solidFill>
                  <a:schemeClr val="bg1"/>
                </a:solidFill>
                <a:ea typeface="宋体" charset="-122"/>
              </a:rPr>
              <a:t>Univariate</a:t>
            </a:r>
            <a:r>
              <a:rPr lang="en-GB" altLang="zh-CN" sz="4000" b="1" dirty="0">
                <a:solidFill>
                  <a:schemeClr val="bg1"/>
                </a:solidFill>
                <a:ea typeface="宋体" charset="-122"/>
              </a:rPr>
              <a:t> Sorts: size</a:t>
            </a:r>
          </a:p>
        </p:txBody>
      </p:sp>
      <p:sp>
        <p:nvSpPr>
          <p:cNvPr id="40963" name="Rectangle 3"/>
          <p:cNvSpPr>
            <a:spLocks noGrp="1" noChangeArrowheads="1"/>
          </p:cNvSpPr>
          <p:nvPr>
            <p:ph type="body" sz="half" idx="1"/>
          </p:nvPr>
        </p:nvSpPr>
        <p:spPr>
          <a:xfrm>
            <a:off x="251520" y="1052736"/>
            <a:ext cx="8786842" cy="1368152"/>
          </a:xfrm>
        </p:spPr>
        <p:txBody>
          <a:bodyPr/>
          <a:lstStyle/>
          <a:p>
            <a:r>
              <a:rPr lang="en-GB" altLang="zh-CN" dirty="0">
                <a:ea typeface="宋体" charset="-122"/>
              </a:rPr>
              <a:t>Forming portfolios based on a </a:t>
            </a:r>
            <a:r>
              <a:rPr lang="en-GB" altLang="zh-CN" dirty="0" err="1">
                <a:ea typeface="宋体" charset="-122"/>
              </a:rPr>
              <a:t>univariate</a:t>
            </a:r>
            <a:r>
              <a:rPr lang="en-GB" altLang="zh-CN" dirty="0">
                <a:ea typeface="宋体" charset="-122"/>
              </a:rPr>
              <a:t> sort of size generates a spread of betas and returns</a:t>
            </a:r>
          </a:p>
          <a:p>
            <a:endParaRPr lang="en-GB" altLang="zh-CN" dirty="0">
              <a:ea typeface="宋体" charset="-122"/>
            </a:endParaRPr>
          </a:p>
          <a:p>
            <a:pPr algn="ctr">
              <a:buNone/>
            </a:pPr>
            <a:endParaRPr lang="en-GB" altLang="zh-CN" dirty="0">
              <a:ea typeface="宋体" charset="-122"/>
            </a:endParaRPr>
          </a:p>
          <a:p>
            <a:pPr algn="ct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284301" y="-360126"/>
            <a:ext cx="2611141" cy="903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9964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err="1">
                <a:solidFill>
                  <a:schemeClr val="bg1"/>
                </a:solidFill>
                <a:ea typeface="宋体" charset="-122"/>
              </a:rPr>
              <a:t>Univariate</a:t>
            </a:r>
            <a:r>
              <a:rPr lang="en-GB" altLang="zh-CN" sz="4000" b="1" dirty="0">
                <a:solidFill>
                  <a:schemeClr val="bg1"/>
                </a:solidFill>
                <a:ea typeface="宋体" charset="-122"/>
              </a:rPr>
              <a:t> Sorts: beta</a:t>
            </a:r>
          </a:p>
        </p:txBody>
      </p:sp>
      <p:sp>
        <p:nvSpPr>
          <p:cNvPr id="40963" name="Rectangle 3"/>
          <p:cNvSpPr>
            <a:spLocks noGrp="1" noChangeArrowheads="1"/>
          </p:cNvSpPr>
          <p:nvPr>
            <p:ph type="body" sz="half" idx="1"/>
          </p:nvPr>
        </p:nvSpPr>
        <p:spPr>
          <a:xfrm>
            <a:off x="357158" y="1428736"/>
            <a:ext cx="8786842" cy="2928958"/>
          </a:xfrm>
        </p:spPr>
        <p:txBody>
          <a:bodyPr/>
          <a:lstStyle/>
          <a:p>
            <a:r>
              <a:rPr lang="en-GB" altLang="zh-CN" dirty="0">
                <a:ea typeface="宋体" charset="-122"/>
              </a:rPr>
              <a:t>Forming portfolios on </a:t>
            </a:r>
            <a:r>
              <a:rPr lang="en-GB" altLang="zh-CN" dirty="0" err="1">
                <a:ea typeface="宋体" charset="-122"/>
              </a:rPr>
              <a:t>univariate</a:t>
            </a:r>
            <a:r>
              <a:rPr lang="en-GB" altLang="zh-CN" dirty="0">
                <a:ea typeface="宋体" charset="-122"/>
              </a:rPr>
              <a:t> beta generates a spread of beta but not returns</a:t>
            </a:r>
          </a:p>
          <a:p>
            <a:pPr marL="0" indent="0">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037371" y="-265869"/>
            <a:ext cx="3080617" cy="906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4705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Double-Sorted Returns</a:t>
            </a:r>
          </a:p>
        </p:txBody>
      </p:sp>
      <p:sp>
        <p:nvSpPr>
          <p:cNvPr id="40963" name="Rectangle 3"/>
          <p:cNvSpPr>
            <a:spLocks noGrp="1" noChangeArrowheads="1"/>
          </p:cNvSpPr>
          <p:nvPr>
            <p:ph type="body" sz="half" idx="1"/>
          </p:nvPr>
        </p:nvSpPr>
        <p:spPr>
          <a:xfrm>
            <a:off x="251520" y="1052736"/>
            <a:ext cx="8786842" cy="2928958"/>
          </a:xfrm>
        </p:spPr>
        <p:txBody>
          <a:bodyPr/>
          <a:lstStyle/>
          <a:p>
            <a:r>
              <a:rPr lang="en-GB" altLang="zh-CN" dirty="0">
                <a:ea typeface="宋体" charset="-122"/>
              </a:rPr>
              <a:t>The two-pass sorts show that size generates a spread in returns, while beta variation unrelated to size does not (Table 1A again)</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2852936"/>
            <a:ext cx="9077325"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690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FM Regressions (Table III)</a:t>
            </a:r>
          </a:p>
        </p:txBody>
      </p:sp>
      <p:sp>
        <p:nvSpPr>
          <p:cNvPr id="40963" name="Rectangle 3"/>
          <p:cNvSpPr>
            <a:spLocks noGrp="1" noChangeArrowheads="1"/>
          </p:cNvSpPr>
          <p:nvPr>
            <p:ph type="body" sz="half" idx="1"/>
          </p:nvPr>
        </p:nvSpPr>
        <p:spPr>
          <a:xfrm>
            <a:off x="202168" y="1124744"/>
            <a:ext cx="1849552" cy="2688370"/>
          </a:xfrm>
        </p:spPr>
        <p:txBody>
          <a:bodyPr/>
          <a:lstStyle/>
          <a:p>
            <a:pPr marL="0" indent="0">
              <a:buNone/>
            </a:pPr>
            <a:r>
              <a:rPr lang="en-GB" altLang="zh-CN" dirty="0">
                <a:ea typeface="宋体" charset="-122"/>
              </a:rPr>
              <a:t>Size and B/M are related to returns, while beta is not</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980728"/>
            <a:ext cx="6625555" cy="5664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9619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Model for Average Returns</a:t>
            </a:r>
          </a:p>
        </p:txBody>
      </p:sp>
      <p:sp>
        <p:nvSpPr>
          <p:cNvPr id="40963" name="Rectangle 3"/>
          <p:cNvSpPr>
            <a:spLocks noGrp="1" noChangeArrowheads="1"/>
          </p:cNvSpPr>
          <p:nvPr>
            <p:ph type="body" sz="half" idx="1"/>
          </p:nvPr>
        </p:nvSpPr>
        <p:spPr>
          <a:xfrm>
            <a:off x="357158" y="1000108"/>
            <a:ext cx="8786842" cy="2928958"/>
          </a:xfrm>
        </p:spPr>
        <p:txBody>
          <a:bodyPr/>
          <a:lstStyle/>
          <a:p>
            <a:r>
              <a:rPr lang="en-GB" altLang="zh-CN" dirty="0">
                <a:ea typeface="宋体" charset="-122"/>
              </a:rPr>
              <a:t>Double sort dependent size, B/M, Table V…</a:t>
            </a:r>
          </a:p>
          <a:p>
            <a:pPr algn="ctr">
              <a:buNone/>
            </a:pPr>
            <a:endParaRPr lang="en-GB" altLang="zh-CN" sz="1200"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16832"/>
            <a:ext cx="8086725"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0940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00034" y="142852"/>
            <a:ext cx="8229600" cy="439718"/>
          </a:xfrm>
        </p:spPr>
        <p:txBody>
          <a:bodyPr/>
          <a:lstStyle/>
          <a:p>
            <a:pPr>
              <a:spcAft>
                <a:spcPts val="600"/>
              </a:spcAft>
            </a:pPr>
            <a:r>
              <a:rPr lang="en-US" dirty="0">
                <a:solidFill>
                  <a:schemeClr val="bg1"/>
                </a:solidFill>
              </a:rPr>
              <a:t>FF93</a:t>
            </a:r>
            <a:endParaRPr lang="en-US" b="1" dirty="0">
              <a:solidFill>
                <a:schemeClr val="bg1"/>
              </a:solidFill>
            </a:endParaRPr>
          </a:p>
        </p:txBody>
      </p:sp>
      <p:sp>
        <p:nvSpPr>
          <p:cNvPr id="6147" name="Rectangle 3"/>
          <p:cNvSpPr>
            <a:spLocks noGrp="1" noChangeArrowheads="1"/>
          </p:cNvSpPr>
          <p:nvPr>
            <p:ph type="body" idx="1"/>
          </p:nvPr>
        </p:nvSpPr>
        <p:spPr>
          <a:xfrm>
            <a:off x="500034" y="1428736"/>
            <a:ext cx="8229600" cy="4597401"/>
          </a:xfrm>
        </p:spPr>
        <p:txBody>
          <a:bodyPr/>
          <a:lstStyle/>
          <a:p>
            <a:r>
              <a:rPr lang="en-US" sz="2800" dirty="0"/>
              <a:t>FF93 extends FF92 in two ways</a:t>
            </a:r>
          </a:p>
          <a:p>
            <a:pPr lvl="1"/>
            <a:r>
              <a:rPr lang="en-US" sz="2400" dirty="0"/>
              <a:t>Considers both stocks and bonds as test assets</a:t>
            </a:r>
          </a:p>
          <a:p>
            <a:pPr lvl="1"/>
            <a:r>
              <a:rPr lang="en-US" sz="2400" dirty="0"/>
              <a:t>Considers stock (MKT, SMB, HML) and bond (TERM, DEF) variables </a:t>
            </a:r>
          </a:p>
          <a:p>
            <a:pPr lvl="2">
              <a:buNone/>
            </a:pPr>
            <a:endParaRPr lang="en-US" sz="2400" dirty="0"/>
          </a:p>
          <a:p>
            <a:r>
              <a:rPr lang="en-US" sz="2800" dirty="0"/>
              <a:t>Other differences</a:t>
            </a:r>
          </a:p>
          <a:p>
            <a:pPr lvl="1"/>
            <a:r>
              <a:rPr lang="en-US" sz="2400" dirty="0"/>
              <a:t>Test assets are portfolios (FF25 + bond portfolios) rather than individual stocks</a:t>
            </a:r>
          </a:p>
          <a:p>
            <a:pPr lvl="1"/>
            <a:r>
              <a:rPr lang="en-US" sz="2400" dirty="0"/>
              <a:t>Empirical method is tests that time-series alphas are zero (Black, Jensen, and Scholes, 1972) rather than the cross-sectional approach of Fama and Macbeth (1973)</a:t>
            </a:r>
          </a:p>
          <a:p>
            <a:pPr lvl="2">
              <a:buNone/>
            </a:pPr>
            <a:endParaRPr lang="en-US" sz="2400" dirty="0"/>
          </a:p>
          <a:p>
            <a:pPr>
              <a:buNone/>
            </a:pPr>
            <a:endParaRPr lang="en-US" sz="2800" dirty="0"/>
          </a:p>
          <a:p>
            <a:endParaRPr lang="en-US" sz="2000" dirty="0"/>
          </a:p>
          <a:p>
            <a:pPr lvl="1"/>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08401571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00034" y="142852"/>
            <a:ext cx="8229600" cy="439718"/>
          </a:xfrm>
        </p:spPr>
        <p:txBody>
          <a:bodyPr/>
          <a:lstStyle/>
          <a:p>
            <a:pPr>
              <a:spcAft>
                <a:spcPts val="600"/>
              </a:spcAft>
            </a:pPr>
            <a:r>
              <a:rPr lang="en-US" sz="4000" b="1" dirty="0">
                <a:solidFill>
                  <a:schemeClr val="bg1"/>
                </a:solidFill>
              </a:rPr>
              <a:t>Findings </a:t>
            </a:r>
            <a:endParaRPr lang="en-US" b="1" dirty="0">
              <a:solidFill>
                <a:schemeClr val="bg1"/>
              </a:solidFill>
            </a:endParaRPr>
          </a:p>
        </p:txBody>
      </p:sp>
      <p:sp>
        <p:nvSpPr>
          <p:cNvPr id="6147" name="Rectangle 3"/>
          <p:cNvSpPr>
            <a:spLocks noGrp="1" noChangeArrowheads="1"/>
          </p:cNvSpPr>
          <p:nvPr>
            <p:ph type="body" idx="1"/>
          </p:nvPr>
        </p:nvSpPr>
        <p:spPr>
          <a:xfrm>
            <a:off x="428596" y="857232"/>
            <a:ext cx="8501122" cy="5357850"/>
          </a:xfrm>
        </p:spPr>
        <p:txBody>
          <a:bodyPr/>
          <a:lstStyle/>
          <a:p>
            <a:pPr>
              <a:buNone/>
            </a:pPr>
            <a:endParaRPr lang="en-US" sz="1000" dirty="0"/>
          </a:p>
          <a:p>
            <a:r>
              <a:rPr lang="en-US" dirty="0"/>
              <a:t>SMB and HML explain cross-section of stock returns</a:t>
            </a:r>
          </a:p>
          <a:p>
            <a:r>
              <a:rPr lang="en-US" dirty="0"/>
              <a:t>MKT needed to explain difference between stock and bond returns</a:t>
            </a:r>
          </a:p>
          <a:p>
            <a:pPr>
              <a:buNone/>
            </a:pPr>
            <a:endParaRPr lang="en-US" dirty="0"/>
          </a:p>
          <a:p>
            <a:r>
              <a:rPr lang="en-US" dirty="0"/>
              <a:t>TERM and DEF capture most of the variation in returns on bonds</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FC7350-4CB5-4EE5-B57F-431B87D60413}"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26297855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Explanatory Variables</a:t>
            </a:r>
          </a:p>
        </p:txBody>
      </p:sp>
      <p:sp>
        <p:nvSpPr>
          <p:cNvPr id="40963" name="Rectangle 3"/>
          <p:cNvSpPr>
            <a:spLocks noGrp="1" noChangeArrowheads="1"/>
          </p:cNvSpPr>
          <p:nvPr>
            <p:ph type="body" sz="half" idx="1"/>
          </p:nvPr>
        </p:nvSpPr>
        <p:spPr>
          <a:xfrm>
            <a:off x="357158" y="1071546"/>
            <a:ext cx="8572560" cy="3571901"/>
          </a:xfrm>
        </p:spPr>
        <p:txBody>
          <a:bodyPr/>
          <a:lstStyle/>
          <a:p>
            <a:r>
              <a:rPr lang="en-GB" altLang="zh-CN" dirty="0">
                <a:ea typeface="宋体" charset="-122"/>
              </a:rPr>
              <a:t>Bond Factors</a:t>
            </a:r>
          </a:p>
          <a:p>
            <a:pPr lvl="1"/>
            <a:r>
              <a:rPr lang="en-GB" altLang="zh-CN" dirty="0">
                <a:ea typeface="宋体" charset="-122"/>
              </a:rPr>
              <a:t>TERM: Difference between monthly long-term govt bond return (Ibbotson) and one-month t-bill rate measured at end of previous month (CRSP) </a:t>
            </a:r>
          </a:p>
          <a:p>
            <a:pPr lvl="1"/>
            <a:r>
              <a:rPr lang="en-GB" altLang="zh-CN" dirty="0">
                <a:ea typeface="宋体" charset="-122"/>
              </a:rPr>
              <a:t>DEF: Difference between return on a portfolio of long-term corporate bonds (Ibbotson) and long-term corporate bond return</a:t>
            </a:r>
          </a:p>
          <a:p>
            <a:pPr lvl="1"/>
            <a:endParaRPr lang="en-GB" altLang="zh-CN" dirty="0">
              <a:ea typeface="宋体" charset="-122"/>
            </a:endParaRPr>
          </a:p>
          <a:p>
            <a:r>
              <a:rPr lang="en-GB" altLang="zh-CN" dirty="0">
                <a:ea typeface="宋体" charset="-122"/>
              </a:rPr>
              <a:t>Stock Factors (elaborated below)</a:t>
            </a:r>
          </a:p>
          <a:p>
            <a:pPr lvl="1"/>
            <a:r>
              <a:rPr lang="en-GB" altLang="zh-CN" dirty="0">
                <a:ea typeface="宋体" charset="-122"/>
              </a:rPr>
              <a:t>SMB</a:t>
            </a:r>
          </a:p>
          <a:p>
            <a:pPr lvl="1"/>
            <a:r>
              <a:rPr lang="en-GB" altLang="zh-CN" dirty="0">
                <a:ea typeface="宋体" charset="-122"/>
              </a:rPr>
              <a:t>HML</a:t>
            </a:r>
          </a:p>
          <a:p>
            <a:pPr lvl="1"/>
            <a:r>
              <a:rPr lang="en-GB" altLang="zh-CN" dirty="0">
                <a:ea typeface="宋体" charset="-122"/>
              </a:rPr>
              <a:t>MKT</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564624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3200" b="1" dirty="0">
                <a:solidFill>
                  <a:schemeClr val="bg1"/>
                </a:solidFill>
                <a:ea typeface="宋体" charset="-122"/>
              </a:rPr>
              <a:t>Factor Mimicking Portfolio Construction</a:t>
            </a:r>
          </a:p>
        </p:txBody>
      </p:sp>
      <p:sp>
        <p:nvSpPr>
          <p:cNvPr id="40963" name="Rectangle 3"/>
          <p:cNvSpPr>
            <a:spLocks noGrp="1" noChangeArrowheads="1"/>
          </p:cNvSpPr>
          <p:nvPr>
            <p:ph type="body" sz="half" idx="1"/>
          </p:nvPr>
        </p:nvSpPr>
        <p:spPr>
          <a:xfrm>
            <a:off x="0" y="764704"/>
            <a:ext cx="9144000" cy="2928958"/>
          </a:xfrm>
        </p:spPr>
        <p:txBody>
          <a:bodyPr/>
          <a:lstStyle/>
          <a:p>
            <a:r>
              <a:rPr lang="en-GB" altLang="zh-CN" sz="2400" dirty="0">
                <a:ea typeface="宋体" charset="-122"/>
              </a:rPr>
              <a:t>June of year t rank NYSE stocks on size</a:t>
            </a:r>
          </a:p>
          <a:p>
            <a:pPr lvl="1"/>
            <a:r>
              <a:rPr lang="en-GB" altLang="zh-CN" sz="2000" dirty="0">
                <a:ea typeface="宋体" charset="-122"/>
              </a:rPr>
              <a:t>All NYSE, AMEX, and Nasdaq stocks allocated to two groups, small firms (S), below the median NYSE breakpoint, and big firms (B) above the median NYSE breakpoint</a:t>
            </a:r>
          </a:p>
          <a:p>
            <a:pPr lvl="1"/>
            <a:r>
              <a:rPr lang="en-GB" altLang="zh-CN" sz="2000" dirty="0">
                <a:ea typeface="宋体" charset="-122"/>
              </a:rPr>
              <a:t>S contains about 80% of the stocks in later years but 8% of market value</a:t>
            </a:r>
          </a:p>
          <a:p>
            <a:pPr lvl="1"/>
            <a:endParaRPr lang="en-GB" altLang="zh-CN" sz="1000" dirty="0">
              <a:ea typeface="宋体" charset="-122"/>
            </a:endParaRPr>
          </a:p>
          <a:p>
            <a:r>
              <a:rPr lang="en-GB" altLang="zh-CN" sz="2400" i="1" dirty="0">
                <a:ea typeface="宋体" charset="-122"/>
              </a:rPr>
              <a:t>Independently</a:t>
            </a:r>
            <a:r>
              <a:rPr lang="en-GB" altLang="zh-CN" sz="2400" dirty="0">
                <a:ea typeface="宋体" charset="-122"/>
              </a:rPr>
              <a:t> create breakpoints for NYSE stock B/M ratio for low (30%), middle (40%), and high (30%) groups, also in June of year t</a:t>
            </a:r>
          </a:p>
          <a:p>
            <a:pPr lvl="1"/>
            <a:r>
              <a:rPr lang="en-GB" altLang="zh-CN" sz="2000" dirty="0">
                <a:ea typeface="宋体" charset="-122"/>
              </a:rPr>
              <a:t>Book equity from fiscal year ending in t-1, ME from Dec. of t-1</a:t>
            </a:r>
          </a:p>
          <a:p>
            <a:pPr lvl="1"/>
            <a:r>
              <a:rPr lang="en-GB" altLang="zh-CN" sz="2000" dirty="0">
                <a:ea typeface="宋体" charset="-122"/>
              </a:rPr>
              <a:t>Omit stocks with negative BE in forming breakpoints</a:t>
            </a:r>
          </a:p>
          <a:p>
            <a:pPr lvl="1"/>
            <a:r>
              <a:rPr lang="en-GB" altLang="zh-CN" sz="2000" dirty="0">
                <a:ea typeface="宋体" charset="-122"/>
              </a:rPr>
              <a:t>Allocate NYSE, AMEX, and NASDAQ stocks according to break points, excluding those with negative BE</a:t>
            </a:r>
          </a:p>
          <a:p>
            <a:endParaRPr lang="en-GB" altLang="zh-CN" sz="1000" dirty="0">
              <a:ea typeface="宋体" charset="-122"/>
            </a:endParaRPr>
          </a:p>
          <a:p>
            <a:r>
              <a:rPr lang="en-GB" altLang="zh-CN" sz="2400" dirty="0">
                <a:ea typeface="宋体" charset="-122"/>
              </a:rPr>
              <a:t>Only firms with ordinary common equity included (exclude ADRs, REITs, and units of beneficial interest)</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1606013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3200" b="1" dirty="0">
                <a:solidFill>
                  <a:schemeClr val="bg1"/>
                </a:solidFill>
                <a:ea typeface="宋体" charset="-122"/>
              </a:rPr>
              <a:t>Factor Mimicking Portfolio Construction</a:t>
            </a:r>
          </a:p>
        </p:txBody>
      </p:sp>
      <p:sp>
        <p:nvSpPr>
          <p:cNvPr id="40963" name="Rectangle 3"/>
          <p:cNvSpPr>
            <a:spLocks noGrp="1" noChangeArrowheads="1"/>
          </p:cNvSpPr>
          <p:nvPr>
            <p:ph type="body" sz="half" idx="1"/>
          </p:nvPr>
        </p:nvSpPr>
        <p:spPr>
          <a:xfrm>
            <a:off x="0" y="785794"/>
            <a:ext cx="9144000" cy="2928958"/>
          </a:xfrm>
        </p:spPr>
        <p:txBody>
          <a:bodyPr/>
          <a:lstStyle/>
          <a:p>
            <a:r>
              <a:rPr lang="en-GB" altLang="zh-CN" dirty="0">
                <a:ea typeface="宋体" charset="-122"/>
              </a:rPr>
              <a:t>Construct six portfolios from intersection of Size and B/M sorts: S/L, S/M, S/H, B/L, B/M, B/H</a:t>
            </a:r>
          </a:p>
          <a:p>
            <a:pPr lvl="1"/>
            <a:r>
              <a:rPr lang="en-GB" altLang="zh-CN" dirty="0">
                <a:ea typeface="宋体" charset="-122"/>
              </a:rPr>
              <a:t>Calculate monthly value weighted returns from July of year t to June of year t+1, reforming portfolios in June of t+1</a:t>
            </a:r>
          </a:p>
          <a:p>
            <a:pPr lvl="1"/>
            <a:endParaRPr lang="en-GB" altLang="zh-CN" dirty="0">
              <a:ea typeface="宋体" charset="-122"/>
            </a:endParaRPr>
          </a:p>
          <a:p>
            <a:r>
              <a:rPr lang="en-GB" altLang="zh-CN" dirty="0">
                <a:ea typeface="宋体" charset="-122"/>
              </a:rPr>
              <a:t>Requirements</a:t>
            </a:r>
          </a:p>
          <a:p>
            <a:pPr lvl="1"/>
            <a:r>
              <a:rPr lang="en-GB" altLang="zh-CN" dirty="0">
                <a:ea typeface="宋体" charset="-122"/>
              </a:rPr>
              <a:t>CRSP stock prices for December of t-1 and June of t</a:t>
            </a:r>
          </a:p>
          <a:p>
            <a:pPr lvl="1"/>
            <a:r>
              <a:rPr lang="en-GB" altLang="zh-CN" dirty="0" err="1">
                <a:ea typeface="宋体" charset="-122"/>
              </a:rPr>
              <a:t>Compustat</a:t>
            </a:r>
            <a:r>
              <a:rPr lang="en-GB" altLang="zh-CN" dirty="0">
                <a:ea typeface="宋体" charset="-122"/>
              </a:rPr>
              <a:t> book common equity for t-1</a:t>
            </a:r>
          </a:p>
          <a:p>
            <a:pPr lvl="1"/>
            <a:r>
              <a:rPr lang="en-GB" altLang="zh-CN" dirty="0">
                <a:ea typeface="宋体" charset="-122"/>
              </a:rPr>
              <a:t>Do not include firms until they have appeared on COMPUSTAT for two years, to address potential survivor bias (backfilling)</a:t>
            </a:r>
          </a:p>
          <a:p>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356335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3200" b="1" dirty="0">
                <a:solidFill>
                  <a:schemeClr val="bg1"/>
                </a:solidFill>
                <a:ea typeface="宋体" charset="-122"/>
              </a:rPr>
              <a:t>Factor Mimicking Portfolio Construction</a:t>
            </a:r>
          </a:p>
        </p:txBody>
      </p:sp>
      <p:sp>
        <p:nvSpPr>
          <p:cNvPr id="40963" name="Rectangle 3"/>
          <p:cNvSpPr>
            <a:spLocks noGrp="1" noChangeArrowheads="1"/>
          </p:cNvSpPr>
          <p:nvPr>
            <p:ph type="body" sz="half" idx="1"/>
          </p:nvPr>
        </p:nvSpPr>
        <p:spPr>
          <a:xfrm>
            <a:off x="0" y="785794"/>
            <a:ext cx="9144000" cy="2928958"/>
          </a:xfrm>
        </p:spPr>
        <p:txBody>
          <a:bodyPr/>
          <a:lstStyle/>
          <a:p>
            <a:r>
              <a:rPr lang="en-GB" altLang="zh-CN" dirty="0">
                <a:ea typeface="宋体" charset="-122"/>
              </a:rPr>
              <a:t>Size (SMB): difference, each month, between simple average of the three small stock portfolios and the simple average of the three large stock portfolios</a:t>
            </a:r>
          </a:p>
          <a:p>
            <a:pPr lvl="1"/>
            <a:endParaRPr lang="en-GB" altLang="zh-CN" dirty="0">
              <a:ea typeface="宋体" charset="-122"/>
            </a:endParaRPr>
          </a:p>
          <a:p>
            <a:r>
              <a:rPr lang="en-GB" altLang="zh-CN" dirty="0">
                <a:ea typeface="宋体" charset="-122"/>
              </a:rPr>
              <a:t>B/M (HML): Difference between simple average of two high book-to-market portfolios and simple average of two low book-to-market portfolios</a:t>
            </a:r>
          </a:p>
          <a:p>
            <a:endParaRPr lang="en-GB" altLang="zh-CN" dirty="0">
              <a:ea typeface="宋体" charset="-122"/>
            </a:endParaRPr>
          </a:p>
          <a:p>
            <a:r>
              <a:rPr lang="en-GB" altLang="zh-CN" dirty="0">
                <a:ea typeface="宋体" charset="-122"/>
              </a:rPr>
              <a:t>MKT: Excess return on value weighted portfolio of stocks in the six size-B/M portfolios, plus the negative BE stocks that were excluded</a:t>
            </a: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335926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(Excess) Returns to be Explained</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Bonds</a:t>
            </a:r>
          </a:p>
          <a:p>
            <a:pPr lvl="1"/>
            <a:r>
              <a:rPr lang="en-GB" altLang="zh-CN" dirty="0">
                <a:ea typeface="宋体" charset="-122"/>
              </a:rPr>
              <a:t>Two government bond portfolios from CRSP: 1-5 years and 6-10 years</a:t>
            </a:r>
          </a:p>
          <a:p>
            <a:pPr lvl="1"/>
            <a:r>
              <a:rPr lang="en-GB" altLang="zh-CN" dirty="0">
                <a:ea typeface="宋体" charset="-122"/>
              </a:rPr>
              <a:t>Five corporate bond portfolios from Ibbotson by Moody’s rating group: </a:t>
            </a:r>
            <a:r>
              <a:rPr lang="en-GB" altLang="zh-CN" dirty="0" err="1">
                <a:ea typeface="宋体" charset="-122"/>
              </a:rPr>
              <a:t>Aaa</a:t>
            </a:r>
            <a:r>
              <a:rPr lang="en-GB" altLang="zh-CN" dirty="0">
                <a:ea typeface="宋体" charset="-122"/>
              </a:rPr>
              <a:t>, </a:t>
            </a:r>
            <a:r>
              <a:rPr lang="en-GB" altLang="zh-CN" dirty="0" err="1">
                <a:ea typeface="宋体" charset="-122"/>
              </a:rPr>
              <a:t>Aa</a:t>
            </a:r>
            <a:r>
              <a:rPr lang="en-GB" altLang="zh-CN" dirty="0">
                <a:ea typeface="宋体" charset="-122"/>
              </a:rPr>
              <a:t>, A, Baa, and LG (below Baa) </a:t>
            </a:r>
          </a:p>
          <a:p>
            <a:pPr lvl="1"/>
            <a:endParaRPr lang="en-GB" altLang="zh-CN" dirty="0">
              <a:ea typeface="宋体" charset="-122"/>
            </a:endParaRPr>
          </a:p>
          <a:p>
            <a:r>
              <a:rPr lang="en-GB" altLang="zh-CN" dirty="0">
                <a:ea typeface="宋体" charset="-122"/>
              </a:rPr>
              <a:t>Stocks</a:t>
            </a:r>
          </a:p>
          <a:p>
            <a:pPr lvl="1"/>
            <a:r>
              <a:rPr lang="en-GB" altLang="zh-CN" dirty="0">
                <a:ea typeface="宋体" charset="-122"/>
              </a:rPr>
              <a:t>25 Size and B/M sorted portfolios, based on </a:t>
            </a:r>
          </a:p>
          <a:p>
            <a:pPr lvl="2"/>
            <a:r>
              <a:rPr lang="en-GB" altLang="zh-CN" dirty="0">
                <a:ea typeface="宋体" charset="-122"/>
              </a:rPr>
              <a:t>NYSE quintile breakpoints for size and B/M</a:t>
            </a:r>
          </a:p>
          <a:p>
            <a:pPr lvl="2"/>
            <a:r>
              <a:rPr lang="en-GB" altLang="zh-CN" dirty="0">
                <a:ea typeface="宋体" charset="-122"/>
              </a:rPr>
              <a:t>Independent sorts</a:t>
            </a:r>
          </a:p>
          <a:p>
            <a:pPr lvl="2"/>
            <a:r>
              <a:rPr lang="en-GB" altLang="zh-CN" dirty="0">
                <a:ea typeface="宋体" charset="-122"/>
              </a:rPr>
              <a:t>Returns are value weighted</a:t>
            </a:r>
          </a:p>
          <a:p>
            <a:pPr lvl="2">
              <a:buNone/>
            </a:pPr>
            <a:endParaRPr lang="en-GB" altLang="zh-CN" dirty="0">
              <a:ea typeface="宋体" charset="-122"/>
            </a:endParaRP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
        <p:nvSpPr>
          <p:cNvPr id="6" name="TextBox 5"/>
          <p:cNvSpPr txBox="1"/>
          <p:nvPr/>
        </p:nvSpPr>
        <p:spPr>
          <a:xfrm>
            <a:off x="2714612" y="6000768"/>
            <a:ext cx="351474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宋体"/>
                <a:cs typeface="+mn-cs"/>
              </a:rPr>
              <a:t>Descriptive Statistics: Table 1</a:t>
            </a:r>
          </a:p>
        </p:txBody>
      </p:sp>
    </p:spTree>
    <p:extLst>
      <p:ext uri="{BB962C8B-B14F-4D97-AF65-F5344CB8AC3E}">
        <p14:creationId xmlns:p14="http://schemas.microsoft.com/office/powerpoint/2010/main" val="37201125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Return Summary Stats (Table II)</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304" t="41953" r="1760" b="1015"/>
          <a:stretch/>
        </p:blipFill>
        <p:spPr bwMode="auto">
          <a:xfrm rot="5400000">
            <a:off x="1501035" y="-129436"/>
            <a:ext cx="5913329" cy="784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204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Correlations (Table II)</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5366" t="156" r="31223" b="58709"/>
          <a:stretch/>
        </p:blipFill>
        <p:spPr bwMode="auto">
          <a:xfrm rot="5400000">
            <a:off x="4135487" y="-168652"/>
            <a:ext cx="2179206" cy="7554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6640" t="91864" r="32100" b="165"/>
          <a:stretch/>
        </p:blipFill>
        <p:spPr bwMode="auto">
          <a:xfrm rot="5400000">
            <a:off x="-251930" y="2791435"/>
            <a:ext cx="2179207" cy="163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7842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Empirical Approach</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Show that the factors capture common variation in stock and bond returns</a:t>
            </a:r>
          </a:p>
          <a:p>
            <a:endParaRPr lang="en-GB" altLang="zh-CN" dirty="0">
              <a:ea typeface="宋体" charset="-122"/>
            </a:endParaRPr>
          </a:p>
          <a:p>
            <a:r>
              <a:rPr lang="en-GB" altLang="zh-CN" dirty="0">
                <a:ea typeface="宋体" charset="-122"/>
              </a:rPr>
              <a:t>Use intercepts from time-series regressions to test whether the common factors explain the cross-section of returns</a:t>
            </a:r>
          </a:p>
          <a:p>
            <a:endParaRPr lang="en-GB" altLang="zh-CN" dirty="0">
              <a:ea typeface="宋体" charset="-122"/>
            </a:endParaRP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7595262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Common Factors in Returns</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First look at bond market factors alone</a:t>
            </a:r>
          </a:p>
          <a:p>
            <a:pPr lvl="1"/>
            <a:r>
              <a:rPr lang="en-GB" altLang="zh-CN" dirty="0">
                <a:ea typeface="宋体" charset="-122"/>
              </a:rPr>
              <a:t>All portfolios (stock and bond) have significant loadings on both TERM and DEF</a:t>
            </a:r>
          </a:p>
          <a:p>
            <a:pPr lvl="1"/>
            <a:r>
              <a:rPr lang="en-GB" altLang="zh-CN" dirty="0">
                <a:ea typeface="宋体" charset="-122"/>
              </a:rPr>
              <a:t>Loadings are actually higher for stocks than bonds, but fraction of returns explained is lower</a:t>
            </a:r>
          </a:p>
          <a:p>
            <a:pPr lvl="1"/>
            <a:r>
              <a:rPr lang="en-GB" altLang="zh-CN" dirty="0">
                <a:ea typeface="宋体" charset="-122"/>
              </a:rPr>
              <a:t>Stock portfolios have term slopes like long-term bonds</a:t>
            </a:r>
          </a:p>
          <a:p>
            <a:pPr lvl="1"/>
            <a:r>
              <a:rPr lang="en-GB" altLang="zh-CN" dirty="0">
                <a:ea typeface="宋体" charset="-122"/>
              </a:rPr>
              <a:t>Stock slopes on DEF are larger than for corporate bonds</a:t>
            </a:r>
          </a:p>
          <a:p>
            <a:pPr lvl="2"/>
            <a:r>
              <a:rPr lang="en-GB" altLang="zh-CN" dirty="0">
                <a:ea typeface="宋体" charset="-122"/>
              </a:rPr>
              <a:t>(Similar patterns for term and def </a:t>
            </a:r>
            <a:r>
              <a:rPr lang="en-GB" altLang="zh-CN" i="1" dirty="0">
                <a:ea typeface="宋体" charset="-122"/>
              </a:rPr>
              <a:t>spreads</a:t>
            </a:r>
            <a:r>
              <a:rPr lang="en-GB" altLang="zh-CN" dirty="0">
                <a:ea typeface="宋体" charset="-122"/>
              </a:rPr>
              <a:t> in ex ante regressions of prior research)</a:t>
            </a:r>
          </a:p>
          <a:p>
            <a:pPr lvl="1"/>
            <a:r>
              <a:rPr lang="en-GB" altLang="zh-CN" dirty="0">
                <a:ea typeface="宋体" charset="-122"/>
              </a:rPr>
              <a:t>Table 3</a:t>
            </a: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2386550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Stock Factors</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The market factor alone captures a large percentage of variation in stock returns, ranging from 0.6 to 0.9</a:t>
            </a:r>
          </a:p>
          <a:p>
            <a:pPr lvl="1"/>
            <a:r>
              <a:rPr lang="en-GB" altLang="zh-CN" dirty="0">
                <a:ea typeface="宋体" charset="-122"/>
              </a:rPr>
              <a:t>Market betas are lower for bonds, but still nonzero</a:t>
            </a:r>
          </a:p>
          <a:p>
            <a:pPr lvl="1"/>
            <a:r>
              <a:rPr lang="en-GB" altLang="zh-CN" dirty="0">
                <a:ea typeface="宋体" charset="-122"/>
              </a:rPr>
              <a:t>Table 4</a:t>
            </a: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3767619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152400"/>
            <a:ext cx="8229600" cy="333820"/>
          </a:xfrm>
        </p:spPr>
        <p:txBody>
          <a:bodyPr/>
          <a:lstStyle/>
          <a:p>
            <a:r>
              <a:rPr lang="en-GB" altLang="zh-CN" sz="4000" b="1" dirty="0">
                <a:solidFill>
                  <a:schemeClr val="bg1"/>
                </a:solidFill>
                <a:ea typeface="宋体" charset="-122"/>
              </a:rPr>
              <a:t>Stock Factors (</a:t>
            </a:r>
            <a:r>
              <a:rPr lang="en-GB" altLang="zh-CN" sz="4000" b="1" dirty="0" err="1">
                <a:solidFill>
                  <a:schemeClr val="bg1"/>
                </a:solidFill>
                <a:ea typeface="宋体" charset="-122"/>
              </a:rPr>
              <a:t>mkt</a:t>
            </a:r>
            <a:r>
              <a:rPr lang="en-GB" altLang="zh-CN" sz="4000" b="1" dirty="0">
                <a:solidFill>
                  <a:schemeClr val="bg1"/>
                </a:solidFill>
                <a:ea typeface="宋体" charset="-122"/>
              </a:rPr>
              <a:t>)</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470" b="25111"/>
          <a:stretch/>
        </p:blipFill>
        <p:spPr bwMode="auto">
          <a:xfrm>
            <a:off x="457200" y="990600"/>
            <a:ext cx="8157156"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918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44624"/>
            <a:ext cx="8229600" cy="333820"/>
          </a:xfrm>
        </p:spPr>
        <p:txBody>
          <a:bodyPr/>
          <a:lstStyle/>
          <a:p>
            <a:r>
              <a:rPr lang="en-GB" altLang="zh-CN" sz="4000" b="1" dirty="0">
                <a:solidFill>
                  <a:schemeClr val="bg1"/>
                </a:solidFill>
                <a:ea typeface="宋体" charset="-122"/>
              </a:rPr>
              <a:t>Stock Factors (</a:t>
            </a:r>
            <a:r>
              <a:rPr lang="en-GB" altLang="zh-CN" sz="4000" b="1" dirty="0" err="1">
                <a:solidFill>
                  <a:schemeClr val="bg1"/>
                </a:solidFill>
                <a:ea typeface="宋体" charset="-122"/>
              </a:rPr>
              <a:t>mkt</a:t>
            </a:r>
            <a:r>
              <a:rPr lang="en-GB" altLang="zh-CN" sz="4000" b="1" dirty="0">
                <a:solidFill>
                  <a:schemeClr val="bg1"/>
                </a:solidFill>
                <a:ea typeface="宋体" charset="-122"/>
              </a:rPr>
              <a:t>)</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4909" b="506"/>
          <a:stretch/>
        </p:blipFill>
        <p:spPr bwMode="auto">
          <a:xfrm>
            <a:off x="304800" y="2362200"/>
            <a:ext cx="8598602"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24716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Stock Factors (all)</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When MKT, SMB, and HML are together (Table 6)</a:t>
            </a:r>
          </a:p>
          <a:p>
            <a:pPr lvl="1"/>
            <a:r>
              <a:rPr lang="en-GB" altLang="zh-CN" dirty="0">
                <a:ea typeface="宋体" charset="-122"/>
              </a:rPr>
              <a:t>R2 increase</a:t>
            </a:r>
          </a:p>
          <a:p>
            <a:pPr lvl="1"/>
            <a:r>
              <a:rPr lang="en-GB" altLang="zh-CN" dirty="0">
                <a:ea typeface="宋体" charset="-122"/>
              </a:rPr>
              <a:t>Betas of stock portfolios collapse to one: MKT and SMB explain all of the cross-sectional variation within the stock portfolios</a:t>
            </a:r>
          </a:p>
          <a:p>
            <a:pPr marL="457200" lvl="1" indent="0">
              <a:buNone/>
            </a:pPr>
            <a:endParaRPr lang="en-GB" altLang="zh-CN" dirty="0">
              <a:ea typeface="宋体" charset="-122"/>
            </a:endParaRPr>
          </a:p>
          <a:p>
            <a:endParaRPr lang="en-GB" altLang="zh-CN" dirty="0">
              <a:ea typeface="宋体" charset="-122"/>
            </a:endParaRP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793411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4000" b="1" dirty="0">
                <a:solidFill>
                  <a:schemeClr val="bg1"/>
                </a:solidFill>
                <a:ea typeface="宋体" charset="-122"/>
              </a:rPr>
              <a:t>Stock Factors</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926" t="24815" r="-38" b="559"/>
          <a:stretch/>
        </p:blipFill>
        <p:spPr bwMode="auto">
          <a:xfrm rot="5400000">
            <a:off x="1385501" y="-242502"/>
            <a:ext cx="5839597" cy="815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9737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3200" b="1" dirty="0">
                <a:solidFill>
                  <a:schemeClr val="bg1"/>
                </a:solidFill>
                <a:ea typeface="宋体" charset="-122"/>
              </a:rPr>
              <a:t>Stock and Bond Factors Together</a:t>
            </a:r>
          </a:p>
        </p:txBody>
      </p:sp>
      <p:sp>
        <p:nvSpPr>
          <p:cNvPr id="40963" name="Rectangle 3"/>
          <p:cNvSpPr>
            <a:spLocks noGrp="1" noChangeArrowheads="1"/>
          </p:cNvSpPr>
          <p:nvPr>
            <p:ph type="body" sz="half" idx="1"/>
          </p:nvPr>
        </p:nvSpPr>
        <p:spPr>
          <a:xfrm>
            <a:off x="357158" y="1071546"/>
            <a:ext cx="8786842" cy="2928958"/>
          </a:xfrm>
        </p:spPr>
        <p:txBody>
          <a:bodyPr/>
          <a:lstStyle/>
          <a:p>
            <a:r>
              <a:rPr lang="en-GB" altLang="zh-CN" dirty="0">
                <a:ea typeface="宋体" charset="-122"/>
              </a:rPr>
              <a:t>Using all five factors together</a:t>
            </a:r>
          </a:p>
          <a:p>
            <a:pPr lvl="1"/>
            <a:r>
              <a:rPr lang="en-GB" altLang="zh-CN" dirty="0">
                <a:ea typeface="宋体" charset="-122"/>
              </a:rPr>
              <a:t>Bond returns load on bond factors (Table 7)</a:t>
            </a:r>
          </a:p>
          <a:p>
            <a:pPr lvl="1"/>
            <a:r>
              <a:rPr lang="en-GB" altLang="zh-CN" dirty="0">
                <a:ea typeface="宋体" charset="-122"/>
              </a:rPr>
              <a:t>Stock returns load on stock factors (Table 7)</a:t>
            </a:r>
          </a:p>
          <a:p>
            <a:pPr lvl="1"/>
            <a:endParaRPr lang="en-GB" altLang="zh-CN" dirty="0">
              <a:ea typeface="宋体" charset="-122"/>
            </a:endParaRPr>
          </a:p>
          <a:p>
            <a:pPr marL="457200" lvl="1" indent="0">
              <a:buNone/>
            </a:pPr>
            <a:endParaRPr lang="en-GB" altLang="zh-CN" dirty="0">
              <a:ea typeface="宋体" charset="-122"/>
            </a:endParaRPr>
          </a:p>
          <a:p>
            <a:endParaRPr lang="en-GB" altLang="zh-CN" dirty="0">
              <a:ea typeface="宋体" charset="-122"/>
            </a:endParaRPr>
          </a:p>
          <a:p>
            <a:pPr>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471254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8596" y="142852"/>
            <a:ext cx="8229600" cy="511156"/>
          </a:xfrm>
        </p:spPr>
        <p:txBody>
          <a:bodyPr/>
          <a:lstStyle/>
          <a:p>
            <a:r>
              <a:rPr lang="en-GB" altLang="zh-CN" sz="2800" b="1" dirty="0">
                <a:solidFill>
                  <a:schemeClr val="bg1"/>
                </a:solidFill>
                <a:ea typeface="宋体" charset="-122"/>
              </a:rPr>
              <a:t>Summary of FF Empirical Methods</a:t>
            </a:r>
          </a:p>
        </p:txBody>
      </p:sp>
      <p:sp>
        <p:nvSpPr>
          <p:cNvPr id="40963" name="Rectangle 3"/>
          <p:cNvSpPr>
            <a:spLocks noGrp="1" noChangeArrowheads="1"/>
          </p:cNvSpPr>
          <p:nvPr>
            <p:ph type="body" sz="half" idx="1"/>
          </p:nvPr>
        </p:nvSpPr>
        <p:spPr>
          <a:xfrm>
            <a:off x="357158" y="838200"/>
            <a:ext cx="8786842" cy="2928958"/>
          </a:xfrm>
        </p:spPr>
        <p:txBody>
          <a:bodyPr/>
          <a:lstStyle/>
          <a:p>
            <a:pPr marL="514350" indent="-514350">
              <a:buAutoNum type="arabicParenR"/>
            </a:pPr>
            <a:r>
              <a:rPr lang="en-GB" altLang="zh-CN" dirty="0">
                <a:ea typeface="宋体" charset="-122"/>
              </a:rPr>
              <a:t>Sorts and double sorts to produce portfolios – on any variable of interest, simple method to show differences in returns or other characteristics</a:t>
            </a:r>
          </a:p>
          <a:p>
            <a:pPr marL="514350" indent="-514350">
              <a:buAutoNum type="arabicParenR"/>
            </a:pPr>
            <a:endParaRPr lang="en-GB" altLang="zh-CN" sz="1000" dirty="0">
              <a:ea typeface="宋体" charset="-122"/>
            </a:endParaRPr>
          </a:p>
          <a:p>
            <a:pPr marL="514350" indent="-514350">
              <a:buAutoNum type="arabicParenR"/>
            </a:pPr>
            <a:r>
              <a:rPr lang="en-GB" altLang="zh-CN" dirty="0">
                <a:ea typeface="宋体" charset="-122"/>
              </a:rPr>
              <a:t>Characteristics (FF92) vs. factor loadings (FF93) – what is the differences between B/M as a firm characteristic, and the B/M factor loading; or size, or any other variable?</a:t>
            </a:r>
          </a:p>
          <a:p>
            <a:pPr marL="514350" indent="-514350">
              <a:buAutoNum type="arabicParenR"/>
            </a:pPr>
            <a:endParaRPr lang="en-GB" altLang="zh-CN" sz="1000" dirty="0">
              <a:ea typeface="宋体" charset="-122"/>
            </a:endParaRPr>
          </a:p>
          <a:p>
            <a:pPr marL="514350" indent="-514350">
              <a:buAutoNum type="arabicParenR"/>
            </a:pPr>
            <a:r>
              <a:rPr lang="en-GB" altLang="zh-CN" dirty="0" err="1">
                <a:ea typeface="宋体" charset="-122"/>
              </a:rPr>
              <a:t>Fama-MacBeth</a:t>
            </a:r>
            <a:r>
              <a:rPr lang="en-GB" altLang="zh-CN" dirty="0">
                <a:ea typeface="宋体" charset="-122"/>
              </a:rPr>
              <a:t> regressions: </a:t>
            </a:r>
            <a:r>
              <a:rPr lang="en-GB" altLang="zh-CN">
                <a:ea typeface="宋体" charset="-122"/>
              </a:rPr>
              <a:t>cross-sectional regressions </a:t>
            </a:r>
            <a:r>
              <a:rPr lang="en-GB" altLang="zh-CN" dirty="0">
                <a:ea typeface="宋体" charset="-122"/>
              </a:rPr>
              <a:t>of returns on characteristics, average of coefficients</a:t>
            </a:r>
          </a:p>
          <a:p>
            <a:pPr marL="514350" indent="-514350">
              <a:buAutoNum type="arabicParenR"/>
            </a:pPr>
            <a:r>
              <a:rPr lang="en-GB" altLang="zh-CN" dirty="0">
                <a:ea typeface="宋体" charset="-122"/>
              </a:rPr>
              <a:t>Time-series regressions: to get alphas</a:t>
            </a:r>
          </a:p>
          <a:p>
            <a:endParaRPr lang="en-GB" altLang="zh-CN" dirty="0">
              <a:ea typeface="宋体" charset="-122"/>
            </a:endParaRPr>
          </a:p>
          <a:p>
            <a:pPr marL="0" indent="0">
              <a:buNone/>
            </a:pPr>
            <a:endParaRPr lang="en-GB" altLang="zh-CN" dirty="0">
              <a:ea typeface="宋体" charset="-122"/>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0AB7E90-6BD7-49F3-BEE4-D0356AA0536A}" type="slidenum">
              <a:rPr kumimoji="0" lang="en-US" altLang="zh-CN" sz="1400" b="0" i="0" u="none" strike="noStrike" kern="1200" cap="none" spc="0" normalizeH="0" baseline="0" noProof="0" smtClean="0">
                <a:ln>
                  <a:noFill/>
                </a:ln>
                <a:solidFill>
                  <a:srgbClr val="000000"/>
                </a:solidFill>
                <a:effectLst/>
                <a:uLnTx/>
                <a:uFillTx/>
                <a:latin typeface="Times New Roman" pitchFamily="18" charset="0"/>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a:cs typeface="+mn-cs"/>
            </a:endParaRPr>
          </a:p>
        </p:txBody>
      </p:sp>
    </p:spTree>
    <p:extLst>
      <p:ext uri="{BB962C8B-B14F-4D97-AF65-F5344CB8AC3E}">
        <p14:creationId xmlns:p14="http://schemas.microsoft.com/office/powerpoint/2010/main" val="27370998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914400" y="301625"/>
            <a:ext cx="7769225" cy="765175"/>
          </a:xfrm>
        </p:spPr>
        <p:txBody>
          <a:bodyPr/>
          <a:lstStyle/>
          <a:p>
            <a:pPr eaLnBrk="1" hangingPunct="1"/>
            <a:r>
              <a:rPr lang="en-US" sz="3000" b="1" dirty="0">
                <a:latin typeface="Times New Roman" pitchFamily="18" charset="0"/>
              </a:rPr>
              <a:t>Other Empirical Factors</a:t>
            </a:r>
          </a:p>
        </p:txBody>
      </p:sp>
      <p:sp>
        <p:nvSpPr>
          <p:cNvPr id="60420" name="Rectangle 3"/>
          <p:cNvSpPr>
            <a:spLocks noGrp="1" noChangeArrowheads="1"/>
          </p:cNvSpPr>
          <p:nvPr>
            <p:ph type="body" idx="1"/>
          </p:nvPr>
        </p:nvSpPr>
        <p:spPr>
          <a:xfrm>
            <a:off x="838200" y="1676400"/>
            <a:ext cx="8001000" cy="3657600"/>
          </a:xfrm>
        </p:spPr>
        <p:txBody>
          <a:bodyPr/>
          <a:lstStyle/>
          <a:p>
            <a:pPr lvl="1" eaLnBrk="1" hangingPunct="1">
              <a:buClrTx/>
              <a:buSzPct val="100000"/>
              <a:buFont typeface="Arial" panose="020B0604020202020204" pitchFamily="34" charset="0"/>
              <a:buChar char="•"/>
            </a:pPr>
            <a:endParaRPr lang="en-US" sz="2400" dirty="0">
              <a:latin typeface="Times New Roman" pitchFamily="18" charset="0"/>
            </a:endParaRPr>
          </a:p>
          <a:p>
            <a:pPr lvl="1" eaLnBrk="1" hangingPunct="1">
              <a:buClrTx/>
              <a:buSzPct val="100000"/>
              <a:buFont typeface="Arial" panose="020B0604020202020204" pitchFamily="34" charset="0"/>
              <a:buChar char="•"/>
            </a:pPr>
            <a:r>
              <a:rPr lang="en-US" sz="2400" dirty="0">
                <a:latin typeface="Times New Roman" pitchFamily="18" charset="0"/>
              </a:rPr>
              <a:t>Momentum, beta, </a:t>
            </a:r>
            <a:r>
              <a:rPr lang="en-US" sz="2400" dirty="0" err="1">
                <a:latin typeface="Times New Roman" pitchFamily="18" charset="0"/>
              </a:rPr>
              <a:t>vol</a:t>
            </a:r>
            <a:r>
              <a:rPr lang="en-US" sz="2400" dirty="0">
                <a:latin typeface="Times New Roman" pitchFamily="18" charset="0"/>
              </a:rPr>
              <a:t>, profitability, investment, etc.</a:t>
            </a:r>
          </a:p>
          <a:p>
            <a:pPr lvl="1" eaLnBrk="1" hangingPunct="1">
              <a:buClrTx/>
              <a:buSzPct val="100000"/>
              <a:buFont typeface="Arial" panose="020B0604020202020204" pitchFamily="34" charset="0"/>
              <a:buChar char="•"/>
            </a:pPr>
            <a:endParaRPr lang="en-US" sz="2400" dirty="0">
              <a:latin typeface="Times New Roman" pitchFamily="18" charset="0"/>
            </a:endParaRPr>
          </a:p>
          <a:p>
            <a:pPr lvl="1" eaLnBrk="1" hangingPunct="1">
              <a:buClrTx/>
              <a:buSzPct val="100000"/>
              <a:buFont typeface="Arial" panose="020B0604020202020204" pitchFamily="34" charset="0"/>
              <a:buChar char="•"/>
            </a:pPr>
            <a:r>
              <a:rPr lang="en-US" sz="2400" dirty="0">
                <a:latin typeface="Times New Roman" pitchFamily="18" charset="0"/>
              </a:rPr>
              <a:t>Resources: </a:t>
            </a:r>
            <a:r>
              <a:rPr lang="en-US" sz="2400" dirty="0">
                <a:latin typeface="Times New Roman" pitchFamily="18" charset="0"/>
                <a:hlinkClick r:id="rId3"/>
              </a:rPr>
              <a:t>Ken French’s website</a:t>
            </a:r>
            <a:endParaRPr lang="en-US" sz="2400" dirty="0">
              <a:latin typeface="Times New Roman" pitchFamily="18" charset="0"/>
            </a:endParaRPr>
          </a:p>
          <a:p>
            <a:pPr marL="457200" lvl="1" indent="0" eaLnBrk="1" hangingPunct="1">
              <a:buClrTx/>
              <a:buSzPct val="100000"/>
              <a:buNone/>
            </a:pPr>
            <a:endParaRPr lang="en-US" sz="2400" dirty="0">
              <a:latin typeface="Times New Roman" pitchFamily="18" charset="0"/>
            </a:endParaRPr>
          </a:p>
        </p:txBody>
      </p:sp>
    </p:spTree>
    <p:extLst>
      <p:ext uri="{BB962C8B-B14F-4D97-AF65-F5344CB8AC3E}">
        <p14:creationId xmlns:p14="http://schemas.microsoft.com/office/powerpoint/2010/main" val="3576546669"/>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90000"/>
          </a:lnSpc>
          <a:spcBef>
            <a:spcPct val="20000"/>
          </a:spcBef>
          <a:spcAft>
            <a:spcPct val="0"/>
          </a:spcAft>
          <a:buClrTx/>
          <a:buSzTx/>
          <a:buFontTx/>
          <a:buChar char="•"/>
          <a:tabLst/>
          <a:defRPr kumimoji="0" lang="zh-CN" altLang="en-US" sz="20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90000"/>
          </a:lnSpc>
          <a:spcBef>
            <a:spcPct val="20000"/>
          </a:spcBef>
          <a:spcAft>
            <a:spcPct val="0"/>
          </a:spcAft>
          <a:buClrTx/>
          <a:buSzTx/>
          <a:buFontTx/>
          <a:buChar char="•"/>
          <a:tabLst/>
          <a:defRPr kumimoji="0" lang="zh-CN" altLang="en-US" sz="20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2995</TotalTime>
  <Words>3105</Words>
  <Application>Microsoft Office PowerPoint</Application>
  <PresentationFormat>On-screen Show (4:3)</PresentationFormat>
  <Paragraphs>333</Paragraphs>
  <Slides>50</Slides>
  <Notes>12</Notes>
  <HiddenSlides>0</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2</vt:i4>
      </vt:variant>
      <vt:variant>
        <vt:lpstr>Slide Titles</vt:lpstr>
      </vt:variant>
      <vt:variant>
        <vt:i4>50</vt:i4>
      </vt:variant>
    </vt:vector>
  </HeadingPairs>
  <TitlesOfParts>
    <vt:vector size="64" baseType="lpstr">
      <vt:lpstr>宋体</vt:lpstr>
      <vt:lpstr>Arial</vt:lpstr>
      <vt:lpstr>Calibri</vt:lpstr>
      <vt:lpstr>Cambria Math</vt:lpstr>
      <vt:lpstr>Times New Roman</vt:lpstr>
      <vt:lpstr>Verdana</vt:lpstr>
      <vt:lpstr>Wingdings</vt:lpstr>
      <vt:lpstr>Custom Design</vt:lpstr>
      <vt:lpstr>Eclipse</vt:lpstr>
      <vt:lpstr>Office Theme</vt:lpstr>
      <vt:lpstr>默认设计模板</vt:lpstr>
      <vt:lpstr>1_Eclipse</vt:lpstr>
      <vt:lpstr>Chart</vt:lpstr>
      <vt:lpstr>Equation</vt:lpstr>
      <vt:lpstr>CAPM, Factor Models, and Cross-sectional Trading Strategies</vt:lpstr>
      <vt:lpstr>Alternative to MPT: Factor Investing</vt:lpstr>
      <vt:lpstr>Capital Asset Pricing Model (CAPM)</vt:lpstr>
      <vt:lpstr>Efficient Frontier with Riskless Asset</vt:lpstr>
      <vt:lpstr>Capital Asset Pricing Model (CAPM)</vt:lpstr>
      <vt:lpstr>Why the CAPM May or May Not Work</vt:lpstr>
      <vt:lpstr>Testing the CAPM with the “Market Model” Regression and “Performance Evaluation”</vt:lpstr>
      <vt:lpstr>CAPM: Basic Empirical Evidence</vt:lpstr>
      <vt:lpstr>More General Factor Models: Arbitrage Pricing Theory</vt:lpstr>
      <vt:lpstr>Empirical Implementation of Factor Models</vt:lpstr>
      <vt:lpstr>Comments</vt:lpstr>
      <vt:lpstr> Development of Factor Models</vt:lpstr>
      <vt:lpstr>Step 1: FF92</vt:lpstr>
      <vt:lpstr>Background </vt:lpstr>
      <vt:lpstr>Motivation of FF92</vt:lpstr>
      <vt:lpstr>Data</vt:lpstr>
      <vt:lpstr>Data</vt:lpstr>
      <vt:lpstr>Data</vt:lpstr>
      <vt:lpstr>Empirical Approach</vt:lpstr>
      <vt:lpstr>Measurement issues</vt:lpstr>
      <vt:lpstr>The FF92 Beta estimate</vt:lpstr>
      <vt:lpstr>Post-ranking Beta</vt:lpstr>
      <vt:lpstr>Portfolio Returns</vt:lpstr>
      <vt:lpstr>Post-ranking Beta</vt:lpstr>
      <vt:lpstr>Post-ranking Beta Estimates</vt:lpstr>
      <vt:lpstr>Estimated Firm Beta</vt:lpstr>
      <vt:lpstr>Univariate Sorts: size</vt:lpstr>
      <vt:lpstr>Univariate Sorts: beta</vt:lpstr>
      <vt:lpstr>Double-Sorted Returns</vt:lpstr>
      <vt:lpstr>FM Regressions (Table III)</vt:lpstr>
      <vt:lpstr>Model for Average Returns</vt:lpstr>
      <vt:lpstr>FF93</vt:lpstr>
      <vt:lpstr>Findings </vt:lpstr>
      <vt:lpstr>Explanatory Variables</vt:lpstr>
      <vt:lpstr>Factor Mimicking Portfolio Construction</vt:lpstr>
      <vt:lpstr>Factor Mimicking Portfolio Construction</vt:lpstr>
      <vt:lpstr>Factor Mimicking Portfolio Construction</vt:lpstr>
      <vt:lpstr>(Excess) Returns to be Explained</vt:lpstr>
      <vt:lpstr>Return Summary Stats (Table II)</vt:lpstr>
      <vt:lpstr>Correlations (Table II)</vt:lpstr>
      <vt:lpstr>Empirical Approach</vt:lpstr>
      <vt:lpstr>Common Factors in Returns</vt:lpstr>
      <vt:lpstr>Stock Factors</vt:lpstr>
      <vt:lpstr>Stock Factors (mkt)</vt:lpstr>
      <vt:lpstr>Stock Factors (mkt)</vt:lpstr>
      <vt:lpstr>Stock Factors (all)</vt:lpstr>
      <vt:lpstr>Stock Factors</vt:lpstr>
      <vt:lpstr>Stock and Bond Factors Together</vt:lpstr>
      <vt:lpstr>Summary of FF Empirical Methods</vt:lpstr>
      <vt:lpstr>Other Empirical Factors</vt:lpstr>
    </vt:vector>
  </TitlesOfParts>
  <Company>Commerce 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Adlai Fisher</dc:creator>
  <cp:lastModifiedBy>%</cp:lastModifiedBy>
  <cp:revision>183</cp:revision>
  <dcterms:created xsi:type="dcterms:W3CDTF">2003-01-06T15:33:27Z</dcterms:created>
  <dcterms:modified xsi:type="dcterms:W3CDTF">2023-03-30T14:42:07Z</dcterms:modified>
</cp:coreProperties>
</file>