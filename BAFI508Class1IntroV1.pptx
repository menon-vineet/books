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321" r:id="rId3"/>
    <p:sldId id="339" r:id="rId4"/>
    <p:sldId id="340" r:id="rId5"/>
    <p:sldId id="341" r:id="rId6"/>
    <p:sldId id="342" r:id="rId7"/>
    <p:sldId id="343" r:id="rId8"/>
    <p:sldId id="344" r:id="rId9"/>
    <p:sldId id="345" r:id="rId10"/>
    <p:sldId id="346" r:id="rId11"/>
    <p:sldId id="347" r:id="rId12"/>
    <p:sldId id="322" r:id="rId13"/>
    <p:sldId id="325" r:id="rId14"/>
    <p:sldId id="335" r:id="rId15"/>
    <p:sldId id="338" r:id="rId16"/>
    <p:sldId id="336" r:id="rId17"/>
    <p:sldId id="348" r:id="rId18"/>
    <p:sldId id="349" r:id="rId19"/>
    <p:sldId id="350" r:id="rId20"/>
    <p:sldId id="351" r:id="rId21"/>
    <p:sldId id="327" r:id="rId22"/>
    <p:sldId id="352" r:id="rId23"/>
    <p:sldId id="330" r:id="rId24"/>
    <p:sldId id="353" r:id="rId25"/>
    <p:sldId id="505" r:id="rId26"/>
    <p:sldId id="495" r:id="rId27"/>
    <p:sldId id="498" r:id="rId28"/>
    <p:sldId id="497" r:id="rId29"/>
    <p:sldId id="496" r:id="rId30"/>
    <p:sldId id="499" r:id="rId31"/>
    <p:sldId id="500" r:id="rId32"/>
    <p:sldId id="501" r:id="rId33"/>
    <p:sldId id="502" r:id="rId34"/>
    <p:sldId id="503" r:id="rId35"/>
    <p:sldId id="504"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66" autoAdjust="0"/>
    <p:restoredTop sz="94660"/>
  </p:normalViewPr>
  <p:slideViewPr>
    <p:cSldViewPr>
      <p:cViewPr varScale="1">
        <p:scale>
          <a:sx n="65" d="100"/>
          <a:sy n="65" d="100"/>
        </p:scale>
        <p:origin x="1628" y="1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0AD582-E8F7-4D0A-B52B-1CA0E8E4BB83}" type="datetimeFigureOut">
              <a:rPr lang="en-US" smtClean="0"/>
              <a:t>2/24/2025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A58997-1D5C-4C11-A8D6-A68F3A6F6706}" type="slidenum">
              <a:rPr lang="en-US" smtClean="0"/>
              <a:t>‹#›</a:t>
            </a:fld>
            <a:endParaRPr lang="en-US"/>
          </a:p>
        </p:txBody>
      </p:sp>
    </p:spTree>
    <p:extLst>
      <p:ext uri="{BB962C8B-B14F-4D97-AF65-F5344CB8AC3E}">
        <p14:creationId xmlns:p14="http://schemas.microsoft.com/office/powerpoint/2010/main" val="1757527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941123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2547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5D7A2D-9085-4351-8FC5-83A3A719D7B0}"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916016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2296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6057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603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7387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52B0A6-A688-491F-AAFE-C3E0FFDA2316}"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1687087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52B0A6-A688-491F-AAFE-C3E0FFDA2316}"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3087979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52B0A6-A688-491F-AAFE-C3E0FFDA2316}"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4055022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52B0A6-A688-491F-AAFE-C3E0FFDA2316}"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1308411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52B0A6-A688-491F-AAFE-C3E0FFDA2316}" type="datetimeFigureOut">
              <a:rPr lang="en-US" smtClean="0"/>
              <a:pPr/>
              <a:t>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2072230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52B0A6-A688-491F-AAFE-C3E0FFDA2316}" type="datetimeFigureOut">
              <a:rPr lang="en-US" smtClean="0"/>
              <a:pPr/>
              <a:t>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3043156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52B0A6-A688-491F-AAFE-C3E0FFDA2316}"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3377299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52B0A6-A688-491F-AAFE-C3E0FFDA2316}"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4254397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52B0A6-A688-491F-AAFE-C3E0FFDA2316}"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3226679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52B0A6-A688-491F-AAFE-C3E0FFDA2316}"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229143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52B0A6-A688-491F-AAFE-C3E0FFDA2316}"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318D12-8758-4994-8356-D41168B68DA2}" type="slidenum">
              <a:rPr lang="en-US" smtClean="0"/>
              <a:pPr/>
              <a:t>‹#›</a:t>
            </a:fld>
            <a:endParaRPr lang="en-US"/>
          </a:p>
        </p:txBody>
      </p:sp>
    </p:spTree>
    <p:extLst>
      <p:ext uri="{BB962C8B-B14F-4D97-AF65-F5344CB8AC3E}">
        <p14:creationId xmlns:p14="http://schemas.microsoft.com/office/powerpoint/2010/main" val="4265450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52B0A6-A688-491F-AAFE-C3E0FFDA2316}" type="datetimeFigureOut">
              <a:rPr lang="en-US" smtClean="0"/>
              <a:pPr/>
              <a:t>2/24/2025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318D12-8758-4994-8356-D41168B68DA2}" type="slidenum">
              <a:rPr lang="en-US" smtClean="0"/>
              <a:pPr/>
              <a:t>‹#›</a:t>
            </a:fld>
            <a:endParaRPr lang="en-US"/>
          </a:p>
        </p:txBody>
      </p:sp>
    </p:spTree>
    <p:extLst>
      <p:ext uri="{BB962C8B-B14F-4D97-AF65-F5344CB8AC3E}">
        <p14:creationId xmlns:p14="http://schemas.microsoft.com/office/powerpoint/2010/main" val="896993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png"/><Relationship Id="rId4" Type="http://schemas.openxmlformats.org/officeDocument/2006/relationships/image" Target="../media/image3.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fred.stlouisfed.org/" TargetMode="External"/><Relationship Id="rId2" Type="http://schemas.openxmlformats.org/officeDocument/2006/relationships/hyperlink" Target="https://wrds-web.wharton.upenn.edu/wrds/" TargetMode="External"/><Relationship Id="rId1" Type="http://schemas.openxmlformats.org/officeDocument/2006/relationships/slideLayout" Target="../slideLayouts/slideLayout2.xml"/><Relationship Id="rId4" Type="http://schemas.openxmlformats.org/officeDocument/2006/relationships/hyperlink" Target="http://mba.tuck.dartmouth.edu/pages/faculty/ken.french/data_library.html"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esternfinance.org/conference-2021/" TargetMode="External"/><Relationship Id="rId2" Type="http://schemas.openxmlformats.org/officeDocument/2006/relationships/hyperlink" Target="http://finance.yahoo.com/" TargetMode="External"/><Relationship Id="rId1" Type="http://schemas.openxmlformats.org/officeDocument/2006/relationships/slideLayout" Target="../slideLayouts/slideLayout2.xml"/><Relationship Id="rId4" Type="http://schemas.openxmlformats.org/officeDocument/2006/relationships/hyperlink" Target="https://editorialexpress.com/conference/AFA2021/program/AFA2021.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hyperlink" Target="https://finance.yahoo.com/news/payment-for-order-flow-thomas-peterffy-171129702.html?guccounter=1&amp;guce_referrer=aHR0cHM6Ly93d3cuYmluZy5jb20v&amp;guce_referrer_sig=AQAAAFEpH0ocuCbfEymfWi3bXLrEl1A9S7KEEV6ROp2sNCNSJtO5K_EX9PrCAOXl0OWhULEKpnRSnJpf2cCL6KyPbdPxjddzXxhWz0vyvARz-HL1vJ0Krh0uaa-t8vCZ7WfRki7CA8ZFZbQSyQthPytDNmuOAaoErEPyCJSnESco56Q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29.xml.rels><?xml version="1.0" encoding="UTF-8" standalone="yes"?>
<Relationships xmlns="http://schemas.openxmlformats.org/package/2006/relationships"><Relationship Id="rId3" Type="http://schemas.openxmlformats.org/officeDocument/2006/relationships/hyperlink" Target="https://citywire.com/wealth-manager/news/ark-invest-s-wood-asset-management-analysts-are-doing-it-wrong-on-thematics/a1407866" TargetMode="External"/><Relationship Id="rId7"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hyperlink" Target="https://www.theglobeandmail.com/investing/investment-ideas/article-arks-cathie-wood-turns-focus-to-deflation-stay-connected-stocks/" TargetMode="External"/><Relationship Id="rId4" Type="http://schemas.openxmlformats.org/officeDocument/2006/relationships/hyperlink" Target="https://citywire.com/investment-trust-insider/news/ark-s-cathie-wood-locks-horns-over-tesla-with-value-manager/a1559262"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westfacecapital.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81000"/>
            <a:ext cx="7772400" cy="3733800"/>
          </a:xfrm>
        </p:spPr>
        <p:txBody>
          <a:bodyPr>
            <a:normAutofit/>
          </a:bodyPr>
          <a:lstStyle/>
          <a:p>
            <a:r>
              <a:rPr lang="en-US" sz="3200" dirty="0"/>
              <a:t>BAFI 508</a:t>
            </a:r>
            <a:br>
              <a:rPr lang="en-US" sz="3200" dirty="0"/>
            </a:br>
            <a:r>
              <a:rPr lang="en-US" sz="3200" i="1" dirty="0"/>
              <a:t>Data-Driven Investments</a:t>
            </a:r>
            <a:br>
              <a:rPr lang="en-US" sz="3200" i="1" dirty="0"/>
            </a:br>
            <a:br>
              <a:rPr lang="en-US" sz="3200" dirty="0"/>
            </a:br>
            <a:r>
              <a:rPr lang="en-US" sz="3200" dirty="0"/>
              <a:t>Class 1: Intro</a:t>
            </a:r>
          </a:p>
        </p:txBody>
      </p:sp>
      <p:sp>
        <p:nvSpPr>
          <p:cNvPr id="3" name="Subtitle 2"/>
          <p:cNvSpPr>
            <a:spLocks noGrp="1"/>
          </p:cNvSpPr>
          <p:nvPr>
            <p:ph type="subTitle" idx="1"/>
          </p:nvPr>
        </p:nvSpPr>
        <p:spPr>
          <a:xfrm>
            <a:off x="1295400" y="4800600"/>
            <a:ext cx="6400800" cy="1295400"/>
          </a:xfrm>
        </p:spPr>
        <p:txBody>
          <a:bodyPr>
            <a:normAutofit fontScale="85000" lnSpcReduction="20000"/>
          </a:bodyPr>
          <a:lstStyle/>
          <a:p>
            <a:r>
              <a:rPr lang="en-US" dirty="0">
                <a:solidFill>
                  <a:schemeClr val="tx1"/>
                </a:solidFill>
              </a:rPr>
              <a:t>Adlai Fisher</a:t>
            </a:r>
          </a:p>
          <a:p>
            <a:r>
              <a:rPr lang="en-US" dirty="0">
                <a:solidFill>
                  <a:schemeClr val="tx1"/>
                </a:solidFill>
              </a:rPr>
              <a:t>UBC MBAN</a:t>
            </a:r>
          </a:p>
          <a:p>
            <a:r>
              <a:rPr lang="en-US" dirty="0">
                <a:solidFill>
                  <a:schemeClr val="tx1"/>
                </a:solidFill>
              </a:rPr>
              <a:t>February 25, 2025</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p:txBody>
      </p:sp>
      <p:sp>
        <p:nvSpPr>
          <p:cNvPr id="4" name="Subtitle 2"/>
          <p:cNvSpPr txBox="1">
            <a:spLocks/>
          </p:cNvSpPr>
          <p:nvPr/>
        </p:nvSpPr>
        <p:spPr>
          <a:xfrm>
            <a:off x="228600" y="5029200"/>
            <a:ext cx="8686800" cy="14478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400553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411"/>
            <a:ext cx="8686800" cy="715962"/>
          </a:xfrm>
        </p:spPr>
        <p:txBody>
          <a:bodyPr>
            <a:normAutofit fontScale="90000"/>
          </a:bodyPr>
          <a:lstStyle/>
          <a:p>
            <a:r>
              <a:rPr lang="en-US" dirty="0"/>
              <a:t>Outline for Today</a:t>
            </a:r>
          </a:p>
        </p:txBody>
      </p:sp>
      <p:sp>
        <p:nvSpPr>
          <p:cNvPr id="3" name="Content Placeholder 2"/>
          <p:cNvSpPr>
            <a:spLocks noGrp="1"/>
          </p:cNvSpPr>
          <p:nvPr>
            <p:ph idx="1"/>
          </p:nvPr>
        </p:nvSpPr>
        <p:spPr>
          <a:xfrm>
            <a:off x="0" y="990600"/>
            <a:ext cx="9144000" cy="5867400"/>
          </a:xfrm>
        </p:spPr>
        <p:txBody>
          <a:bodyPr>
            <a:normAutofit fontScale="92500" lnSpcReduction="10000"/>
          </a:bodyPr>
          <a:lstStyle/>
          <a:p>
            <a:r>
              <a:rPr lang="en-US" sz="1800" dirty="0"/>
              <a:t>People introductions, myself &amp; TA’s</a:t>
            </a:r>
          </a:p>
          <a:p>
            <a:endParaRPr lang="en-US" sz="1800" dirty="0"/>
          </a:p>
          <a:p>
            <a:r>
              <a:rPr lang="en-US" sz="1800" dirty="0"/>
              <a:t>The Class: syllabus, assignments, etc. + topic overview</a:t>
            </a:r>
          </a:p>
          <a:p>
            <a:pPr lvl="1"/>
            <a:r>
              <a:rPr lang="en-US" sz="1800" dirty="0"/>
              <a:t>Calculation and properties of stock returns, individual and portfolio</a:t>
            </a:r>
          </a:p>
          <a:p>
            <a:pPr lvl="1"/>
            <a:r>
              <a:rPr lang="en-US" sz="1800" dirty="0"/>
              <a:t>Asset allocation: bond, stock, </a:t>
            </a:r>
            <a:r>
              <a:rPr lang="en-US" sz="1800" dirty="0" err="1"/>
              <a:t>t-bill</a:t>
            </a:r>
            <a:endParaRPr lang="en-US" sz="1800" dirty="0"/>
          </a:p>
          <a:p>
            <a:pPr lvl="1"/>
            <a:r>
              <a:rPr lang="en-US" sz="1800" dirty="0"/>
              <a:t>Quantitative finance topics: portfolio sorts and factor models; performance evaluation</a:t>
            </a:r>
          </a:p>
          <a:p>
            <a:pPr lvl="1"/>
            <a:r>
              <a:rPr lang="en-US" sz="1800" dirty="0"/>
              <a:t>Other topics as time permits, as final group projects, or as optional individual work: macro factors, unstructured finance data, machine learning </a:t>
            </a:r>
          </a:p>
          <a:p>
            <a:endParaRPr lang="en-US" sz="1800" dirty="0"/>
          </a:p>
          <a:p>
            <a:r>
              <a:rPr lang="en-US" sz="1800" dirty="0"/>
              <a:t>Today: finance preliminaries</a:t>
            </a:r>
          </a:p>
          <a:p>
            <a:pPr lvl="1"/>
            <a:r>
              <a:rPr lang="en-US" sz="1800" dirty="0"/>
              <a:t>Types of securities and issuers</a:t>
            </a:r>
          </a:p>
          <a:p>
            <a:pPr lvl="1"/>
            <a:r>
              <a:rPr lang="en-US" sz="1800" dirty="0"/>
              <a:t>Players and participants</a:t>
            </a:r>
          </a:p>
          <a:p>
            <a:pPr lvl="1"/>
            <a:r>
              <a:rPr lang="en-US" sz="1800" dirty="0"/>
              <a:t>Measurement and data</a:t>
            </a:r>
          </a:p>
          <a:p>
            <a:pPr lvl="1"/>
            <a:r>
              <a:rPr lang="en-US" sz="1800" dirty="0"/>
              <a:t>Concepts</a:t>
            </a:r>
          </a:p>
          <a:p>
            <a:pPr lvl="1"/>
            <a:r>
              <a:rPr lang="en-US" sz="1800" dirty="0"/>
              <a:t>Resources</a:t>
            </a:r>
          </a:p>
          <a:p>
            <a:pPr marL="0" indent="0">
              <a:buNone/>
            </a:pPr>
            <a:endParaRPr lang="en-US" sz="1800" dirty="0"/>
          </a:p>
          <a:p>
            <a:r>
              <a:rPr lang="en-US" sz="1800" dirty="0"/>
              <a:t>Homework for next class (ungraded, to provoke thought and discussion for next class and beyond)</a:t>
            </a:r>
          </a:p>
          <a:p>
            <a:pPr lvl="1"/>
            <a:r>
              <a:rPr lang="en-US" sz="1800" dirty="0"/>
              <a:t>Finance conference browsing and contemplation of group project goals</a:t>
            </a:r>
          </a:p>
          <a:p>
            <a:pPr lvl="1"/>
            <a:r>
              <a:rPr lang="en-US" sz="1800" dirty="0"/>
              <a:t>Download data from two stocks and form portfolio returns (details below)</a:t>
            </a:r>
          </a:p>
          <a:p>
            <a:endParaRPr lang="en-US" sz="2000"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81288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411"/>
            <a:ext cx="8686800" cy="715962"/>
          </a:xfrm>
        </p:spPr>
        <p:txBody>
          <a:bodyPr>
            <a:normAutofit fontScale="90000"/>
          </a:bodyPr>
          <a:lstStyle/>
          <a:p>
            <a:r>
              <a:rPr lang="en-US" dirty="0"/>
              <a:t>Syllabus Key Points: 1) Topics</a:t>
            </a:r>
          </a:p>
        </p:txBody>
      </p:sp>
      <p:sp>
        <p:nvSpPr>
          <p:cNvPr id="3" name="Content Placeholder 2"/>
          <p:cNvSpPr>
            <a:spLocks noGrp="1"/>
          </p:cNvSpPr>
          <p:nvPr>
            <p:ph idx="1"/>
          </p:nvPr>
        </p:nvSpPr>
        <p:spPr>
          <a:xfrm>
            <a:off x="0" y="609600"/>
            <a:ext cx="9144000" cy="6248400"/>
          </a:xfrm>
        </p:spPr>
        <p:txBody>
          <a:bodyPr>
            <a:normAutofit fontScale="70000" lnSpcReduction="20000"/>
          </a:bodyPr>
          <a:lstStyle/>
          <a:p>
            <a:endParaRPr lang="en-US" sz="2000" dirty="0"/>
          </a:p>
          <a:p>
            <a:pPr marL="0" indent="0">
              <a:buNone/>
            </a:pPr>
            <a:endParaRPr lang="en-US" sz="2900" dirty="0"/>
          </a:p>
          <a:p>
            <a:pPr lvl="0"/>
            <a:r>
              <a:rPr lang="en-CA" sz="2900" dirty="0"/>
              <a:t>Weeks 1-2: Background (homework 1)</a:t>
            </a:r>
            <a:endParaRPr lang="en-US" sz="2900" dirty="0"/>
          </a:p>
          <a:p>
            <a:pPr lvl="1"/>
            <a:r>
              <a:rPr lang="en-CA" sz="2900" dirty="0"/>
              <a:t>Financial market basics: market participants, securities, returns, etc.</a:t>
            </a:r>
            <a:endParaRPr lang="en-US" sz="2900" dirty="0"/>
          </a:p>
          <a:p>
            <a:pPr lvl="1"/>
            <a:r>
              <a:rPr lang="en-CA" sz="2900" dirty="0"/>
              <a:t>Key concepts: efficient markets, arbitrage, CAPM, multi-factor pricing models</a:t>
            </a:r>
            <a:endParaRPr lang="en-US" sz="2900" dirty="0"/>
          </a:p>
          <a:p>
            <a:pPr lvl="1"/>
            <a:r>
              <a:rPr lang="en-CA" sz="2900" dirty="0"/>
              <a:t>Finance data: Yahoo Finance, CRSP, </a:t>
            </a:r>
            <a:r>
              <a:rPr lang="en-CA" sz="2900" dirty="0" err="1"/>
              <a:t>Compustat</a:t>
            </a:r>
            <a:r>
              <a:rPr lang="en-CA" sz="2900" dirty="0"/>
              <a:t>, WRDS</a:t>
            </a:r>
            <a:endParaRPr lang="en-US" sz="2900" dirty="0"/>
          </a:p>
          <a:p>
            <a:pPr lvl="1"/>
            <a:r>
              <a:rPr lang="en-CA" sz="2900" dirty="0"/>
              <a:t>Properties of stock returns and portfolio returns</a:t>
            </a:r>
            <a:endParaRPr lang="en-US" sz="2900" dirty="0"/>
          </a:p>
          <a:p>
            <a:pPr lvl="0"/>
            <a:endParaRPr lang="en-CA" sz="2900" dirty="0"/>
          </a:p>
          <a:p>
            <a:pPr lvl="0"/>
            <a:r>
              <a:rPr lang="en-CA" sz="2900" dirty="0"/>
              <a:t>Weeks 2-3: Asset allocation (homework 2)</a:t>
            </a:r>
            <a:endParaRPr lang="en-US" sz="2900" dirty="0"/>
          </a:p>
          <a:p>
            <a:pPr lvl="1"/>
            <a:r>
              <a:rPr lang="en-CA" sz="2900" dirty="0"/>
              <a:t>Stocks, bonds, bills, and other asset classes</a:t>
            </a:r>
            <a:endParaRPr lang="en-US" sz="2900" dirty="0"/>
          </a:p>
          <a:p>
            <a:pPr lvl="1"/>
            <a:r>
              <a:rPr lang="en-CA" sz="2900" dirty="0"/>
              <a:t>Tools: mean-variance analysis, simulation/bootstrapping</a:t>
            </a:r>
            <a:endParaRPr lang="en-US" sz="2900" dirty="0"/>
          </a:p>
          <a:p>
            <a:pPr lvl="0"/>
            <a:endParaRPr lang="en-CA" sz="2900" dirty="0"/>
          </a:p>
          <a:p>
            <a:pPr lvl="0"/>
            <a:r>
              <a:rPr lang="en-CA" sz="2900" dirty="0"/>
              <a:t>Weeks 3-5: Cross-section of stock returns</a:t>
            </a:r>
            <a:endParaRPr lang="en-US" sz="2900" dirty="0"/>
          </a:p>
          <a:p>
            <a:pPr lvl="1"/>
            <a:r>
              <a:rPr lang="en-CA" sz="2900" dirty="0"/>
              <a:t>Multi-factor pricing models and cross-sectional trading strategies: portfolio sorts, </a:t>
            </a:r>
            <a:r>
              <a:rPr lang="en-CA" sz="2900" dirty="0" err="1"/>
              <a:t>Fama</a:t>
            </a:r>
            <a:r>
              <a:rPr lang="en-CA" sz="2900" dirty="0"/>
              <a:t>-French model, momentum, other empirical factors; performance evaluation</a:t>
            </a:r>
            <a:endParaRPr lang="en-US" sz="2900" dirty="0"/>
          </a:p>
          <a:p>
            <a:pPr lvl="0"/>
            <a:endParaRPr lang="en-CA" sz="2900" dirty="0"/>
          </a:p>
          <a:p>
            <a:pPr lvl="0"/>
            <a:r>
              <a:rPr lang="en-CA" sz="2900" dirty="0"/>
              <a:t>Week 5: Group project proposals and additional topics as time permits</a:t>
            </a:r>
            <a:endParaRPr lang="en-US" sz="2900" dirty="0"/>
          </a:p>
          <a:p>
            <a:pPr lvl="1"/>
            <a:r>
              <a:rPr lang="en-CA" sz="2900" dirty="0"/>
              <a:t>Macro factors; predictability of market risk premium; unstructured data</a:t>
            </a:r>
            <a:endParaRPr lang="en-US" sz="2900" dirty="0"/>
          </a:p>
          <a:p>
            <a:pPr marL="0" indent="0" fontAlgn="base">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31639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411"/>
            <a:ext cx="8686800" cy="715962"/>
          </a:xfrm>
        </p:spPr>
        <p:txBody>
          <a:bodyPr>
            <a:normAutofit fontScale="90000"/>
          </a:bodyPr>
          <a:lstStyle/>
          <a:p>
            <a:r>
              <a:rPr lang="en-US" dirty="0"/>
              <a:t>Syllabus Key Points: 2) Work</a:t>
            </a:r>
          </a:p>
        </p:txBody>
      </p:sp>
      <p:sp>
        <p:nvSpPr>
          <p:cNvPr id="3" name="Content Placeholder 2"/>
          <p:cNvSpPr>
            <a:spLocks noGrp="1"/>
          </p:cNvSpPr>
          <p:nvPr>
            <p:ph idx="1"/>
          </p:nvPr>
        </p:nvSpPr>
        <p:spPr>
          <a:xfrm>
            <a:off x="0" y="990600"/>
            <a:ext cx="9144000" cy="5867400"/>
          </a:xfrm>
        </p:spPr>
        <p:txBody>
          <a:bodyPr>
            <a:normAutofit/>
          </a:bodyPr>
          <a:lstStyle/>
          <a:p>
            <a:endParaRPr lang="en-US" sz="2000" b="1" dirty="0"/>
          </a:p>
          <a:p>
            <a:pPr marL="0" indent="0">
              <a:buNone/>
            </a:pPr>
            <a:endParaRPr lang="en-US" sz="1800" b="1" dirty="0"/>
          </a:p>
          <a:p>
            <a:pPr marL="0" indent="0">
              <a:buNone/>
            </a:pPr>
            <a:r>
              <a:rPr lang="en-CA" sz="1800" dirty="0"/>
              <a:t>				</a:t>
            </a:r>
            <a:r>
              <a:rPr lang="en-CA" sz="1800" u="sng" dirty="0"/>
              <a:t>Due</a:t>
            </a:r>
            <a:r>
              <a:rPr lang="en-CA" sz="1800" dirty="0"/>
              <a:t>			</a:t>
            </a:r>
            <a:r>
              <a:rPr lang="en-CA" sz="1800" u="sng" dirty="0"/>
              <a:t>Weight</a:t>
            </a:r>
            <a:endParaRPr lang="en-US" sz="1800" dirty="0"/>
          </a:p>
          <a:p>
            <a:pPr marL="0" indent="0">
              <a:buNone/>
            </a:pPr>
            <a:r>
              <a:rPr lang="en-CA" sz="1800" dirty="0"/>
              <a:t>Homework, two are graded		Weeks 2 &amp; 3		25</a:t>
            </a:r>
            <a:endParaRPr lang="en-US" sz="1800" dirty="0"/>
          </a:p>
          <a:p>
            <a:pPr marL="0" indent="0">
              <a:buNone/>
            </a:pPr>
            <a:r>
              <a:rPr lang="en-CA" sz="1800" dirty="0"/>
              <a:t>Group project proposal		Week 5, class 9		15</a:t>
            </a:r>
            <a:endParaRPr lang="en-US" sz="1800" dirty="0"/>
          </a:p>
          <a:p>
            <a:pPr marL="0" indent="0">
              <a:buNone/>
            </a:pPr>
            <a:r>
              <a:rPr lang="en-CA" sz="1800" dirty="0"/>
              <a:t>Group project final memorandum	end of exam period 	50</a:t>
            </a:r>
            <a:endParaRPr lang="en-US" sz="1800" dirty="0"/>
          </a:p>
          <a:p>
            <a:pPr marL="0" indent="0">
              <a:buNone/>
            </a:pPr>
            <a:r>
              <a:rPr lang="en-CA" sz="1800" dirty="0"/>
              <a:t>Participation					  	10</a:t>
            </a:r>
            <a:endParaRPr lang="en-US" sz="1800" dirty="0"/>
          </a:p>
          <a:p>
            <a:pPr marL="0" indent="0">
              <a:buNone/>
            </a:pPr>
            <a:r>
              <a:rPr lang="en-CA" sz="1800" dirty="0"/>
              <a:t>Optional individual essay		end of exam period		(replace 25% optimally)</a:t>
            </a:r>
            <a:endParaRPr lang="en-US" sz="1800" dirty="0"/>
          </a:p>
          <a:p>
            <a:pPr marL="0" indent="0">
              <a:buNone/>
            </a:pPr>
            <a:r>
              <a:rPr lang="en-CA" sz="1800" dirty="0"/>
              <a:t> </a:t>
            </a:r>
            <a:endParaRPr lang="en-US" sz="1800" dirty="0"/>
          </a:p>
          <a:p>
            <a:pPr marL="0" indent="0">
              <a:buNone/>
            </a:pPr>
            <a:r>
              <a:rPr lang="en-CA" sz="1800" dirty="0"/>
              <a:t> </a:t>
            </a:r>
            <a:endParaRPr lang="en-US" sz="1800" dirty="0"/>
          </a:p>
          <a:p>
            <a:pPr fontAlgn="base"/>
            <a:r>
              <a:rPr lang="en-US" sz="1800" dirty="0"/>
              <a:t>Homework groups, 2-3</a:t>
            </a:r>
          </a:p>
          <a:p>
            <a:pPr fontAlgn="base"/>
            <a:r>
              <a:rPr lang="en-US" sz="1800" dirty="0"/>
              <a:t>Project groups, 5</a:t>
            </a:r>
          </a:p>
          <a:p>
            <a:pPr fontAlgn="base"/>
            <a:r>
              <a:rPr lang="en-US" sz="1800" dirty="0"/>
              <a:t>Choose your own groups</a:t>
            </a:r>
          </a:p>
          <a:p>
            <a:pPr fontAlgn="base"/>
            <a:r>
              <a:rPr lang="en-US" sz="1800" dirty="0"/>
              <a:t>Please note that we will need extra class time on Tuesday March 25, provisionally planned for 12-1pm.</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3638109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411"/>
            <a:ext cx="8686800" cy="715962"/>
          </a:xfrm>
        </p:spPr>
        <p:txBody>
          <a:bodyPr>
            <a:normAutofit fontScale="90000"/>
          </a:bodyPr>
          <a:lstStyle/>
          <a:p>
            <a:r>
              <a:rPr lang="en-US" dirty="0"/>
              <a:t>Homework Topics</a:t>
            </a:r>
          </a:p>
        </p:txBody>
      </p:sp>
      <p:sp>
        <p:nvSpPr>
          <p:cNvPr id="3" name="Content Placeholder 2"/>
          <p:cNvSpPr>
            <a:spLocks noGrp="1"/>
          </p:cNvSpPr>
          <p:nvPr>
            <p:ph idx="1"/>
          </p:nvPr>
        </p:nvSpPr>
        <p:spPr>
          <a:xfrm>
            <a:off x="0" y="990600"/>
            <a:ext cx="9144000" cy="5867400"/>
          </a:xfrm>
        </p:spPr>
        <p:txBody>
          <a:bodyPr>
            <a:normAutofit/>
          </a:bodyPr>
          <a:lstStyle/>
          <a:p>
            <a:endParaRPr lang="en-US" sz="2000" b="1" dirty="0"/>
          </a:p>
          <a:p>
            <a:pPr marL="0" indent="0">
              <a:buNone/>
            </a:pPr>
            <a:endParaRPr lang="en-US" sz="1800" b="1" dirty="0"/>
          </a:p>
          <a:p>
            <a:pPr marL="0" indent="0">
              <a:buNone/>
            </a:pPr>
            <a:endParaRPr lang="en-US" sz="2400" dirty="0"/>
          </a:p>
          <a:p>
            <a:pPr>
              <a:buAutoNum type="arabicParenR"/>
            </a:pPr>
            <a:r>
              <a:rPr lang="en-US" sz="2400" dirty="0"/>
              <a:t>Calculating stock and portfolio returns using Yahoo Finance and Python and properties of returns (mean, variance, etc.)</a:t>
            </a:r>
          </a:p>
          <a:p>
            <a:pPr>
              <a:buAutoNum type="arabicParenR"/>
            </a:pPr>
            <a:endParaRPr lang="en-US" sz="2400" dirty="0"/>
          </a:p>
          <a:p>
            <a:pPr>
              <a:buAutoNum type="arabicParenR"/>
            </a:pPr>
            <a:r>
              <a:rPr lang="en-US" sz="2400" dirty="0"/>
              <a:t>Asset allocation optimization (stock, bond, and </a:t>
            </a:r>
            <a:r>
              <a:rPr lang="en-US" sz="2400" dirty="0" err="1"/>
              <a:t>t-bill</a:t>
            </a:r>
            <a:r>
              <a:rPr lang="en-US" sz="2400" dirty="0"/>
              <a:t>)</a:t>
            </a:r>
          </a:p>
          <a:p>
            <a:pPr>
              <a:buAutoNum type="arabicParenR"/>
            </a:pPr>
            <a:endParaRPr lang="en-US" sz="1800" dirty="0"/>
          </a:p>
        </p:txBody>
      </p:sp>
    </p:spTree>
    <p:extLst>
      <p:ext uri="{BB962C8B-B14F-4D97-AF65-F5344CB8AC3E}">
        <p14:creationId xmlns:p14="http://schemas.microsoft.com/office/powerpoint/2010/main" val="3333283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410"/>
            <a:ext cx="8686800" cy="1434389"/>
          </a:xfrm>
        </p:spPr>
        <p:txBody>
          <a:bodyPr>
            <a:noAutofit/>
          </a:bodyPr>
          <a:lstStyle/>
          <a:p>
            <a:r>
              <a:rPr lang="en-US" sz="3200" dirty="0"/>
              <a:t>Final Project Possible Topics</a:t>
            </a:r>
            <a:br>
              <a:rPr lang="en-US" sz="3200" dirty="0"/>
            </a:br>
            <a:r>
              <a:rPr lang="en-US" sz="3200" dirty="0"/>
              <a:t>(proposals in week 5)</a:t>
            </a:r>
            <a:br>
              <a:rPr lang="en-US" sz="3200" dirty="0"/>
            </a:br>
            <a:endParaRPr lang="en-US" sz="3200" dirty="0"/>
          </a:p>
        </p:txBody>
      </p:sp>
      <p:sp>
        <p:nvSpPr>
          <p:cNvPr id="3" name="Content Placeholder 2"/>
          <p:cNvSpPr>
            <a:spLocks noGrp="1"/>
          </p:cNvSpPr>
          <p:nvPr>
            <p:ph idx="1"/>
          </p:nvPr>
        </p:nvSpPr>
        <p:spPr>
          <a:xfrm>
            <a:off x="0" y="990600"/>
            <a:ext cx="9144000" cy="5867400"/>
          </a:xfrm>
        </p:spPr>
        <p:txBody>
          <a:bodyPr>
            <a:normAutofit/>
          </a:bodyPr>
          <a:lstStyle/>
          <a:p>
            <a:endParaRPr lang="en-US" sz="2000" b="1" dirty="0"/>
          </a:p>
          <a:p>
            <a:pPr>
              <a:buAutoNum type="arabicParenR"/>
            </a:pPr>
            <a:r>
              <a:rPr lang="en-US" sz="2400" dirty="0"/>
              <a:t>Portfolio sorts and construction of long-short portfolios on characteristics (size, B/M, momentum, etc.) and performance evaluation (factor models)</a:t>
            </a:r>
          </a:p>
          <a:p>
            <a:pPr lvl="1"/>
            <a:r>
              <a:rPr lang="en-US" sz="2000" dirty="0"/>
              <a:t>Most groups will choose this option.  We will give sample code that you can modify and it gives great experience with a range of finance data. </a:t>
            </a:r>
          </a:p>
          <a:p>
            <a:pPr>
              <a:buAutoNum type="arabicParenR"/>
            </a:pPr>
            <a:endParaRPr lang="en-US" sz="2400" dirty="0"/>
          </a:p>
          <a:p>
            <a:pPr>
              <a:buAutoNum type="arabicParenR"/>
            </a:pPr>
            <a:r>
              <a:rPr lang="en-US" sz="2400" dirty="0"/>
              <a:t>Alternative projects</a:t>
            </a:r>
          </a:p>
          <a:p>
            <a:pPr lvl="1"/>
            <a:r>
              <a:rPr lang="en-US" sz="2000" dirty="0"/>
              <a:t>The TA’s and I are always open to alternative projects if student groups are motivated to pursue.  Examples of possibilities would be using unstructured data (e.g., scraping Twitter, Glassdoor, or other sources) or machine learning application.  Projects in this vein would require meaningful self-direction.</a:t>
            </a:r>
          </a:p>
          <a:p>
            <a:pPr marL="0" indent="0">
              <a:buNone/>
            </a:pPr>
            <a:endParaRPr lang="en-US" sz="1800" dirty="0"/>
          </a:p>
        </p:txBody>
      </p:sp>
    </p:spTree>
    <p:extLst>
      <p:ext uri="{BB962C8B-B14F-4D97-AF65-F5344CB8AC3E}">
        <p14:creationId xmlns:p14="http://schemas.microsoft.com/office/powerpoint/2010/main" val="164055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411"/>
            <a:ext cx="8686800" cy="596189"/>
          </a:xfrm>
        </p:spPr>
        <p:txBody>
          <a:bodyPr>
            <a:noAutofit/>
          </a:bodyPr>
          <a:lstStyle/>
          <a:p>
            <a:r>
              <a:rPr lang="en-US" sz="3200" dirty="0"/>
              <a:t>Materials &amp; Resources</a:t>
            </a:r>
          </a:p>
        </p:txBody>
      </p:sp>
      <p:sp>
        <p:nvSpPr>
          <p:cNvPr id="3" name="Content Placeholder 2"/>
          <p:cNvSpPr>
            <a:spLocks noGrp="1"/>
          </p:cNvSpPr>
          <p:nvPr>
            <p:ph idx="1"/>
          </p:nvPr>
        </p:nvSpPr>
        <p:spPr>
          <a:xfrm>
            <a:off x="0" y="533400"/>
            <a:ext cx="9144000" cy="6324600"/>
          </a:xfrm>
        </p:spPr>
        <p:txBody>
          <a:bodyPr>
            <a:normAutofit/>
          </a:bodyPr>
          <a:lstStyle/>
          <a:p>
            <a:r>
              <a:rPr lang="en-US" sz="1600" dirty="0"/>
              <a:t>Code: Python and Excel</a:t>
            </a:r>
          </a:p>
          <a:p>
            <a:pPr marL="0" indent="0">
              <a:buNone/>
            </a:pPr>
            <a:endParaRPr lang="en-US" sz="1600" dirty="0"/>
          </a:p>
          <a:p>
            <a:r>
              <a:rPr lang="en-US" sz="1600" dirty="0"/>
              <a:t>Data (URLs and logins at end of slide deck)</a:t>
            </a:r>
          </a:p>
          <a:p>
            <a:pPr lvl="1"/>
            <a:r>
              <a:rPr lang="en-US" sz="1600" dirty="0"/>
              <a:t>Yahoo Finance for current prices</a:t>
            </a:r>
          </a:p>
          <a:p>
            <a:pPr lvl="1"/>
            <a:r>
              <a:rPr lang="en-US" sz="1600" dirty="0"/>
              <a:t>Wharton Research Data Services: stock and accounting data, analyst forecasts, other</a:t>
            </a:r>
          </a:p>
          <a:p>
            <a:pPr lvl="1"/>
            <a:r>
              <a:rPr lang="en-US" sz="1600" dirty="0"/>
              <a:t>Federal Reserve Economic Data: macro data</a:t>
            </a:r>
          </a:p>
          <a:p>
            <a:pPr lvl="1"/>
            <a:r>
              <a:rPr lang="en-US" sz="1600" dirty="0"/>
              <a:t>Ken French’s website: portfolio sorts (size, B/M, momentum, etc.)</a:t>
            </a:r>
          </a:p>
          <a:p>
            <a:pPr lvl="1"/>
            <a:r>
              <a:rPr lang="en-US" sz="1600" dirty="0"/>
              <a:t>Other data can be scraped (e.g., SEC for 10Ks, Twitter for attention/sentiment, </a:t>
            </a:r>
            <a:r>
              <a:rPr lang="en-US" sz="1600" dirty="0" err="1"/>
              <a:t>GlassDoor</a:t>
            </a:r>
            <a:r>
              <a:rPr lang="en-US" sz="1600" dirty="0"/>
              <a:t> for employee outlook, etc.)</a:t>
            </a:r>
          </a:p>
          <a:p>
            <a:pPr marL="457200" lvl="1" indent="0">
              <a:buNone/>
            </a:pPr>
            <a:endParaRPr lang="en-US" sz="1600" dirty="0"/>
          </a:p>
          <a:p>
            <a:pPr indent="-285750"/>
            <a:r>
              <a:rPr lang="en-US" sz="1600" dirty="0"/>
              <a:t>Journal articles</a:t>
            </a:r>
          </a:p>
          <a:p>
            <a:pPr lvl="1"/>
            <a:r>
              <a:rPr lang="en-US" sz="1600" dirty="0"/>
              <a:t>Use Google scholar to search topics, search forward using works cited, backward using journal references</a:t>
            </a:r>
          </a:p>
          <a:p>
            <a:pPr lvl="1"/>
            <a:r>
              <a:rPr lang="en-US" sz="1600" dirty="0"/>
              <a:t>We have access through library to all top journals! But off campus you must activate UBC VPN</a:t>
            </a:r>
          </a:p>
          <a:p>
            <a:pPr lvl="1"/>
            <a:r>
              <a:rPr lang="en-US" sz="1600" dirty="0"/>
              <a:t>Top finance journals (most credibility): Journal of Finance, Review of Financial Studies, Journal of Financial Economics, Journal of Financial and Quantitative Economics, Review of Finance, Management Science</a:t>
            </a:r>
          </a:p>
          <a:p>
            <a:pPr marL="457200" lvl="1" indent="0">
              <a:buNone/>
            </a:pPr>
            <a:endParaRPr lang="en-US" sz="1600" dirty="0"/>
          </a:p>
          <a:p>
            <a:r>
              <a:rPr lang="en-US" sz="1600" dirty="0"/>
              <a:t>Top finance conferences (for recent work)</a:t>
            </a:r>
          </a:p>
          <a:p>
            <a:pPr lvl="1"/>
            <a:r>
              <a:rPr lang="en-US" sz="1600" dirty="0"/>
              <a:t>Western Finance Association, American Finance Association</a:t>
            </a:r>
          </a:p>
          <a:p>
            <a:endParaRPr lang="en-US" sz="1600" dirty="0"/>
          </a:p>
          <a:p>
            <a:r>
              <a:rPr lang="en-US" sz="1600" dirty="0"/>
              <a:t>Notes, code, and assignments: on Canvas</a:t>
            </a:r>
          </a:p>
          <a:p>
            <a:pPr marL="0" indent="0">
              <a:buNone/>
            </a:pPr>
            <a:endParaRPr lang="en-US" sz="1800" dirty="0"/>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2459754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3411"/>
            <a:ext cx="8686800" cy="596189"/>
          </a:xfrm>
        </p:spPr>
        <p:txBody>
          <a:bodyPr>
            <a:noAutofit/>
          </a:bodyPr>
          <a:lstStyle/>
          <a:p>
            <a:r>
              <a:rPr lang="en-US" sz="3200" dirty="0"/>
              <a:t>Background Reading</a:t>
            </a:r>
          </a:p>
        </p:txBody>
      </p:sp>
      <p:sp>
        <p:nvSpPr>
          <p:cNvPr id="3" name="Content Placeholder 2"/>
          <p:cNvSpPr>
            <a:spLocks noGrp="1"/>
          </p:cNvSpPr>
          <p:nvPr>
            <p:ph idx="1"/>
          </p:nvPr>
        </p:nvSpPr>
        <p:spPr>
          <a:xfrm>
            <a:off x="0" y="762000"/>
            <a:ext cx="9144000" cy="6096000"/>
          </a:xfrm>
        </p:spPr>
        <p:txBody>
          <a:bodyPr>
            <a:normAutofit/>
          </a:bodyPr>
          <a:lstStyle/>
          <a:p>
            <a:pPr marL="0" indent="0">
              <a:buNone/>
            </a:pPr>
            <a:r>
              <a:rPr lang="en-US" sz="1700" dirty="0"/>
              <a:t>Basic concepts: any edition of any introductory finance textbook</a:t>
            </a:r>
          </a:p>
          <a:p>
            <a:pPr lvl="0"/>
            <a:r>
              <a:rPr lang="en-CA" sz="1700" dirty="0"/>
              <a:t>Ross, </a:t>
            </a:r>
            <a:r>
              <a:rPr lang="en-CA" sz="1700" dirty="0" err="1"/>
              <a:t>Westerfield</a:t>
            </a:r>
            <a:r>
              <a:rPr lang="en-CA" sz="1700" dirty="0"/>
              <a:t>, and </a:t>
            </a:r>
            <a:r>
              <a:rPr lang="en-CA" sz="1700" dirty="0" err="1"/>
              <a:t>Jaffee</a:t>
            </a:r>
            <a:r>
              <a:rPr lang="en-CA" sz="1700" dirty="0"/>
              <a:t>, </a:t>
            </a:r>
            <a:r>
              <a:rPr lang="en-CA" sz="1700" u="sng" dirty="0"/>
              <a:t>Corporate Finance</a:t>
            </a:r>
            <a:endParaRPr lang="en-US" sz="1700" dirty="0"/>
          </a:p>
          <a:p>
            <a:pPr lvl="0"/>
            <a:r>
              <a:rPr lang="en-CA" sz="1700" dirty="0" err="1"/>
              <a:t>Brealey</a:t>
            </a:r>
            <a:r>
              <a:rPr lang="en-CA" sz="1700" dirty="0"/>
              <a:t>, Myers, and Allen, </a:t>
            </a:r>
            <a:r>
              <a:rPr lang="en-CA" sz="1700" u="sng" dirty="0"/>
              <a:t>Principles of Corporate Finance</a:t>
            </a:r>
            <a:endParaRPr lang="en-US" sz="1700" dirty="0"/>
          </a:p>
          <a:p>
            <a:pPr lvl="0"/>
            <a:r>
              <a:rPr lang="en-CA" sz="1700" dirty="0"/>
              <a:t>Berk and </a:t>
            </a:r>
            <a:r>
              <a:rPr lang="en-CA" sz="1700" dirty="0" err="1"/>
              <a:t>DeMarzo</a:t>
            </a:r>
            <a:r>
              <a:rPr lang="en-CA" sz="1700" dirty="0"/>
              <a:t>, </a:t>
            </a:r>
            <a:r>
              <a:rPr lang="en-CA" sz="1700" u="sng" dirty="0"/>
              <a:t>Corporate Finance</a:t>
            </a:r>
            <a:endParaRPr lang="en-US" sz="1700" dirty="0"/>
          </a:p>
          <a:p>
            <a:pPr lvl="0"/>
            <a:r>
              <a:rPr lang="en-CA" sz="1700" dirty="0" err="1"/>
              <a:t>Bodie</a:t>
            </a:r>
            <a:r>
              <a:rPr lang="en-CA" sz="1700" dirty="0"/>
              <a:t>, Kane, and Marcus, </a:t>
            </a:r>
            <a:r>
              <a:rPr lang="en-CA" sz="1700" u="sng" dirty="0"/>
              <a:t>Investments</a:t>
            </a:r>
            <a:endParaRPr lang="en-US" sz="1700" dirty="0"/>
          </a:p>
          <a:p>
            <a:pPr lvl="0"/>
            <a:r>
              <a:rPr lang="en-CA" sz="1700" dirty="0"/>
              <a:t>Pierre </a:t>
            </a:r>
            <a:r>
              <a:rPr lang="en-CA" sz="1700" dirty="0" err="1"/>
              <a:t>Vernimmen</a:t>
            </a:r>
            <a:r>
              <a:rPr lang="en-CA" sz="1700" dirty="0"/>
              <a:t>, </a:t>
            </a:r>
            <a:r>
              <a:rPr lang="en-CA" sz="1700" u="sng" dirty="0"/>
              <a:t>Corporate Finance: Theory and Practice</a:t>
            </a:r>
            <a:r>
              <a:rPr lang="en-CA" sz="1700" dirty="0"/>
              <a:t>, (I have not used this book previously, but it was the only relevant book I could find available electronically through the UBC library)</a:t>
            </a:r>
            <a:endParaRPr lang="en-US" sz="1700" dirty="0"/>
          </a:p>
          <a:p>
            <a:pPr marL="0" indent="0">
              <a:buNone/>
            </a:pPr>
            <a:endParaRPr lang="en-US" sz="1700" dirty="0"/>
          </a:p>
          <a:p>
            <a:pPr marL="0" indent="0">
              <a:buNone/>
            </a:pPr>
            <a:r>
              <a:rPr lang="en-US" sz="1700" dirty="0"/>
              <a:t>Perspective on finance and quant finance:</a:t>
            </a:r>
          </a:p>
          <a:p>
            <a:pPr lvl="0"/>
            <a:r>
              <a:rPr lang="en-CA" sz="1700" dirty="0"/>
              <a:t>Robert Shiller, </a:t>
            </a:r>
            <a:r>
              <a:rPr lang="en-CA" sz="1700" u="sng" dirty="0"/>
              <a:t>Finance and the Good Society</a:t>
            </a:r>
            <a:r>
              <a:rPr lang="en-CA" sz="1700" dirty="0"/>
              <a:t> (great book about why finance matters)</a:t>
            </a:r>
            <a:endParaRPr lang="en-US" sz="1700" dirty="0"/>
          </a:p>
          <a:p>
            <a:pPr lvl="0"/>
            <a:r>
              <a:rPr lang="en-CA" sz="1700" dirty="0"/>
              <a:t>Jeremy Siegel, </a:t>
            </a:r>
            <a:r>
              <a:rPr lang="en-CA" sz="1700" u="sng" dirty="0"/>
              <a:t>Stocks for the Long Run</a:t>
            </a:r>
            <a:r>
              <a:rPr lang="en-CA" sz="1700" dirty="0"/>
              <a:t> (very good introduction to thinking about the relevance of long histories of data) </a:t>
            </a:r>
            <a:endParaRPr lang="en-US" sz="1700" dirty="0"/>
          </a:p>
          <a:p>
            <a:pPr lvl="0"/>
            <a:r>
              <a:rPr lang="en-CA" sz="1700" dirty="0"/>
              <a:t>Roger Lowenstein, </a:t>
            </a:r>
            <a:r>
              <a:rPr lang="en-CA" sz="1700" u="sng" dirty="0"/>
              <a:t>When Genius Failed</a:t>
            </a:r>
            <a:r>
              <a:rPr lang="en-CA" sz="1700" dirty="0"/>
              <a:t> (as the title suggests, what can go wrong with quant finance)</a:t>
            </a:r>
            <a:endParaRPr lang="en-US" sz="1700" dirty="0"/>
          </a:p>
          <a:p>
            <a:pPr marL="0" indent="0">
              <a:buNone/>
            </a:pPr>
            <a:endParaRPr lang="en-CA" sz="1700" dirty="0"/>
          </a:p>
          <a:p>
            <a:pPr marL="0" indent="0">
              <a:buNone/>
            </a:pPr>
            <a:r>
              <a:rPr lang="en-CA" sz="1700" dirty="0"/>
              <a:t>Ph.D. level treatment of some topics we discuss:</a:t>
            </a:r>
            <a:endParaRPr lang="en-US" sz="1700" dirty="0"/>
          </a:p>
          <a:p>
            <a:pPr lvl="0"/>
            <a:r>
              <a:rPr lang="en-CA" sz="1700" dirty="0"/>
              <a:t>John Cochrane, </a:t>
            </a:r>
            <a:r>
              <a:rPr lang="en-CA" sz="1700" u="sng" dirty="0"/>
              <a:t>Asset Pricing</a:t>
            </a:r>
            <a:endParaRPr lang="en-US" sz="1700" dirty="0"/>
          </a:p>
          <a:p>
            <a:pPr lvl="0"/>
            <a:r>
              <a:rPr lang="en-CA" sz="1700" dirty="0"/>
              <a:t>John Campbell, </a:t>
            </a:r>
            <a:r>
              <a:rPr lang="en-CA" sz="1700" u="sng" dirty="0"/>
              <a:t>Financial Decisions and Markets</a:t>
            </a:r>
            <a:endParaRPr lang="en-US" sz="1700" dirty="0"/>
          </a:p>
          <a:p>
            <a:pPr lvl="0"/>
            <a:r>
              <a:rPr lang="en-CA" sz="1700" dirty="0"/>
              <a:t>Campbell, Lo, and </a:t>
            </a:r>
            <a:r>
              <a:rPr lang="en-CA" sz="1700" dirty="0" err="1"/>
              <a:t>MacKinlay</a:t>
            </a:r>
            <a:r>
              <a:rPr lang="en-CA" sz="1700" dirty="0"/>
              <a:t>, </a:t>
            </a:r>
            <a:r>
              <a:rPr lang="en-CA" sz="1700" u="sng" dirty="0"/>
              <a:t>The Econometrics of Financial Markets</a:t>
            </a:r>
            <a:endParaRPr lang="en-US" sz="1700" dirty="0"/>
          </a:p>
        </p:txBody>
      </p:sp>
    </p:spTree>
    <p:extLst>
      <p:ext uri="{BB962C8B-B14F-4D97-AF65-F5344CB8AC3E}">
        <p14:creationId xmlns:p14="http://schemas.microsoft.com/office/powerpoint/2010/main" val="3460331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4138"/>
            <a:ext cx="8686800" cy="762000"/>
          </a:xfrm>
        </p:spPr>
        <p:txBody>
          <a:bodyPr>
            <a:noAutofit/>
          </a:bodyPr>
          <a:lstStyle/>
          <a:p>
            <a:r>
              <a:rPr lang="en-US" sz="3200" dirty="0"/>
              <a:t>Quantitative Finance Preliminaries</a:t>
            </a:r>
          </a:p>
        </p:txBody>
      </p:sp>
      <p:sp>
        <p:nvSpPr>
          <p:cNvPr id="5" name="Content Placeholder 2"/>
          <p:cNvSpPr>
            <a:spLocks noGrp="1"/>
          </p:cNvSpPr>
          <p:nvPr>
            <p:ph idx="1"/>
          </p:nvPr>
        </p:nvSpPr>
        <p:spPr>
          <a:xfrm>
            <a:off x="0" y="1219200"/>
            <a:ext cx="9144000" cy="5638800"/>
          </a:xfrm>
        </p:spPr>
        <p:txBody>
          <a:bodyPr>
            <a:normAutofit/>
          </a:bodyPr>
          <a:lstStyle/>
          <a:p>
            <a:pPr>
              <a:buAutoNum type="arabicParenR"/>
            </a:pPr>
            <a:r>
              <a:rPr lang="en-US" sz="2800" dirty="0"/>
              <a:t>Securities and issuers</a:t>
            </a:r>
          </a:p>
          <a:p>
            <a:pPr>
              <a:buAutoNum type="arabicParenR"/>
            </a:pPr>
            <a:endParaRPr lang="en-US" sz="2800" dirty="0"/>
          </a:p>
          <a:p>
            <a:pPr>
              <a:buAutoNum type="arabicParenR"/>
            </a:pPr>
            <a:r>
              <a:rPr lang="en-US" sz="2800" dirty="0"/>
              <a:t>Players and participants</a:t>
            </a:r>
          </a:p>
          <a:p>
            <a:pPr>
              <a:buAutoNum type="arabicParenR"/>
            </a:pPr>
            <a:endParaRPr lang="en-US" sz="2800" dirty="0"/>
          </a:p>
          <a:p>
            <a:pPr>
              <a:buAutoNum type="arabicParenR"/>
            </a:pPr>
            <a:r>
              <a:rPr lang="en-US" sz="2800" dirty="0"/>
              <a:t>Measurement and data</a:t>
            </a:r>
          </a:p>
          <a:p>
            <a:pPr>
              <a:buAutoNum type="arabicParenR"/>
            </a:pPr>
            <a:endParaRPr lang="en-US" sz="2800" dirty="0"/>
          </a:p>
          <a:p>
            <a:pPr>
              <a:buAutoNum type="arabicParenR"/>
            </a:pPr>
            <a:r>
              <a:rPr lang="en-US" sz="2800" dirty="0"/>
              <a:t>Concepts</a:t>
            </a:r>
          </a:p>
        </p:txBody>
      </p:sp>
    </p:spTree>
    <p:extLst>
      <p:ext uri="{BB962C8B-B14F-4D97-AF65-F5344CB8AC3E}">
        <p14:creationId xmlns:p14="http://schemas.microsoft.com/office/powerpoint/2010/main" val="1550171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4138"/>
            <a:ext cx="8686800" cy="762000"/>
          </a:xfrm>
        </p:spPr>
        <p:txBody>
          <a:bodyPr>
            <a:noAutofit/>
          </a:bodyPr>
          <a:lstStyle/>
          <a:p>
            <a:r>
              <a:rPr lang="en-US" sz="3200" dirty="0"/>
              <a:t>Issuers and Securities</a:t>
            </a:r>
          </a:p>
        </p:txBody>
      </p:sp>
      <p:sp>
        <p:nvSpPr>
          <p:cNvPr id="5" name="Content Placeholder 2"/>
          <p:cNvSpPr>
            <a:spLocks noGrp="1"/>
          </p:cNvSpPr>
          <p:nvPr>
            <p:ph idx="1"/>
          </p:nvPr>
        </p:nvSpPr>
        <p:spPr>
          <a:xfrm>
            <a:off x="0" y="914400"/>
            <a:ext cx="9144000" cy="5943600"/>
          </a:xfrm>
        </p:spPr>
        <p:txBody>
          <a:bodyPr>
            <a:normAutofit fontScale="92500" lnSpcReduction="20000"/>
          </a:bodyPr>
          <a:lstStyle/>
          <a:p>
            <a:r>
              <a:rPr lang="en-US" sz="1900" u="sng" dirty="0"/>
              <a:t>Governments</a:t>
            </a:r>
            <a:r>
              <a:rPr lang="en-US" sz="1900" dirty="0"/>
              <a:t>: </a:t>
            </a:r>
            <a:r>
              <a:rPr lang="en-US" sz="1900" b="1" dirty="0"/>
              <a:t>bills</a:t>
            </a:r>
            <a:r>
              <a:rPr lang="en-US" sz="1900" dirty="0"/>
              <a:t> (&lt;= 1 year maturity) and </a:t>
            </a:r>
            <a:r>
              <a:rPr lang="en-US" sz="1900" b="1" dirty="0"/>
              <a:t>bonds</a:t>
            </a:r>
            <a:r>
              <a:rPr lang="en-US" sz="1900" dirty="0"/>
              <a:t> (&gt; 1 year maturity)</a:t>
            </a:r>
          </a:p>
          <a:p>
            <a:pPr lvl="1"/>
            <a:r>
              <a:rPr lang="en-US" sz="1900" dirty="0"/>
              <a:t>Promise to pay face value (e.g., 10,000 at </a:t>
            </a:r>
            <a:r>
              <a:rPr lang="en-US" sz="1900" i="1" dirty="0"/>
              <a:t>maturity date</a:t>
            </a:r>
            <a:r>
              <a:rPr lang="en-US" sz="1900" dirty="0"/>
              <a:t>, plus </a:t>
            </a:r>
            <a:r>
              <a:rPr lang="en-US" sz="1900" i="1" dirty="0"/>
              <a:t>coupons</a:t>
            </a:r>
            <a:r>
              <a:rPr lang="en-US" sz="1900" dirty="0"/>
              <a:t> along the way, e.g., 3% annual coupon of face paid semi-annually)</a:t>
            </a:r>
          </a:p>
          <a:p>
            <a:pPr lvl="1"/>
            <a:r>
              <a:rPr lang="en-US" sz="1900" dirty="0"/>
              <a:t>Riskless (or near-riskless) for some, </a:t>
            </a:r>
            <a:r>
              <a:rPr lang="en-US" sz="1900" i="1" dirty="0"/>
              <a:t>credit risk</a:t>
            </a:r>
            <a:r>
              <a:rPr lang="en-US" sz="1900" dirty="0"/>
              <a:t>, also called </a:t>
            </a:r>
            <a:r>
              <a:rPr lang="en-US" sz="1900" i="1" dirty="0"/>
              <a:t>sovereign credit risk </a:t>
            </a:r>
            <a:r>
              <a:rPr lang="en-US" sz="1900" dirty="0"/>
              <a:t>for others.</a:t>
            </a:r>
          </a:p>
          <a:p>
            <a:pPr lvl="1"/>
            <a:r>
              <a:rPr lang="en-US" sz="1900" dirty="0"/>
              <a:t>Implied average return is called </a:t>
            </a:r>
            <a:r>
              <a:rPr lang="en-US" sz="1900" i="1" dirty="0"/>
              <a:t>yield-to-maturity</a:t>
            </a:r>
            <a:r>
              <a:rPr lang="en-US" sz="1900" dirty="0"/>
              <a:t>, varies with time to maturity and sovereign credit risk</a:t>
            </a:r>
          </a:p>
          <a:p>
            <a:pPr lvl="1"/>
            <a:r>
              <a:rPr lang="en-US" sz="1900" dirty="0"/>
              <a:t>Yield curve is plot of maturity against yield</a:t>
            </a:r>
          </a:p>
          <a:p>
            <a:pPr lvl="1"/>
            <a:endParaRPr lang="en-US" sz="1900" dirty="0"/>
          </a:p>
          <a:p>
            <a:r>
              <a:rPr lang="en-US" sz="1900" u="sng" dirty="0"/>
              <a:t>Corporations (privately held and publicly held, i.e., exchange-traded)</a:t>
            </a:r>
          </a:p>
          <a:p>
            <a:pPr lvl="1"/>
            <a:r>
              <a:rPr lang="en-US" sz="1900" dirty="0"/>
              <a:t>Issue commercial paper (short-term borrowing against assets)</a:t>
            </a:r>
          </a:p>
          <a:p>
            <a:pPr lvl="1"/>
            <a:r>
              <a:rPr lang="en-US" sz="1900" dirty="0"/>
              <a:t>Issue </a:t>
            </a:r>
            <a:r>
              <a:rPr lang="en-US" sz="1900" b="1" dirty="0"/>
              <a:t>bonds</a:t>
            </a:r>
          </a:p>
          <a:p>
            <a:pPr lvl="1"/>
            <a:r>
              <a:rPr lang="en-US" sz="1900" dirty="0"/>
              <a:t>Also borrow from banks</a:t>
            </a:r>
          </a:p>
          <a:p>
            <a:pPr lvl="1"/>
            <a:r>
              <a:rPr lang="en-US" sz="1900" dirty="0"/>
              <a:t>Issue </a:t>
            </a:r>
            <a:r>
              <a:rPr lang="en-US" sz="1900" b="1" dirty="0"/>
              <a:t>stock</a:t>
            </a:r>
            <a:r>
              <a:rPr lang="en-US" sz="1900" dirty="0"/>
              <a:t>, also called equity</a:t>
            </a:r>
          </a:p>
          <a:p>
            <a:pPr lvl="1"/>
            <a:r>
              <a:rPr lang="en-US" sz="1900" dirty="0"/>
              <a:t>Valuation identity for the corporation: Asset value V = B + S</a:t>
            </a:r>
          </a:p>
          <a:p>
            <a:pPr lvl="2"/>
            <a:r>
              <a:rPr lang="en-US" sz="1900" dirty="0"/>
              <a:t>B is value of all borrowing, S is value of stock</a:t>
            </a:r>
          </a:p>
          <a:p>
            <a:pPr lvl="2"/>
            <a:r>
              <a:rPr lang="en-US" sz="1900" dirty="0"/>
              <a:t>Stock holders are “residual claimants,” have claims over value of assets once borrowers are paid</a:t>
            </a:r>
          </a:p>
          <a:p>
            <a:pPr lvl="2"/>
            <a:r>
              <a:rPr lang="en-US" sz="1900" dirty="0"/>
              <a:t>Stockholders can gain from </a:t>
            </a:r>
            <a:r>
              <a:rPr lang="en-US" sz="1900" i="1" dirty="0"/>
              <a:t>dividends</a:t>
            </a:r>
            <a:r>
              <a:rPr lang="en-US" sz="1900" dirty="0"/>
              <a:t>, and gains in value of stock (</a:t>
            </a:r>
            <a:r>
              <a:rPr lang="en-US" sz="1900" i="1" dirty="0"/>
              <a:t>capital appreciation</a:t>
            </a:r>
            <a:r>
              <a:rPr lang="en-US" sz="1900" dirty="0"/>
              <a:t>)</a:t>
            </a:r>
          </a:p>
          <a:p>
            <a:pPr lvl="2"/>
            <a:r>
              <a:rPr lang="en-US" sz="1900" dirty="0"/>
              <a:t>Corporations can issue new securities and repurchase securities, sometimes requiring shareholder approval</a:t>
            </a:r>
          </a:p>
          <a:p>
            <a:pPr marL="914400" lvl="2" indent="0">
              <a:buNone/>
            </a:pPr>
            <a:endParaRPr lang="en-US" sz="1900" dirty="0"/>
          </a:p>
          <a:p>
            <a:pPr marL="0" indent="0">
              <a:buNone/>
            </a:pPr>
            <a:endParaRPr lang="en-US" sz="2000" dirty="0"/>
          </a:p>
        </p:txBody>
      </p:sp>
    </p:spTree>
    <p:extLst>
      <p:ext uri="{BB962C8B-B14F-4D97-AF65-F5344CB8AC3E}">
        <p14:creationId xmlns:p14="http://schemas.microsoft.com/office/powerpoint/2010/main" val="412551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4138"/>
            <a:ext cx="8686800" cy="762000"/>
          </a:xfrm>
        </p:spPr>
        <p:txBody>
          <a:bodyPr>
            <a:noAutofit/>
          </a:bodyPr>
          <a:lstStyle/>
          <a:p>
            <a:r>
              <a:rPr lang="en-US" sz="3200" dirty="0"/>
              <a:t>Issuers and Securities</a:t>
            </a:r>
          </a:p>
        </p:txBody>
      </p:sp>
      <p:sp>
        <p:nvSpPr>
          <p:cNvPr id="5" name="Content Placeholder 2"/>
          <p:cNvSpPr>
            <a:spLocks noGrp="1"/>
          </p:cNvSpPr>
          <p:nvPr>
            <p:ph idx="1"/>
          </p:nvPr>
        </p:nvSpPr>
        <p:spPr>
          <a:xfrm>
            <a:off x="0" y="914400"/>
            <a:ext cx="9144000" cy="5943600"/>
          </a:xfrm>
        </p:spPr>
        <p:txBody>
          <a:bodyPr>
            <a:normAutofit/>
          </a:bodyPr>
          <a:lstStyle/>
          <a:p>
            <a:r>
              <a:rPr lang="en-US" sz="1800" u="sng" dirty="0"/>
              <a:t>Trusts and funds</a:t>
            </a:r>
            <a:r>
              <a:rPr lang="en-US" sz="1800" dirty="0"/>
              <a:t>: e.g., ETF, REIT, mutual fund</a:t>
            </a:r>
          </a:p>
          <a:p>
            <a:pPr lvl="1"/>
            <a:r>
              <a:rPr lang="en-US" sz="1800" dirty="0"/>
              <a:t>Hold securities of other companies, and/or real assets and issue other securities which are claims against the trust or fund and whose value moves (or tends to move) with the value of the underlying asset</a:t>
            </a:r>
          </a:p>
          <a:p>
            <a:pPr marL="457200" lvl="1" indent="0">
              <a:buNone/>
            </a:pPr>
            <a:endParaRPr lang="en-US" sz="1800" dirty="0"/>
          </a:p>
          <a:p>
            <a:r>
              <a:rPr lang="en-US" sz="1800" u="sng" dirty="0"/>
              <a:t>Side bets between market participants</a:t>
            </a:r>
            <a:r>
              <a:rPr lang="en-US" sz="1800" dirty="0"/>
              <a:t>: e.g., options, futures, etc.</a:t>
            </a:r>
            <a:endParaRPr lang="en-US" sz="1800" u="sng" dirty="0"/>
          </a:p>
          <a:p>
            <a:pPr lvl="1"/>
            <a:r>
              <a:rPr lang="en-US" sz="1800" dirty="0"/>
              <a:t>Contracts written between two market participants whose payoff depends on value of some underlying security</a:t>
            </a:r>
          </a:p>
          <a:p>
            <a:pPr lvl="1"/>
            <a:r>
              <a:rPr lang="en-US" sz="1800" dirty="0"/>
              <a:t>Market-traded (e.g., CBOE, CME) and “over-the-counter” or OTC (e.g., many swaps)</a:t>
            </a:r>
          </a:p>
          <a:p>
            <a:pPr marL="914400" lvl="2" indent="0">
              <a:buNone/>
            </a:pPr>
            <a:endParaRPr lang="en-US" sz="1600" dirty="0"/>
          </a:p>
          <a:p>
            <a:pPr marL="0" indent="0">
              <a:buNone/>
            </a:pPr>
            <a:endParaRPr lang="en-US" sz="2000" dirty="0"/>
          </a:p>
        </p:txBody>
      </p:sp>
    </p:spTree>
    <p:extLst>
      <p:ext uri="{BB962C8B-B14F-4D97-AF65-F5344CB8AC3E}">
        <p14:creationId xmlns:p14="http://schemas.microsoft.com/office/powerpoint/2010/main" val="118500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715962"/>
          </a:xfrm>
        </p:spPr>
        <p:txBody>
          <a:bodyPr>
            <a:normAutofit fontScale="90000"/>
          </a:bodyPr>
          <a:lstStyle/>
          <a:p>
            <a:r>
              <a:rPr lang="en-US" dirty="0"/>
              <a:t>A View of Players and Participants</a:t>
            </a:r>
          </a:p>
        </p:txBody>
      </p:sp>
      <p:sp>
        <p:nvSpPr>
          <p:cNvPr id="3" name="Content Placeholder 2"/>
          <p:cNvSpPr>
            <a:spLocks noGrp="1"/>
          </p:cNvSpPr>
          <p:nvPr>
            <p:ph idx="1"/>
          </p:nvPr>
        </p:nvSpPr>
        <p:spPr>
          <a:xfrm>
            <a:off x="381000" y="4724400"/>
            <a:ext cx="8534400" cy="1775619"/>
          </a:xfrm>
        </p:spPr>
        <p:txBody>
          <a:bodyPr>
            <a:normAutofit lnSpcReduction="10000"/>
          </a:bodyPr>
          <a:lstStyle/>
          <a:p>
            <a:pPr marL="0" indent="0">
              <a:buNone/>
            </a:pPr>
            <a:r>
              <a:rPr lang="en-US" sz="2000" u="sng" dirty="0"/>
              <a:t>Background drivers</a:t>
            </a:r>
          </a:p>
          <a:p>
            <a:r>
              <a:rPr lang="en-US" sz="2000" dirty="0"/>
              <a:t>Macro</a:t>
            </a:r>
          </a:p>
          <a:p>
            <a:r>
              <a:rPr lang="en-US" sz="2000" dirty="0"/>
              <a:t>IO: “Industrial Organization”</a:t>
            </a:r>
          </a:p>
          <a:p>
            <a:r>
              <a:rPr lang="en-US" sz="2000" dirty="0"/>
              <a:t>Everything else: technology, demographics, politics &amp; international relations, health, climate, etc.</a:t>
            </a:r>
          </a:p>
          <a:p>
            <a:endParaRPr lang="en-US" sz="2000" dirty="0"/>
          </a:p>
        </p:txBody>
      </p:sp>
      <p:sp>
        <p:nvSpPr>
          <p:cNvPr id="4" name="Oval 3"/>
          <p:cNvSpPr/>
          <p:nvPr/>
        </p:nvSpPr>
        <p:spPr>
          <a:xfrm>
            <a:off x="236483" y="1196810"/>
            <a:ext cx="2743200" cy="281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Corporate Finance/ “Sell Side”</a:t>
            </a:r>
          </a:p>
        </p:txBody>
      </p:sp>
      <p:sp>
        <p:nvSpPr>
          <p:cNvPr id="5" name="Oval 4"/>
          <p:cNvSpPr/>
          <p:nvPr/>
        </p:nvSpPr>
        <p:spPr>
          <a:xfrm>
            <a:off x="6019800" y="1295400"/>
            <a:ext cx="2743200" cy="2819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Investments/</a:t>
            </a:r>
          </a:p>
          <a:p>
            <a:pPr algn="ctr"/>
            <a:r>
              <a:rPr lang="en-CA" dirty="0"/>
              <a:t>Asset Pricing/</a:t>
            </a:r>
          </a:p>
          <a:p>
            <a:pPr algn="ctr"/>
            <a:r>
              <a:rPr lang="en-CA" dirty="0"/>
              <a:t> </a:t>
            </a:r>
            <a:r>
              <a:rPr lang="en-CA"/>
              <a:t>“Buy Side</a:t>
            </a:r>
            <a:r>
              <a:rPr lang="en-CA" dirty="0"/>
              <a:t>”</a:t>
            </a:r>
          </a:p>
        </p:txBody>
      </p:sp>
      <p:sp>
        <p:nvSpPr>
          <p:cNvPr id="6" name="Left-Right Arrow 5"/>
          <p:cNvSpPr/>
          <p:nvPr/>
        </p:nvSpPr>
        <p:spPr>
          <a:xfrm>
            <a:off x="3280541" y="2047884"/>
            <a:ext cx="2438400" cy="1117252"/>
          </a:xfrm>
          <a:prstGeom prst="lef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dirty="0"/>
              <a:t>Financial Markets &amp; Intermediaries</a:t>
            </a:r>
          </a:p>
        </p:txBody>
      </p:sp>
    </p:spTree>
    <p:extLst>
      <p:ext uri="{BB962C8B-B14F-4D97-AF65-F5344CB8AC3E}">
        <p14:creationId xmlns:p14="http://schemas.microsoft.com/office/powerpoint/2010/main" val="1093488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additive="base">
                                        <p:cTn id="2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 calcmode="lin" valueType="num">
                                      <p:cBhvr additive="base">
                                        <p:cTn id="2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86800" cy="914400"/>
          </a:xfrm>
        </p:spPr>
        <p:txBody>
          <a:bodyPr>
            <a:normAutofit/>
          </a:bodyPr>
          <a:lstStyle/>
          <a:p>
            <a:r>
              <a:rPr lang="en-US" dirty="0"/>
              <a:t>Another View of Players/Participants</a:t>
            </a:r>
          </a:p>
        </p:txBody>
      </p:sp>
      <p:sp>
        <p:nvSpPr>
          <p:cNvPr id="3" name="Content Placeholder 2"/>
          <p:cNvSpPr>
            <a:spLocks noGrp="1"/>
          </p:cNvSpPr>
          <p:nvPr>
            <p:ph idx="1"/>
          </p:nvPr>
        </p:nvSpPr>
        <p:spPr>
          <a:xfrm>
            <a:off x="0" y="990600"/>
            <a:ext cx="9144000" cy="5867400"/>
          </a:xfrm>
        </p:spPr>
        <p:txBody>
          <a:bodyPr>
            <a:normAutofit/>
          </a:bodyPr>
          <a:lstStyle/>
          <a:p>
            <a:pPr marL="0" indent="0">
              <a:buNone/>
            </a:pPr>
            <a:r>
              <a:rPr lang="en-US" dirty="0"/>
              <a:t> </a:t>
            </a:r>
          </a:p>
          <a:p>
            <a:r>
              <a:rPr lang="en-US" sz="2400" dirty="0"/>
              <a:t>Types of Market Participant by Horizon</a:t>
            </a:r>
          </a:p>
          <a:p>
            <a:pPr lvl="1"/>
            <a:endParaRPr lang="en-US" sz="2400" dirty="0"/>
          </a:p>
          <a:p>
            <a:pPr lvl="1"/>
            <a:r>
              <a:rPr lang="en-US" sz="2400" dirty="0"/>
              <a:t>Low Frequency / Long-term horizon</a:t>
            </a:r>
          </a:p>
          <a:p>
            <a:pPr marL="457200" lvl="1" indent="0">
              <a:buNone/>
            </a:pPr>
            <a:endParaRPr lang="en-US" sz="2400" dirty="0"/>
          </a:p>
          <a:p>
            <a:pPr lvl="1"/>
            <a:r>
              <a:rPr lang="en-US" sz="2400" dirty="0"/>
              <a:t>Medium-term horizon</a:t>
            </a:r>
          </a:p>
          <a:p>
            <a:pPr lvl="1"/>
            <a:endParaRPr lang="en-US" sz="2400" dirty="0"/>
          </a:p>
          <a:p>
            <a:pPr lvl="1"/>
            <a:r>
              <a:rPr lang="en-US" sz="2400" dirty="0"/>
              <a:t>High Frequency / short-term horizon</a:t>
            </a:r>
          </a:p>
          <a:p>
            <a:pPr lvl="1"/>
            <a:endParaRPr lang="en-US" sz="2400" dirty="0"/>
          </a:p>
          <a:p>
            <a:endParaRPr lang="en-US" sz="2400" dirty="0"/>
          </a:p>
          <a:p>
            <a:r>
              <a:rPr lang="en-US" sz="2400" dirty="0"/>
              <a:t>Where does quantitative finance fit in?</a:t>
            </a:r>
          </a:p>
          <a:p>
            <a:pPr marL="914400" lvl="2" indent="0">
              <a:buNone/>
            </a:pPr>
            <a:endParaRPr lang="en-US" dirty="0"/>
          </a:p>
          <a:p>
            <a:pPr marL="914400" lvl="2" indent="0">
              <a:buNone/>
            </a:pPr>
            <a:endParaRPr lang="en-US" dirty="0"/>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1679793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86800" cy="914400"/>
          </a:xfrm>
        </p:spPr>
        <p:txBody>
          <a:bodyPr>
            <a:noAutofit/>
          </a:bodyPr>
          <a:lstStyle/>
          <a:p>
            <a:r>
              <a:rPr lang="en-US" sz="3200" dirty="0"/>
              <a:t>Financial Markets: Many Types of Participants Using a Variety of Tools</a:t>
            </a:r>
          </a:p>
        </p:txBody>
      </p:sp>
      <p:sp>
        <p:nvSpPr>
          <p:cNvPr id="3" name="Content Placeholder 2"/>
          <p:cNvSpPr>
            <a:spLocks noGrp="1"/>
          </p:cNvSpPr>
          <p:nvPr>
            <p:ph idx="1"/>
          </p:nvPr>
        </p:nvSpPr>
        <p:spPr>
          <a:xfrm rot="16200000">
            <a:off x="1185402" y="3648944"/>
            <a:ext cx="2305050" cy="381007"/>
          </a:xfrm>
        </p:spPr>
        <p:txBody>
          <a:bodyPr>
            <a:noAutofit/>
          </a:bodyPr>
          <a:lstStyle/>
          <a:p>
            <a:pPr marL="0" indent="0">
              <a:buNone/>
            </a:pPr>
            <a:r>
              <a:rPr lang="en-US" sz="2000" dirty="0"/>
              <a:t> </a:t>
            </a:r>
            <a:r>
              <a:rPr lang="en-US" sz="2400" dirty="0"/>
              <a:t>Investor Horizon</a:t>
            </a:r>
          </a:p>
          <a:p>
            <a:pPr marL="914400" lvl="2" indent="0">
              <a:buNone/>
            </a:pPr>
            <a:endParaRPr lang="en-US" dirty="0"/>
          </a:p>
          <a:p>
            <a:pPr marL="914400" lvl="2" indent="0">
              <a:buNone/>
            </a:pPr>
            <a:endParaRPr lang="en-US" dirty="0"/>
          </a:p>
          <a:p>
            <a:endParaRPr lang="en-US" dirty="0"/>
          </a:p>
          <a:p>
            <a:pPr marL="0" indent="0">
              <a:buNone/>
            </a:pPr>
            <a:endParaRPr lang="en-US" dirty="0"/>
          </a:p>
          <a:p>
            <a:endParaRPr lang="en-US" dirty="0"/>
          </a:p>
        </p:txBody>
      </p:sp>
      <p:cxnSp>
        <p:nvCxnSpPr>
          <p:cNvPr id="6" name="Straight Arrow Connector 5">
            <a:extLst>
              <a:ext uri="{FF2B5EF4-FFF2-40B4-BE49-F238E27FC236}">
                <a16:creationId xmlns:a16="http://schemas.microsoft.com/office/drawing/2014/main" id="{D62F7EE0-21D8-4F91-BDC8-E4400932A18C}"/>
              </a:ext>
            </a:extLst>
          </p:cNvPr>
          <p:cNvCxnSpPr/>
          <p:nvPr/>
        </p:nvCxnSpPr>
        <p:spPr>
          <a:xfrm>
            <a:off x="2637411" y="5563486"/>
            <a:ext cx="4389120" cy="0"/>
          </a:xfrm>
          <a:prstGeom prst="straightConnector1">
            <a:avLst/>
          </a:prstGeom>
          <a:ln w="38100" cap="flat" cmpd="sng" algn="ctr">
            <a:solidFill>
              <a:schemeClr val="dk1"/>
            </a:solidFill>
            <a:prstDash val="solid"/>
            <a:round/>
            <a:headEnd type="none" w="med" len="med"/>
            <a:tailEnd type="arrow" w="lg" len="med"/>
          </a:ln>
        </p:spPr>
        <p:style>
          <a:lnRef idx="0">
            <a:scrgbClr r="0" g="0" b="0"/>
          </a:lnRef>
          <a:fillRef idx="0">
            <a:scrgbClr r="0" g="0" b="0"/>
          </a:fillRef>
          <a:effectRef idx="0">
            <a:scrgbClr r="0" g="0" b="0"/>
          </a:effectRef>
          <a:fontRef idx="minor">
            <a:schemeClr val="tx1"/>
          </a:fontRef>
        </p:style>
      </p:cxnSp>
      <p:cxnSp>
        <p:nvCxnSpPr>
          <p:cNvPr id="7" name="Straight Arrow Connector 6">
            <a:extLst>
              <a:ext uri="{FF2B5EF4-FFF2-40B4-BE49-F238E27FC236}">
                <a16:creationId xmlns:a16="http://schemas.microsoft.com/office/drawing/2014/main" id="{43B90DFE-1F6E-43EE-A2EF-2F3483E86DFD}"/>
              </a:ext>
            </a:extLst>
          </p:cNvPr>
          <p:cNvCxnSpPr>
            <a:cxnSpLocks/>
          </p:cNvCxnSpPr>
          <p:nvPr/>
        </p:nvCxnSpPr>
        <p:spPr>
          <a:xfrm flipH="1" flipV="1">
            <a:off x="2623588" y="1981200"/>
            <a:ext cx="13823" cy="3582286"/>
          </a:xfrm>
          <a:prstGeom prst="straightConnector1">
            <a:avLst/>
          </a:prstGeom>
          <a:ln w="38100" cap="flat" cmpd="sng" algn="ctr">
            <a:solidFill>
              <a:schemeClr val="dk1"/>
            </a:solidFill>
            <a:prstDash val="solid"/>
            <a:round/>
            <a:headEnd type="none" w="med" len="med"/>
            <a:tailEnd type="arrow" w="lg" len="med"/>
          </a:ln>
        </p:spPr>
        <p:style>
          <a:lnRef idx="0">
            <a:scrgbClr r="0" g="0" b="0"/>
          </a:lnRef>
          <a:fillRef idx="0">
            <a:scrgbClr r="0" g="0" b="0"/>
          </a:fillRef>
          <a:effectRef idx="0">
            <a:scrgbClr r="0" g="0" b="0"/>
          </a:effectRef>
          <a:fontRef idx="minor">
            <a:schemeClr val="tx1"/>
          </a:fontRef>
        </p:style>
      </p:cxnSp>
      <p:sp>
        <p:nvSpPr>
          <p:cNvPr id="10" name="Content Placeholder 2">
            <a:extLst>
              <a:ext uri="{FF2B5EF4-FFF2-40B4-BE49-F238E27FC236}">
                <a16:creationId xmlns:a16="http://schemas.microsoft.com/office/drawing/2014/main" id="{9F2A2E9E-44A5-4BB9-A6DD-01CE983F6177}"/>
              </a:ext>
            </a:extLst>
          </p:cNvPr>
          <p:cNvSpPr txBox="1">
            <a:spLocks/>
          </p:cNvSpPr>
          <p:nvPr/>
        </p:nvSpPr>
        <p:spPr>
          <a:xfrm>
            <a:off x="547223" y="5220586"/>
            <a:ext cx="2209798" cy="381000"/>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 </a:t>
            </a:r>
            <a:r>
              <a:rPr kumimoji="0" lang="en-US" sz="3200" b="0" i="0" u="none" strike="noStrike" kern="1200" cap="none" spc="0" normalizeH="0" baseline="0" noProof="0" dirty="0">
                <a:ln>
                  <a:noFill/>
                </a:ln>
                <a:solidFill>
                  <a:srgbClr val="00B0F0"/>
                </a:solidFill>
                <a:effectLst/>
                <a:uLnTx/>
                <a:uFillTx/>
                <a:latin typeface="Calibri"/>
                <a:ea typeface="+mn-ea"/>
                <a:cs typeface="+mn-cs"/>
              </a:rPr>
              <a:t>Short Horizon</a:t>
            </a: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Content Placeholder 2">
            <a:extLst>
              <a:ext uri="{FF2B5EF4-FFF2-40B4-BE49-F238E27FC236}">
                <a16:creationId xmlns:a16="http://schemas.microsoft.com/office/drawing/2014/main" id="{D4463600-B116-4350-B732-161D819889A2}"/>
              </a:ext>
            </a:extLst>
          </p:cNvPr>
          <p:cNvSpPr txBox="1">
            <a:spLocks/>
          </p:cNvSpPr>
          <p:nvPr/>
        </p:nvSpPr>
        <p:spPr>
          <a:xfrm>
            <a:off x="533400" y="2019298"/>
            <a:ext cx="2209798" cy="381000"/>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rgbClr val="00B0F0"/>
                </a:solidFill>
                <a:effectLst/>
                <a:uLnTx/>
                <a:uFillTx/>
                <a:latin typeface="Calibri"/>
                <a:ea typeface="+mn-ea"/>
                <a:cs typeface="+mn-cs"/>
              </a:rPr>
              <a:t> Long Horizon</a:t>
            </a: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13" name="Straight Arrow Connector 12">
            <a:extLst>
              <a:ext uri="{FF2B5EF4-FFF2-40B4-BE49-F238E27FC236}">
                <a16:creationId xmlns:a16="http://schemas.microsoft.com/office/drawing/2014/main" id="{0DB1FD5A-F718-49E8-9DA2-20D700400BDB}"/>
              </a:ext>
            </a:extLst>
          </p:cNvPr>
          <p:cNvCxnSpPr>
            <a:cxnSpLocks/>
          </p:cNvCxnSpPr>
          <p:nvPr/>
        </p:nvCxnSpPr>
        <p:spPr>
          <a:xfrm>
            <a:off x="1502379" y="2400298"/>
            <a:ext cx="0" cy="2820288"/>
          </a:xfrm>
          <a:prstGeom prst="straightConnector1">
            <a:avLst/>
          </a:prstGeom>
          <a:ln w="28575">
            <a:solidFill>
              <a:srgbClr val="00B0F0"/>
            </a:solidFill>
            <a:headEnd type="arrow" w="med" len="lg"/>
            <a:tailEnd type="arrow" w="med" len="lg"/>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C5B4D8FE-ADA6-4449-8CDE-EDF6B4EA90AE}"/>
              </a:ext>
            </a:extLst>
          </p:cNvPr>
          <p:cNvSpPr txBox="1">
            <a:spLocks/>
          </p:cNvSpPr>
          <p:nvPr/>
        </p:nvSpPr>
        <p:spPr>
          <a:xfrm>
            <a:off x="3897369" y="5676900"/>
            <a:ext cx="2209799" cy="381007"/>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 Types of Tools</a:t>
            </a: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Content Placeholder 2">
            <a:extLst>
              <a:ext uri="{FF2B5EF4-FFF2-40B4-BE49-F238E27FC236}">
                <a16:creationId xmlns:a16="http://schemas.microsoft.com/office/drawing/2014/main" id="{1F87C5C1-04CC-4582-968A-35B9D8468CE4}"/>
              </a:ext>
            </a:extLst>
          </p:cNvPr>
          <p:cNvSpPr txBox="1">
            <a:spLocks/>
          </p:cNvSpPr>
          <p:nvPr/>
        </p:nvSpPr>
        <p:spPr>
          <a:xfrm>
            <a:off x="2199703" y="5964397"/>
            <a:ext cx="1115354" cy="609599"/>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 </a:t>
            </a:r>
            <a:r>
              <a:rPr kumimoji="0" lang="en-US" sz="3200" b="0" i="0" u="none" strike="noStrike" kern="1200" cap="none" spc="0" normalizeH="0" baseline="0" noProof="0" dirty="0">
                <a:ln>
                  <a:noFill/>
                </a:ln>
                <a:solidFill>
                  <a:srgbClr val="00B050"/>
                </a:solidFill>
                <a:effectLst/>
                <a:uLnTx/>
                <a:uFillTx/>
                <a:latin typeface="Calibri"/>
                <a:ea typeface="+mn-ea"/>
                <a:cs typeface="+mn-cs"/>
              </a:rPr>
              <a:t>Quant/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rgbClr val="00B050"/>
                </a:solidFill>
                <a:effectLst/>
                <a:uLnTx/>
                <a:uFillTx/>
                <a:latin typeface="Calibri"/>
                <a:ea typeface="+mn-ea"/>
                <a:cs typeface="+mn-cs"/>
              </a:rPr>
              <a:t>Big Data</a:t>
            </a: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Content Placeholder 2">
            <a:extLst>
              <a:ext uri="{FF2B5EF4-FFF2-40B4-BE49-F238E27FC236}">
                <a16:creationId xmlns:a16="http://schemas.microsoft.com/office/drawing/2014/main" id="{A8A503EF-BA32-4CAD-AC7D-15C8CA38958F}"/>
              </a:ext>
            </a:extLst>
          </p:cNvPr>
          <p:cNvSpPr txBox="1">
            <a:spLocks/>
          </p:cNvSpPr>
          <p:nvPr/>
        </p:nvSpPr>
        <p:spPr>
          <a:xfrm>
            <a:off x="6353135" y="6057907"/>
            <a:ext cx="1509288" cy="609600"/>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 </a:t>
            </a:r>
            <a:r>
              <a:rPr kumimoji="0" lang="en-US" sz="3200" b="0" i="0" u="none" strike="noStrike" kern="1200" cap="none" spc="0" normalizeH="0" baseline="0" noProof="0" dirty="0">
                <a:ln>
                  <a:noFill/>
                </a:ln>
                <a:solidFill>
                  <a:srgbClr val="00B050"/>
                </a:solidFill>
                <a:effectLst/>
                <a:uLnTx/>
                <a:uFillTx/>
                <a:latin typeface="Calibri"/>
                <a:ea typeface="+mn-ea"/>
                <a:cs typeface="+mn-cs"/>
              </a:rPr>
              <a:t>Qualitative /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rgbClr val="00B050"/>
                </a:solidFill>
                <a:effectLst/>
                <a:uLnTx/>
                <a:uFillTx/>
                <a:latin typeface="Calibri"/>
                <a:ea typeface="+mn-ea"/>
                <a:cs typeface="+mn-cs"/>
              </a:rPr>
              <a:t>Conceptual</a:t>
            </a: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914400" marR="0" lvl="2"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21" name="Straight Arrow Connector 20">
            <a:extLst>
              <a:ext uri="{FF2B5EF4-FFF2-40B4-BE49-F238E27FC236}">
                <a16:creationId xmlns:a16="http://schemas.microsoft.com/office/drawing/2014/main" id="{5F4353EC-C9BA-4009-B924-0CC870C990FC}"/>
              </a:ext>
            </a:extLst>
          </p:cNvPr>
          <p:cNvCxnSpPr>
            <a:cxnSpLocks/>
          </p:cNvCxnSpPr>
          <p:nvPr/>
        </p:nvCxnSpPr>
        <p:spPr>
          <a:xfrm flipH="1">
            <a:off x="3214223" y="6285620"/>
            <a:ext cx="3138913" cy="0"/>
          </a:xfrm>
          <a:prstGeom prst="straightConnector1">
            <a:avLst/>
          </a:prstGeom>
          <a:ln w="28575">
            <a:solidFill>
              <a:srgbClr val="00B050"/>
            </a:solidFill>
            <a:headEnd type="arrow" w="med" len="lg"/>
            <a:tailEnd type="arrow"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83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7"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86800" cy="609600"/>
          </a:xfrm>
        </p:spPr>
        <p:txBody>
          <a:bodyPr>
            <a:noAutofit/>
          </a:bodyPr>
          <a:lstStyle/>
          <a:p>
            <a:r>
              <a:rPr lang="en-US" sz="3200" dirty="0"/>
              <a:t>Some Investment Categorizations/Tools</a:t>
            </a:r>
          </a:p>
        </p:txBody>
      </p:sp>
      <p:sp>
        <p:nvSpPr>
          <p:cNvPr id="4" name="Content Placeholder 3"/>
          <p:cNvSpPr>
            <a:spLocks noGrp="1"/>
          </p:cNvSpPr>
          <p:nvPr>
            <p:ph idx="1"/>
          </p:nvPr>
        </p:nvSpPr>
        <p:spPr>
          <a:xfrm>
            <a:off x="228600" y="694112"/>
            <a:ext cx="8686800" cy="5935287"/>
          </a:xfrm>
        </p:spPr>
        <p:txBody>
          <a:bodyPr>
            <a:normAutofit/>
          </a:bodyPr>
          <a:lstStyle/>
          <a:p>
            <a:r>
              <a:rPr lang="en-US" sz="2400" dirty="0"/>
              <a:t>Active / passive</a:t>
            </a:r>
          </a:p>
          <a:p>
            <a:r>
              <a:rPr lang="en-US" sz="2400" dirty="0"/>
              <a:t>Quantitative</a:t>
            </a:r>
          </a:p>
          <a:p>
            <a:r>
              <a:rPr lang="en-US" sz="2400" dirty="0"/>
              <a:t>Macro / global macro</a:t>
            </a:r>
          </a:p>
          <a:p>
            <a:r>
              <a:rPr lang="en-US" sz="2400" dirty="0"/>
              <a:t>Long-short </a:t>
            </a:r>
          </a:p>
          <a:p>
            <a:r>
              <a:rPr lang="en-US" sz="2400" dirty="0"/>
              <a:t>Arbitrage</a:t>
            </a:r>
          </a:p>
          <a:p>
            <a:r>
              <a:rPr lang="en-US" sz="2400" dirty="0"/>
              <a:t>High-frequency</a:t>
            </a:r>
          </a:p>
          <a:p>
            <a:r>
              <a:rPr lang="en-US" sz="2400" dirty="0"/>
              <a:t>Style-focus (value vs. growth, size, quality)</a:t>
            </a:r>
          </a:p>
          <a:p>
            <a:r>
              <a:rPr lang="en-US" sz="2400" dirty="0"/>
              <a:t>Fundamental</a:t>
            </a:r>
          </a:p>
          <a:p>
            <a:r>
              <a:rPr lang="en-US" sz="2400" dirty="0"/>
              <a:t>Long-term</a:t>
            </a:r>
          </a:p>
          <a:p>
            <a:r>
              <a:rPr lang="en-US" sz="2400"/>
              <a:t>Activist</a:t>
            </a:r>
            <a:endParaRPr lang="en-US" sz="2400" dirty="0"/>
          </a:p>
          <a:p>
            <a:r>
              <a:rPr lang="en-US" sz="2400" dirty="0"/>
              <a:t>Thematic</a:t>
            </a:r>
          </a:p>
        </p:txBody>
      </p:sp>
    </p:spTree>
    <p:extLst>
      <p:ext uri="{BB962C8B-B14F-4D97-AF65-F5344CB8AC3E}">
        <p14:creationId xmlns:p14="http://schemas.microsoft.com/office/powerpoint/2010/main" val="1900753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686800" cy="685800"/>
          </a:xfrm>
        </p:spPr>
        <p:txBody>
          <a:bodyPr>
            <a:normAutofit fontScale="90000"/>
          </a:bodyPr>
          <a:lstStyle/>
          <a:p>
            <a:r>
              <a:rPr lang="en-US" sz="3200" dirty="0"/>
              <a:t>Conflict Between Practice of Investment Management and Finance Theory?</a:t>
            </a:r>
          </a:p>
        </p:txBody>
      </p:sp>
      <p:sp>
        <p:nvSpPr>
          <p:cNvPr id="3" name="Content Placeholder 2"/>
          <p:cNvSpPr>
            <a:spLocks noGrp="1"/>
          </p:cNvSpPr>
          <p:nvPr>
            <p:ph idx="1"/>
          </p:nvPr>
        </p:nvSpPr>
        <p:spPr>
          <a:xfrm>
            <a:off x="-20472" y="1219200"/>
            <a:ext cx="9144000" cy="5943600"/>
          </a:xfrm>
        </p:spPr>
        <p:txBody>
          <a:bodyPr>
            <a:normAutofit fontScale="62500" lnSpcReduction="20000"/>
          </a:bodyPr>
          <a:lstStyle/>
          <a:p>
            <a:r>
              <a:rPr lang="en-US" b="1" dirty="0"/>
              <a:t>Efficient Markets: </a:t>
            </a:r>
            <a:r>
              <a:rPr lang="en-US" dirty="0"/>
              <a:t>Assets priced “fairly” given available information </a:t>
            </a:r>
          </a:p>
          <a:p>
            <a:pPr lvl="1"/>
            <a:r>
              <a:rPr lang="en-US" dirty="0"/>
              <a:t>No free lunch</a:t>
            </a:r>
          </a:p>
          <a:p>
            <a:endParaRPr lang="en-US" dirty="0"/>
          </a:p>
          <a:p>
            <a:r>
              <a:rPr lang="en-US" b="1" dirty="0"/>
              <a:t>Arbitrage pricing / absence of arbitrage: </a:t>
            </a:r>
            <a:r>
              <a:rPr lang="en-US" dirty="0"/>
              <a:t>If I can replicate the payoffs on asset A using assets B and C, then I must be able to get the price of A from the prices of B and C</a:t>
            </a:r>
          </a:p>
          <a:p>
            <a:pPr lvl="1"/>
            <a:r>
              <a:rPr lang="en-US" dirty="0"/>
              <a:t>Example: Coupon-paying bond from zero-coupon “strips”</a:t>
            </a:r>
          </a:p>
          <a:p>
            <a:pPr lvl="1"/>
            <a:r>
              <a:rPr lang="en-US" dirty="0"/>
              <a:t>Cross-listed securities (e.g., US and Canadian)</a:t>
            </a:r>
          </a:p>
          <a:p>
            <a:pPr lvl="1"/>
            <a:r>
              <a:rPr lang="en-US" dirty="0"/>
              <a:t>Berkshire A and B shares</a:t>
            </a:r>
          </a:p>
          <a:p>
            <a:pPr lvl="1"/>
            <a:r>
              <a:rPr lang="en-US" dirty="0"/>
              <a:t>Futures prices from spot prices</a:t>
            </a:r>
          </a:p>
          <a:p>
            <a:pPr lvl="1"/>
            <a:r>
              <a:rPr lang="en-US" dirty="0"/>
              <a:t>Under some assumptions, option prices from underlying security prices</a:t>
            </a:r>
          </a:p>
          <a:p>
            <a:pPr lvl="1"/>
            <a:endParaRPr lang="en-US" dirty="0"/>
          </a:p>
          <a:p>
            <a:r>
              <a:rPr lang="en-US" dirty="0"/>
              <a:t>These theories are often misinterpreted, and do not mean we cannot make money in finance</a:t>
            </a:r>
          </a:p>
          <a:p>
            <a:pPr lvl="1"/>
            <a:r>
              <a:rPr lang="en-US" dirty="0"/>
              <a:t>“Fair” pricing includes compensation for risk, and no theory of finance says that risk or appetite for risk cannot change over time</a:t>
            </a:r>
          </a:p>
          <a:p>
            <a:pPr lvl="1"/>
            <a:r>
              <a:rPr lang="en-US" dirty="0"/>
              <a:t>Investor heterogeneity: differences in information, willingness to take risk, and willingness to take different types of risks</a:t>
            </a:r>
          </a:p>
          <a:p>
            <a:pPr lvl="1"/>
            <a:r>
              <a:rPr lang="en-US" dirty="0"/>
              <a:t>Market imperfections: Slow-moving capital and divergence between capital and knowledge of how to use it; behavioral biases</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4031270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 calcmode="lin" valueType="num">
                                      <p:cBhvr additive="base">
                                        <p:cTn id="3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 calcmode="lin" valueType="num">
                                      <p:cBhvr additive="base">
                                        <p:cTn id="4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anim calcmode="lin" valueType="num">
                                      <p:cBhvr additive="base">
                                        <p:cTn id="4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1309"/>
            <a:ext cx="8686800" cy="715962"/>
          </a:xfrm>
        </p:spPr>
        <p:txBody>
          <a:bodyPr>
            <a:normAutofit fontScale="90000"/>
          </a:bodyPr>
          <a:lstStyle/>
          <a:p>
            <a:r>
              <a:rPr lang="en-US" dirty="0"/>
              <a:t>Concept: Valuation</a:t>
            </a:r>
          </a:p>
        </p:txBody>
      </p:sp>
      <p:sp>
        <p:nvSpPr>
          <p:cNvPr id="3" name="Content Placeholder 2"/>
          <p:cNvSpPr>
            <a:spLocks noGrp="1"/>
          </p:cNvSpPr>
          <p:nvPr>
            <p:ph idx="1"/>
          </p:nvPr>
        </p:nvSpPr>
        <p:spPr>
          <a:xfrm>
            <a:off x="65669" y="685800"/>
            <a:ext cx="8622862" cy="1162831"/>
          </a:xfrm>
        </p:spPr>
        <p:txBody>
          <a:bodyPr>
            <a:normAutofit fontScale="92500" lnSpcReduction="20000"/>
          </a:bodyPr>
          <a:lstStyle/>
          <a:p>
            <a:pPr marL="0" indent="0">
              <a:buNone/>
            </a:pPr>
            <a:endParaRPr lang="en-US" sz="2000" dirty="0"/>
          </a:p>
          <a:p>
            <a:r>
              <a:rPr lang="en-US" sz="2000" dirty="0"/>
              <a:t>Any asset </a:t>
            </a:r>
            <a:r>
              <a:rPr lang="en-US" sz="2000" dirty="0" err="1"/>
              <a:t>i</a:t>
            </a:r>
            <a:r>
              <a:rPr lang="en-US" sz="2000" dirty="0"/>
              <a:t> with future cash flows </a:t>
            </a:r>
            <a:r>
              <a:rPr lang="en-US" sz="2000" dirty="0" err="1"/>
              <a:t>c_it</a:t>
            </a:r>
            <a:r>
              <a:rPr lang="en-US" sz="2000" dirty="0"/>
              <a:t> has a current price </a:t>
            </a:r>
            <a:r>
              <a:rPr lang="en-US" sz="2000" dirty="0" err="1"/>
              <a:t>P_it</a:t>
            </a:r>
            <a:r>
              <a:rPr lang="en-US" sz="2000" dirty="0"/>
              <a:t> that is determined by expected future cash flows and current risk-adjusted discount rates appropriate to those cash flows </a:t>
            </a:r>
          </a:p>
          <a:p>
            <a:pPr marL="0" indent="0">
              <a:buNone/>
            </a:pPr>
            <a:endParaRPr lang="en-US" sz="2000" dirty="0"/>
          </a:p>
          <a:p>
            <a:pPr marL="0" indent="0">
              <a:buNone/>
            </a:pPr>
            <a:endParaRPr lang="en-US" dirty="0"/>
          </a:p>
          <a:p>
            <a:pPr marL="0" indent="0">
              <a:buNone/>
            </a:pPr>
            <a:endParaRPr lang="en-US" dirty="0"/>
          </a:p>
        </p:txBody>
      </p:sp>
      <mc:AlternateContent xmlns:mc="http://schemas.openxmlformats.org/markup-compatibility/2006" xmlns:a14="http://schemas.microsoft.com/office/drawing/2010/main">
        <mc:Choice Requires="a14">
          <p:sp>
            <p:nvSpPr>
              <p:cNvPr id="6" name="Object 5"/>
              <p:cNvSpPr txBox="1"/>
              <p:nvPr/>
            </p:nvSpPr>
            <p:spPr>
              <a:xfrm>
                <a:off x="1524001" y="1846263"/>
                <a:ext cx="7164530" cy="2435259"/>
              </a:xfrm>
              <a:prstGeom prst="rect">
                <a:avLst/>
              </a:prstGeom>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𝑃</m:t>
                          </m:r>
                        </m:e>
                        <m:sub>
                          <m:r>
                            <a:rPr lang="en-US" sz="2400" i="1">
                              <a:solidFill>
                                <a:srgbClr val="000000"/>
                              </a:solidFill>
                              <a:latin typeface="Cambria Math" panose="02040503050406030204" pitchFamily="18" charset="0"/>
                            </a:rPr>
                            <m:t>𝑖𝑡</m:t>
                          </m:r>
                        </m:sub>
                      </m:sSub>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m:t>
                          </m:r>
                        </m:sup>
                        <m:e>
                          <m:f>
                            <m:fPr>
                              <m:ctrlPr>
                                <a:rPr lang="en-US" sz="2400" i="1">
                                  <a:solidFill>
                                    <a:srgbClr val="000000"/>
                                  </a:solidFill>
                                  <a:latin typeface="Cambria Math" panose="02040503050406030204" pitchFamily="18" charset="0"/>
                                </a:rPr>
                              </m:ctrlPr>
                            </m:fPr>
                            <m:num>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𝑡</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𝐶</m:t>
                                  </m:r>
                                </m:e>
                                <m:sub>
                                  <m:r>
                                    <a:rPr lang="en-US" sz="2400" i="1">
                                      <a:solidFill>
                                        <a:srgbClr val="000000"/>
                                      </a:solidFill>
                                      <a:latin typeface="Cambria Math" panose="02040503050406030204" pitchFamily="18" charset="0"/>
                                    </a:rPr>
                                    <m:t>𝑖𝑡</m:t>
                                  </m:r>
                                  <m:r>
                                    <a:rPr lang="en-US" sz="2400" i="1">
                                      <a:solidFill>
                                        <a:srgbClr val="000000"/>
                                      </a:solidFill>
                                      <a:latin typeface="Cambria Math" panose="02040503050406030204" pitchFamily="18" charset="0"/>
                                    </a:rPr>
                                    <m:t>′</m:t>
                                  </m:r>
                                </m:sub>
                              </m:sSub>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𝑟</m:t>
                                  </m:r>
                                </m:e>
                                <m:sub>
                                  <m:r>
                                    <a:rPr lang="en-US" sz="2400" i="1">
                                      <a:solidFill>
                                        <a:srgbClr val="000000"/>
                                      </a:solidFill>
                                      <a:latin typeface="Cambria Math" panose="02040503050406030204" pitchFamily="18" charset="0"/>
                                    </a:rPr>
                                    <m:t>𝑐𝑖𝑡</m:t>
                                  </m:r>
                                  <m:r>
                                    <a:rPr lang="en-US" sz="2400" i="1">
                                      <a:solidFill>
                                        <a:srgbClr val="000000"/>
                                      </a:solidFill>
                                      <a:latin typeface="Cambria Math" panose="02040503050406030204" pitchFamily="18" charset="0"/>
                                    </a:rPr>
                                    <m:t>′</m:t>
                                  </m:r>
                                </m:sub>
                              </m:sSub>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sup>
                              </m:sSup>
                            </m:den>
                          </m:f>
                        </m:e>
                      </m:nary>
                    </m:oMath>
                    <m:oMath xmlns:m="http://schemas.openxmlformats.org/officeDocument/2006/math">
                      <m:r>
                        <a:rPr lang="en-US" sz="2400" i="1">
                          <a:solidFill>
                            <a:srgbClr val="000000"/>
                          </a:solidFill>
                          <a:latin typeface="Cambria Math" panose="02040503050406030204" pitchFamily="18" charset="0"/>
                        </a:rPr>
                        <m:t>=</m:t>
                      </m:r>
                      <m:nary>
                        <m:naryPr>
                          <m:chr m:val="∑"/>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′=1</m:t>
                          </m:r>
                        </m:sub>
                        <m:sup>
                          <m:r>
                            <a:rPr lang="en-US" sz="2400" i="1">
                              <a:solidFill>
                                <a:srgbClr val="000000"/>
                              </a:solidFill>
                              <a:latin typeface="Cambria Math" panose="02040503050406030204" pitchFamily="18" charset="0"/>
                            </a:rPr>
                            <m:t>𝑇</m:t>
                          </m:r>
                        </m:sup>
                        <m:e>
                          <m:f>
                            <m:fPr>
                              <m:ctrlPr>
                                <a:rPr lang="en-US" sz="2400" i="1">
                                  <a:solidFill>
                                    <a:srgbClr val="000000"/>
                                  </a:solidFill>
                                  <a:latin typeface="Cambria Math" panose="02040503050406030204" pitchFamily="18" charset="0"/>
                                </a:rPr>
                              </m:ctrlPr>
                            </m:fPr>
                            <m:num>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𝑡</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𝐶</m:t>
                                  </m:r>
                                </m:e>
                                <m:sub>
                                  <m:r>
                                    <a:rPr lang="en-US" sz="2400" i="1">
                                      <a:solidFill>
                                        <a:srgbClr val="000000"/>
                                      </a:solidFill>
                                      <a:latin typeface="Cambria Math" panose="02040503050406030204" pitchFamily="18" charset="0"/>
                                    </a:rPr>
                                    <m:t>𝑖𝑡</m:t>
                                  </m:r>
                                  <m:r>
                                    <a:rPr lang="en-US" sz="2400" i="1">
                                      <a:solidFill>
                                        <a:srgbClr val="000000"/>
                                      </a:solidFill>
                                      <a:latin typeface="Cambria Math" panose="02040503050406030204" pitchFamily="18" charset="0"/>
                                    </a:rPr>
                                    <m:t>′</m:t>
                                  </m:r>
                                </m:sub>
                              </m:sSub>
                              <m:r>
                                <a:rPr lang="en-US" sz="2400" i="1">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𝑟</m:t>
                                  </m:r>
                                </m:e>
                                <m:sub>
                                  <m:r>
                                    <a:rPr lang="en-US" sz="2400" i="1">
                                      <a:solidFill>
                                        <a:srgbClr val="000000"/>
                                      </a:solidFill>
                                      <a:latin typeface="Cambria Math" panose="02040503050406030204" pitchFamily="18" charset="0"/>
                                    </a:rPr>
                                    <m:t>𝑐𝑖𝑡</m:t>
                                  </m:r>
                                  <m:r>
                                    <a:rPr lang="en-US" sz="2400" i="1">
                                      <a:solidFill>
                                        <a:srgbClr val="000000"/>
                                      </a:solidFill>
                                      <a:latin typeface="Cambria Math" panose="02040503050406030204" pitchFamily="18" charset="0"/>
                                    </a:rPr>
                                    <m:t>′</m:t>
                                  </m:r>
                                </m:sub>
                              </m:sSub>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sup>
                              </m:sSup>
                            </m:den>
                          </m:f>
                        </m:e>
                      </m:nary>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sSub>
                            <m:sSubPr>
                              <m:ctrlPr>
                                <a:rPr lang="en-US" sz="240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𝐸</m:t>
                              </m:r>
                            </m:e>
                            <m:sub>
                              <m:r>
                                <a:rPr lang="en-US" sz="2400" b="0" i="1" smtClean="0">
                                  <a:solidFill>
                                    <a:srgbClr val="000000"/>
                                  </a:solidFill>
                                  <a:latin typeface="Cambria Math" panose="02040503050406030204" pitchFamily="18" charset="0"/>
                                </a:rPr>
                                <m:t>𝑡</m:t>
                              </m:r>
                            </m:sub>
                          </m:sSub>
                          <m:sSub>
                            <m:sSubPr>
                              <m:ctrlPr>
                                <a:rPr lang="en-US" sz="2400" i="1">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𝑃</m:t>
                              </m:r>
                            </m:e>
                            <m:sub>
                              <m:r>
                                <a:rPr lang="en-US" sz="2400" i="1">
                                  <a:solidFill>
                                    <a:srgbClr val="000000"/>
                                  </a:solidFill>
                                  <a:latin typeface="Cambria Math" panose="02040503050406030204" pitchFamily="18" charset="0"/>
                                </a:rPr>
                                <m:t>𝑖𝑇</m:t>
                              </m:r>
                            </m:sub>
                          </m:sSub>
                          <m:r>
                            <a:rPr lang="en-US" sz="2400" b="0" i="1" smtClean="0">
                              <a:solidFill>
                                <a:srgbClr val="000000"/>
                              </a:solidFill>
                              <a:latin typeface="Cambria Math" panose="02040503050406030204" pitchFamily="18" charset="0"/>
                            </a:rPr>
                            <m:t>]</m:t>
                          </m:r>
                        </m:num>
                        <m:den>
                          <m:r>
                            <a:rPr lang="en-US" sz="2400" i="1">
                              <a:solidFill>
                                <a:srgbClr val="000000"/>
                              </a:solidFill>
                              <a:latin typeface="Cambria Math" panose="02040503050406030204" pitchFamily="18" charset="0"/>
                            </a:rPr>
                            <m:t>(1+</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𝑟</m:t>
                              </m:r>
                            </m:e>
                            <m:sub>
                              <m:r>
                                <a:rPr lang="en-US" sz="2400" i="1">
                                  <a:solidFill>
                                    <a:srgbClr val="000000"/>
                                  </a:solidFill>
                                  <a:latin typeface="Cambria Math" panose="02040503050406030204" pitchFamily="18" charset="0"/>
                                </a:rPr>
                                <m:t>𝑃𝑖𝑇</m:t>
                              </m:r>
                            </m:sub>
                          </m:sSub>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m:t>
                              </m:r>
                            </m:e>
                            <m:sup>
                              <m:r>
                                <a:rPr lang="en-US" sz="2400" i="1">
                                  <a:solidFill>
                                    <a:srgbClr val="000000"/>
                                  </a:solidFill>
                                  <a:latin typeface="Cambria Math" panose="02040503050406030204" pitchFamily="18" charset="0"/>
                                </a:rPr>
                                <m:t>𝑇</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sup>
                          </m:sSup>
                        </m:den>
                      </m:f>
                    </m:oMath>
                  </m:oMathPara>
                </a14:m>
                <a:endParaRPr lang="en-US" sz="2400" dirty="0"/>
              </a:p>
            </p:txBody>
          </p:sp>
        </mc:Choice>
        <mc:Fallback xmlns="">
          <p:sp>
            <p:nvSpPr>
              <p:cNvPr id="6" name="Object 5"/>
              <p:cNvSpPr txBox="1">
                <a:spLocks noRot="1" noChangeAspect="1" noMove="1" noResize="1" noEditPoints="1" noAdjustHandles="1" noChangeArrowheads="1" noChangeShapeType="1" noTextEdit="1"/>
              </p:cNvSpPr>
              <p:nvPr/>
            </p:nvSpPr>
            <p:spPr>
              <a:xfrm>
                <a:off x="1524001" y="1846263"/>
                <a:ext cx="7164530" cy="2435259"/>
              </a:xfrm>
              <a:prstGeom prst="rect">
                <a:avLst/>
              </a:prstGeom>
              <a:blipFill>
                <a:blip r:embed="rId2"/>
                <a:stretch>
                  <a:fillRect/>
                </a:stretch>
              </a:blipFill>
            </p:spPr>
            <p:txBody>
              <a:bodyPr/>
              <a:lstStyle/>
              <a:p>
                <a:r>
                  <a:rPr lang="en-US">
                    <a:noFill/>
                  </a:rPr>
                  <a:t> </a:t>
                </a:r>
              </a:p>
            </p:txBody>
          </p:sp>
        </mc:Fallback>
      </mc:AlternateContent>
      <p:sp>
        <p:nvSpPr>
          <p:cNvPr id="7" name="Content Placeholder 2"/>
          <p:cNvSpPr txBox="1">
            <a:spLocks/>
          </p:cNvSpPr>
          <p:nvPr/>
        </p:nvSpPr>
        <p:spPr>
          <a:xfrm>
            <a:off x="65669" y="4281522"/>
            <a:ext cx="8363607" cy="1940650"/>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sz="2000" dirty="0"/>
          </a:p>
          <a:p>
            <a:r>
              <a:rPr lang="en-US" sz="2000" dirty="0"/>
              <a:t>There are an infinite number of assets </a:t>
            </a:r>
            <a:r>
              <a:rPr lang="en-US" sz="2000" dirty="0" err="1"/>
              <a:t>i</a:t>
            </a:r>
            <a:r>
              <a:rPr lang="en-US" sz="2000" dirty="0"/>
              <a:t> in the economy and t extends out infinitely as well.</a:t>
            </a:r>
          </a:p>
          <a:p>
            <a:r>
              <a:rPr lang="en-US" sz="2000" dirty="0"/>
              <a:t>The name of the game in investments/asset pricing is to try to condense this infinite-dimensional problem to something manageable:  Can we characterize all of those discount rates </a:t>
            </a:r>
            <a:r>
              <a:rPr lang="en-US" sz="2000" dirty="0" err="1"/>
              <a:t>r_it</a:t>
            </a:r>
            <a:r>
              <a:rPr lang="en-US" sz="2000" dirty="0"/>
              <a:t> (which are also future expected returns) with something of smaller dimension? </a:t>
            </a:r>
            <a:r>
              <a:rPr lang="en-US" sz="2000" dirty="0">
                <a:sym typeface="Wingdings" panose="05000000000000000000" pitchFamily="2" charset="2"/>
              </a:rPr>
              <a:t> leads to factor models</a:t>
            </a:r>
            <a:endParaRPr lang="en-US" sz="2000" dirty="0"/>
          </a:p>
          <a:p>
            <a:pPr marL="0" indent="0">
              <a:buFont typeface="Arial" pitchFamily="34" charset="0"/>
              <a:buNone/>
            </a:pPr>
            <a:endParaRPr lang="en-US" sz="2000" dirty="0"/>
          </a:p>
          <a:p>
            <a:pPr marL="0" indent="0">
              <a:buFont typeface="Arial" pitchFamily="34" charset="0"/>
              <a:buNone/>
            </a:pPr>
            <a:endParaRPr lang="en-US" dirty="0"/>
          </a:p>
          <a:p>
            <a:pPr marL="0" indent="0">
              <a:buFont typeface="Arial" pitchFamily="34" charset="0"/>
              <a:buNone/>
            </a:pPr>
            <a:endParaRPr lang="en-US" dirty="0"/>
          </a:p>
        </p:txBody>
      </p:sp>
    </p:spTree>
    <p:extLst>
      <p:ext uri="{BB962C8B-B14F-4D97-AF65-F5344CB8AC3E}">
        <p14:creationId xmlns:p14="http://schemas.microsoft.com/office/powerpoint/2010/main" val="3739389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1309"/>
            <a:ext cx="8686800" cy="715962"/>
          </a:xfrm>
        </p:spPr>
        <p:txBody>
          <a:bodyPr>
            <a:normAutofit fontScale="90000"/>
          </a:bodyPr>
          <a:lstStyle/>
          <a:p>
            <a:r>
              <a:rPr lang="en-US" dirty="0"/>
              <a:t>Valuation Simplifications</a:t>
            </a:r>
          </a:p>
        </p:txBody>
      </p:sp>
      <p:sp>
        <p:nvSpPr>
          <p:cNvPr id="3" name="Content Placeholder 2"/>
          <p:cNvSpPr>
            <a:spLocks noGrp="1"/>
          </p:cNvSpPr>
          <p:nvPr>
            <p:ph idx="1"/>
          </p:nvPr>
        </p:nvSpPr>
        <p:spPr>
          <a:xfrm>
            <a:off x="65669" y="685800"/>
            <a:ext cx="4125331" cy="2514600"/>
          </a:xfrm>
        </p:spPr>
        <p:txBody>
          <a:bodyPr>
            <a:normAutofit fontScale="92500" lnSpcReduction="20000"/>
          </a:bodyPr>
          <a:lstStyle/>
          <a:p>
            <a:pPr marL="0" indent="0">
              <a:buNone/>
            </a:pPr>
            <a:endParaRPr lang="en-US" sz="2000" dirty="0"/>
          </a:p>
          <a:p>
            <a:r>
              <a:rPr lang="en-US" sz="2000" dirty="0"/>
              <a:t>Example: dividend discount model</a:t>
            </a:r>
          </a:p>
          <a:p>
            <a:pPr lvl="1"/>
            <a:r>
              <a:rPr lang="en-US" sz="2000" dirty="0"/>
              <a:t>One period:</a:t>
            </a:r>
          </a:p>
          <a:p>
            <a:pPr lvl="1"/>
            <a:endParaRPr lang="en-US" sz="2000" dirty="0"/>
          </a:p>
          <a:p>
            <a:pPr lvl="1"/>
            <a:endParaRPr lang="en-US" sz="2000" dirty="0"/>
          </a:p>
          <a:p>
            <a:pPr lvl="1"/>
            <a:endParaRPr lang="en-US" sz="2000" dirty="0"/>
          </a:p>
          <a:p>
            <a:pPr lvl="1"/>
            <a:endParaRPr lang="en-US" sz="2000" dirty="0"/>
          </a:p>
          <a:p>
            <a:pPr lvl="1"/>
            <a:r>
              <a:rPr lang="en-US" sz="2000" dirty="0"/>
              <a:t>Infinite horizon:</a:t>
            </a:r>
          </a:p>
          <a:p>
            <a:pPr marL="0" indent="0">
              <a:buNone/>
            </a:pPr>
            <a:endParaRPr lang="en-US" sz="2000" dirty="0"/>
          </a:p>
          <a:p>
            <a:pPr marL="0" indent="0">
              <a:buNone/>
            </a:pPr>
            <a:endParaRPr lang="en-US" dirty="0"/>
          </a:p>
          <a:p>
            <a:pPr marL="0" indent="0">
              <a:buNone/>
            </a:pPr>
            <a:endParaRPr lang="en-US" dirty="0"/>
          </a:p>
        </p:txBody>
      </p:sp>
      <p:sp>
        <p:nvSpPr>
          <p:cNvPr id="7" name="Content Placeholder 2"/>
          <p:cNvSpPr txBox="1">
            <a:spLocks/>
          </p:cNvSpPr>
          <p:nvPr/>
        </p:nvSpPr>
        <p:spPr>
          <a:xfrm>
            <a:off x="65669" y="4281522"/>
            <a:ext cx="8363607" cy="242407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sz="2000" dirty="0"/>
          </a:p>
          <a:p>
            <a:r>
              <a:rPr lang="en-US" sz="2000" dirty="0"/>
              <a:t>Stocks can also be valued by their expected cash flows, bonds by their expected coupons, etc.</a:t>
            </a:r>
          </a:p>
          <a:p>
            <a:endParaRPr lang="en-US" sz="2000" dirty="0"/>
          </a:p>
          <a:p>
            <a:r>
              <a:rPr lang="en-US" sz="2000" dirty="0"/>
              <a:t>The simplifications lie in how we model expected cash flows and discount rates</a:t>
            </a:r>
          </a:p>
          <a:p>
            <a:pPr marL="0" indent="0">
              <a:buFont typeface="Arial" pitchFamily="34" charset="0"/>
              <a:buNone/>
            </a:pPr>
            <a:endParaRPr lang="en-US" sz="2000" dirty="0"/>
          </a:p>
          <a:p>
            <a:pPr marL="0" indent="0">
              <a:buFont typeface="Arial" pitchFamily="34" charset="0"/>
              <a:buNone/>
            </a:pPr>
            <a:endParaRPr lang="en-US" dirty="0"/>
          </a:p>
          <a:p>
            <a:pPr marL="0" indent="0">
              <a:buFont typeface="Arial" pitchFamily="34" charset="0"/>
              <a:buNone/>
            </a:pPr>
            <a:endParaRPr lang="en-US" dirty="0"/>
          </a:p>
        </p:txBody>
      </p:sp>
      <p:graphicFrame>
        <p:nvGraphicFramePr>
          <p:cNvPr id="8" name="Object 7"/>
          <p:cNvGraphicFramePr>
            <a:graphicFrameLocks noChangeAspect="1"/>
          </p:cNvGraphicFramePr>
          <p:nvPr>
            <p:extLst>
              <p:ext uri="{D42A27DB-BD31-4B8C-83A1-F6EECF244321}">
                <p14:modId xmlns:p14="http://schemas.microsoft.com/office/powerpoint/2010/main" val="492010413"/>
              </p:ext>
            </p:extLst>
          </p:nvPr>
        </p:nvGraphicFramePr>
        <p:xfrm>
          <a:off x="3180994" y="1309326"/>
          <a:ext cx="2132955" cy="805618"/>
        </p:xfrm>
        <a:graphic>
          <a:graphicData uri="http://schemas.openxmlformats.org/presentationml/2006/ole">
            <mc:AlternateContent xmlns:mc="http://schemas.openxmlformats.org/markup-compatibility/2006">
              <mc:Choice xmlns:v="urn:schemas-microsoft-com:vml" Requires="v">
                <p:oleObj spid="_x0000_s6188" name="Equation" r:id="rId3" imgW="1143000" imgH="431640" progId="Equation.3">
                  <p:embed/>
                </p:oleObj>
              </mc:Choice>
              <mc:Fallback>
                <p:oleObj name="Equation" r:id="rId3" imgW="1143000" imgH="431640" progId="Equation.3">
                  <p:embed/>
                  <p:pic>
                    <p:nvPicPr>
                      <p:cNvPr id="3" name="Object 2"/>
                      <p:cNvPicPr/>
                      <p:nvPr/>
                    </p:nvPicPr>
                    <p:blipFill>
                      <a:blip r:embed="rId4"/>
                      <a:stretch>
                        <a:fillRect/>
                      </a:stretch>
                    </p:blipFill>
                    <p:spPr>
                      <a:xfrm>
                        <a:off x="3180994" y="1309326"/>
                        <a:ext cx="2132955" cy="805618"/>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88843167"/>
              </p:ext>
            </p:extLst>
          </p:nvPr>
        </p:nvGraphicFramePr>
        <p:xfrm>
          <a:off x="3141662" y="2550336"/>
          <a:ext cx="2098675" cy="793750"/>
        </p:xfrm>
        <a:graphic>
          <a:graphicData uri="http://schemas.openxmlformats.org/presentationml/2006/ole">
            <mc:AlternateContent xmlns:mc="http://schemas.openxmlformats.org/markup-compatibility/2006">
              <mc:Choice xmlns:v="urn:schemas-microsoft-com:vml" Requires="v">
                <p:oleObj spid="_x0000_s6189" name="Equation" r:id="rId5" imgW="1143000" imgH="431640" progId="Equation.3">
                  <p:embed/>
                </p:oleObj>
              </mc:Choice>
              <mc:Fallback>
                <p:oleObj name="Equation" r:id="rId5" imgW="1143000" imgH="431640" progId="Equation.3">
                  <p:embed/>
                  <p:pic>
                    <p:nvPicPr>
                      <p:cNvPr id="13" name="Object 12"/>
                      <p:cNvPicPr/>
                      <p:nvPr/>
                    </p:nvPicPr>
                    <p:blipFill>
                      <a:blip r:embed="rId6"/>
                      <a:stretch>
                        <a:fillRect/>
                      </a:stretch>
                    </p:blipFill>
                    <p:spPr>
                      <a:xfrm>
                        <a:off x="3141662" y="2550336"/>
                        <a:ext cx="2098675" cy="793750"/>
                      </a:xfrm>
                      <a:prstGeom prst="rect">
                        <a:avLst/>
                      </a:prstGeom>
                    </p:spPr>
                  </p:pic>
                </p:oleObj>
              </mc:Fallback>
            </mc:AlternateContent>
          </a:graphicData>
        </a:graphic>
      </p:graphicFrame>
    </p:spTree>
    <p:extLst>
      <p:ext uri="{BB962C8B-B14F-4D97-AF65-F5344CB8AC3E}">
        <p14:creationId xmlns:p14="http://schemas.microsoft.com/office/powerpoint/2010/main" val="3081326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715962"/>
          </a:xfrm>
        </p:spPr>
        <p:txBody>
          <a:bodyPr>
            <a:normAutofit fontScale="90000"/>
          </a:bodyPr>
          <a:lstStyle/>
          <a:p>
            <a:r>
              <a:rPr lang="en-US" dirty="0"/>
              <a:t>Measurement: Stock Returns</a:t>
            </a:r>
          </a:p>
        </p:txBody>
      </p:sp>
      <p:sp>
        <p:nvSpPr>
          <p:cNvPr id="4" name="Content Placeholder 2"/>
          <p:cNvSpPr>
            <a:spLocks noGrp="1"/>
          </p:cNvSpPr>
          <p:nvPr>
            <p:ph idx="1"/>
          </p:nvPr>
        </p:nvSpPr>
        <p:spPr>
          <a:xfrm>
            <a:off x="228600" y="990600"/>
            <a:ext cx="8763000" cy="5867400"/>
          </a:xfrm>
        </p:spPr>
        <p:txBody>
          <a:bodyPr>
            <a:normAutofit/>
          </a:bodyPr>
          <a:lstStyle/>
          <a:p>
            <a:pPr marL="0" indent="0" fontAlgn="base">
              <a:buNone/>
            </a:pPr>
            <a:r>
              <a:rPr lang="en-US" sz="2400" dirty="0"/>
              <a:t>Total returns include </a:t>
            </a:r>
            <a:r>
              <a:rPr lang="en-US" sz="2400" i="1" dirty="0"/>
              <a:t>capital gains </a:t>
            </a:r>
            <a:r>
              <a:rPr lang="en-US" sz="2400" dirty="0"/>
              <a:t>and </a:t>
            </a:r>
            <a:r>
              <a:rPr lang="en-US" sz="2400" i="1" dirty="0"/>
              <a:t>dividend yield</a:t>
            </a:r>
          </a:p>
          <a:p>
            <a:pPr marL="0" indent="0" fontAlgn="base">
              <a:buNone/>
            </a:pPr>
            <a:endParaRPr lang="en-US" sz="2400" dirty="0"/>
          </a:p>
          <a:p>
            <a:pPr marL="0" indent="0" fontAlgn="base">
              <a:buNone/>
            </a:pPr>
            <a:endParaRPr lang="en-US" sz="2400" dirty="0"/>
          </a:p>
          <a:p>
            <a:pPr marL="0" indent="0" fontAlgn="base">
              <a:buNone/>
            </a:pPr>
            <a:endParaRPr lang="en-US" sz="2400" dirty="0"/>
          </a:p>
          <a:p>
            <a:pPr marL="0" indent="0" fontAlgn="base">
              <a:buNone/>
            </a:pPr>
            <a:endParaRPr lang="en-US" sz="2400" dirty="0"/>
          </a:p>
          <a:p>
            <a:pPr marL="0" indent="0" fontAlgn="base">
              <a:buNone/>
            </a:pPr>
            <a:r>
              <a:rPr lang="en-US" sz="2400" dirty="0"/>
              <a:t>Stock returns must also account for splits</a:t>
            </a:r>
          </a:p>
          <a:p>
            <a:pPr marL="0" indent="0" fontAlgn="base">
              <a:buNone/>
            </a:pPr>
            <a:endParaRPr lang="en-US" sz="2400" dirty="0"/>
          </a:p>
          <a:p>
            <a:pPr marL="0" indent="0" fontAlgn="base">
              <a:buNone/>
            </a:pPr>
            <a:endParaRPr lang="en-US" sz="2400" dirty="0"/>
          </a:p>
          <a:p>
            <a:pPr marL="0" indent="0" fontAlgn="base">
              <a:buNone/>
            </a:pPr>
            <a:endParaRPr lang="en-US" sz="2400" dirty="0"/>
          </a:p>
          <a:p>
            <a:pPr marL="0" indent="0" fontAlgn="base">
              <a:buNone/>
            </a:pPr>
            <a:r>
              <a:rPr lang="en-US" sz="2400" dirty="0"/>
              <a:t>Where </a:t>
            </a:r>
            <a:r>
              <a:rPr lang="en-US" sz="2400" dirty="0" err="1"/>
              <a:t>a_t</a:t>
            </a:r>
            <a:r>
              <a:rPr lang="en-US" sz="2400" dirty="0"/>
              <a:t> is an adjustment factor for a split, e.g., 2 if a 2:1 split occurs at time t.</a:t>
            </a:r>
          </a:p>
          <a:p>
            <a:pPr marL="0" indent="0" fontAlgn="base">
              <a:buNone/>
            </a:pPr>
            <a:endParaRPr lang="en-US" sz="2400" dirty="0"/>
          </a:p>
          <a:p>
            <a:pPr marL="0" indent="0" fontAlgn="base">
              <a:buNone/>
            </a:pPr>
            <a:endParaRPr lang="en-US" sz="2400" dirty="0"/>
          </a:p>
        </p:txBody>
      </p:sp>
      <p:graphicFrame>
        <p:nvGraphicFramePr>
          <p:cNvPr id="5" name="Object 4"/>
          <p:cNvGraphicFramePr>
            <a:graphicFrameLocks noChangeAspect="1"/>
          </p:cNvGraphicFramePr>
          <p:nvPr>
            <p:extLst/>
          </p:nvPr>
        </p:nvGraphicFramePr>
        <p:xfrm>
          <a:off x="3810000" y="1600200"/>
          <a:ext cx="1752600" cy="976313"/>
        </p:xfrm>
        <a:graphic>
          <a:graphicData uri="http://schemas.openxmlformats.org/presentationml/2006/ole">
            <mc:AlternateContent xmlns:mc="http://schemas.openxmlformats.org/markup-compatibility/2006">
              <mc:Choice xmlns:v="urn:schemas-microsoft-com:vml" Requires="v">
                <p:oleObj spid="_x0000_s7193" name="Equation" r:id="rId3" imgW="774360" imgH="431640" progId="Equation.3">
                  <p:embed/>
                </p:oleObj>
              </mc:Choice>
              <mc:Fallback>
                <p:oleObj name="Equation" r:id="rId3" imgW="774360" imgH="431640" progId="Equation.3">
                  <p:embed/>
                  <p:pic>
                    <p:nvPicPr>
                      <p:cNvPr id="5" name="Object 4"/>
                      <p:cNvPicPr/>
                      <p:nvPr/>
                    </p:nvPicPr>
                    <p:blipFill>
                      <a:blip r:embed="rId4"/>
                      <a:stretch>
                        <a:fillRect/>
                      </a:stretch>
                    </p:blipFill>
                    <p:spPr>
                      <a:xfrm>
                        <a:off x="3810000" y="1600200"/>
                        <a:ext cx="1752600" cy="97631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B919DCF7-994D-4FD3-AB7E-0A5F2B3609D1}"/>
                  </a:ext>
                </a:extLst>
              </p:cNvPr>
              <p:cNvSpPr txBox="1"/>
              <p:nvPr/>
            </p:nvSpPr>
            <p:spPr>
              <a:xfrm>
                <a:off x="3505200" y="3740150"/>
                <a:ext cx="2438400" cy="1289050"/>
              </a:xfrm>
              <a:prstGeom prst="rect">
                <a:avLst/>
              </a:prstGeom>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𝑡</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sSub>
                            <m:sSubPr>
                              <m:ctrlPr>
                                <a:rPr lang="en-US" sz="2400" i="1" smtClean="0">
                                  <a:solidFill>
                                    <a:srgbClr val="000000"/>
                                  </a:solidFill>
                                  <a:latin typeface="Cambria Math" panose="02040503050406030204" pitchFamily="18" charset="0"/>
                                </a:rPr>
                              </m:ctrlPr>
                            </m:sSubPr>
                            <m:e>
                              <m:r>
                                <a:rPr lang="en-US" sz="2400" b="0" i="1" smtClean="0">
                                  <a:solidFill>
                                    <a:srgbClr val="000000"/>
                                  </a:solidFill>
                                  <a:latin typeface="Cambria Math" panose="02040503050406030204" pitchFamily="18" charset="0"/>
                                </a:rPr>
                                <m:t>𝑎</m:t>
                              </m:r>
                            </m:e>
                            <m:sub>
                              <m:r>
                                <a:rPr lang="en-US" sz="2400" b="0" i="1" smtClean="0">
                                  <a:solidFill>
                                    <a:srgbClr val="000000"/>
                                  </a:solidFill>
                                  <a:latin typeface="Cambria Math" panose="02040503050406030204" pitchFamily="18" charset="0"/>
                                </a:rPr>
                                <m:t>𝑡</m:t>
                              </m:r>
                            </m:sub>
                          </m:sSub>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𝑃</m:t>
                              </m:r>
                            </m:e>
                            <m:sub>
                              <m:r>
                                <a:rPr lang="en-US" sz="2400" i="1">
                                  <a:solidFill>
                                    <a:srgbClr val="000000"/>
                                  </a:solidFill>
                                  <a:latin typeface="Cambria Math" panose="02040503050406030204" pitchFamily="18" charset="0"/>
                                </a:rPr>
                                <m:t>𝑡</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𝐷</m:t>
                              </m:r>
                            </m:e>
                            <m:sub>
                              <m:r>
                                <a:rPr lang="en-US" sz="2400" i="1">
                                  <a:solidFill>
                                    <a:srgbClr val="000000"/>
                                  </a:solidFill>
                                  <a:latin typeface="Cambria Math" panose="02040503050406030204" pitchFamily="18" charset="0"/>
                                </a:rPr>
                                <m:t>𝑡</m:t>
                              </m:r>
                            </m:sub>
                          </m:sSub>
                        </m:num>
                        <m:den>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𝑃</m:t>
                              </m:r>
                            </m:e>
                            <m:sub>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−1</m:t>
                              </m:r>
                            </m:sub>
                          </m:sSub>
                        </m:den>
                      </m:f>
                    </m:oMath>
                  </m:oMathPara>
                </a14:m>
                <a:endParaRPr lang="en-US" sz="2400" dirty="0"/>
              </a:p>
            </p:txBody>
          </p:sp>
        </mc:Choice>
        <mc:Fallback xmlns="">
          <p:sp>
            <p:nvSpPr>
              <p:cNvPr id="7" name="Object 6">
                <a:extLst>
                  <a:ext uri="{FF2B5EF4-FFF2-40B4-BE49-F238E27FC236}">
                    <a16:creationId xmlns:a16="http://schemas.microsoft.com/office/drawing/2014/main" id="{B919DCF7-994D-4FD3-AB7E-0A5F2B3609D1}"/>
                  </a:ext>
                </a:extLst>
              </p:cNvPr>
              <p:cNvSpPr txBox="1">
                <a:spLocks noRot="1" noChangeAspect="1" noMove="1" noResize="1" noEditPoints="1" noAdjustHandles="1" noChangeArrowheads="1" noChangeShapeType="1" noTextEdit="1"/>
              </p:cNvSpPr>
              <p:nvPr/>
            </p:nvSpPr>
            <p:spPr>
              <a:xfrm>
                <a:off x="3505200" y="3740150"/>
                <a:ext cx="2438400" cy="128905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23642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715962"/>
          </a:xfrm>
        </p:spPr>
        <p:txBody>
          <a:bodyPr>
            <a:normAutofit fontScale="90000"/>
          </a:bodyPr>
          <a:lstStyle/>
          <a:p>
            <a:r>
              <a:rPr lang="en-US" dirty="0"/>
              <a:t>Yahoo Finance Adjusted Close</a:t>
            </a:r>
          </a:p>
        </p:txBody>
      </p:sp>
      <p:sp>
        <p:nvSpPr>
          <p:cNvPr id="4" name="Content Placeholder 2"/>
          <p:cNvSpPr>
            <a:spLocks noGrp="1"/>
          </p:cNvSpPr>
          <p:nvPr>
            <p:ph idx="1"/>
          </p:nvPr>
        </p:nvSpPr>
        <p:spPr>
          <a:xfrm>
            <a:off x="228600" y="990600"/>
            <a:ext cx="8763000" cy="5867400"/>
          </a:xfrm>
        </p:spPr>
        <p:txBody>
          <a:bodyPr>
            <a:normAutofit/>
          </a:bodyPr>
          <a:lstStyle/>
          <a:p>
            <a:pPr marL="0" indent="0" fontAlgn="base">
              <a:buNone/>
            </a:pPr>
            <a:r>
              <a:rPr lang="en-US" sz="2400" dirty="0"/>
              <a:t>Yahoo Finance makes our life easier by providing an “adjusted close” series that accounts for both dividends and stock splits.</a:t>
            </a:r>
          </a:p>
          <a:p>
            <a:pPr marL="0" indent="0" fontAlgn="base">
              <a:buNone/>
            </a:pPr>
            <a:endParaRPr lang="en-US" sz="2400" dirty="0"/>
          </a:p>
          <a:p>
            <a:pPr marL="0" indent="0" fontAlgn="base">
              <a:buNone/>
            </a:pPr>
            <a:endParaRPr lang="en-US" sz="2400" dirty="0"/>
          </a:p>
          <a:p>
            <a:pPr marL="0" indent="0" fontAlgn="base">
              <a:buNone/>
            </a:pPr>
            <a:endParaRPr lang="en-US" sz="2400" dirty="0"/>
          </a:p>
          <a:p>
            <a:pPr marL="0" indent="0" fontAlgn="base">
              <a:buNone/>
            </a:pPr>
            <a:r>
              <a:rPr lang="en-US" sz="2400" dirty="0"/>
              <a:t>That is, we can calculate returns directly from the Yahoo adjusted close series P*_t, without needing to account for splits and dividends (Yahoo has done this for us)</a:t>
            </a:r>
          </a:p>
          <a:p>
            <a:pPr marL="0" indent="0" fontAlgn="base">
              <a:buNone/>
            </a:pPr>
            <a:endParaRPr lang="en-US" sz="2400" dirty="0"/>
          </a:p>
          <a:p>
            <a:pPr marL="0" indent="0" fontAlgn="base">
              <a:buNone/>
            </a:pPr>
            <a:endParaRPr lang="en-US" sz="2400" dirty="0"/>
          </a:p>
        </p:txBody>
      </p:sp>
      <p:graphicFrame>
        <p:nvGraphicFramePr>
          <p:cNvPr id="6" name="Object 5">
            <a:extLst>
              <a:ext uri="{FF2B5EF4-FFF2-40B4-BE49-F238E27FC236}">
                <a16:creationId xmlns:a16="http://schemas.microsoft.com/office/drawing/2014/main" id="{FE2D88B7-3943-43B1-8BD6-8F36426553E1}"/>
              </a:ext>
            </a:extLst>
          </p:cNvPr>
          <p:cNvGraphicFramePr>
            <a:graphicFrameLocks noChangeAspect="1"/>
          </p:cNvGraphicFramePr>
          <p:nvPr>
            <p:extLst>
              <p:ext uri="{D42A27DB-BD31-4B8C-83A1-F6EECF244321}">
                <p14:modId xmlns:p14="http://schemas.microsoft.com/office/powerpoint/2010/main" val="3885605850"/>
              </p:ext>
            </p:extLst>
          </p:nvPr>
        </p:nvGraphicFramePr>
        <p:xfrm>
          <a:off x="3925093" y="1881224"/>
          <a:ext cx="1293813" cy="1033463"/>
        </p:xfrm>
        <a:graphic>
          <a:graphicData uri="http://schemas.openxmlformats.org/presentationml/2006/ole">
            <mc:AlternateContent xmlns:mc="http://schemas.openxmlformats.org/markup-compatibility/2006">
              <mc:Choice xmlns:v="urn:schemas-microsoft-com:vml" Requires="v">
                <p:oleObj spid="_x0000_s8214" name="Equation" r:id="rId3" imgW="571320" imgH="457200" progId="Equation.3">
                  <p:embed/>
                </p:oleObj>
              </mc:Choice>
              <mc:Fallback>
                <p:oleObj name="Equation" r:id="rId3" imgW="571320" imgH="457200" progId="Equation.3">
                  <p:embed/>
                  <p:pic>
                    <p:nvPicPr>
                      <p:cNvPr id="6" name="Object 5"/>
                      <p:cNvPicPr>
                        <a:picLocks noChangeAspect="1" noChangeArrowheads="1"/>
                      </p:cNvPicPr>
                      <p:nvPr/>
                    </p:nvPicPr>
                    <p:blipFill>
                      <a:blip r:embed="rId4"/>
                      <a:srcRect/>
                      <a:stretch>
                        <a:fillRect/>
                      </a:stretch>
                    </p:blipFill>
                    <p:spPr bwMode="auto">
                      <a:xfrm>
                        <a:off x="3925093" y="1881224"/>
                        <a:ext cx="1293813"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30117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715962"/>
          </a:xfrm>
        </p:spPr>
        <p:txBody>
          <a:bodyPr>
            <a:normAutofit fontScale="90000"/>
          </a:bodyPr>
          <a:lstStyle/>
          <a:p>
            <a:r>
              <a:rPr lang="en-US" dirty="0"/>
              <a:t>Calculating Portfolio Returns</a:t>
            </a:r>
          </a:p>
        </p:txBody>
      </p:sp>
      <p:sp>
        <p:nvSpPr>
          <p:cNvPr id="3" name="Content Placeholder 2"/>
          <p:cNvSpPr>
            <a:spLocks noGrp="1"/>
          </p:cNvSpPr>
          <p:nvPr>
            <p:ph idx="1"/>
          </p:nvPr>
        </p:nvSpPr>
        <p:spPr>
          <a:xfrm>
            <a:off x="0" y="1066800"/>
            <a:ext cx="4876800" cy="914400"/>
          </a:xfrm>
        </p:spPr>
        <p:txBody>
          <a:bodyPr>
            <a:normAutofit fontScale="92500" lnSpcReduction="20000"/>
          </a:bodyPr>
          <a:lstStyle/>
          <a:p>
            <a:pPr marL="0" indent="0">
              <a:buNone/>
            </a:pPr>
            <a:endParaRPr lang="en-US" sz="2000" dirty="0"/>
          </a:p>
          <a:p>
            <a:r>
              <a:rPr lang="en-US" sz="2000" dirty="0"/>
              <a:t>Assume Yahoo Finance adjusted close series:</a:t>
            </a:r>
          </a:p>
          <a:p>
            <a:pPr marL="0" indent="0">
              <a:buNone/>
            </a:pPr>
            <a:endParaRPr lang="en-US" sz="2000" dirty="0"/>
          </a:p>
          <a:p>
            <a:pPr marL="0" indent="0">
              <a:buNone/>
            </a:pPr>
            <a:endParaRPr lang="en-US" dirty="0"/>
          </a:p>
          <a:p>
            <a:pPr marL="0" indent="0">
              <a:buNone/>
            </a:pPr>
            <a:endParaRPr lang="en-US" dirty="0"/>
          </a:p>
        </p:txBody>
      </p:sp>
      <p:graphicFrame>
        <p:nvGraphicFramePr>
          <p:cNvPr id="4" name="Object 3"/>
          <p:cNvGraphicFramePr>
            <a:graphicFrameLocks noChangeAspect="1"/>
          </p:cNvGraphicFramePr>
          <p:nvPr>
            <p:extLst/>
          </p:nvPr>
        </p:nvGraphicFramePr>
        <p:xfrm>
          <a:off x="5543550" y="1030567"/>
          <a:ext cx="1752600" cy="1202765"/>
        </p:xfrm>
        <a:graphic>
          <a:graphicData uri="http://schemas.openxmlformats.org/presentationml/2006/ole">
            <mc:AlternateContent xmlns:mc="http://schemas.openxmlformats.org/markup-compatibility/2006">
              <mc:Choice xmlns:v="urn:schemas-microsoft-com:vml" Requires="v">
                <p:oleObj spid="_x0000_s9260" name="Equation" r:id="rId3" imgW="647640" imgH="444240" progId="Equation.3">
                  <p:embed/>
                </p:oleObj>
              </mc:Choice>
              <mc:Fallback>
                <p:oleObj name="Equation" r:id="rId3" imgW="647640" imgH="444240" progId="Equation.3">
                  <p:embed/>
                  <p:pic>
                    <p:nvPicPr>
                      <p:cNvPr id="4" name="Object 3"/>
                      <p:cNvPicPr/>
                      <p:nvPr/>
                    </p:nvPicPr>
                    <p:blipFill>
                      <a:blip r:embed="rId4"/>
                      <a:stretch>
                        <a:fillRect/>
                      </a:stretch>
                    </p:blipFill>
                    <p:spPr>
                      <a:xfrm>
                        <a:off x="5543550" y="1030567"/>
                        <a:ext cx="1752600" cy="1202765"/>
                      </a:xfrm>
                      <a:prstGeom prst="rect">
                        <a:avLst/>
                      </a:prstGeom>
                    </p:spPr>
                  </p:pic>
                </p:oleObj>
              </mc:Fallback>
            </mc:AlternateContent>
          </a:graphicData>
        </a:graphic>
      </p:graphicFrame>
      <p:sp>
        <p:nvSpPr>
          <p:cNvPr id="5" name="Content Placeholder 2"/>
          <p:cNvSpPr txBox="1">
            <a:spLocks/>
          </p:cNvSpPr>
          <p:nvPr/>
        </p:nvSpPr>
        <p:spPr>
          <a:xfrm>
            <a:off x="7883" y="2492656"/>
            <a:ext cx="4876800" cy="914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sz="2000" dirty="0"/>
          </a:p>
          <a:p>
            <a:r>
              <a:rPr lang="en-US" sz="2000" dirty="0"/>
              <a:t>Portfolio Return:</a:t>
            </a:r>
          </a:p>
          <a:p>
            <a:pPr marL="0" indent="0">
              <a:buFont typeface="Arial" pitchFamily="34" charset="0"/>
              <a:buNone/>
            </a:pPr>
            <a:endParaRPr lang="en-US" sz="2000" dirty="0"/>
          </a:p>
          <a:p>
            <a:pPr marL="0" indent="0">
              <a:buFont typeface="Arial" pitchFamily="34" charset="0"/>
              <a:buNone/>
            </a:pPr>
            <a:endParaRPr lang="en-US" dirty="0"/>
          </a:p>
          <a:p>
            <a:pPr marL="0" indent="0">
              <a:buFont typeface="Arial" pitchFamily="34" charset="0"/>
              <a:buNone/>
            </a:pPr>
            <a:endParaRPr lang="en-US" dirty="0"/>
          </a:p>
        </p:txBody>
      </p:sp>
      <p:graphicFrame>
        <p:nvGraphicFramePr>
          <p:cNvPr id="6" name="Object 5"/>
          <p:cNvGraphicFramePr>
            <a:graphicFrameLocks noChangeAspect="1"/>
          </p:cNvGraphicFramePr>
          <p:nvPr>
            <p:extLst/>
          </p:nvPr>
        </p:nvGraphicFramePr>
        <p:xfrm>
          <a:off x="4203700" y="2530731"/>
          <a:ext cx="4432300" cy="1270000"/>
        </p:xfrm>
        <a:graphic>
          <a:graphicData uri="http://schemas.openxmlformats.org/presentationml/2006/ole">
            <mc:AlternateContent xmlns:mc="http://schemas.openxmlformats.org/markup-compatibility/2006">
              <mc:Choice xmlns:v="urn:schemas-microsoft-com:vml" Requires="v">
                <p:oleObj spid="_x0000_s9261" name="Equation" r:id="rId5" imgW="1638000" imgH="469800" progId="Equation.3">
                  <p:embed/>
                </p:oleObj>
              </mc:Choice>
              <mc:Fallback>
                <p:oleObj name="Equation" r:id="rId5" imgW="1638000" imgH="469800" progId="Equation.3">
                  <p:embed/>
                  <p:pic>
                    <p:nvPicPr>
                      <p:cNvPr id="6" name="Object 5"/>
                      <p:cNvPicPr/>
                      <p:nvPr/>
                    </p:nvPicPr>
                    <p:blipFill>
                      <a:blip r:embed="rId6"/>
                      <a:stretch>
                        <a:fillRect/>
                      </a:stretch>
                    </p:blipFill>
                    <p:spPr>
                      <a:xfrm>
                        <a:off x="4203700" y="2530731"/>
                        <a:ext cx="4432300" cy="12700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7" name="Content Placeholder 2"/>
              <p:cNvSpPr txBox="1">
                <a:spLocks/>
              </p:cNvSpPr>
              <p:nvPr/>
            </p:nvSpPr>
            <p:spPr>
              <a:xfrm>
                <a:off x="21896" y="3838806"/>
                <a:ext cx="8363607" cy="278708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The weights </a:t>
                </a:r>
                <a:r>
                  <a:rPr lang="en-US" sz="2000" dirty="0" err="1"/>
                  <a:t>w_i,t</a:t>
                </a:r>
                <a:r>
                  <a:rPr lang="en-US" sz="2000" dirty="0"/>
                  <a:t> are the percentage allocations of the portfolio to each asset</a:t>
                </a:r>
              </a:p>
              <a:p>
                <a:pPr lvl="1"/>
                <a:r>
                  <a:rPr lang="en-US" sz="2000" dirty="0"/>
                  <a:t>E.g., if I have two stocks A and B in my portfolio and they each have a 50% weight, the portfolio return is a 50/50 average of the returns on the two stocks.  </a:t>
                </a:r>
              </a:p>
              <a:p>
                <a:pPr lvl="1"/>
                <a:r>
                  <a:rPr lang="en-US" sz="2000" dirty="0"/>
                  <a:t>If I have 60% of my portfolio allocated to A, the portfolio return is a 60/40 average of the two stock returns.  </a:t>
                </a:r>
              </a:p>
              <a:p>
                <a:pPr lvl="1"/>
                <a:r>
                  <a:rPr lang="en-US" sz="2000" dirty="0"/>
                  <a:t>You can prove this formally if you like!</a:t>
                </a:r>
                <a14:m>
                  <m:oMath xmlns:m="http://schemas.openxmlformats.org/officeDocument/2006/math">
                    <m:r>
                      <a:rPr lang="en-US" sz="2000" b="0" i="0" smtClean="0">
                        <a:latin typeface="Cambria Math" panose="02040503050406030204" pitchFamily="18" charset="0"/>
                      </a:rPr>
                      <m:t> </m:t>
                    </m:r>
                    <m:r>
                      <a:rPr lang="en-US" sz="2000">
                        <a:latin typeface="Cambria Math" panose="02040503050406030204" pitchFamily="18" charset="0"/>
                      </a:rPr>
                      <m:t>(</m:t>
                    </m:r>
                    <m:r>
                      <m:rPr>
                        <m:sty m:val="p"/>
                      </m:rPr>
                      <a:rPr lang="en-US" sz="2000" b="0" i="0" smtClean="0">
                        <a:latin typeface="Cambria Math" panose="02040503050406030204" pitchFamily="18" charset="0"/>
                      </a:rPr>
                      <m:t>Use</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 </m:t>
                        </m:r>
                        <m:r>
                          <a:rPr lang="en-US" sz="2000" b="0" i="1" smtClean="0">
                            <a:latin typeface="Cambria Math" panose="02040503050406030204" pitchFamily="18" charset="0"/>
                          </a:rPr>
                          <m:t>𝑃</m:t>
                        </m:r>
                      </m:e>
                      <m:sub>
                        <m:r>
                          <a:rPr lang="en-US" sz="2000" b="0" i="1" smtClean="0">
                            <a:latin typeface="Cambria Math" panose="02040503050406030204" pitchFamily="18" charset="0"/>
                          </a:rPr>
                          <m:t>𝑝𝑡</m:t>
                        </m:r>
                      </m:sub>
                    </m:sSub>
                    <m:r>
                      <a:rPr lang="en-US" sz="2000" i="1">
                        <a:latin typeface="Cambria Math" panose="02040503050406030204" pitchFamily="18" charset="0"/>
                        <a:ea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𝑁</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𝑖𝑡</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𝑖𝑡</m:t>
                            </m:r>
                          </m:sub>
                        </m:sSub>
                      </m:e>
                    </m:nary>
                    <m:r>
                      <a:rPr lang="en-US" sz="2000" b="0" i="1" smtClean="0">
                        <a:latin typeface="Cambria Math" panose="02040503050406030204" pitchFamily="18" charset="0"/>
                      </a:rPr>
                      <m:t>)</m:t>
                    </m:r>
                  </m:oMath>
                </a14:m>
                <a:endParaRPr lang="en-US" sz="2000" dirty="0"/>
              </a:p>
              <a:p>
                <a:pPr marL="0" indent="0">
                  <a:buFont typeface="Arial" pitchFamily="34" charset="0"/>
                  <a:buNone/>
                </a:pPr>
                <a:endParaRPr lang="en-US" dirty="0"/>
              </a:p>
              <a:p>
                <a:pPr marL="0" indent="0">
                  <a:buFont typeface="Arial" pitchFamily="34" charset="0"/>
                  <a:buNone/>
                </a:pPr>
                <a:endParaRPr lang="en-US"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21896" y="3838806"/>
                <a:ext cx="8363607" cy="2787087"/>
              </a:xfrm>
              <a:prstGeom prst="rect">
                <a:avLst/>
              </a:prstGeom>
              <a:blipFill>
                <a:blip r:embed="rId7"/>
                <a:stretch>
                  <a:fillRect l="-656" t="-1313" b="-24945"/>
                </a:stretch>
              </a:blipFill>
            </p:spPr>
            <p:txBody>
              <a:bodyPr/>
              <a:lstStyle/>
              <a:p>
                <a:r>
                  <a:rPr lang="en-US">
                    <a:noFill/>
                  </a:rPr>
                  <a:t> </a:t>
                </a:r>
              </a:p>
            </p:txBody>
          </p:sp>
        </mc:Fallback>
      </mc:AlternateContent>
    </p:spTree>
    <p:extLst>
      <p:ext uri="{BB962C8B-B14F-4D97-AF65-F5344CB8AC3E}">
        <p14:creationId xmlns:p14="http://schemas.microsoft.com/office/powerpoint/2010/main" val="1534364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399"/>
            <a:ext cx="8686800" cy="914399"/>
          </a:xfrm>
        </p:spPr>
        <p:txBody>
          <a:bodyPr>
            <a:normAutofit fontScale="90000"/>
          </a:bodyPr>
          <a:lstStyle/>
          <a:p>
            <a:r>
              <a:rPr lang="en-US" dirty="0"/>
              <a:t>Initial weighting, buy-and-hold, and rebalancing</a:t>
            </a:r>
          </a:p>
        </p:txBody>
      </p:sp>
      <p:sp>
        <p:nvSpPr>
          <p:cNvPr id="3" name="Content Placeholder 2"/>
          <p:cNvSpPr>
            <a:spLocks noGrp="1"/>
          </p:cNvSpPr>
          <p:nvPr>
            <p:ph idx="1"/>
          </p:nvPr>
        </p:nvSpPr>
        <p:spPr>
          <a:xfrm>
            <a:off x="0" y="1066800"/>
            <a:ext cx="8915400" cy="5562600"/>
          </a:xfrm>
        </p:spPr>
        <p:txBody>
          <a:bodyPr>
            <a:normAutofit fontScale="92500" lnSpcReduction="20000"/>
          </a:bodyPr>
          <a:lstStyle/>
          <a:p>
            <a:pPr marL="0" indent="0">
              <a:buNone/>
            </a:pPr>
            <a:endParaRPr lang="en-US" sz="2000" dirty="0"/>
          </a:p>
          <a:p>
            <a:r>
              <a:rPr lang="en-US" sz="2000" dirty="0"/>
              <a:t>When we hold a portfolio for multiple periods, the </a:t>
            </a:r>
            <a:r>
              <a:rPr lang="en-US" sz="2000" i="1" dirty="0"/>
              <a:t>initial weights </a:t>
            </a:r>
            <a:r>
              <a:rPr lang="en-US" sz="2000" dirty="0"/>
              <a:t>w_i0 are determined by our desired allocation</a:t>
            </a:r>
          </a:p>
          <a:p>
            <a:pPr lvl="1"/>
            <a:r>
              <a:rPr lang="en-US" sz="2000" dirty="0"/>
              <a:t>Equal-weighting</a:t>
            </a:r>
          </a:p>
          <a:p>
            <a:pPr lvl="1"/>
            <a:r>
              <a:rPr lang="en-US" sz="2000" dirty="0"/>
              <a:t>Value (market capitalization) weighting</a:t>
            </a:r>
          </a:p>
          <a:p>
            <a:pPr lvl="1"/>
            <a:r>
              <a:rPr lang="en-US" sz="2000" dirty="0"/>
              <a:t>Something else</a:t>
            </a:r>
          </a:p>
          <a:p>
            <a:pPr lvl="1"/>
            <a:endParaRPr lang="en-US" sz="2000" dirty="0"/>
          </a:p>
          <a:p>
            <a:r>
              <a:rPr lang="en-US" sz="2400" dirty="0"/>
              <a:t>If we </a:t>
            </a:r>
            <a:r>
              <a:rPr lang="en-US" sz="2400" i="1" dirty="0"/>
              <a:t>buy-and-hold</a:t>
            </a:r>
            <a:r>
              <a:rPr lang="en-US" sz="2400" dirty="0"/>
              <a:t>, subsequent weights are determined by fluctuations in each asset’s value</a:t>
            </a:r>
          </a:p>
          <a:p>
            <a:pPr lvl="1"/>
            <a:r>
              <a:rPr lang="en-US" sz="2000" dirty="0"/>
              <a:t>If an individual asset’s returns are high relative to others in the portfolio, its weight in the portfolio will go up, and vice versa</a:t>
            </a:r>
          </a:p>
          <a:p>
            <a:pPr lvl="1"/>
            <a:r>
              <a:rPr lang="en-US" sz="2000" dirty="0"/>
              <a:t>We have to follow the values of each asset, and the weights are determined by the values at the beginning of the period </a:t>
            </a:r>
          </a:p>
          <a:p>
            <a:pPr lvl="1"/>
            <a:endParaRPr lang="en-US" sz="2000" dirty="0"/>
          </a:p>
          <a:p>
            <a:r>
              <a:rPr lang="en-US" sz="2400" dirty="0"/>
              <a:t>If we </a:t>
            </a:r>
            <a:r>
              <a:rPr lang="en-US" sz="2400" i="1" dirty="0"/>
              <a:t>rebalance</a:t>
            </a:r>
            <a:r>
              <a:rPr lang="en-US" sz="2400" dirty="0"/>
              <a:t> in some period t, we reset the weights </a:t>
            </a:r>
            <a:r>
              <a:rPr lang="en-US" sz="2400" dirty="0" err="1"/>
              <a:t>w_it</a:t>
            </a:r>
            <a:r>
              <a:rPr lang="en-US" sz="2400" dirty="0"/>
              <a:t> to some desired value by following some rule (again, equal-weight, value-weight, or something else)</a:t>
            </a:r>
          </a:p>
          <a:p>
            <a:pPr lvl="1"/>
            <a:r>
              <a:rPr lang="en-US" sz="2000" dirty="0"/>
              <a:t>To achieve the new weights, we have to buy and sell amounts of each asset at the beginning of the period to achieve the desired weights</a:t>
            </a:r>
          </a:p>
          <a:p>
            <a:pPr marL="0" indent="0">
              <a:buNone/>
            </a:pPr>
            <a:endParaRPr lang="en-US" sz="2000" dirty="0"/>
          </a:p>
          <a:p>
            <a:pPr marL="0" indent="0">
              <a:buNone/>
            </a:pPr>
            <a:endParaRPr lang="en-US" sz="2000" dirty="0"/>
          </a:p>
          <a:p>
            <a:pPr marL="0" indent="0">
              <a:buNone/>
            </a:pPr>
            <a:endParaRPr lang="en-US" dirty="0"/>
          </a:p>
        </p:txBody>
      </p:sp>
    </p:spTree>
    <p:extLst>
      <p:ext uri="{BB962C8B-B14F-4D97-AF65-F5344CB8AC3E}">
        <p14:creationId xmlns:p14="http://schemas.microsoft.com/office/powerpoint/2010/main" val="1622748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715962"/>
          </a:xfrm>
        </p:spPr>
        <p:txBody>
          <a:bodyPr>
            <a:normAutofit fontScale="90000"/>
          </a:bodyPr>
          <a:lstStyle/>
          <a:p>
            <a:r>
              <a:rPr lang="en-US" dirty="0"/>
              <a:t>Finance Data Sources</a:t>
            </a:r>
          </a:p>
        </p:txBody>
      </p:sp>
      <p:sp>
        <p:nvSpPr>
          <p:cNvPr id="3" name="Content Placeholder 2"/>
          <p:cNvSpPr>
            <a:spLocks noGrp="1"/>
          </p:cNvSpPr>
          <p:nvPr>
            <p:ph idx="1"/>
          </p:nvPr>
        </p:nvSpPr>
        <p:spPr>
          <a:xfrm>
            <a:off x="0" y="990600"/>
            <a:ext cx="9144000" cy="5867400"/>
          </a:xfrm>
        </p:spPr>
        <p:txBody>
          <a:bodyPr>
            <a:normAutofit/>
          </a:bodyPr>
          <a:lstStyle/>
          <a:p>
            <a:pPr marL="457200" indent="-457200">
              <a:buAutoNum type="arabicParenR"/>
            </a:pPr>
            <a:r>
              <a:rPr lang="en-US" sz="2400" dirty="0"/>
              <a:t>Yahoo Finance for current stock prices</a:t>
            </a:r>
          </a:p>
          <a:p>
            <a:pPr marL="400050" lvl="1" indent="0">
              <a:buNone/>
            </a:pPr>
            <a:r>
              <a:rPr lang="en-US" sz="2000" dirty="0"/>
              <a:t>-- now asks for an account for csv downloads, but we will provide an example of API for first homework</a:t>
            </a:r>
          </a:p>
          <a:p>
            <a:pPr marL="457200" indent="-457200">
              <a:buAutoNum type="arabicParenR"/>
            </a:pPr>
            <a:endParaRPr lang="en-US" sz="2400" dirty="0"/>
          </a:p>
          <a:p>
            <a:pPr marL="457200" indent="-457200">
              <a:buAutoNum type="arabicParenR"/>
            </a:pPr>
            <a:r>
              <a:rPr lang="en-US" sz="2400" dirty="0"/>
              <a:t>Wharton Research Data Services (</a:t>
            </a:r>
            <a:r>
              <a:rPr lang="en-US" sz="2400" dirty="0">
                <a:hlinkClick r:id="rId2"/>
              </a:rPr>
              <a:t>https://wrds-web.wharton.upenn.edu/wrds/</a:t>
            </a:r>
            <a:r>
              <a:rPr lang="en-US" sz="2400" dirty="0"/>
              <a:t> )</a:t>
            </a:r>
          </a:p>
          <a:p>
            <a:pPr marL="857250" lvl="1" indent="-457200"/>
            <a:r>
              <a:rPr lang="en-US" sz="1600" dirty="0"/>
              <a:t>Will send an announcement with instructions for class account</a:t>
            </a:r>
          </a:p>
          <a:p>
            <a:pPr marL="857250" lvl="1" indent="-457200"/>
            <a:endParaRPr lang="en-US" sz="1600" dirty="0"/>
          </a:p>
          <a:p>
            <a:pPr marL="0" indent="0">
              <a:buNone/>
            </a:pPr>
            <a:r>
              <a:rPr lang="en-US" sz="2000" dirty="0"/>
              <a:t>2) Federal Reserve Economic Data (FRED, </a:t>
            </a:r>
            <a:r>
              <a:rPr lang="en-US" sz="2000" dirty="0">
                <a:hlinkClick r:id="rId3"/>
              </a:rPr>
              <a:t>https://fred.stlouisfed.org/</a:t>
            </a:r>
            <a:r>
              <a:rPr lang="en-US" sz="2000" dirty="0"/>
              <a:t> )</a:t>
            </a:r>
          </a:p>
          <a:p>
            <a:pPr marL="0" indent="0">
              <a:buNone/>
            </a:pPr>
            <a:endParaRPr lang="en-US" sz="2000" dirty="0"/>
          </a:p>
          <a:p>
            <a:pPr marL="0" indent="0">
              <a:buNone/>
            </a:pPr>
            <a:r>
              <a:rPr lang="en-US" sz="2000" dirty="0"/>
              <a:t>3) Ken French’s website (</a:t>
            </a:r>
            <a:r>
              <a:rPr lang="en-US" sz="2000" dirty="0">
                <a:hlinkClick r:id="rId4"/>
              </a:rPr>
              <a:t>http://mba.tuck.dartmouth.edu/pages/faculty/ken.french/data_library.html</a:t>
            </a:r>
            <a:r>
              <a:rPr lang="en-US" sz="2000" dirty="0"/>
              <a:t> )</a:t>
            </a:r>
          </a:p>
          <a:p>
            <a:pPr marL="0" indent="0">
              <a:buNone/>
            </a:pPr>
            <a:endParaRPr lang="en-US" sz="2000" dirty="0"/>
          </a:p>
          <a:p>
            <a:pPr marL="0" indent="0">
              <a:buNone/>
            </a:pPr>
            <a:endParaRPr lang="en-US" sz="2000" dirty="0"/>
          </a:p>
          <a:p>
            <a:pPr marL="0" indent="0">
              <a:buNone/>
            </a:pPr>
            <a:r>
              <a:rPr lang="en-US" sz="2000" dirty="0"/>
              <a:t>Lots of other sources…</a:t>
            </a:r>
          </a:p>
          <a:p>
            <a:pPr lvl="1"/>
            <a:endParaRPr lang="en-US" sz="2000" dirty="0"/>
          </a:p>
        </p:txBody>
      </p:sp>
    </p:spTree>
    <p:extLst>
      <p:ext uri="{BB962C8B-B14F-4D97-AF65-F5344CB8AC3E}">
        <p14:creationId xmlns:p14="http://schemas.microsoft.com/office/powerpoint/2010/main" val="4094865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077200" cy="715962"/>
          </a:xfrm>
        </p:spPr>
        <p:txBody>
          <a:bodyPr>
            <a:noAutofit/>
          </a:bodyPr>
          <a:lstStyle/>
          <a:p>
            <a:r>
              <a:rPr lang="en-US" sz="2400" dirty="0"/>
              <a:t>Homework for Next Class </a:t>
            </a:r>
            <a:br>
              <a:rPr lang="en-US" sz="2400" dirty="0"/>
            </a:br>
            <a:r>
              <a:rPr lang="en-US" sz="2400" dirty="0"/>
              <a:t>(Not graded, to stimulate thought and discussion)</a:t>
            </a:r>
          </a:p>
        </p:txBody>
      </p:sp>
      <p:sp>
        <p:nvSpPr>
          <p:cNvPr id="5" name="Content Placeholder 2"/>
          <p:cNvSpPr>
            <a:spLocks noGrp="1"/>
          </p:cNvSpPr>
          <p:nvPr>
            <p:ph idx="1"/>
          </p:nvPr>
        </p:nvSpPr>
        <p:spPr>
          <a:xfrm>
            <a:off x="0" y="1295400"/>
            <a:ext cx="9144000" cy="5562600"/>
          </a:xfrm>
        </p:spPr>
        <p:txBody>
          <a:bodyPr>
            <a:normAutofit/>
          </a:bodyPr>
          <a:lstStyle/>
          <a:p>
            <a:pPr marL="457200" indent="-457200">
              <a:spcBef>
                <a:spcPts val="0"/>
              </a:spcBef>
              <a:buAutoNum type="arabicPeriod"/>
            </a:pPr>
            <a:r>
              <a:rPr lang="en-US" sz="1800" dirty="0"/>
              <a:t>Go to </a:t>
            </a:r>
            <a:r>
              <a:rPr lang="en-US" sz="1800" dirty="0">
                <a:hlinkClick r:id="rId2"/>
              </a:rPr>
              <a:t>Yahoo Finance </a:t>
            </a:r>
            <a:r>
              <a:rPr lang="en-US" sz="1800" dirty="0"/>
              <a:t>and observe how you may request historical data.  Since Yahoo has made it difficult to do simple csv downloads, I have provided on our course website the data </a:t>
            </a:r>
            <a:r>
              <a:rPr lang="en-US" sz="1800"/>
              <a:t>for calendar year 2020, for XOM and ZM.</a:t>
            </a:r>
            <a:endParaRPr lang="en-US" sz="1800" dirty="0"/>
          </a:p>
          <a:p>
            <a:pPr marL="857250" lvl="1" indent="-457200">
              <a:spcBef>
                <a:spcPts val="0"/>
              </a:spcBef>
            </a:pPr>
            <a:r>
              <a:rPr lang="en-US" sz="1800" dirty="0"/>
              <a:t>Calculate their returns using the Yahoo adjusted close</a:t>
            </a:r>
          </a:p>
          <a:p>
            <a:pPr marL="857250" lvl="1" indent="-457200">
              <a:spcBef>
                <a:spcPts val="0"/>
              </a:spcBef>
            </a:pPr>
            <a:r>
              <a:rPr lang="en-US" sz="1800" dirty="0"/>
              <a:t>Form a portfolio that is initially equal-weighted at the beginning of the year.  You may assume any initial investment (e.g. $100) you like, but it will not affect any following results.  Neither do the initial prices.  Assume you buy-and-hold (no rebalancing).  Calculate each day your portfolio value, portfolio weights, and portfolio returns.  Observe that you do not need the weights to calculate returns.</a:t>
            </a:r>
          </a:p>
          <a:p>
            <a:pPr marL="857250" lvl="1" indent="-457200">
              <a:spcBef>
                <a:spcPts val="0"/>
              </a:spcBef>
            </a:pPr>
            <a:r>
              <a:rPr lang="en-US" sz="1800" dirty="0"/>
              <a:t>Now assume you rebalance to initial weights at the beginning of each month and calculate the same.  How do your results change?</a:t>
            </a:r>
          </a:p>
          <a:p>
            <a:pPr marL="857250" lvl="1" indent="-457200">
              <a:spcBef>
                <a:spcPts val="0"/>
              </a:spcBef>
            </a:pPr>
            <a:r>
              <a:rPr lang="en-US" sz="1800" dirty="0"/>
              <a:t>Calculate individual stock and portfolio mean return, standard deviation, skewness, and kurtosis.</a:t>
            </a:r>
          </a:p>
          <a:p>
            <a:pPr marL="457200" indent="-457200">
              <a:spcBef>
                <a:spcPts val="0"/>
              </a:spcBef>
              <a:buAutoNum type="arabicPeriod"/>
            </a:pPr>
            <a:endParaRPr lang="en-US" sz="1800" dirty="0"/>
          </a:p>
          <a:p>
            <a:pPr marL="457200" indent="-457200">
              <a:spcBef>
                <a:spcPts val="0"/>
              </a:spcBef>
              <a:buAutoNum type="arabicPeriod"/>
            </a:pPr>
            <a:r>
              <a:rPr lang="en-US" sz="1800" dirty="0"/>
              <a:t>Go to the websites of the </a:t>
            </a:r>
            <a:r>
              <a:rPr lang="en-US" sz="1800" dirty="0">
                <a:hlinkClick r:id="rId3"/>
              </a:rPr>
              <a:t>Western Finance Association</a:t>
            </a:r>
            <a:r>
              <a:rPr lang="en-US" sz="1800" dirty="0"/>
              <a:t> and the </a:t>
            </a:r>
            <a:r>
              <a:rPr lang="en-US" sz="1800" dirty="0">
                <a:hlinkClick r:id="rId4"/>
              </a:rPr>
              <a:t>American Finance Association</a:t>
            </a:r>
            <a:r>
              <a:rPr lang="en-US" sz="1800" dirty="0"/>
              <a:t> and browse the programs of their annual conferences.  See if you can identify any sessions that fit in the category of “data-driven investments”.  Can you understand their methods?  Do they interest you?</a:t>
            </a:r>
          </a:p>
          <a:p>
            <a:pPr marL="857250" lvl="1" indent="-457200">
              <a:spcBef>
                <a:spcPts val="0"/>
              </a:spcBef>
              <a:buAutoNum type="arabicPeriod"/>
            </a:pPr>
            <a:endParaRPr lang="en-US" sz="1500" dirty="0"/>
          </a:p>
          <a:p>
            <a:pPr marL="0" indent="0">
              <a:spcBef>
                <a:spcPts val="0"/>
              </a:spcBef>
              <a:buNone/>
            </a:pPr>
            <a:endParaRPr lang="en-US" sz="1900" dirty="0"/>
          </a:p>
          <a:p>
            <a:pPr marL="0" indent="0">
              <a:spcBef>
                <a:spcPts val="0"/>
              </a:spcBef>
              <a:buNone/>
            </a:pPr>
            <a:endParaRPr lang="en-US" sz="1900" dirty="0"/>
          </a:p>
          <a:p>
            <a:pPr marL="0" indent="0">
              <a:spcBef>
                <a:spcPts val="0"/>
              </a:spcBef>
              <a:buNone/>
            </a:pPr>
            <a:endParaRPr lang="en-US" sz="1900" dirty="0"/>
          </a:p>
          <a:p>
            <a:pPr marL="514350" indent="-514350">
              <a:spcBef>
                <a:spcPts val="0"/>
              </a:spcBef>
              <a:buAutoNum type="arabicParenBoth"/>
            </a:pPr>
            <a:endParaRPr lang="en-US" sz="2800" dirty="0"/>
          </a:p>
          <a:p>
            <a:pPr marL="0" indent="0">
              <a:spcBef>
                <a:spcPts val="0"/>
              </a:spcBef>
              <a:buNone/>
            </a:pPr>
            <a:endParaRPr lang="en-US" sz="2800" dirty="0"/>
          </a:p>
          <a:p>
            <a:pPr marL="0" indent="0">
              <a:spcBef>
                <a:spcPts val="0"/>
              </a:spcBef>
              <a:buNone/>
            </a:pPr>
            <a:endParaRPr lang="en-US" sz="2800" b="1" dirty="0"/>
          </a:p>
          <a:p>
            <a:pPr marL="0" indent="0">
              <a:spcBef>
                <a:spcPts val="0"/>
              </a:spcBef>
              <a:buNone/>
            </a:pPr>
            <a:endParaRPr lang="en-US" sz="2800" dirty="0"/>
          </a:p>
          <a:p>
            <a:pPr marL="0" indent="0">
              <a:spcBef>
                <a:spcPts val="0"/>
              </a:spcBef>
              <a:buNone/>
            </a:pPr>
            <a:endParaRPr lang="en-US" sz="2800" dirty="0"/>
          </a:p>
        </p:txBody>
      </p:sp>
    </p:spTree>
    <p:extLst>
      <p:ext uri="{BB962C8B-B14F-4D97-AF65-F5344CB8AC3E}">
        <p14:creationId xmlns:p14="http://schemas.microsoft.com/office/powerpoint/2010/main" val="2124866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077200" cy="715962"/>
          </a:xfrm>
        </p:spPr>
        <p:txBody>
          <a:bodyPr>
            <a:noAutofit/>
          </a:bodyPr>
          <a:lstStyle/>
          <a:p>
            <a:r>
              <a:rPr lang="en-US" sz="4000" dirty="0"/>
              <a:t>Extras</a:t>
            </a:r>
          </a:p>
        </p:txBody>
      </p:sp>
      <p:sp>
        <p:nvSpPr>
          <p:cNvPr id="5" name="Content Placeholder 2"/>
          <p:cNvSpPr>
            <a:spLocks noGrp="1"/>
          </p:cNvSpPr>
          <p:nvPr>
            <p:ph idx="1"/>
          </p:nvPr>
        </p:nvSpPr>
        <p:spPr>
          <a:xfrm>
            <a:off x="34491" y="2743200"/>
            <a:ext cx="9144000" cy="1066800"/>
          </a:xfrm>
        </p:spPr>
        <p:txBody>
          <a:bodyPr>
            <a:normAutofit/>
          </a:bodyPr>
          <a:lstStyle/>
          <a:p>
            <a:pPr>
              <a:spcBef>
                <a:spcPts val="0"/>
              </a:spcBef>
            </a:pPr>
            <a:r>
              <a:rPr lang="en-US" sz="2800" dirty="0"/>
              <a:t>Players and participants and some current Sauder research…</a:t>
            </a:r>
          </a:p>
          <a:p>
            <a:pPr marL="857250" lvl="1" indent="-457200">
              <a:spcBef>
                <a:spcPts val="0"/>
              </a:spcBef>
              <a:buAutoNum type="arabicPeriod"/>
            </a:pPr>
            <a:endParaRPr lang="en-US" dirty="0"/>
          </a:p>
          <a:p>
            <a:pPr marL="0" indent="0">
              <a:spcBef>
                <a:spcPts val="0"/>
              </a:spcBef>
              <a:buNone/>
            </a:pPr>
            <a:endParaRPr lang="en-US" sz="1900" dirty="0"/>
          </a:p>
          <a:p>
            <a:pPr marL="0" indent="0">
              <a:spcBef>
                <a:spcPts val="0"/>
              </a:spcBef>
              <a:buNone/>
            </a:pPr>
            <a:endParaRPr lang="en-US" sz="1900" dirty="0"/>
          </a:p>
          <a:p>
            <a:pPr marL="0" indent="0">
              <a:spcBef>
                <a:spcPts val="0"/>
              </a:spcBef>
              <a:buNone/>
            </a:pPr>
            <a:endParaRPr lang="en-US" sz="1900" dirty="0"/>
          </a:p>
          <a:p>
            <a:pPr marL="514350" indent="-514350">
              <a:spcBef>
                <a:spcPts val="0"/>
              </a:spcBef>
              <a:buAutoNum type="arabicParenBoth"/>
            </a:pPr>
            <a:endParaRPr lang="en-US" sz="2800" dirty="0"/>
          </a:p>
          <a:p>
            <a:pPr marL="0" indent="0">
              <a:spcBef>
                <a:spcPts val="0"/>
              </a:spcBef>
              <a:buNone/>
            </a:pPr>
            <a:endParaRPr lang="en-US" sz="2800" dirty="0"/>
          </a:p>
          <a:p>
            <a:pPr marL="0" indent="0">
              <a:spcBef>
                <a:spcPts val="0"/>
              </a:spcBef>
              <a:buNone/>
            </a:pPr>
            <a:endParaRPr lang="en-US" sz="2800" b="1" dirty="0"/>
          </a:p>
          <a:p>
            <a:pPr marL="0" indent="0">
              <a:spcBef>
                <a:spcPts val="0"/>
              </a:spcBef>
              <a:buNone/>
            </a:pPr>
            <a:endParaRPr lang="en-US" sz="2800" dirty="0"/>
          </a:p>
          <a:p>
            <a:pPr marL="0" indent="0">
              <a:spcBef>
                <a:spcPts val="0"/>
              </a:spcBef>
              <a:buNone/>
            </a:pPr>
            <a:endParaRPr lang="en-US" sz="2800" dirty="0"/>
          </a:p>
        </p:txBody>
      </p:sp>
    </p:spTree>
    <p:extLst>
      <p:ext uri="{BB962C8B-B14F-4D97-AF65-F5344CB8AC3E}">
        <p14:creationId xmlns:p14="http://schemas.microsoft.com/office/powerpoint/2010/main" val="1518614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76199" y="76200"/>
            <a:ext cx="8915399" cy="606425"/>
          </a:xfrm>
        </p:spPr>
        <p:txBody>
          <a:bodyPr/>
          <a:lstStyle/>
          <a:p>
            <a:pPr eaLnBrk="1" hangingPunct="1"/>
            <a:r>
              <a:rPr lang="en-US" sz="3000" b="1" dirty="0">
                <a:solidFill>
                  <a:schemeClr val="tx1"/>
                </a:solidFill>
                <a:latin typeface="Times New Roman" pitchFamily="18" charset="0"/>
              </a:rPr>
              <a:t>Warren Buffet / Berkshire Hathaway</a:t>
            </a:r>
          </a:p>
        </p:txBody>
      </p:sp>
      <p:sp>
        <p:nvSpPr>
          <p:cNvPr id="60420" name="Rectangle 3"/>
          <p:cNvSpPr>
            <a:spLocks noGrp="1" noChangeArrowheads="1"/>
          </p:cNvSpPr>
          <p:nvPr>
            <p:ph type="body" idx="1"/>
          </p:nvPr>
        </p:nvSpPr>
        <p:spPr>
          <a:xfrm>
            <a:off x="-21404" y="2819400"/>
            <a:ext cx="9089203" cy="3886200"/>
          </a:xfrm>
        </p:spPr>
        <p:txBody>
          <a:bodyPr/>
          <a:lstStyle/>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eaLnBrk="1" hangingPunct="1">
              <a:buClrTx/>
              <a:buSzPct val="100000"/>
              <a:buFont typeface="Wingdings" panose="05000000000000000000" pitchFamily="2" charset="2"/>
              <a:buChar char="§"/>
            </a:pPr>
            <a:r>
              <a:rPr lang="en-US" sz="1800" dirty="0">
                <a:latin typeface="Times New Roman" pitchFamily="18" charset="0"/>
              </a:rPr>
              <a:t>“Oracle of Omaha,” long-term value investor</a:t>
            </a:r>
          </a:p>
          <a:p>
            <a:pPr eaLnBrk="1" hangingPunct="1">
              <a:buClrTx/>
              <a:buSzPct val="100000"/>
              <a:buFont typeface="Wingdings" panose="05000000000000000000" pitchFamily="2" charset="2"/>
              <a:buChar char="§"/>
            </a:pPr>
            <a:r>
              <a:rPr lang="en-US" sz="1800" dirty="0">
                <a:latin typeface="Times New Roman" pitchFamily="18" charset="0"/>
              </a:rPr>
              <a:t>Berkshire is an insurer and huge conglomerate, approaching 1 trillion mkt cap</a:t>
            </a:r>
          </a:p>
          <a:p>
            <a:pPr eaLnBrk="1" hangingPunct="1">
              <a:buClrTx/>
              <a:buSzPct val="100000"/>
              <a:buFont typeface="Wingdings" panose="05000000000000000000" pitchFamily="2" charset="2"/>
              <a:buChar char="§"/>
            </a:pPr>
            <a:r>
              <a:rPr lang="en-US" sz="1800" dirty="0">
                <a:latin typeface="Times New Roman" pitchFamily="18" charset="0"/>
              </a:rPr>
              <a:t>Bought many companies (Geico, BNSF)</a:t>
            </a:r>
          </a:p>
          <a:p>
            <a:pPr eaLnBrk="1" hangingPunct="1">
              <a:buClrTx/>
              <a:buSzPct val="100000"/>
              <a:buFont typeface="Wingdings" panose="05000000000000000000" pitchFamily="2" charset="2"/>
              <a:buChar char="§"/>
            </a:pPr>
            <a:r>
              <a:rPr lang="en-US" sz="1800" dirty="0">
                <a:latin typeface="Times New Roman" pitchFamily="18" charset="0"/>
              </a:rPr>
              <a:t>Large stakes in others (KO, KHC) </a:t>
            </a:r>
          </a:p>
          <a:p>
            <a:pPr eaLnBrk="1" hangingPunct="1">
              <a:buClrTx/>
              <a:buSzPct val="100000"/>
              <a:buFont typeface="Wingdings" panose="05000000000000000000" pitchFamily="2" charset="2"/>
              <a:buChar char="§"/>
            </a:pPr>
            <a:r>
              <a:rPr lang="en-US" sz="1800" dirty="0">
                <a:latin typeface="Times New Roman" pitchFamily="18" charset="0"/>
              </a:rPr>
              <a:t>Sold huge number of put options in trough of financial crisis</a:t>
            </a:r>
          </a:p>
          <a:p>
            <a:pPr marL="0" indent="0" eaLnBrk="1" hangingPunct="1">
              <a:buClrTx/>
              <a:buSzPct val="100000"/>
              <a:buNone/>
            </a:pPr>
            <a:endParaRPr lang="en-US" sz="1800" dirty="0">
              <a:latin typeface="Times New Roman" pitchFamily="18" charset="0"/>
            </a:endParaRPr>
          </a:p>
          <a:p>
            <a:pPr eaLnBrk="1" hangingPunct="1">
              <a:buClrTx/>
              <a:buSzPct val="100000"/>
              <a:buFont typeface="Wingdings" panose="05000000000000000000" pitchFamily="2" charset="2"/>
              <a:buChar char="§"/>
            </a:pPr>
            <a:r>
              <a:rPr lang="en-US" sz="1800" dirty="0">
                <a:latin typeface="Times New Roman" pitchFamily="18" charset="0"/>
              </a:rPr>
              <a:t>Diversification: “Don’t put all your eggs in one basket”</a:t>
            </a:r>
          </a:p>
          <a:p>
            <a:pPr eaLnBrk="1" hangingPunct="1">
              <a:buClrTx/>
              <a:buSzPct val="100000"/>
              <a:buFont typeface="Wingdings" panose="05000000000000000000" pitchFamily="2" charset="2"/>
              <a:buChar char="§"/>
            </a:pPr>
            <a:r>
              <a:rPr lang="en-US" sz="1800" dirty="0">
                <a:latin typeface="Times New Roman" pitchFamily="18" charset="0"/>
              </a:rPr>
              <a:t>Buffet: “Put all your </a:t>
            </a:r>
            <a:r>
              <a:rPr lang="en-US" sz="1800" dirty="0" err="1">
                <a:latin typeface="Times New Roman" pitchFamily="18" charset="0"/>
              </a:rPr>
              <a:t>aggs</a:t>
            </a:r>
            <a:r>
              <a:rPr lang="en-US" sz="1800" dirty="0">
                <a:latin typeface="Times New Roman" pitchFamily="18" charset="0"/>
              </a:rPr>
              <a:t> in one basket, and watch that basket carefully”</a:t>
            </a:r>
          </a:p>
          <a:p>
            <a:pPr eaLnBrk="1" hangingPunct="1">
              <a:buClrTx/>
              <a:buSzPct val="100000"/>
              <a:buFont typeface="Wingdings" panose="05000000000000000000" pitchFamily="2" charset="2"/>
              <a:buChar char="§"/>
            </a:pPr>
            <a:endParaRPr lang="en-US" sz="1800" dirty="0">
              <a:latin typeface="Times New Roman" pitchFamily="18" charset="0"/>
            </a:endParaRPr>
          </a:p>
        </p:txBody>
      </p:sp>
      <p:pic>
        <p:nvPicPr>
          <p:cNvPr id="14342" name="Picture 6" descr="Warren Buffett at the 2015 SelectUSA Investment Summit (cropped).jpg">
            <a:extLst>
              <a:ext uri="{FF2B5EF4-FFF2-40B4-BE49-F238E27FC236}">
                <a16:creationId xmlns:a16="http://schemas.microsoft.com/office/drawing/2014/main" id="{DA12DFB3-FB9C-4C46-8AA5-90CE92A10C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838200"/>
            <a:ext cx="1862667" cy="2895600"/>
          </a:xfrm>
          <a:prstGeom prst="rect">
            <a:avLst/>
          </a:prstGeom>
          <a:noFill/>
          <a:extLst>
            <a:ext uri="{909E8E84-426E-40DD-AFC4-6F175D3DCCD1}">
              <a14:hiddenFill xmlns:a14="http://schemas.microsoft.com/office/drawing/2010/main">
                <a:solidFill>
                  <a:srgbClr val="FFFFFF"/>
                </a:solidFill>
              </a14:hiddenFill>
            </a:ext>
          </a:extLst>
        </p:spPr>
      </p:pic>
      <p:pic>
        <p:nvPicPr>
          <p:cNvPr id="14344" name="Picture 8" descr="Berkshire Hathaway.svg">
            <a:extLst>
              <a:ext uri="{FF2B5EF4-FFF2-40B4-BE49-F238E27FC236}">
                <a16:creationId xmlns:a16="http://schemas.microsoft.com/office/drawing/2014/main" id="{A06A8871-BDFE-4CDE-871C-77C9C8FE94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828800"/>
            <a:ext cx="4010526" cy="30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6290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76199" y="76200"/>
            <a:ext cx="8915399" cy="606425"/>
          </a:xfrm>
        </p:spPr>
        <p:txBody>
          <a:bodyPr/>
          <a:lstStyle/>
          <a:p>
            <a:pPr eaLnBrk="1" hangingPunct="1"/>
            <a:r>
              <a:rPr lang="en-US" sz="3000" b="1" dirty="0">
                <a:solidFill>
                  <a:schemeClr val="tx1"/>
                </a:solidFill>
                <a:latin typeface="Times New Roman" pitchFamily="18" charset="0"/>
              </a:rPr>
              <a:t>John Bogle / Vanguard</a:t>
            </a:r>
          </a:p>
        </p:txBody>
      </p:sp>
      <p:sp>
        <p:nvSpPr>
          <p:cNvPr id="60420" name="Rectangle 3"/>
          <p:cNvSpPr>
            <a:spLocks noGrp="1" noChangeArrowheads="1"/>
          </p:cNvSpPr>
          <p:nvPr>
            <p:ph type="body" idx="1"/>
          </p:nvPr>
        </p:nvSpPr>
        <p:spPr>
          <a:xfrm>
            <a:off x="-21404" y="2819400"/>
            <a:ext cx="9089203" cy="3886200"/>
          </a:xfrm>
        </p:spPr>
        <p:txBody>
          <a:bodyPr/>
          <a:lstStyle/>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eaLnBrk="1" hangingPunct="1">
              <a:buClrTx/>
              <a:buSzPct val="100000"/>
              <a:buFont typeface="Wingdings" panose="05000000000000000000" pitchFamily="2" charset="2"/>
              <a:buChar char="§"/>
            </a:pPr>
            <a:r>
              <a:rPr lang="en-US" sz="1800" dirty="0">
                <a:latin typeface="Times New Roman" pitchFamily="18" charset="0"/>
              </a:rPr>
              <a:t>Vanguard founder, first index fund 1976</a:t>
            </a:r>
          </a:p>
          <a:p>
            <a:pPr eaLnBrk="1" hangingPunct="1">
              <a:buClrTx/>
              <a:buSzPct val="100000"/>
              <a:buFont typeface="Wingdings" panose="05000000000000000000" pitchFamily="2" charset="2"/>
              <a:buChar char="§"/>
            </a:pPr>
            <a:r>
              <a:rPr lang="en-US" sz="1800" dirty="0">
                <a:latin typeface="Times New Roman" pitchFamily="18" charset="0"/>
              </a:rPr>
              <a:t>Wrote college thesis on how most active managers underperform the market</a:t>
            </a:r>
          </a:p>
          <a:p>
            <a:pPr eaLnBrk="1" hangingPunct="1">
              <a:buClrTx/>
              <a:buSzPct val="100000"/>
              <a:buFont typeface="Wingdings" panose="05000000000000000000" pitchFamily="2" charset="2"/>
              <a:buChar char="§"/>
            </a:pPr>
            <a:r>
              <a:rPr lang="en-US" sz="1800" dirty="0">
                <a:latin typeface="Times New Roman" pitchFamily="18" charset="0"/>
              </a:rPr>
              <a:t>“Don’t look for the needle in the haystack, just buy the haystack”</a:t>
            </a:r>
          </a:p>
          <a:p>
            <a:pPr eaLnBrk="1" hangingPunct="1">
              <a:buClrTx/>
              <a:buSzPct val="100000"/>
              <a:buFont typeface="Wingdings" panose="05000000000000000000" pitchFamily="2" charset="2"/>
              <a:buChar char="§"/>
            </a:pPr>
            <a:r>
              <a:rPr lang="en-US" sz="1800" dirty="0">
                <a:latin typeface="Times New Roman" pitchFamily="18" charset="0"/>
              </a:rPr>
              <a:t>Now 7 trillion </a:t>
            </a:r>
            <a:r>
              <a:rPr lang="en-US" sz="1800" dirty="0" err="1">
                <a:latin typeface="Times New Roman" pitchFamily="18" charset="0"/>
              </a:rPr>
              <a:t>aum</a:t>
            </a:r>
            <a:r>
              <a:rPr lang="en-US" sz="1800" dirty="0">
                <a:latin typeface="Times New Roman" pitchFamily="18" charset="0"/>
              </a:rPr>
              <a:t>, largest managers with Blackrock and State Street</a:t>
            </a:r>
          </a:p>
          <a:p>
            <a:pPr eaLnBrk="1" hangingPunct="1">
              <a:buClrTx/>
              <a:buSzPct val="100000"/>
              <a:buFont typeface="Wingdings" panose="05000000000000000000" pitchFamily="2" charset="2"/>
              <a:buChar char="§"/>
            </a:pPr>
            <a:r>
              <a:rPr lang="en-US" sz="1800" dirty="0">
                <a:latin typeface="Times New Roman" pitchFamily="18" charset="0"/>
              </a:rPr>
              <a:t>Fees now zero for many funds (made possible by payment for order flow)</a:t>
            </a:r>
          </a:p>
          <a:p>
            <a:pPr eaLnBrk="1" hangingPunct="1">
              <a:buClrTx/>
              <a:buSzPct val="100000"/>
              <a:buFont typeface="Wingdings" panose="05000000000000000000" pitchFamily="2" charset="2"/>
              <a:buChar char="§"/>
            </a:pPr>
            <a:endParaRPr lang="en-US" sz="1800" dirty="0">
              <a:latin typeface="Times New Roman" pitchFamily="18" charset="0"/>
            </a:endParaRPr>
          </a:p>
        </p:txBody>
      </p:sp>
      <p:pic>
        <p:nvPicPr>
          <p:cNvPr id="14338" name="Picture 2" descr="Image result for john bogle">
            <a:extLst>
              <a:ext uri="{FF2B5EF4-FFF2-40B4-BE49-F238E27FC236}">
                <a16:creationId xmlns:a16="http://schemas.microsoft.com/office/drawing/2014/main" id="{958A697A-3CC0-4C61-A628-93EAE97B8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762000"/>
            <a:ext cx="2022475" cy="280035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Vanguard Home">
            <a:extLst>
              <a:ext uri="{FF2B5EF4-FFF2-40B4-BE49-F238E27FC236}">
                <a16:creationId xmlns:a16="http://schemas.microsoft.com/office/drawing/2014/main" id="{E56DF3DA-87DD-45CE-BA46-9882B6F4CCA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6" descr="Vanguard.svg">
            <a:extLst>
              <a:ext uri="{FF2B5EF4-FFF2-40B4-BE49-F238E27FC236}">
                <a16:creationId xmlns:a16="http://schemas.microsoft.com/office/drawing/2014/main" id="{AE4A9249-2CE1-41C0-8FC8-8172F3645D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799" y="2001636"/>
            <a:ext cx="3827831" cy="817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115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76199" y="76200"/>
            <a:ext cx="8915399" cy="606425"/>
          </a:xfrm>
        </p:spPr>
        <p:txBody>
          <a:bodyPr/>
          <a:lstStyle/>
          <a:p>
            <a:pPr eaLnBrk="1" hangingPunct="1"/>
            <a:r>
              <a:rPr lang="en-US" sz="3000" b="1" dirty="0">
                <a:solidFill>
                  <a:schemeClr val="tx1"/>
                </a:solidFill>
                <a:latin typeface="Times New Roman" pitchFamily="18" charset="0"/>
              </a:rPr>
              <a:t>Ken Griffin / Citadel</a:t>
            </a:r>
          </a:p>
        </p:txBody>
      </p:sp>
      <p:sp>
        <p:nvSpPr>
          <p:cNvPr id="60420" name="Rectangle 3"/>
          <p:cNvSpPr>
            <a:spLocks noGrp="1" noChangeArrowheads="1"/>
          </p:cNvSpPr>
          <p:nvPr>
            <p:ph type="body" idx="1"/>
          </p:nvPr>
        </p:nvSpPr>
        <p:spPr>
          <a:xfrm>
            <a:off x="-21404" y="2819400"/>
            <a:ext cx="9089203" cy="3886200"/>
          </a:xfrm>
        </p:spPr>
        <p:txBody>
          <a:bodyPr/>
          <a:lstStyle/>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eaLnBrk="1" hangingPunct="1">
              <a:buClrTx/>
              <a:buSzPct val="100000"/>
              <a:buFont typeface="Wingdings" panose="05000000000000000000" pitchFamily="2" charset="2"/>
              <a:buChar char="§"/>
            </a:pPr>
            <a:r>
              <a:rPr lang="en-US" sz="1800" dirty="0">
                <a:latin typeface="Times New Roman" pitchFamily="18" charset="0"/>
              </a:rPr>
              <a:t>Citadel is both a large hedge fund (38 bill </a:t>
            </a:r>
            <a:r>
              <a:rPr lang="en-US" sz="1800" dirty="0" err="1">
                <a:latin typeface="Times New Roman" pitchFamily="18" charset="0"/>
              </a:rPr>
              <a:t>aum</a:t>
            </a:r>
            <a:r>
              <a:rPr lang="en-US" sz="1800" dirty="0">
                <a:latin typeface="Times New Roman" pitchFamily="18" charset="0"/>
              </a:rPr>
              <a:t>)</a:t>
            </a:r>
          </a:p>
          <a:p>
            <a:pPr eaLnBrk="1" hangingPunct="1">
              <a:buClrTx/>
              <a:buSzPct val="100000"/>
              <a:buFont typeface="Wingdings" panose="05000000000000000000" pitchFamily="2" charset="2"/>
              <a:buChar char="§"/>
            </a:pPr>
            <a:r>
              <a:rPr lang="en-US" sz="1800" dirty="0">
                <a:latin typeface="Times New Roman" pitchFamily="18" charset="0"/>
              </a:rPr>
              <a:t>And the largest market maker in U.S. (40% of trades executed)</a:t>
            </a:r>
          </a:p>
          <a:p>
            <a:pPr eaLnBrk="1" hangingPunct="1">
              <a:buClrTx/>
              <a:buSzPct val="100000"/>
              <a:buFont typeface="Wingdings" panose="05000000000000000000" pitchFamily="2" charset="2"/>
              <a:buChar char="§"/>
            </a:pPr>
            <a:r>
              <a:rPr lang="en-US" sz="1800" dirty="0">
                <a:latin typeface="Times New Roman" pitchFamily="18" charset="0"/>
              </a:rPr>
              <a:t>Gained notoriety during meme stock episode</a:t>
            </a:r>
          </a:p>
          <a:p>
            <a:pPr lvl="1" eaLnBrk="1" hangingPunct="1">
              <a:buClrTx/>
              <a:buSzPct val="100000"/>
              <a:buFont typeface="Wingdings" panose="05000000000000000000" pitchFamily="2" charset="2"/>
              <a:buChar char="§"/>
            </a:pPr>
            <a:r>
              <a:rPr lang="en-US" sz="1800" dirty="0">
                <a:latin typeface="Times New Roman" pitchFamily="18" charset="0"/>
              </a:rPr>
              <a:t>Payment for order flow with Robinhood</a:t>
            </a:r>
          </a:p>
          <a:p>
            <a:pPr lvl="1" eaLnBrk="1" hangingPunct="1">
              <a:buClrTx/>
              <a:buSzPct val="100000"/>
              <a:buFont typeface="Wingdings" panose="05000000000000000000" pitchFamily="2" charset="2"/>
              <a:buChar char="§"/>
            </a:pPr>
            <a:r>
              <a:rPr lang="en-US" sz="1800" dirty="0">
                <a:latin typeface="Times New Roman" pitchFamily="18" charset="0"/>
              </a:rPr>
              <a:t>Investment/bailout of short seller Melvin Capital</a:t>
            </a:r>
          </a:p>
          <a:p>
            <a:pPr eaLnBrk="1" hangingPunct="1">
              <a:buClrTx/>
              <a:buSzPct val="100000"/>
              <a:buFont typeface="Wingdings" panose="05000000000000000000" pitchFamily="2" charset="2"/>
              <a:buChar char="§"/>
            </a:pPr>
            <a:r>
              <a:rPr lang="en-US" sz="1800" dirty="0">
                <a:hlinkClick r:id="rId3"/>
              </a:rPr>
              <a:t>Citadel Securities would buy Robinhood if regulators crack down on this one money-maker: Interactive Brokers founder (yahoo.com)</a:t>
            </a:r>
            <a:endParaRPr lang="en-US" sz="1800" dirty="0">
              <a:latin typeface="Times New Roman" pitchFamily="18" charset="0"/>
              <a:hlinkClick r:id="" action="ppaction://noaction"/>
            </a:endParaRPr>
          </a:p>
          <a:p>
            <a:pPr eaLnBrk="1" hangingPunct="1">
              <a:buClrTx/>
              <a:buSzPct val="100000"/>
              <a:buFont typeface="Wingdings" panose="05000000000000000000" pitchFamily="2" charset="2"/>
              <a:buChar char="§"/>
            </a:pPr>
            <a:r>
              <a:rPr lang="en-US" sz="1800" dirty="0">
                <a:latin typeface="Times New Roman" pitchFamily="18" charset="0"/>
                <a:hlinkClick r:id="" action="ppaction://noaction"/>
              </a:rPr>
              <a:t>https://nypost.com/2021/01/25/this-short-seller-just-got-a-2-75-billion-bailout/</a:t>
            </a:r>
            <a:endParaRPr lang="en-US" sz="1800" dirty="0">
              <a:latin typeface="Times New Roman" pitchFamily="18" charset="0"/>
            </a:endParaRPr>
          </a:p>
        </p:txBody>
      </p:sp>
      <p:pic>
        <p:nvPicPr>
          <p:cNvPr id="14338" name="Picture 2" descr="https://s3.amazonaws.com/citadel-wordpress-prd102/wp-content/uploads/2017/07/01212240/Ken_Wide-e1540312099259-500x500.jpg">
            <a:extLst>
              <a:ext uri="{FF2B5EF4-FFF2-40B4-BE49-F238E27FC236}">
                <a16:creationId xmlns:a16="http://schemas.microsoft.com/office/drawing/2014/main" id="{FE48A0B7-C3E3-4F7C-99AD-44E7AF0BDB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838200"/>
            <a:ext cx="2533651" cy="2533651"/>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Citadel LLC Logo.svg">
            <a:extLst>
              <a:ext uri="{FF2B5EF4-FFF2-40B4-BE49-F238E27FC236}">
                <a16:creationId xmlns:a16="http://schemas.microsoft.com/office/drawing/2014/main" id="{C81ACA96-2E72-4D82-BA78-F517AB4A4D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399" y="1785085"/>
            <a:ext cx="4594129" cy="60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8964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76199" y="76200"/>
            <a:ext cx="8915399" cy="606425"/>
          </a:xfrm>
        </p:spPr>
        <p:txBody>
          <a:bodyPr/>
          <a:lstStyle/>
          <a:p>
            <a:pPr eaLnBrk="1" hangingPunct="1"/>
            <a:r>
              <a:rPr lang="en-US" sz="3000" b="1" dirty="0">
                <a:solidFill>
                  <a:schemeClr val="tx1"/>
                </a:solidFill>
                <a:latin typeface="Times New Roman" pitchFamily="18" charset="0"/>
              </a:rPr>
              <a:t>Cathie Wood / ARK Innovation</a:t>
            </a:r>
          </a:p>
        </p:txBody>
      </p:sp>
      <p:sp>
        <p:nvSpPr>
          <p:cNvPr id="60420" name="Rectangle 3"/>
          <p:cNvSpPr>
            <a:spLocks noGrp="1" noChangeArrowheads="1"/>
          </p:cNvSpPr>
          <p:nvPr>
            <p:ph type="body" idx="1"/>
          </p:nvPr>
        </p:nvSpPr>
        <p:spPr>
          <a:xfrm>
            <a:off x="-21404" y="2819400"/>
            <a:ext cx="9089203" cy="3886200"/>
          </a:xfrm>
        </p:spPr>
        <p:txBody>
          <a:bodyPr/>
          <a:lstStyle/>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eaLnBrk="1" hangingPunct="1">
              <a:buClrTx/>
              <a:buSzPct val="100000"/>
              <a:buFont typeface="Wingdings" panose="05000000000000000000" pitchFamily="2" charset="2"/>
              <a:buChar char="§"/>
            </a:pPr>
            <a:r>
              <a:rPr lang="en-US" sz="1800" dirty="0">
                <a:latin typeface="Times New Roman" pitchFamily="18" charset="0"/>
              </a:rPr>
              <a:t>Huge proponent of thematic</a:t>
            </a:r>
          </a:p>
          <a:p>
            <a:pPr eaLnBrk="1" hangingPunct="1">
              <a:buClrTx/>
              <a:buSzPct val="100000"/>
              <a:buFont typeface="Wingdings" panose="05000000000000000000" pitchFamily="2" charset="2"/>
              <a:buChar char="§"/>
            </a:pPr>
            <a:r>
              <a:rPr lang="en-US" sz="1800" dirty="0">
                <a:latin typeface="Times New Roman" pitchFamily="18" charset="0"/>
              </a:rPr>
              <a:t>She focuses on tech, but ideas apply to other themes</a:t>
            </a:r>
          </a:p>
          <a:p>
            <a:pPr eaLnBrk="1" hangingPunct="1">
              <a:buClrTx/>
              <a:buSzPct val="100000"/>
              <a:buFont typeface="Wingdings" panose="05000000000000000000" pitchFamily="2" charset="2"/>
              <a:buChar char="§"/>
            </a:pPr>
            <a:r>
              <a:rPr lang="en-US" sz="1800" dirty="0">
                <a:latin typeface="Times New Roman" pitchFamily="18" charset="0"/>
              </a:rPr>
              <a:t>“Research departments are not set up correctly.  They give their analysts a sector or an industry and the idea is to the index and pick the best ones.  We don’t do that.  We have a white sheet of paper and we say ‘ How is the world going to work?’”</a:t>
            </a:r>
          </a:p>
          <a:p>
            <a:pPr eaLnBrk="1" hangingPunct="1">
              <a:buClrTx/>
              <a:buSzPct val="100000"/>
              <a:buFont typeface="Wingdings" panose="05000000000000000000" pitchFamily="2" charset="2"/>
              <a:buChar char="§"/>
            </a:pPr>
            <a:r>
              <a:rPr lang="en-US" sz="1600" dirty="0">
                <a:hlinkClick r:id="rId3"/>
              </a:rPr>
              <a:t>► ARK </a:t>
            </a:r>
            <a:r>
              <a:rPr lang="en-US" sz="1600" dirty="0" err="1">
                <a:hlinkClick r:id="rId3"/>
              </a:rPr>
              <a:t>Invest’s</a:t>
            </a:r>
            <a:r>
              <a:rPr lang="en-US" sz="1600" dirty="0">
                <a:hlinkClick r:id="rId3"/>
              </a:rPr>
              <a:t> Wood: Asset management analysts are doing it wrong on </a:t>
            </a:r>
            <a:r>
              <a:rPr lang="en-US" sz="1600" dirty="0" err="1">
                <a:hlinkClick r:id="rId3"/>
              </a:rPr>
              <a:t>thematics</a:t>
            </a:r>
            <a:r>
              <a:rPr lang="en-US" sz="1600" dirty="0">
                <a:hlinkClick r:id="rId3"/>
              </a:rPr>
              <a:t> - Citywire</a:t>
            </a:r>
            <a:endParaRPr lang="en-US" sz="1600" dirty="0">
              <a:latin typeface="Times New Roman" pitchFamily="18" charset="0"/>
            </a:endParaRPr>
          </a:p>
          <a:p>
            <a:pPr eaLnBrk="1" hangingPunct="1">
              <a:buClrTx/>
              <a:buSzPct val="100000"/>
              <a:buFont typeface="Wingdings" panose="05000000000000000000" pitchFamily="2" charset="2"/>
              <a:buChar char="§"/>
            </a:pPr>
            <a:r>
              <a:rPr lang="en-US" sz="1600" dirty="0">
                <a:hlinkClick r:id="rId4"/>
              </a:rPr>
              <a:t>Ark’s Cathie Wood locks horns over Tesla with value manager – Citywire</a:t>
            </a:r>
            <a:endParaRPr lang="en-US" sz="1600" dirty="0"/>
          </a:p>
          <a:p>
            <a:pPr eaLnBrk="1" hangingPunct="1">
              <a:buClrTx/>
              <a:buSzPct val="100000"/>
              <a:buFont typeface="Wingdings" panose="05000000000000000000" pitchFamily="2" charset="2"/>
              <a:buChar char="§"/>
            </a:pPr>
            <a:r>
              <a:rPr lang="en-US" sz="1600" dirty="0">
                <a:hlinkClick r:id="rId5"/>
              </a:rPr>
              <a:t>ARK’s Cathie Wood turns focus to deflation, ‘stay connected’ stocks - The Globe and Mail</a:t>
            </a:r>
            <a:endParaRPr lang="en-US" sz="1600" dirty="0">
              <a:latin typeface="Times New Roman" pitchFamily="18" charset="0"/>
            </a:endParaRPr>
          </a:p>
        </p:txBody>
      </p:sp>
      <p:pic>
        <p:nvPicPr>
          <p:cNvPr id="27650" name="Picture 2" descr="Image result for cathie wood">
            <a:extLst>
              <a:ext uri="{FF2B5EF4-FFF2-40B4-BE49-F238E27FC236}">
                <a16:creationId xmlns:a16="http://schemas.microsoft.com/office/drawing/2014/main" id="{1B696557-FFB0-46CA-AA4C-AF7DBC3F05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85" y="955554"/>
            <a:ext cx="2895600" cy="215237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9FE04D8-B16D-4B2A-889C-74A90DF43CA3}"/>
              </a:ext>
            </a:extLst>
          </p:cNvPr>
          <p:cNvPicPr>
            <a:picLocks noChangeAspect="1"/>
          </p:cNvPicPr>
          <p:nvPr/>
        </p:nvPicPr>
        <p:blipFill>
          <a:blip r:embed="rId7"/>
          <a:stretch>
            <a:fillRect/>
          </a:stretch>
        </p:blipFill>
        <p:spPr>
          <a:xfrm>
            <a:off x="2921285" y="685800"/>
            <a:ext cx="5911064" cy="3147088"/>
          </a:xfrm>
          <a:prstGeom prst="rect">
            <a:avLst/>
          </a:prstGeom>
        </p:spPr>
      </p:pic>
    </p:spTree>
    <p:extLst>
      <p:ext uri="{BB962C8B-B14F-4D97-AF65-F5344CB8AC3E}">
        <p14:creationId xmlns:p14="http://schemas.microsoft.com/office/powerpoint/2010/main" val="1959269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76199" y="76200"/>
            <a:ext cx="8915399" cy="606425"/>
          </a:xfrm>
        </p:spPr>
        <p:txBody>
          <a:bodyPr/>
          <a:lstStyle/>
          <a:p>
            <a:pPr eaLnBrk="1" hangingPunct="1"/>
            <a:r>
              <a:rPr lang="en-US" sz="3000" b="1" dirty="0">
                <a:solidFill>
                  <a:schemeClr val="tx1"/>
                </a:solidFill>
                <a:latin typeface="Times New Roman" pitchFamily="18" charset="0"/>
              </a:rPr>
              <a:t>Long Term Capital Management</a:t>
            </a:r>
          </a:p>
        </p:txBody>
      </p:sp>
      <p:sp>
        <p:nvSpPr>
          <p:cNvPr id="60420" name="Rectangle 3"/>
          <p:cNvSpPr>
            <a:spLocks noGrp="1" noChangeArrowheads="1"/>
          </p:cNvSpPr>
          <p:nvPr>
            <p:ph type="body" idx="1"/>
          </p:nvPr>
        </p:nvSpPr>
        <p:spPr>
          <a:xfrm>
            <a:off x="44115" y="914400"/>
            <a:ext cx="6432885" cy="3886200"/>
          </a:xfrm>
        </p:spPr>
        <p:txBody>
          <a:bodyPr/>
          <a:lstStyle/>
          <a:p>
            <a:pPr marL="0" indent="0" eaLnBrk="1" hangingPunct="1">
              <a:buClrTx/>
              <a:buSzPct val="100000"/>
              <a:buNone/>
            </a:pPr>
            <a:endParaRPr lang="en-US" sz="1800" dirty="0">
              <a:latin typeface="Times New Roman" pitchFamily="18" charset="0"/>
            </a:endParaRPr>
          </a:p>
          <a:p>
            <a:pPr eaLnBrk="1" hangingPunct="1">
              <a:buClrTx/>
              <a:buSzPct val="100000"/>
              <a:buFont typeface="Wingdings" panose="05000000000000000000" pitchFamily="2" charset="2"/>
              <a:buChar char="§"/>
            </a:pPr>
            <a:r>
              <a:rPr lang="en-US" sz="1800" dirty="0">
                <a:latin typeface="Times New Roman" pitchFamily="18" charset="0"/>
              </a:rPr>
              <a:t>Founded by John </a:t>
            </a:r>
            <a:r>
              <a:rPr lang="en-US" sz="1800" dirty="0" err="1">
                <a:latin typeface="Times New Roman" pitchFamily="18" charset="0"/>
              </a:rPr>
              <a:t>Merriwether</a:t>
            </a:r>
            <a:r>
              <a:rPr lang="en-US" sz="1800" dirty="0">
                <a:latin typeface="Times New Roman" pitchFamily="18" charset="0"/>
              </a:rPr>
              <a:t> in 1994</a:t>
            </a:r>
          </a:p>
          <a:p>
            <a:pPr eaLnBrk="1" hangingPunct="1">
              <a:buClrTx/>
              <a:buSzPct val="100000"/>
              <a:buFont typeface="Wingdings" panose="05000000000000000000" pitchFamily="2" charset="2"/>
              <a:buChar char="§"/>
            </a:pPr>
            <a:r>
              <a:rPr lang="en-US" sz="1800" dirty="0">
                <a:latin typeface="Times New Roman" pitchFamily="18" charset="0"/>
              </a:rPr>
              <a:t>Board of directors included Robert Merton and Myron Scholes, Nobel prize winners for option pricing theory</a:t>
            </a:r>
          </a:p>
          <a:p>
            <a:pPr eaLnBrk="1" hangingPunct="1">
              <a:buClrTx/>
              <a:buSzPct val="100000"/>
              <a:buFont typeface="Wingdings" panose="05000000000000000000" pitchFamily="2" charset="2"/>
              <a:buChar char="§"/>
            </a:pPr>
            <a:r>
              <a:rPr lang="en-US" sz="1800" dirty="0">
                <a:latin typeface="Times New Roman" pitchFamily="18" charset="0"/>
              </a:rPr>
              <a:t>Engaged in absolute return / arbitrage trading strategies, e.g.,</a:t>
            </a:r>
          </a:p>
          <a:p>
            <a:pPr lvl="1" eaLnBrk="1" hangingPunct="1">
              <a:buClrTx/>
              <a:buSzPct val="100000"/>
              <a:buFont typeface="Wingdings" panose="05000000000000000000" pitchFamily="2" charset="2"/>
              <a:buChar char="§"/>
            </a:pPr>
            <a:r>
              <a:rPr lang="en-US" sz="1800" dirty="0">
                <a:latin typeface="Times New Roman" pitchFamily="18" charset="0"/>
              </a:rPr>
              <a:t>Carry trade</a:t>
            </a:r>
          </a:p>
          <a:p>
            <a:pPr lvl="1" eaLnBrk="1" hangingPunct="1">
              <a:buClrTx/>
              <a:buSzPct val="100000"/>
              <a:buFont typeface="Wingdings" panose="05000000000000000000" pitchFamily="2" charset="2"/>
              <a:buChar char="§"/>
            </a:pPr>
            <a:r>
              <a:rPr lang="en-US" sz="1800" dirty="0">
                <a:latin typeface="Times New Roman" pitchFamily="18" charset="0"/>
              </a:rPr>
              <a:t>On-the-run / off-the-run</a:t>
            </a:r>
          </a:p>
          <a:p>
            <a:pPr lvl="1" eaLnBrk="1" hangingPunct="1">
              <a:buClrTx/>
              <a:buSzPct val="100000"/>
              <a:buFont typeface="Wingdings" panose="05000000000000000000" pitchFamily="2" charset="2"/>
              <a:buChar char="§"/>
            </a:pPr>
            <a:r>
              <a:rPr lang="en-US" sz="1800" dirty="0">
                <a:latin typeface="Times New Roman" pitchFamily="18" charset="0"/>
              </a:rPr>
              <a:t>Derivatives</a:t>
            </a:r>
          </a:p>
          <a:p>
            <a:pPr eaLnBrk="1" hangingPunct="1">
              <a:buClrTx/>
              <a:buSzPct val="100000"/>
              <a:buFont typeface="Wingdings" panose="05000000000000000000" pitchFamily="2" charset="2"/>
              <a:buChar char="§"/>
            </a:pPr>
            <a:r>
              <a:rPr lang="en-US" sz="1800" dirty="0">
                <a:latin typeface="Times New Roman" pitchFamily="18" charset="0"/>
              </a:rPr>
              <a:t>Failed in 1998, following the Asian financial crisis and the Russian financial crisis</a:t>
            </a:r>
          </a:p>
          <a:p>
            <a:pPr eaLnBrk="1" hangingPunct="1">
              <a:buClrTx/>
              <a:buSzPct val="100000"/>
              <a:buFont typeface="Wingdings" panose="05000000000000000000" pitchFamily="2" charset="2"/>
              <a:buChar char="§"/>
            </a:pPr>
            <a:r>
              <a:rPr lang="en-US" sz="1800" dirty="0">
                <a:latin typeface="Times New Roman" pitchFamily="18" charset="0"/>
              </a:rPr>
              <a:t>Subject of the book “When Genius Failed”</a:t>
            </a:r>
          </a:p>
          <a:p>
            <a:pPr marL="457200" lvl="1" indent="0" eaLnBrk="1" hangingPunct="1">
              <a:buClrTx/>
              <a:buSzPct val="100000"/>
              <a:buNone/>
            </a:pPr>
            <a:endParaRPr lang="en-US" sz="1800" dirty="0">
              <a:latin typeface="Times New Roman" pitchFamily="18" charset="0"/>
            </a:endParaRPr>
          </a:p>
        </p:txBody>
      </p:sp>
      <p:pic>
        <p:nvPicPr>
          <p:cNvPr id="14338" name="Picture 2" descr="https://www.bing.com/th?id=OIP.DGySFy5AH4xKeZ0d3DOLDQHaLX&amp;w=110&amp;h=170&amp;rs=1&amp;qlt=80&amp;o=6&amp;dpr=3&amp;pid=3.1">
            <a:extLst>
              <a:ext uri="{FF2B5EF4-FFF2-40B4-BE49-F238E27FC236}">
                <a16:creationId xmlns:a16="http://schemas.microsoft.com/office/drawing/2014/main" id="{D96A0117-B54F-4A7F-A44F-636A8835A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3429000"/>
            <a:ext cx="1966072" cy="3038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814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76199" y="76200"/>
            <a:ext cx="8915399" cy="606425"/>
          </a:xfrm>
        </p:spPr>
        <p:txBody>
          <a:bodyPr/>
          <a:lstStyle/>
          <a:p>
            <a:pPr eaLnBrk="1" hangingPunct="1"/>
            <a:r>
              <a:rPr lang="en-US" sz="3000" b="1" dirty="0">
                <a:solidFill>
                  <a:schemeClr val="tx1"/>
                </a:solidFill>
                <a:latin typeface="Times New Roman" pitchFamily="18" charset="0"/>
              </a:rPr>
              <a:t>T. Boone Pickens / Activist investor</a:t>
            </a:r>
          </a:p>
        </p:txBody>
      </p:sp>
      <p:sp>
        <p:nvSpPr>
          <p:cNvPr id="60420" name="Rectangle 3"/>
          <p:cNvSpPr>
            <a:spLocks noGrp="1" noChangeArrowheads="1"/>
          </p:cNvSpPr>
          <p:nvPr>
            <p:ph type="body" idx="1"/>
          </p:nvPr>
        </p:nvSpPr>
        <p:spPr>
          <a:xfrm>
            <a:off x="0" y="914400"/>
            <a:ext cx="9089203" cy="3124200"/>
          </a:xfrm>
        </p:spPr>
        <p:txBody>
          <a:bodyPr>
            <a:normAutofit fontScale="92500" lnSpcReduction="20000"/>
          </a:bodyPr>
          <a:lstStyle/>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eaLnBrk="1" hangingPunct="1">
              <a:buClrTx/>
              <a:buSzPct val="100000"/>
              <a:buFont typeface="Wingdings" panose="05000000000000000000" pitchFamily="2" charset="2"/>
              <a:buChar char="§"/>
            </a:pPr>
            <a:r>
              <a:rPr lang="en-US" sz="2000" dirty="0">
                <a:latin typeface="Times New Roman" pitchFamily="18" charset="0"/>
              </a:rPr>
              <a:t>An original “corporate raider” of the 1980’s</a:t>
            </a:r>
          </a:p>
          <a:p>
            <a:pPr eaLnBrk="1" hangingPunct="1">
              <a:buClrTx/>
              <a:buSzPct val="100000"/>
              <a:buFont typeface="Wingdings" panose="05000000000000000000" pitchFamily="2" charset="2"/>
              <a:buChar char="§"/>
            </a:pPr>
            <a:r>
              <a:rPr lang="en-US" sz="2000" dirty="0">
                <a:latin typeface="Times New Roman" pitchFamily="18" charset="0"/>
              </a:rPr>
              <a:t>Originally CEO of Mesa Petroleum in the 1970s, became famous for going after much larger companies that he thought were run inefficiently, and making hostile takeover attempts or other attempts to influence corporate activity (Gulf Oil)</a:t>
            </a:r>
          </a:p>
          <a:p>
            <a:pPr eaLnBrk="1" hangingPunct="1">
              <a:buClrTx/>
              <a:buSzPct val="100000"/>
              <a:buFont typeface="Wingdings" panose="05000000000000000000" pitchFamily="2" charset="2"/>
              <a:buChar char="§"/>
            </a:pPr>
            <a:r>
              <a:rPr lang="en-US" sz="2000" dirty="0">
                <a:latin typeface="Times New Roman" pitchFamily="18" charset="0"/>
              </a:rPr>
              <a:t>Other activist investors</a:t>
            </a:r>
          </a:p>
          <a:p>
            <a:pPr lvl="1" eaLnBrk="1" hangingPunct="1">
              <a:buClrTx/>
              <a:buSzPct val="100000"/>
              <a:buFont typeface="Wingdings" panose="05000000000000000000" pitchFamily="2" charset="2"/>
              <a:buChar char="§"/>
            </a:pPr>
            <a:r>
              <a:rPr lang="en-US" sz="2000" dirty="0">
                <a:latin typeface="Times New Roman" pitchFamily="18" charset="0"/>
              </a:rPr>
              <a:t>Carl Icahn</a:t>
            </a:r>
          </a:p>
          <a:p>
            <a:pPr lvl="1" eaLnBrk="1" hangingPunct="1">
              <a:buClrTx/>
              <a:buSzPct val="100000"/>
              <a:buFont typeface="Wingdings" panose="05000000000000000000" pitchFamily="2" charset="2"/>
              <a:buChar char="§"/>
            </a:pPr>
            <a:r>
              <a:rPr lang="en-US" sz="2000" dirty="0">
                <a:latin typeface="Times New Roman" pitchFamily="18" charset="0"/>
              </a:rPr>
              <a:t>Bill Ackman</a:t>
            </a:r>
          </a:p>
          <a:p>
            <a:pPr lvl="1" eaLnBrk="1" hangingPunct="1">
              <a:buClrTx/>
              <a:buSzPct val="100000"/>
              <a:buFont typeface="Wingdings" panose="05000000000000000000" pitchFamily="2" charset="2"/>
              <a:buChar char="§"/>
            </a:pPr>
            <a:r>
              <a:rPr lang="en-US" sz="2000" dirty="0">
                <a:latin typeface="Times New Roman" pitchFamily="18" charset="0"/>
              </a:rPr>
              <a:t>Greg Boland, founder of </a:t>
            </a:r>
            <a:r>
              <a:rPr lang="en-US" sz="2000" dirty="0" err="1">
                <a:latin typeface="Times New Roman" pitchFamily="18" charset="0"/>
                <a:hlinkClick r:id="rId3"/>
              </a:rPr>
              <a:t>Westface</a:t>
            </a:r>
            <a:r>
              <a:rPr lang="en-US" sz="2000" dirty="0">
                <a:latin typeface="Times New Roman" pitchFamily="18" charset="0"/>
                <a:hlinkClick r:id="rId3"/>
              </a:rPr>
              <a:t> Capital </a:t>
            </a:r>
            <a:r>
              <a:rPr lang="en-US" sz="2000" dirty="0">
                <a:latin typeface="Times New Roman" pitchFamily="18" charset="0"/>
              </a:rPr>
              <a:t>in Toronto and Sauder grad</a:t>
            </a:r>
          </a:p>
        </p:txBody>
      </p:sp>
    </p:spTree>
    <p:extLst>
      <p:ext uri="{BB962C8B-B14F-4D97-AF65-F5344CB8AC3E}">
        <p14:creationId xmlns:p14="http://schemas.microsoft.com/office/powerpoint/2010/main" val="3773320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76199" y="76200"/>
            <a:ext cx="8915399" cy="606425"/>
          </a:xfrm>
        </p:spPr>
        <p:txBody>
          <a:bodyPr/>
          <a:lstStyle/>
          <a:p>
            <a:pPr eaLnBrk="1" hangingPunct="1"/>
            <a:r>
              <a:rPr lang="en-US" sz="3000" b="1" dirty="0">
                <a:solidFill>
                  <a:schemeClr val="tx1"/>
                </a:solidFill>
                <a:latin typeface="Times New Roman" pitchFamily="18" charset="0"/>
              </a:rPr>
              <a:t>Michael Burry / Scion Capital Management</a:t>
            </a:r>
          </a:p>
        </p:txBody>
      </p:sp>
      <p:sp>
        <p:nvSpPr>
          <p:cNvPr id="60420" name="Rectangle 3"/>
          <p:cNvSpPr>
            <a:spLocks noGrp="1" noChangeArrowheads="1"/>
          </p:cNvSpPr>
          <p:nvPr>
            <p:ph type="body" idx="1"/>
          </p:nvPr>
        </p:nvSpPr>
        <p:spPr>
          <a:xfrm>
            <a:off x="0" y="914400"/>
            <a:ext cx="9089203" cy="3124200"/>
          </a:xfrm>
        </p:spPr>
        <p:txBody>
          <a:bodyPr/>
          <a:lstStyle/>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marL="0" indent="0" eaLnBrk="1" hangingPunct="1">
              <a:buClrTx/>
              <a:buSzPct val="100000"/>
              <a:buNone/>
            </a:pPr>
            <a:endParaRPr lang="en-US" sz="1800" dirty="0">
              <a:latin typeface="Times New Roman" pitchFamily="18" charset="0"/>
            </a:endParaRPr>
          </a:p>
          <a:p>
            <a:pPr eaLnBrk="1" hangingPunct="1">
              <a:buClrTx/>
              <a:buSzPct val="100000"/>
              <a:buFont typeface="Wingdings" panose="05000000000000000000" pitchFamily="2" charset="2"/>
              <a:buChar char="§"/>
            </a:pPr>
            <a:r>
              <a:rPr lang="en-US" sz="2000" dirty="0">
                <a:latin typeface="Times New Roman" pitchFamily="18" charset="0"/>
              </a:rPr>
              <a:t>The Big Short and the financial crisis</a:t>
            </a:r>
          </a:p>
          <a:p>
            <a:pPr eaLnBrk="1" hangingPunct="1">
              <a:buClrTx/>
              <a:buSzPct val="100000"/>
              <a:buFont typeface="Wingdings" panose="05000000000000000000" pitchFamily="2" charset="2"/>
              <a:buChar char="§"/>
            </a:pPr>
            <a:r>
              <a:rPr lang="en-US" sz="2000" dirty="0">
                <a:latin typeface="Times New Roman" pitchFamily="18" charset="0"/>
              </a:rPr>
              <a:t>Large stake in </a:t>
            </a:r>
            <a:r>
              <a:rPr lang="en-US" sz="2000" dirty="0" err="1">
                <a:latin typeface="Times New Roman" pitchFamily="18" charset="0"/>
              </a:rPr>
              <a:t>Gamestop</a:t>
            </a:r>
            <a:r>
              <a:rPr lang="en-US" sz="2000" dirty="0">
                <a:latin typeface="Times New Roman" pitchFamily="18" charset="0"/>
              </a:rPr>
              <a:t> and activist role prior to “meme stock</a:t>
            </a:r>
            <a:r>
              <a:rPr lang="en-US" sz="2000">
                <a:latin typeface="Times New Roman" pitchFamily="18" charset="0"/>
              </a:rPr>
              <a:t>” phenomenon.</a:t>
            </a:r>
            <a:endParaRPr lang="en-US" sz="2000" dirty="0">
              <a:latin typeface="Times New Roman" pitchFamily="18" charset="0"/>
            </a:endParaRPr>
          </a:p>
        </p:txBody>
      </p:sp>
    </p:spTree>
    <p:extLst>
      <p:ext uri="{BB962C8B-B14F-4D97-AF65-F5344CB8AC3E}">
        <p14:creationId xmlns:p14="http://schemas.microsoft.com/office/powerpoint/2010/main" val="15988298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86800" cy="609600"/>
          </a:xfrm>
        </p:spPr>
        <p:txBody>
          <a:bodyPr>
            <a:noAutofit/>
          </a:bodyPr>
          <a:lstStyle/>
          <a:p>
            <a:r>
              <a:rPr lang="en-US" sz="3200" dirty="0"/>
              <a:t>Retail I</a:t>
            </a:r>
          </a:p>
        </p:txBody>
      </p:sp>
      <p:pic>
        <p:nvPicPr>
          <p:cNvPr id="3" name="Content Placeholder 2">
            <a:extLst>
              <a:ext uri="{FF2B5EF4-FFF2-40B4-BE49-F238E27FC236}">
                <a16:creationId xmlns:a16="http://schemas.microsoft.com/office/drawing/2014/main" id="{3DBD9FBB-E639-46AA-8923-CFF5F26DF432}"/>
              </a:ext>
            </a:extLst>
          </p:cNvPr>
          <p:cNvPicPr>
            <a:picLocks noGrp="1" noChangeAspect="1"/>
          </p:cNvPicPr>
          <p:nvPr>
            <p:ph idx="1"/>
          </p:nvPr>
        </p:nvPicPr>
        <p:blipFill>
          <a:blip r:embed="rId2"/>
          <a:stretch>
            <a:fillRect/>
          </a:stretch>
        </p:blipFill>
        <p:spPr>
          <a:xfrm>
            <a:off x="190683" y="1447800"/>
            <a:ext cx="8762633" cy="4638703"/>
          </a:xfrm>
          <a:prstGeom prst="rect">
            <a:avLst/>
          </a:prstGeom>
        </p:spPr>
      </p:pic>
    </p:spTree>
    <p:extLst>
      <p:ext uri="{BB962C8B-B14F-4D97-AF65-F5344CB8AC3E}">
        <p14:creationId xmlns:p14="http://schemas.microsoft.com/office/powerpoint/2010/main" val="1634193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86800" cy="609600"/>
          </a:xfrm>
        </p:spPr>
        <p:txBody>
          <a:bodyPr>
            <a:noAutofit/>
          </a:bodyPr>
          <a:lstStyle/>
          <a:p>
            <a:r>
              <a:rPr lang="en-US" sz="3200" dirty="0"/>
              <a:t>Retail II</a:t>
            </a:r>
          </a:p>
        </p:txBody>
      </p:sp>
      <p:pic>
        <p:nvPicPr>
          <p:cNvPr id="5" name="Picture 4">
            <a:extLst>
              <a:ext uri="{FF2B5EF4-FFF2-40B4-BE49-F238E27FC236}">
                <a16:creationId xmlns:a16="http://schemas.microsoft.com/office/drawing/2014/main" id="{E4395789-8288-45A1-8BEF-8015174A2445}"/>
              </a:ext>
            </a:extLst>
          </p:cNvPr>
          <p:cNvPicPr>
            <a:picLocks noChangeAspect="1"/>
          </p:cNvPicPr>
          <p:nvPr/>
        </p:nvPicPr>
        <p:blipFill>
          <a:blip r:embed="rId2"/>
          <a:stretch>
            <a:fillRect/>
          </a:stretch>
        </p:blipFill>
        <p:spPr>
          <a:xfrm>
            <a:off x="457200" y="990600"/>
            <a:ext cx="8420222" cy="5410200"/>
          </a:xfrm>
          <a:prstGeom prst="rect">
            <a:avLst/>
          </a:prstGeom>
        </p:spPr>
      </p:pic>
    </p:spTree>
    <p:extLst>
      <p:ext uri="{BB962C8B-B14F-4D97-AF65-F5344CB8AC3E}">
        <p14:creationId xmlns:p14="http://schemas.microsoft.com/office/powerpoint/2010/main" val="172051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76199" y="76200"/>
            <a:ext cx="8915399" cy="606425"/>
          </a:xfrm>
        </p:spPr>
        <p:txBody>
          <a:bodyPr/>
          <a:lstStyle/>
          <a:p>
            <a:pPr eaLnBrk="1" hangingPunct="1"/>
            <a:r>
              <a:rPr lang="en-US" sz="3000" b="1" dirty="0">
                <a:latin typeface="Times New Roman" pitchFamily="18" charset="0"/>
              </a:rPr>
              <a:t>Data-Driven Investment Research at Sauder</a:t>
            </a:r>
            <a:endParaRPr lang="en-US" sz="3000" b="1" dirty="0">
              <a:solidFill>
                <a:schemeClr val="tx1"/>
              </a:solidFill>
              <a:latin typeface="Times New Roman" pitchFamily="18" charset="0"/>
            </a:endParaRPr>
          </a:p>
        </p:txBody>
      </p:sp>
      <p:pic>
        <p:nvPicPr>
          <p:cNvPr id="2" name="Picture 1">
            <a:extLst>
              <a:ext uri="{FF2B5EF4-FFF2-40B4-BE49-F238E27FC236}">
                <a16:creationId xmlns:a16="http://schemas.microsoft.com/office/drawing/2014/main" id="{B6E37031-3366-4B09-80CD-7DC58C0E4B8A}"/>
              </a:ext>
            </a:extLst>
          </p:cNvPr>
          <p:cNvPicPr>
            <a:picLocks noChangeAspect="1"/>
          </p:cNvPicPr>
          <p:nvPr/>
        </p:nvPicPr>
        <p:blipFill>
          <a:blip r:embed="rId3"/>
          <a:stretch>
            <a:fillRect/>
          </a:stretch>
        </p:blipFill>
        <p:spPr>
          <a:xfrm>
            <a:off x="1295400" y="1021245"/>
            <a:ext cx="6858000" cy="5760555"/>
          </a:xfrm>
          <a:prstGeom prst="rect">
            <a:avLst/>
          </a:prstGeom>
        </p:spPr>
      </p:pic>
    </p:spTree>
    <p:extLst>
      <p:ext uri="{BB962C8B-B14F-4D97-AF65-F5344CB8AC3E}">
        <p14:creationId xmlns:p14="http://schemas.microsoft.com/office/powerpoint/2010/main" val="1790827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2433</TotalTime>
  <Words>3026</Words>
  <Application>Microsoft Office PowerPoint</Application>
  <PresentationFormat>On-screen Show (4:3)</PresentationFormat>
  <Paragraphs>404</Paragraphs>
  <Slides>35</Slides>
  <Notes>8</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2" baseType="lpstr">
      <vt:lpstr>Arial</vt:lpstr>
      <vt:lpstr>Calibri</vt:lpstr>
      <vt:lpstr>Cambria Math</vt:lpstr>
      <vt:lpstr>Times New Roman</vt:lpstr>
      <vt:lpstr>Wingdings</vt:lpstr>
      <vt:lpstr>Office Theme</vt:lpstr>
      <vt:lpstr>Equation</vt:lpstr>
      <vt:lpstr>BAFI 508 Data-Driven Investments  Class 1: Intro</vt:lpstr>
      <vt:lpstr>Outline for Today</vt:lpstr>
      <vt:lpstr>Syllabus Key Points: 1) Topics</vt:lpstr>
      <vt:lpstr>Syllabus Key Points: 2) Work</vt:lpstr>
      <vt:lpstr>Homework Topics</vt:lpstr>
      <vt:lpstr>Final Project Possible Topics (proposals in week 5) </vt:lpstr>
      <vt:lpstr>Materials &amp; Resources</vt:lpstr>
      <vt:lpstr>Background Reading</vt:lpstr>
      <vt:lpstr>Quantitative Finance Preliminaries</vt:lpstr>
      <vt:lpstr>Issuers and Securities</vt:lpstr>
      <vt:lpstr>Issuers and Securities</vt:lpstr>
      <vt:lpstr>A View of Players and Participants</vt:lpstr>
      <vt:lpstr>Another View of Players/Participants</vt:lpstr>
      <vt:lpstr>Financial Markets: Many Types of Participants Using a Variety of Tools</vt:lpstr>
      <vt:lpstr>Some Investment Categorizations/Tools</vt:lpstr>
      <vt:lpstr>Conflict Between Practice of Investment Management and Finance Theory?</vt:lpstr>
      <vt:lpstr>Concept: Valuation</vt:lpstr>
      <vt:lpstr>Valuation Simplifications</vt:lpstr>
      <vt:lpstr>Measurement: Stock Returns</vt:lpstr>
      <vt:lpstr>Yahoo Finance Adjusted Close</vt:lpstr>
      <vt:lpstr>Calculating Portfolio Returns</vt:lpstr>
      <vt:lpstr>Initial weighting, buy-and-hold, and rebalancing</vt:lpstr>
      <vt:lpstr>Finance Data Sources</vt:lpstr>
      <vt:lpstr>Homework for Next Class  (Not graded, to stimulate thought and discussion)</vt:lpstr>
      <vt:lpstr>Extras</vt:lpstr>
      <vt:lpstr>Warren Buffet / Berkshire Hathaway</vt:lpstr>
      <vt:lpstr>John Bogle / Vanguard</vt:lpstr>
      <vt:lpstr>Ken Griffin / Citadel</vt:lpstr>
      <vt:lpstr>Cathie Wood / ARK Innovation</vt:lpstr>
      <vt:lpstr>Long Term Capital Management</vt:lpstr>
      <vt:lpstr>T. Boone Pickens / Activist investor</vt:lpstr>
      <vt:lpstr>Michael Burry / Scion Capital Management</vt:lpstr>
      <vt:lpstr>Retail I</vt:lpstr>
      <vt:lpstr>Retail II</vt:lpstr>
      <vt:lpstr>Data-Driven Investment Research at Sauder</vt:lpstr>
    </vt:vector>
  </TitlesOfParts>
  <Company>Sauder School of Business, UBC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Evaluation</dc:title>
  <dc:creator>Murray Carlson</dc:creator>
  <cp:lastModifiedBy>Fisher, Adlai</cp:lastModifiedBy>
  <cp:revision>228</cp:revision>
  <cp:lastPrinted>2011-02-09T17:45:52Z</cp:lastPrinted>
  <dcterms:created xsi:type="dcterms:W3CDTF">2010-11-15T21:14:58Z</dcterms:created>
  <dcterms:modified xsi:type="dcterms:W3CDTF">2025-02-25T06:24:32Z</dcterms:modified>
</cp:coreProperties>
</file>