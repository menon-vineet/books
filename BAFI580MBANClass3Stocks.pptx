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</p:sldMasterIdLst>
  <p:notesMasterIdLst>
    <p:notesMasterId r:id="rId50"/>
  </p:notesMasterIdLst>
  <p:sldIdLst>
    <p:sldId id="256" r:id="rId4"/>
    <p:sldId id="402" r:id="rId5"/>
    <p:sldId id="327" r:id="rId6"/>
    <p:sldId id="328" r:id="rId7"/>
    <p:sldId id="347" r:id="rId8"/>
    <p:sldId id="440" r:id="rId9"/>
    <p:sldId id="441" r:id="rId10"/>
    <p:sldId id="442" r:id="rId11"/>
    <p:sldId id="348" r:id="rId12"/>
    <p:sldId id="448" r:id="rId13"/>
    <p:sldId id="449" r:id="rId14"/>
    <p:sldId id="443" r:id="rId15"/>
    <p:sldId id="349" r:id="rId16"/>
    <p:sldId id="330" r:id="rId17"/>
    <p:sldId id="371" r:id="rId18"/>
    <p:sldId id="401" r:id="rId19"/>
    <p:sldId id="350" r:id="rId20"/>
    <p:sldId id="351" r:id="rId21"/>
    <p:sldId id="352" r:id="rId22"/>
    <p:sldId id="444" r:id="rId23"/>
    <p:sldId id="446" r:id="rId24"/>
    <p:sldId id="447" r:id="rId25"/>
    <p:sldId id="342" r:id="rId26"/>
    <p:sldId id="343" r:id="rId27"/>
    <p:sldId id="334" r:id="rId28"/>
    <p:sldId id="335" r:id="rId29"/>
    <p:sldId id="336" r:id="rId30"/>
    <p:sldId id="337" r:id="rId31"/>
    <p:sldId id="376" r:id="rId32"/>
    <p:sldId id="338" r:id="rId33"/>
    <p:sldId id="339" r:id="rId34"/>
    <p:sldId id="340" r:id="rId35"/>
    <p:sldId id="341" r:id="rId36"/>
    <p:sldId id="353" r:id="rId37"/>
    <p:sldId id="368" r:id="rId38"/>
    <p:sldId id="369" r:id="rId39"/>
    <p:sldId id="37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54" r:id="rId48"/>
    <p:sldId id="44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2" autoAdjust="0"/>
    <p:restoredTop sz="94660"/>
  </p:normalViewPr>
  <p:slideViewPr>
    <p:cSldViewPr>
      <p:cViewPr varScale="1">
        <p:scale>
          <a:sx n="115" d="100"/>
          <a:sy n="115" d="100"/>
        </p:scale>
        <p:origin x="1476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png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AA116E-8042-4404-9048-3BE892672DFE}" type="datetimeFigureOut">
              <a:rPr lang="en-US" smtClean="0"/>
              <a:t>4/26/2022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21016-C27F-4D2F-AB03-A5A7630382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23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129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2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4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50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87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979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022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11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3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156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97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679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3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50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18F48-B2D3-4C65-88A0-5F584055A00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54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5F4D8B-AB23-459B-9A75-97677BEEDA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36087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5F6DD-EDD7-4A07-9F58-117C7B8F6B3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029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C1CBD0-6C8D-470E-84D3-B1E1EF12D76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7805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17C098-92B0-4B02-9197-8D0B66EAB0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3456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C95D92-DE76-4CAF-8F6E-7B1810AD214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5147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83ED-BEB9-495C-802A-05AF174AB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305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FD0F7D-079A-4DB9-AE84-85EA3717196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198406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645A5E-EBE0-45C5-8971-E96F9313EDF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34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6A320-832E-4BF2-8C3C-9966EB36D3F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2251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93ED23-C7EA-4D39-9DD9-1B63F603ACE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7394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B80C01-3715-4795-AFE4-731A399C0FB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41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5318F48-B2D3-4C65-88A0-5F584055A00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2882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85F4D8B-AB23-459B-9A75-97677BEEDA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2976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AB5F6DD-EDD7-4A07-9F58-117C7B8F6B3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2550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5C1CBD0-6C8D-470E-84D3-B1E1EF12D76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0663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A17C098-92B0-4B02-9197-8D0B66EAB025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4150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C95D92-DE76-4CAF-8F6E-7B1810AD214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769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ABA83ED-BEB9-495C-802A-05AF174AB41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1966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EFD0F7D-079A-4DB9-AE84-85EA37171966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8824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645A5E-EBE0-45C5-8971-E96F9313EDFF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88224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66A320-832E-4BF2-8C3C-9966EB36D3F7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3904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593ED23-C7EA-4D39-9DD9-1B63F603ACEB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25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B80C01-3715-4795-AFE4-731A399C0FB1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09215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D9D06F4-EA90-471D-B05C-662AA951F033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98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2B0A6-A688-491F-AAFE-C3E0FFDA2316}" type="datetimeFigureOut">
              <a:rPr lang="en-US" smtClean="0"/>
              <a:pPr/>
              <a:t>4/26/2022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18D12-8758-4994-8356-D41168B68D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93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Arial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1CC750-687C-416E-A725-F19B8CBD70D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275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Arial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Arial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61CC750-687C-416E-A725-F19B8CBD70DD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Arial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38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1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9.bin"/><Relationship Id="rId1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oleObject" Target="../embeddings/oleObject12.bin"/><Relationship Id="rId7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9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4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0" Type="http://schemas.openxmlformats.org/officeDocument/2006/relationships/image" Target="../media/image29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1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22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3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7" Type="http://schemas.openxmlformats.org/officeDocument/2006/relationships/image" Target="../media/image37.png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5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9.e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40.wmf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mba.tuck.dartmouth.edu/pages/faculty/ken.french/data_library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47.png"/><Relationship Id="rId4" Type="http://schemas.openxmlformats.org/officeDocument/2006/relationships/hyperlink" Target="https://papers.ssrn.com/sol3/papers.cfm?abstract_id=315957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81000"/>
            <a:ext cx="7772400" cy="3733800"/>
          </a:xfrm>
        </p:spPr>
        <p:txBody>
          <a:bodyPr>
            <a:normAutofit/>
          </a:bodyPr>
          <a:lstStyle/>
          <a:p>
            <a:r>
              <a:rPr lang="en-US" sz="3200" dirty="0"/>
              <a:t>BAFI </a:t>
            </a:r>
            <a:r>
              <a:rPr lang="en-US" sz="3200" dirty="0" smtClean="0"/>
              <a:t>508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i="1" dirty="0" smtClean="0"/>
              <a:t>Data-Driven Investments</a:t>
            </a:r>
            <a:r>
              <a:rPr lang="en-US" sz="3200" i="1" dirty="0"/>
              <a:t/>
            </a:r>
            <a:br>
              <a:rPr lang="en-US" sz="3200" i="1" dirty="0"/>
            </a:b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Class 3: Stock Pricing and Stock Returns</a:t>
            </a:r>
            <a:br>
              <a:rPr lang="en-US" sz="3200" dirty="0"/>
            </a:br>
            <a:r>
              <a:rPr lang="en-US" sz="3200" dirty="0"/>
              <a:t>Individual Securities and Portfolios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876800"/>
            <a:ext cx="6400800" cy="83820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chemeClr val="tx1"/>
                </a:solidFill>
              </a:rPr>
              <a:t>Adlai Fisher</a:t>
            </a:r>
          </a:p>
          <a:p>
            <a:r>
              <a:rPr lang="en-US" dirty="0">
                <a:solidFill>
                  <a:schemeClr val="tx1"/>
                </a:solidFill>
              </a:rPr>
              <a:t>UBC MBAN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8600" y="5029200"/>
            <a:ext cx="8686800" cy="1447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0553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715962"/>
          </a:xfrm>
        </p:spPr>
        <p:txBody>
          <a:bodyPr>
            <a:normAutofit fontScale="90000"/>
          </a:bodyPr>
          <a:lstStyle/>
          <a:p>
            <a:r>
              <a:rPr lang="en-US" dirty="0"/>
              <a:t>Outline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91399"/>
            <a:ext cx="9067800" cy="5867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400" dirty="0"/>
              <a:t>Questions on homework?  Due Thursday beginning of class.</a:t>
            </a:r>
          </a:p>
          <a:p>
            <a:endParaRPr lang="en-US" sz="2400" dirty="0"/>
          </a:p>
          <a:p>
            <a:r>
              <a:rPr lang="en-US" sz="2400" dirty="0"/>
              <a:t>Empirical properties of stock returns: individual stocks and portfolios</a:t>
            </a:r>
          </a:p>
          <a:p>
            <a:pPr lvl="1"/>
            <a:r>
              <a:rPr lang="en-US" sz="2400" dirty="0"/>
              <a:t>Means, variances, skewness, kurtosis, autocorrelation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Stock valuation and interpreting stock prices and returns</a:t>
            </a:r>
          </a:p>
          <a:p>
            <a:pPr lvl="1"/>
            <a:r>
              <a:rPr lang="en-US" sz="2400" dirty="0"/>
              <a:t>Dividend discount model</a:t>
            </a:r>
          </a:p>
          <a:p>
            <a:pPr lvl="1"/>
            <a:r>
              <a:rPr lang="en-US" sz="2400" dirty="0"/>
              <a:t>Free cash flow model</a:t>
            </a:r>
          </a:p>
          <a:p>
            <a:pPr lvl="1"/>
            <a:r>
              <a:rPr lang="en-US" sz="2400" dirty="0"/>
              <a:t>Multiples valuation</a:t>
            </a:r>
          </a:p>
          <a:p>
            <a:pPr lvl="1"/>
            <a:r>
              <a:rPr lang="en-US" sz="2400" dirty="0"/>
              <a:t>Implications for cross-sectional trading strategies (week 3)</a:t>
            </a:r>
          </a:p>
          <a:p>
            <a:pPr lvl="1"/>
            <a:endParaRPr lang="en-US" sz="2400" dirty="0"/>
          </a:p>
          <a:p>
            <a:r>
              <a:rPr lang="en-US" sz="2400" dirty="0"/>
              <a:t>Next class: Asset Allocation (e.g., portfolios of stocks, bonds, </a:t>
            </a:r>
            <a:r>
              <a:rPr lang="en-US" sz="2400" dirty="0" err="1"/>
              <a:t>t-bills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818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Measures of Risk and Return: Forward looking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7" name="Group 49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1043608" y="1484784"/>
          <a:ext cx="7275512" cy="4078288"/>
        </p:xfrm>
        <a:graphic>
          <a:graphicData uri="http://schemas.openxmlformats.org/drawingml/2006/table">
            <a:tbl>
              <a:tblPr/>
              <a:tblGrid>
                <a:gridCol w="1998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Std. Dev.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Correlation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Object 34"/>
          <p:cNvGraphicFramePr>
            <a:graphicFrameLocks noChangeAspect="1"/>
          </p:cNvGraphicFramePr>
          <p:nvPr>
            <p:extLst/>
          </p:nvPr>
        </p:nvGraphicFramePr>
        <p:xfrm>
          <a:off x="3213720" y="1600671"/>
          <a:ext cx="1828800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Equation" r:id="rId3" imgW="977760" imgH="342720" progId="Equation.3">
                  <p:embed/>
                </p:oleObj>
              </mc:Choice>
              <mc:Fallback>
                <p:oleObj name="Equation" r:id="rId3" imgW="977760" imgH="342720" progId="Equation.3">
                  <p:embed/>
                  <p:pic>
                    <p:nvPicPr>
                      <p:cNvPr id="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720" y="1600671"/>
                        <a:ext cx="1828800" cy="641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0"/>
          <p:cNvGraphicFramePr>
            <a:graphicFrameLocks noChangeAspect="1"/>
          </p:cNvGraphicFramePr>
          <p:nvPr>
            <p:extLst/>
          </p:nvPr>
        </p:nvGraphicFramePr>
        <p:xfrm>
          <a:off x="3317875" y="3886200"/>
          <a:ext cx="46672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" name="Equation" r:id="rId5" imgW="2831760" imgH="342720" progId="Equation.3">
                  <p:embed/>
                </p:oleObj>
              </mc:Choice>
              <mc:Fallback>
                <p:oleObj name="Equation" r:id="rId5" imgW="2831760" imgH="342720" progId="Equation.3">
                  <p:embed/>
                  <p:pic>
                    <p:nvPicPr>
                      <p:cNvPr id="9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875" y="3886200"/>
                        <a:ext cx="46672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3"/>
          <p:cNvGraphicFramePr>
            <a:graphicFrameLocks noChangeAspect="1"/>
          </p:cNvGraphicFramePr>
          <p:nvPr>
            <p:extLst/>
          </p:nvPr>
        </p:nvGraphicFramePr>
        <p:xfrm>
          <a:off x="3289920" y="3048471"/>
          <a:ext cx="1752600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" name="Equation" r:id="rId7" imgW="901440" imgH="253800" progId="Equation.3">
                  <p:embed/>
                </p:oleObj>
              </mc:Choice>
              <mc:Fallback>
                <p:oleObj name="Equation" r:id="rId7" imgW="901440" imgH="253800" progId="Equation.3">
                  <p:embed/>
                  <p:pic>
                    <p:nvPicPr>
                      <p:cNvPr id="1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920" y="3048471"/>
                        <a:ext cx="1752600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6"/>
          <p:cNvGraphicFramePr>
            <a:graphicFrameLocks noChangeAspect="1"/>
          </p:cNvGraphicFramePr>
          <p:nvPr>
            <p:extLst/>
          </p:nvPr>
        </p:nvGraphicFramePr>
        <p:xfrm>
          <a:off x="3254375" y="2362200"/>
          <a:ext cx="281305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5" name="Equation" r:id="rId9" imgW="1726920" imgH="355320" progId="Equation.3">
                  <p:embed/>
                </p:oleObj>
              </mc:Choice>
              <mc:Fallback>
                <p:oleObj name="Equation" r:id="rId9" imgW="1726920" imgH="355320" progId="Equation.3">
                  <p:embed/>
                  <p:pic>
                    <p:nvPicPr>
                      <p:cNvPr id="11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4375" y="2362200"/>
                        <a:ext cx="281305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7"/>
          <p:cNvGraphicFramePr>
            <a:graphicFrameLocks noChangeAspect="1"/>
          </p:cNvGraphicFramePr>
          <p:nvPr>
            <p:extLst/>
          </p:nvPr>
        </p:nvGraphicFramePr>
        <p:xfrm>
          <a:off x="3289920" y="4572471"/>
          <a:ext cx="2286000" cy="798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6" name="Equation" r:id="rId11" imgW="1231560" imgH="431640" progId="Equation.3">
                  <p:embed/>
                </p:oleObj>
              </mc:Choice>
              <mc:Fallback>
                <p:oleObj name="Equation" r:id="rId11" imgW="1231560" imgH="431640" progId="Equation.3">
                  <p:embed/>
                  <p:pic>
                    <p:nvPicPr>
                      <p:cNvPr id="12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9920" y="4572471"/>
                        <a:ext cx="2286000" cy="798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108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Measures of Risk and Return: Historical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graphicFrame>
        <p:nvGraphicFramePr>
          <p:cNvPr id="13" name="Group 55"/>
          <p:cNvGraphicFramePr>
            <a:graphicFrameLocks noGrp="1"/>
          </p:cNvGraphicFramePr>
          <p:nvPr>
            <p:ph sz="quarter" idx="1"/>
            <p:extLst/>
          </p:nvPr>
        </p:nvGraphicFramePr>
        <p:xfrm>
          <a:off x="905271" y="1412776"/>
          <a:ext cx="7123113" cy="4368483"/>
        </p:xfrm>
        <a:graphic>
          <a:graphicData uri="http://schemas.openxmlformats.org/drawingml/2006/table">
            <a:tbl>
              <a:tblPr/>
              <a:tblGrid>
                <a:gridCol w="194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Arithmetic 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Geometric Mean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83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Std. Dev.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Covariance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Correlation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pl-PL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4" name="Object 26"/>
          <p:cNvGraphicFramePr>
            <a:graphicFrameLocks noChangeAspect="1"/>
          </p:cNvGraphicFramePr>
          <p:nvPr>
            <p:extLst/>
          </p:nvPr>
        </p:nvGraphicFramePr>
        <p:xfrm>
          <a:off x="3038871" y="3012976"/>
          <a:ext cx="30035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0" name="Equation" r:id="rId3" imgW="1701720" imgH="419040" progId="Equation.3">
                  <p:embed/>
                </p:oleObj>
              </mc:Choice>
              <mc:Fallback>
                <p:oleObj name="Equation" r:id="rId3" imgW="1701720" imgH="419040" progId="Equation.3">
                  <p:embed/>
                  <p:pic>
                    <p:nvPicPr>
                      <p:cNvPr id="14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3012976"/>
                        <a:ext cx="30035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3"/>
          <p:cNvGraphicFramePr>
            <a:graphicFrameLocks noChangeAspect="1"/>
          </p:cNvGraphicFramePr>
          <p:nvPr>
            <p:extLst/>
          </p:nvPr>
        </p:nvGraphicFramePr>
        <p:xfrm>
          <a:off x="3038871" y="3851176"/>
          <a:ext cx="166211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1" name="Equation" r:id="rId5" imgW="914400" imgH="253800" progId="Equation.3">
                  <p:embed/>
                </p:oleObj>
              </mc:Choice>
              <mc:Fallback>
                <p:oleObj name="Equation" r:id="rId5" imgW="914400" imgH="253800" progId="Equation.3">
                  <p:embed/>
                  <p:pic>
                    <p:nvPicPr>
                      <p:cNvPr id="1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3851176"/>
                        <a:ext cx="1662113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4"/>
          <p:cNvGraphicFramePr>
            <a:graphicFrameLocks noChangeAspect="1"/>
          </p:cNvGraphicFramePr>
          <p:nvPr>
            <p:extLst/>
          </p:nvPr>
        </p:nvGraphicFramePr>
        <p:xfrm>
          <a:off x="3038871" y="5070376"/>
          <a:ext cx="20574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2" name="Equation" r:id="rId7" imgW="1231560" imgH="431640" progId="Equation.3">
                  <p:embed/>
                </p:oleObj>
              </mc:Choice>
              <mc:Fallback>
                <p:oleObj name="Equation" r:id="rId7" imgW="1231560" imgH="431640" progId="Equation.3">
                  <p:embed/>
                  <p:pic>
                    <p:nvPicPr>
                      <p:cNvPr id="1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5070376"/>
                        <a:ext cx="20574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5"/>
          <p:cNvGraphicFramePr>
            <a:graphicFrameLocks noChangeAspect="1"/>
          </p:cNvGraphicFramePr>
          <p:nvPr>
            <p:extLst/>
          </p:nvPr>
        </p:nvGraphicFramePr>
        <p:xfrm>
          <a:off x="3038871" y="1488976"/>
          <a:ext cx="12954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3" name="Equation" r:id="rId9" imgW="774360" imgH="419040" progId="Equation.3">
                  <p:embed/>
                </p:oleObj>
              </mc:Choice>
              <mc:Fallback>
                <p:oleObj name="Equation" r:id="rId9" imgW="774360" imgH="419040" progId="Equation.3">
                  <p:embed/>
                  <p:pic>
                    <p:nvPicPr>
                      <p:cNvPr id="17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1488976"/>
                        <a:ext cx="12954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/>
          </p:nvPr>
        </p:nvGraphicFramePr>
        <p:xfrm>
          <a:off x="3038871" y="4384576"/>
          <a:ext cx="459581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4" name="Equation" r:id="rId11" imgW="2603160" imgH="419040" progId="Equation.3">
                  <p:embed/>
                </p:oleObj>
              </mc:Choice>
              <mc:Fallback>
                <p:oleObj name="Equation" r:id="rId11" imgW="2603160" imgH="419040" progId="Equation.3">
                  <p:embed/>
                  <p:pic>
                    <p:nvPicPr>
                      <p:cNvPr id="1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4384576"/>
                        <a:ext cx="4595813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56"/>
          <p:cNvGraphicFramePr>
            <a:graphicFrameLocks noChangeAspect="1"/>
          </p:cNvGraphicFramePr>
          <p:nvPr>
            <p:extLst/>
          </p:nvPr>
        </p:nvGraphicFramePr>
        <p:xfrm>
          <a:off x="3038871" y="2250976"/>
          <a:ext cx="4038600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55" name="Equation" r:id="rId13" imgW="2679480" imgH="507960" progId="Equation.3">
                  <p:embed/>
                </p:oleObj>
              </mc:Choice>
              <mc:Fallback>
                <p:oleObj name="Equation" r:id="rId13" imgW="2679480" imgH="507960" progId="Equation.3">
                  <p:embed/>
                  <p:pic>
                    <p:nvPicPr>
                      <p:cNvPr id="19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8871" y="2250976"/>
                        <a:ext cx="4038600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4449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Is Variance / Volatility the Only Measure of Risk that Matters?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1052736"/>
            <a:ext cx="8928992" cy="5112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Skewness – third moment, asymmetry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Kurtosis – fourth moment, tail thickness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Often compared to normal (=3), leptokurtosis/excess kurtosis is kurt-3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Related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concepts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Tail Risk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Downside Risk</a:t>
            </a:r>
          </a:p>
          <a:p>
            <a:pPr lvl="1" indent="-342900"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</a:rPr>
              <a:t>Disaster Risk</a:t>
            </a:r>
          </a:p>
          <a:p>
            <a:pPr lvl="1" indent="-342900">
              <a:buFontTx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Black Swan events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Other measures of risk: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Exposure to Specific “Systematic” Risks, e.g., macro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5783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Skewness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0" y="872716"/>
                <a:ext cx="8928992" cy="21752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Definition, standardized third moment: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宋体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𝑋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  <m:t>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Negative: 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more weight in left tail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Positive: more weight in right tail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872716"/>
                <a:ext cx="8928992" cy="2175284"/>
              </a:xfrm>
              <a:prstGeom prst="rect">
                <a:avLst/>
              </a:prstGeom>
              <a:blipFill>
                <a:blip r:embed="rId2"/>
                <a:stretch>
                  <a:fillRect l="-887" t="-19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362" name="Picture 2" descr="https://upload.wikimedia.org/wikipedia/commons/thumb/c/cc/Relationship_between_mean_and_median_under_different_skewness.png/434px-Relationship_between_mean_and_median_under_different_skewness.png">
            <a:extLst>
              <a:ext uri="{FF2B5EF4-FFF2-40B4-BE49-F238E27FC236}">
                <a16:creationId xmlns:a16="http://schemas.microsoft.com/office/drawing/2014/main" id="{AD1BAC0F-620A-40EA-AA8A-B838CE8DE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19" y="3200400"/>
            <a:ext cx="8085954" cy="3055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98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Skewness in Stocks and Portfolios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241081" y="3645749"/>
            <a:ext cx="1834050" cy="17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95F3D1A-0CE2-4DF9-B32D-3224E9F25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46" y="908720"/>
            <a:ext cx="8928992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*An empirical “puzzle”: over long samples, individual stocks tend to have more positive skewness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than portfolios;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How can this be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?  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Is it present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 in your homework results?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pic>
        <p:nvPicPr>
          <p:cNvPr id="16390" name="Picture 6" descr="https://lh5.googleusercontent.com/BmxyyMHI-SH1cM0J34YC3m1RGFzmPZmKFDgO35_GoJfWzQIWAnPKOLMANo6Q8GiP31zuuDko3dQ-NhEYNCSP8BiQDuO_u8vNnS56Ln9pziU01yfCE1rk6HPYWTlktoTlZqZvzoY">
            <a:extLst>
              <a:ext uri="{FF2B5EF4-FFF2-40B4-BE49-F238E27FC236}">
                <a16:creationId xmlns:a16="http://schemas.microsoft.com/office/drawing/2014/main" id="{EF119686-A372-4FD1-B4EA-F5F5DFFFC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7" y="2320941"/>
            <a:ext cx="2463168" cy="13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A5192C0F-A351-4735-8909-FA7DD2106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3849" y="3579728"/>
            <a:ext cx="1834050" cy="17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pic>
        <p:nvPicPr>
          <p:cNvPr id="11" name="Picture 6" descr="https://lh5.googleusercontent.com/BmxyyMHI-SH1cM0J34YC3m1RGFzmPZmKFDgO35_GoJfWzQIWAnPKOLMANo6Q8GiP31zuuDko3dQ-NhEYNCSP8BiQDuO_u8vNnS56Ln9pziU01yfCE1rk6HPYWTlktoTlZqZvzoY">
            <a:extLst>
              <a:ext uri="{FF2B5EF4-FFF2-40B4-BE49-F238E27FC236}">
                <a16:creationId xmlns:a16="http://schemas.microsoft.com/office/drawing/2014/main" id="{EFBE3915-2CD5-4DB4-9847-985912976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349" y="2320941"/>
            <a:ext cx="2463168" cy="13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4">
            <a:extLst>
              <a:ext uri="{FF2B5EF4-FFF2-40B4-BE49-F238E27FC236}">
                <a16:creationId xmlns:a16="http://schemas.microsoft.com/office/drawing/2014/main" id="{E0FC10B9-8FA1-4226-AF23-2A984F34D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566" y="3579728"/>
            <a:ext cx="1834050" cy="170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pic>
        <p:nvPicPr>
          <p:cNvPr id="13" name="Picture 6" descr="https://lh5.googleusercontent.com/BmxyyMHI-SH1cM0J34YC3m1RGFzmPZmKFDgO35_GoJfWzQIWAnPKOLMANo6Q8GiP31zuuDko3dQ-NhEYNCSP8BiQDuO_u8vNnS56Ln9pziU01yfCE1rk6HPYWTlktoTlZqZvzoY">
            <a:extLst>
              <a:ext uri="{FF2B5EF4-FFF2-40B4-BE49-F238E27FC236}">
                <a16:creationId xmlns:a16="http://schemas.microsoft.com/office/drawing/2014/main" id="{8E456DBD-A781-4510-AAF9-508F695EE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101" y="2320941"/>
            <a:ext cx="2463168" cy="132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0065D1B6-863B-4EF5-80CD-0A4BD1A77D6C}"/>
              </a:ext>
            </a:extLst>
          </p:cNvPr>
          <p:cNvSpPr/>
          <p:nvPr/>
        </p:nvSpPr>
        <p:spPr bwMode="auto">
          <a:xfrm rot="5400000">
            <a:off x="4060148" y="-130818"/>
            <a:ext cx="654603" cy="8549334"/>
          </a:xfrm>
          <a:prstGeom prst="rightBrac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pic>
        <p:nvPicPr>
          <p:cNvPr id="16392" name="Picture 8" descr="See the source image">
            <a:extLst>
              <a:ext uri="{FF2B5EF4-FFF2-40B4-BE49-F238E27FC236}">
                <a16:creationId xmlns:a16="http://schemas.microsoft.com/office/drawing/2014/main" id="{0777653C-8404-4780-8935-05AAA8018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3053" y="4658735"/>
            <a:ext cx="3395641" cy="175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275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Kurtosis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0" y="872716"/>
                <a:ext cx="8928992" cy="23276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342900" marR="0" lvl="0" indent="-34290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Definition, standardized fourth moment: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/>
                          <a:cs typeface="+mn-cs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kumimoji="0" lang="en-US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宋体"/>
                                      <a:cs typeface="+mn-cs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𝑋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宋体"/>
                                          <a:cs typeface="+mn-cs"/>
                                        </a:rPr>
                                        <m:t>−</m:t>
                                      </m:r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num>
                                    <m:den>
                                      <m:r>
                                        <a:rPr kumimoji="0" lang="en-US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𝜎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宋体"/>
                                  <a:cs typeface="+mn-cs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lvl="1" indent="-342900">
                  <a:buFontTx/>
                  <a:buChar char="•"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Normal distribution has kurtosis = 3, statistical packages (e.g., Excel) often report “excess kurtosis” or “leptokurtosis” = kurtosis -3 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Higher kurtosis = more weight in peak and tails, lower means flatter distribution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Red = normal </a:t>
                </a:r>
              </a:p>
              <a:p>
                <a:pPr lvl="2" indent="-342900"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Excess </a:t>
                </a:r>
                <a:r>
                  <a:rPr lang="en-US" sz="1600" dirty="0" err="1">
                    <a:solidFill>
                      <a:srgbClr val="000000"/>
                    </a:solidFill>
                    <a:latin typeface="Arial"/>
                    <a:ea typeface="宋体"/>
                  </a:rPr>
                  <a:t>kurt</a:t>
                </a: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 = 0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lvl="1" indent="-342900">
                  <a:buFontTx/>
                  <a:buChar char="•"/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Green = uniform</a:t>
                </a:r>
              </a:p>
              <a:p>
                <a:pPr lvl="2" indent="-342900">
                  <a:defRPr/>
                </a:pP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Excess </a:t>
                </a:r>
                <a:r>
                  <a:rPr lang="en-US" sz="1600" dirty="0" err="1">
                    <a:solidFill>
                      <a:srgbClr val="000000"/>
                    </a:solidFill>
                    <a:latin typeface="Arial"/>
                    <a:ea typeface="宋体"/>
                  </a:rPr>
                  <a:t>kurt</a:t>
                </a:r>
                <a:r>
                  <a:rPr lang="en-US" sz="1600" dirty="0">
                    <a:solidFill>
                      <a:srgbClr val="000000"/>
                    </a:solidFill>
                    <a:latin typeface="Arial"/>
                    <a:ea typeface="宋体"/>
                  </a:rPr>
                  <a:t> &lt;0</a:t>
                </a:r>
              </a:p>
              <a:p>
                <a:pPr lvl="1" indent="-342900">
                  <a:buFontTx/>
                  <a:buChar char="•"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Blue =</a:t>
                </a: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 Laplace</a:t>
                </a:r>
              </a:p>
              <a:p>
                <a:pPr lvl="2" indent="-342900"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Excess </a:t>
                </a:r>
                <a:r>
                  <a:rPr kumimoji="0" lang="en-US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kurt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 &gt;0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872716"/>
                <a:ext cx="8928992" cy="2327684"/>
              </a:xfrm>
              <a:prstGeom prst="rect">
                <a:avLst/>
              </a:prstGeom>
              <a:blipFill>
                <a:blip r:embed="rId2"/>
                <a:stretch>
                  <a:fillRect l="-887" t="-1832" b="-1018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410" name="Picture 2" descr="See the source image">
            <a:extLst>
              <a:ext uri="{FF2B5EF4-FFF2-40B4-BE49-F238E27FC236}">
                <a16:creationId xmlns:a16="http://schemas.microsoft.com/office/drawing/2014/main" id="{C6945FB3-9F65-4A2E-BC9C-E303F982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3225209"/>
            <a:ext cx="4724400" cy="3569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137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Autocorrelation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3"/>
              <p:cNvSpPr txBox="1">
                <a:spLocks noChangeArrowheads="1"/>
              </p:cNvSpPr>
              <p:nvPr/>
            </p:nvSpPr>
            <p:spPr bwMode="auto">
              <a:xfrm>
                <a:off x="35496" y="908720"/>
                <a:ext cx="8928992" cy="52565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lvl="0">
                  <a:defRPr/>
                </a:pPr>
                <a:r>
                  <a:rPr lang="en-US" sz="2400" dirty="0">
                    <a:solidFill>
                      <a:srgbClr val="000000"/>
                    </a:solidFill>
                  </a:rPr>
                  <a:t>Autocorrelation definition, correlation with own lag (first-order):</a:t>
                </a:r>
              </a:p>
              <a:p>
                <a:pPr marL="0" lv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𝐶𝑜𝑟𝑟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,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𝑡</m:t>
                          </m:r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−1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lvl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Positive autocorrelation: persistent, moves in same direction, in returns would mean positive predictability </a:t>
                </a:r>
              </a:p>
              <a:p>
                <a:pPr lvl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Zero autocorrelation: random walk, no predictability</a:t>
                </a:r>
              </a:p>
              <a:p>
                <a:pPr lvl="1">
                  <a:defRPr/>
                </a:pPr>
                <a:r>
                  <a:rPr lang="en-US" sz="2000" dirty="0">
                    <a:solidFill>
                      <a:srgbClr val="000000"/>
                    </a:solidFill>
                    <a:latin typeface="Arial"/>
                    <a:ea typeface="宋体"/>
                  </a:rPr>
                  <a:t>Negative autocorrelation: anti-persistent, reversal</a:t>
                </a:r>
              </a:p>
              <a:p>
                <a:pPr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Cross-correlations: correlations with lags of other variables, e.g.  </a:t>
                </a:r>
                <a:r>
                  <a:rPr lang="en-US" sz="2400" dirty="0" err="1">
                    <a:solidFill>
                      <a:srgbClr val="000000"/>
                    </a:solidFill>
                    <a:latin typeface="Arial"/>
                    <a:ea typeface="宋体"/>
                  </a:rPr>
                  <a:t>Corr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</a:rPr>
                  <a:t> (X_t,Y_t-1)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</a:rPr>
                  <a:t>These relate to predictability of 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  <a:sym typeface="Wingdings" panose="05000000000000000000" pitchFamily="2" charset="2"/>
                  </a:rPr>
                  <a:t>individual stocks, and contribute to the autocorrelations of portfolios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5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496" y="908720"/>
                <a:ext cx="8928992" cy="5256584"/>
              </a:xfrm>
              <a:prstGeom prst="rect">
                <a:avLst/>
              </a:prstGeom>
              <a:blipFill>
                <a:blip r:embed="rId2"/>
                <a:stretch>
                  <a:fillRect l="-1092" t="-812" r="-102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007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Key Concept: Efficient Markets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764704"/>
            <a:ext cx="9108504" cy="4806280"/>
          </a:xfrm>
        </p:spPr>
        <p:txBody>
          <a:bodyPr/>
          <a:lstStyle/>
          <a:p>
            <a:pPr marL="514350" indent="-457200">
              <a:buFontTx/>
              <a:buNone/>
            </a:pPr>
            <a:r>
              <a:rPr lang="en-US" altLang="zh-CN" sz="2400" dirty="0"/>
              <a:t>In an efficient market, prices reflect available information</a:t>
            </a:r>
          </a:p>
          <a:p>
            <a:pPr marL="514350" indent="-457200"/>
            <a:r>
              <a:rPr lang="en-US" altLang="zh-CN" sz="2000" dirty="0"/>
              <a:t>Strong form: all information (including inside information)</a:t>
            </a:r>
          </a:p>
          <a:p>
            <a:pPr marL="514350" indent="-457200"/>
            <a:r>
              <a:rPr lang="en-US" altLang="zh-CN" sz="2000" dirty="0"/>
              <a:t>Semi-strong form: all publicly available information</a:t>
            </a:r>
          </a:p>
          <a:p>
            <a:pPr marL="514350" indent="-457200"/>
            <a:r>
              <a:rPr lang="en-US" altLang="zh-CN" sz="2000" dirty="0"/>
              <a:t>Weak form: all information in past prices (technical analysis not abnormally profitable)</a:t>
            </a:r>
          </a:p>
          <a:p>
            <a:pPr marL="914400" lvl="1" indent="-457200">
              <a:buFontTx/>
              <a:buNone/>
            </a:pPr>
            <a:endParaRPr lang="en-US" altLang="zh-CN" sz="1000" dirty="0"/>
          </a:p>
          <a:p>
            <a:pPr marL="0" indent="0">
              <a:spcBef>
                <a:spcPts val="0"/>
              </a:spcBef>
              <a:buFontTx/>
              <a:buNone/>
            </a:pPr>
            <a:r>
              <a:rPr lang="en-US" altLang="zh-CN" sz="2400" dirty="0"/>
              <a:t>Does not imply unpredictable returns </a:t>
            </a:r>
            <a:r>
              <a:rPr lang="en-US" altLang="zh-CN" sz="2000" dirty="0"/>
              <a:t>(frequent source of confusion)</a:t>
            </a:r>
          </a:p>
          <a:p>
            <a:pPr marL="514350" indent="-457200"/>
            <a:r>
              <a:rPr lang="en-US" altLang="zh-CN" sz="2000" dirty="0"/>
              <a:t>Returns may be predictable, either in cross-section or time-series, due to differences in risk </a:t>
            </a:r>
            <a:r>
              <a:rPr lang="en-US" altLang="zh-CN" sz="2000" dirty="0" err="1"/>
              <a:t>premia</a:t>
            </a:r>
            <a:endParaRPr lang="en-US" altLang="zh-CN" sz="2000" dirty="0"/>
          </a:p>
          <a:p>
            <a:pPr marL="514350" indent="-457200"/>
            <a:r>
              <a:rPr lang="en-US" altLang="zh-CN" sz="2000" dirty="0"/>
              <a:t>Difficult (impossible?) to distinguish time varying risk </a:t>
            </a:r>
            <a:r>
              <a:rPr lang="en-US" altLang="zh-CN" sz="2000" dirty="0" err="1"/>
              <a:t>premia</a:t>
            </a:r>
            <a:r>
              <a:rPr lang="en-US" altLang="zh-CN" sz="2000" dirty="0"/>
              <a:t> from market irrationality…, frequent source of debate</a:t>
            </a:r>
          </a:p>
          <a:p>
            <a:pPr marL="514350" indent="-457200"/>
            <a:endParaRPr lang="en-US" altLang="zh-CN" sz="1000" dirty="0"/>
          </a:p>
          <a:p>
            <a:pPr marL="57150" indent="0">
              <a:buNone/>
            </a:pPr>
            <a:r>
              <a:rPr lang="en-US" altLang="zh-CN" sz="2400" dirty="0"/>
              <a:t>In an efficient market, can one make a living in investment management?</a:t>
            </a:r>
          </a:p>
          <a:p>
            <a:pPr marL="400050"/>
            <a:r>
              <a:rPr lang="en-US" altLang="zh-CN" sz="2000" dirty="0"/>
              <a:t>Yes, to the extent that one is able to bring new information to the market at lower cost than other investors, or to better interpret complex information than other investors.</a:t>
            </a:r>
          </a:p>
        </p:txBody>
      </p:sp>
    </p:spTree>
    <p:extLst>
      <p:ext uri="{BB962C8B-B14F-4D97-AF65-F5344CB8AC3E}">
        <p14:creationId xmlns:p14="http://schemas.microsoft.com/office/powerpoint/2010/main" val="160755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Implications of Efficient Markets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496" y="764704"/>
            <a:ext cx="9108504" cy="648072"/>
          </a:xfrm>
        </p:spPr>
        <p:txBody>
          <a:bodyPr/>
          <a:lstStyle/>
          <a:p>
            <a:pPr marL="514350" indent="-457200">
              <a:buFontTx/>
              <a:buNone/>
            </a:pPr>
            <a:r>
              <a:rPr lang="en-US" altLang="zh-CN" sz="2400" dirty="0"/>
              <a:t>Prices should quickly incorporate new information</a:t>
            </a:r>
          </a:p>
          <a:p>
            <a:pPr marL="514350" indent="-457200">
              <a:buFontTx/>
              <a:buNone/>
            </a:pPr>
            <a:r>
              <a:rPr lang="en-US" altLang="zh-CN" sz="2000" dirty="0"/>
              <a:t>		Example: Target returns in successful tender offers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95536" y="5893648"/>
          <a:ext cx="8424936" cy="400930"/>
        </p:xfrm>
        <a:graphic>
          <a:graphicData uri="http://schemas.openxmlformats.org/drawingml/2006/table">
            <a:tbl>
              <a:tblPr/>
              <a:tblGrid>
                <a:gridCol w="8424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09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 dirty="0">
                          <a:latin typeface="Arial"/>
                        </a:rPr>
                        <a:t>Paul Asquith, “Merger Bids,</a:t>
                      </a:r>
                      <a:r>
                        <a:rPr lang="en-US" sz="1600" b="0" i="0" u="none" strike="noStrike" baseline="0" dirty="0">
                          <a:latin typeface="Arial"/>
                        </a:rPr>
                        <a:t> Uncertainties, and Stock Returns”, Journal Financial Economics </a:t>
                      </a:r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87" y="1556793"/>
            <a:ext cx="7288941" cy="439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1323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Autocorrelation in Stocks and Portfolios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908720"/>
            <a:ext cx="8928992" cy="549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Common null hypothesis for stocks and portfolios: no autocorrelation = no predictability</a:t>
            </a:r>
          </a:p>
          <a:p>
            <a:pPr marL="0" indent="0">
              <a:buNone/>
              <a:defRPr/>
            </a:pPr>
            <a:endParaRPr lang="en-US" sz="10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V</a:t>
            </a:r>
            <a:r>
              <a:rPr kumimoji="0" lang="en-US" sz="24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ery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small illiquid stocks tend to have small negative autocorrelation individually at short horizons, but not easily tradeable: noise, bid-ask bounce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Blume and Stambaugh (1980)</a:t>
            </a: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endParaRPr lang="en-US" sz="10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Illiquid portfolios tend to have small *positive* autocorrelations a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t short horizons.  Slow information diffusion (Lo and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MacKinlay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, 1990, 1991)</a:t>
            </a:r>
          </a:p>
          <a:p>
            <a:pPr marL="0" indent="0">
              <a:buNone/>
              <a:defRPr/>
            </a:pPr>
            <a:endParaRPr lang="en-US" sz="10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Versions of longer horizon predictability (again small and hard to trade: intermediate term momentum &lt;1 </a:t>
            </a:r>
            <a:r>
              <a:rPr lang="en-US" sz="2400" dirty="0" err="1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yr</a:t>
            </a: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, long-run reversal&gt;3yrs)</a:t>
            </a:r>
          </a:p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948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Predictability and Market Efficiency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908720"/>
            <a:ext cx="8928992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Market efficiency often misinterpreted to mean no predictability</a:t>
            </a:r>
          </a:p>
          <a:p>
            <a:pPr lvl="1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Instead,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market efficiency says price is fair, does not prohibit that risk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premia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can be earned, and risk 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premia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can be time-varying</a:t>
            </a:r>
          </a:p>
          <a:p>
            <a:pPr lvl="1">
              <a:defRPr/>
            </a:pPr>
            <a:r>
              <a:rPr lang="en-US" sz="2000" baseline="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Further,</a:t>
            </a: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 limits to arbitrage imply that “mispricing” may be present in some markets at some times</a:t>
            </a:r>
          </a:p>
          <a:p>
            <a:pPr lvl="1"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Nonetheless, we should not expect to find very large positive or negative autocorrelations in tradeable stock portfolios over long periods of time</a:t>
            </a:r>
          </a:p>
          <a:p>
            <a:pPr lvl="1"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Look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 for this in the moments of returns that you calculate and comment on it</a:t>
            </a: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340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Risk of a portfolio as securities are added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35832" y="16288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The standard deviation of a portfolio tends to decrease as more risky assets are added to the portfolio</a:t>
            </a: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2143944" y="3344887"/>
            <a:ext cx="0" cy="2133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143944" y="5478487"/>
            <a:ext cx="3581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4734744" y="5630887"/>
            <a:ext cx="22907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Number of Securities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67544" y="3344887"/>
            <a:ext cx="15986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Std. Deviation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Of Portfolio</a:t>
            </a: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>
            <a:off x="2220144" y="3649687"/>
            <a:ext cx="3276600" cy="1219200"/>
          </a:xfrm>
          <a:custGeom>
            <a:avLst/>
            <a:gdLst>
              <a:gd name="T0" fmla="*/ 0 w 2064"/>
              <a:gd name="T1" fmla="*/ 0 h 768"/>
              <a:gd name="T2" fmla="*/ 288 w 2064"/>
              <a:gd name="T3" fmla="*/ 480 h 768"/>
              <a:gd name="T4" fmla="*/ 1152 w 2064"/>
              <a:gd name="T5" fmla="*/ 720 h 768"/>
              <a:gd name="T6" fmla="*/ 2064 w 2064"/>
              <a:gd name="T7" fmla="*/ 768 h 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64" h="768">
                <a:moveTo>
                  <a:pt x="0" y="0"/>
                </a:moveTo>
                <a:cubicBezTo>
                  <a:pt x="48" y="180"/>
                  <a:pt x="96" y="360"/>
                  <a:pt x="288" y="480"/>
                </a:cubicBezTo>
                <a:cubicBezTo>
                  <a:pt x="480" y="600"/>
                  <a:pt x="856" y="672"/>
                  <a:pt x="1152" y="720"/>
                </a:cubicBezTo>
                <a:cubicBezTo>
                  <a:pt x="1448" y="768"/>
                  <a:pt x="1756" y="768"/>
                  <a:pt x="2064" y="76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143944" y="4945087"/>
            <a:ext cx="3352800" cy="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>
            <a:off x="3058344" y="5021287"/>
            <a:ext cx="13557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Market Risk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>
            <a:off x="3248844" y="3954487"/>
            <a:ext cx="1930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Firm-specific Risk</a:t>
            </a:r>
          </a:p>
        </p:txBody>
      </p:sp>
      <p:sp>
        <p:nvSpPr>
          <p:cNvPr id="15" name="Line 16"/>
          <p:cNvSpPr>
            <a:spLocks noChangeShapeType="1"/>
          </p:cNvSpPr>
          <p:nvPr/>
        </p:nvSpPr>
        <p:spPr bwMode="auto">
          <a:xfrm flipH="1">
            <a:off x="2982144" y="4335487"/>
            <a:ext cx="1295400" cy="3810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9869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Benefits of Diversification in Practice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3448" y="1052736"/>
            <a:ext cx="885104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Example: 2011-2020 data</a:t>
            </a:r>
          </a:p>
        </p:txBody>
      </p:sp>
      <p:graphicFrame>
        <p:nvGraphicFramePr>
          <p:cNvPr id="6" name="Group 5"/>
          <p:cNvGraphicFramePr>
            <a:graphicFrameLocks noGrp="1"/>
          </p:cNvGraphicFramePr>
          <p:nvPr>
            <p:extLst/>
          </p:nvPr>
        </p:nvGraphicFramePr>
        <p:xfrm>
          <a:off x="827584" y="1556792"/>
          <a:ext cx="7772400" cy="4401186"/>
        </p:xfrm>
        <a:graphic>
          <a:graphicData uri="http://schemas.openxmlformats.org/drawingml/2006/table">
            <a:tbl>
              <a:tblPr/>
              <a:tblGrid>
                <a:gridCol w="384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Stock/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Daily Standard Deviation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Tesla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3.5%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Biogen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2.5%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Boeing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J.P. Morgan Chase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Google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Proctor &amp; Gamble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Nasdaq 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Dow Jones Industrial Average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Standard &amp; Poor’s 500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Russell 2000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50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Comparison with Older Data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13448" y="1052736"/>
            <a:ext cx="8851040" cy="5040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sz="2400" dirty="0"/>
              <a:t>Example: 1998-2002 data</a:t>
            </a:r>
          </a:p>
        </p:txBody>
      </p:sp>
      <p:graphicFrame>
        <p:nvGraphicFramePr>
          <p:cNvPr id="6" name="Group 5"/>
          <p:cNvGraphicFramePr>
            <a:graphicFrameLocks noGrp="1"/>
          </p:cNvGraphicFramePr>
          <p:nvPr>
            <p:extLst/>
          </p:nvPr>
        </p:nvGraphicFramePr>
        <p:xfrm>
          <a:off x="827584" y="1556792"/>
          <a:ext cx="7772400" cy="4401186"/>
        </p:xfrm>
        <a:graphic>
          <a:graphicData uri="http://schemas.openxmlformats.org/drawingml/2006/table">
            <a:tbl>
              <a:tblPr/>
              <a:tblGrid>
                <a:gridCol w="3846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25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Stock/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Daily Standard Deviation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Yahoo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Sun Microsystems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Microsoft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2.7%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Ford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2.6%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Lockheed Martin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General Electric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2.2%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Nasdaq 100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2.8%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Dow Jones Industrial Average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1.3%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Standard &amp; Poor’s 500 Index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Wilshire 5000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1.4%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2641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What causes diversification?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13448" y="1035968"/>
            <a:ext cx="77724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ea typeface="宋体"/>
              </a:rPr>
              <a:t>Market model: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5883CD4F-A511-4F67-A682-4F241785CE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1833105"/>
                <a:ext cx="7657248" cy="648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𝑓𝑡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𝑀𝑡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宋体"/>
                                </a:rPr>
                                <m:t>𝑓𝑡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16" name="Rectangle 3">
                <a:extLst>
                  <a:ext uri="{FF2B5EF4-FFF2-40B4-BE49-F238E27FC236}">
                    <a16:creationId xmlns:a16="http://schemas.microsoft.com/office/drawing/2014/main" id="{5883CD4F-A511-4F67-A682-4F241785C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1833105"/>
                <a:ext cx="7657248" cy="6480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3">
            <a:extLst>
              <a:ext uri="{FF2B5EF4-FFF2-40B4-BE49-F238E27FC236}">
                <a16:creationId xmlns:a16="http://schemas.microsoft.com/office/drawing/2014/main" id="{76272279-84D9-41AD-B23B-8C639CA5D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424" y="3104964"/>
            <a:ext cx="77724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  <a:latin typeface="Arial"/>
                <a:ea typeface="宋体"/>
              </a:rPr>
              <a:t>General factor model: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AB2155EE-4707-4AD3-97CC-150B705E8D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8576" y="4189228"/>
                <a:ext cx="7657248" cy="6480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0" lv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𝑓𝑡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𝑘</m:t>
                          </m:r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𝑘𝑡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宋体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/>
                            </a:rPr>
                            <m:t>𝑖𝑡</m:t>
                          </m:r>
                        </m:sub>
                      </m:sSub>
                    </m:oMath>
                  </m:oMathPara>
                </a14:m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18" name="Rectangle 3">
                <a:extLst>
                  <a:ext uri="{FF2B5EF4-FFF2-40B4-BE49-F238E27FC236}">
                    <a16:creationId xmlns:a16="http://schemas.microsoft.com/office/drawing/2014/main" id="{AB2155EE-4707-4AD3-97CC-150B705E8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576" y="4189228"/>
                <a:ext cx="7657248" cy="648072"/>
              </a:xfrm>
              <a:prstGeom prst="rect">
                <a:avLst/>
              </a:prstGeom>
              <a:blipFill>
                <a:blip r:embed="rId3"/>
                <a:stretch>
                  <a:fillRect b="-11962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6690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Summary: Types of Risks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228600" y="908720"/>
            <a:ext cx="8568952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Total risk of any asset (portfolio or individual security) has two types of components: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Systematic Risk: 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Risk factors common to the whole economy (e.g., market risk)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Cannot be diversified away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Idiosyncratic or firm-specific Risk: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Risk factors that are specific to a company or asset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</a:rPr>
              <a:t>Can be diversified away</a:t>
            </a:r>
            <a:endParaRPr lang="en-US" dirty="0">
              <a:solidFill>
                <a:srgbClr val="000000"/>
              </a:solidFill>
              <a:latin typeface="Arial"/>
              <a:ea typeface="宋体"/>
            </a:endParaRPr>
          </a:p>
          <a:p>
            <a:pPr marL="51435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  <a:p>
            <a:pPr marL="114300" indent="0">
              <a:buNone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</a:rPr>
              <a:t>*Make sure to observe and comment on the effects of diversification in your assignment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  <a:p>
            <a:pPr marL="51435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34645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Simple returns vs log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5496" y="908720"/>
            <a:ext cx="4384104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Log returns</a:t>
            </a:r>
          </a:p>
          <a:p>
            <a:pPr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>
              <a:defRPr/>
            </a:pPr>
            <a:endParaRPr lang="en-US" sz="24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Shrinks right tail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Expands left tail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Therefore reduces skewness  </a:t>
            </a:r>
            <a:endParaRPr kumimoji="0" lang="en-US" sz="16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4494153"/>
              </p:ext>
            </p:extLst>
          </p:nvPr>
        </p:nvGraphicFramePr>
        <p:xfrm>
          <a:off x="533399" y="1881947"/>
          <a:ext cx="2745851" cy="7488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2" name="Equation" r:id="rId3" imgW="838080" imgH="228600" progId="Equation.3">
                  <p:embed/>
                </p:oleObj>
              </mc:Choice>
              <mc:Fallback>
                <p:oleObj name="Equation" r:id="rId3" imgW="838080" imgH="228600" progId="Equation.3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3399" y="1881947"/>
                        <a:ext cx="2745851" cy="7488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0" y="3429038"/>
            <a:ext cx="4384104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Conversely </a:t>
            </a:r>
          </a:p>
          <a:p>
            <a:pPr>
              <a:defRPr/>
            </a:pP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lvl="1">
              <a:defRPr/>
            </a:pPr>
            <a:endParaRPr lang="en-US" sz="1600" dirty="0">
              <a:solidFill>
                <a:srgbClr val="000000"/>
              </a:solidFill>
              <a:latin typeface="Arial"/>
              <a:ea typeface="宋体"/>
              <a:sym typeface="Wingdings" panose="05000000000000000000" pitchFamily="2" charset="2"/>
            </a:endParaRPr>
          </a:p>
          <a:p>
            <a:pPr lvl="1">
              <a:defRPr/>
            </a:pP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Expands right tail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Shrinks left tail</a:t>
            </a:r>
          </a:p>
          <a:p>
            <a:pPr lvl="1">
              <a:defRPr/>
            </a:pP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Increases skewness</a:t>
            </a:r>
          </a:p>
          <a:p>
            <a:pPr marL="457200" lvl="1" indent="0">
              <a:buNone/>
              <a:defRPr/>
            </a:pPr>
            <a:endParaRPr kumimoji="0" lang="en-US" sz="16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1948660"/>
              </p:ext>
            </p:extLst>
          </p:nvPr>
        </p:nvGraphicFramePr>
        <p:xfrm>
          <a:off x="400909" y="4349118"/>
          <a:ext cx="2477692" cy="603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93" name="Equation" r:id="rId5" imgW="939600" imgH="228600" progId="Equation.3">
                  <p:embed/>
                </p:oleObj>
              </mc:Choice>
              <mc:Fallback>
                <p:oleObj name="Equation" r:id="rId5" imgW="939600" imgH="2286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00909" y="4349118"/>
                        <a:ext cx="2477692" cy="6038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357" name="Picture 69" descr="See the source image">
            <a:extLst>
              <a:ext uri="{FF2B5EF4-FFF2-40B4-BE49-F238E27FC236}">
                <a16:creationId xmlns:a16="http://schemas.microsoft.com/office/drawing/2014/main" id="{76FCD286-3CBE-4A62-AB5E-951BD306F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497" y="1295400"/>
            <a:ext cx="5992460" cy="2255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59" name="Picture 71" descr="https://upload.wikimedia.org/wikipedia/commons/thumb/c/c6/Exp.svg/200px-Exp.svg.png">
            <a:extLst>
              <a:ext uri="{FF2B5EF4-FFF2-40B4-BE49-F238E27FC236}">
                <a16:creationId xmlns:a16="http://schemas.microsoft.com/office/drawing/2014/main" id="{EDA50953-ED36-465A-955A-13D178BEA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0189" y="3994416"/>
            <a:ext cx="2950423" cy="2212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71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Properties of log returns and simple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13448" y="1186575"/>
            <a:ext cx="8207711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Log returns are additive: </a:t>
            </a:r>
          </a:p>
          <a:p>
            <a:pPr lvl="1"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Implication: maximizing average log return maximizes long-run portfolio growth</a:t>
            </a:r>
          </a:p>
          <a:p>
            <a:pPr lvl="1"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Convenient for statistical analysis</a:t>
            </a:r>
            <a:endParaRPr kumimoji="0" lang="en-US" sz="24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207030"/>
              </p:ext>
            </p:extLst>
          </p:nvPr>
        </p:nvGraphicFramePr>
        <p:xfrm>
          <a:off x="4419600" y="1447011"/>
          <a:ext cx="3790994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0" name="Equation" r:id="rId3" imgW="1409400" imgH="241200" progId="Equation.3">
                  <p:embed/>
                </p:oleObj>
              </mc:Choice>
              <mc:Fallback>
                <p:oleObj name="Equation" r:id="rId3" imgW="1409400" imgH="24120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19600" y="1447011"/>
                        <a:ext cx="3790994" cy="6480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73881" y="3941392"/>
            <a:ext cx="8207711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Relation between average simple and log returns requires a volatility adjustment, due to Jensen’s inequality (see spreadsheet from last class, or check yourself on any data)</a:t>
            </a:r>
          </a:p>
          <a:p>
            <a:pPr marL="457200" lvl="1" indent="0">
              <a:buNone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914400" y="5486400"/>
          <a:ext cx="4791075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1" name="Equation" r:id="rId5" imgW="1803240" imgH="241200" progId="Equation.3">
                  <p:embed/>
                </p:oleObj>
              </mc:Choice>
              <mc:Fallback>
                <p:oleObj name="Equation" r:id="rId5" imgW="1803240" imgH="24120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5486400"/>
                        <a:ext cx="4791075" cy="642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9560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Warning about log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3"/>
              <p:cNvSpPr txBox="1">
                <a:spLocks noChangeArrowheads="1"/>
              </p:cNvSpPr>
              <p:nvPr/>
            </p:nvSpPr>
            <p:spPr bwMode="auto">
              <a:xfrm>
                <a:off x="113448" y="1186575"/>
                <a:ext cx="8207711" cy="9200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3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8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  <a:sym typeface="Wingdings" panose="05000000000000000000" pitchFamily="2" charset="2"/>
                </a:endParaRPr>
              </a:p>
              <a:p>
                <a:pPr>
                  <a:defRPr/>
                </a:pP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  <a:sym typeface="Wingdings" panose="05000000000000000000" pitchFamily="2" charset="2"/>
                  </a:rPr>
                  <a:t>You </a:t>
                </a:r>
                <a:r>
                  <a:rPr lang="en-US" sz="2400" b="1" i="1" dirty="0">
                    <a:solidFill>
                      <a:srgbClr val="000000"/>
                    </a:solidFill>
                    <a:latin typeface="Arial"/>
                    <a:ea typeface="宋体"/>
                    <a:sym typeface="Wingdings" panose="05000000000000000000" pitchFamily="2" charset="2"/>
                  </a:rPr>
                  <a:t>cannot</a:t>
                </a:r>
                <a:r>
                  <a:rPr lang="en-US" sz="2400" dirty="0">
                    <a:solidFill>
                      <a:srgbClr val="000000"/>
                    </a:solidFill>
                    <a:latin typeface="Arial"/>
                    <a:ea typeface="宋体"/>
                    <a:sym typeface="Wingdings" panose="05000000000000000000" pitchFamily="2" charset="2"/>
                  </a:rPr>
                  <a:t> calculate the log return of a portfolio as a weighted average of the log returns of the holdings:</a:t>
                </a:r>
              </a:p>
              <a:p>
                <a:pPr>
                  <a:defRPr/>
                </a:pPr>
                <a:endParaRPr kumimoji="0" lang="en-US" sz="24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  <a:sym typeface="Wingdings" panose="05000000000000000000" pitchFamily="2" charset="2"/>
                </a:endParaRPr>
              </a:p>
              <a:p>
                <a:pPr marL="400050" lvl="1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000" b="0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/>
                          <a:cs typeface="+mn-cs"/>
                          <a:sym typeface="Wingdings" panose="05000000000000000000" pitchFamily="2" charset="2"/>
                        </a:rPr>
                        <m:t>𝑙𝑛</m:t>
                      </m:r>
                      <m:sSub>
                        <m:sSubPr>
                          <m:ctrlPr>
                            <a:rPr kumimoji="0" lang="en-US" sz="20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kumimoji="0" lang="en-US" sz="20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kumimoji="0" lang="en-US" sz="20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/>
                              <a:cs typeface="+mn-cs"/>
                              <a:sym typeface="Wingdings" panose="05000000000000000000" pitchFamily="2" charset="2"/>
                            </a:rPr>
                            <m:t>𝑝</m:t>
                          </m:r>
                        </m:sub>
                      </m:sSub>
                      <m:r>
                        <a:rPr kumimoji="0" lang="en-US" sz="2000" b="0" i="1" u="none" strike="noStrike" kern="1200" cap="none" spc="0" normalizeH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anose="05000000000000000000" pitchFamily="2" charset="2"/>
                        </a:rPr>
                        <m:t>≠</m:t>
                      </m:r>
                      <m:nary>
                        <m:naryPr>
                          <m:chr m:val="∑"/>
                          <m:supHide m:val="on"/>
                          <m:ctrlPr>
                            <a:rPr kumimoji="0" lang="en-US" sz="20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kumimoji="0" lang="en-US" sz="20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kumimoji="0" lang="en-US" sz="2000" b="0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n-US" sz="2000" b="0" i="1" u="none" strike="noStrike" kern="1200" cap="none" spc="0" normalizeH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𝑙𝑛</m:t>
                          </m:r>
                          <m:sSub>
                            <m:sSubPr>
                              <m:ctrlPr>
                                <a:rPr kumimoji="0" lang="en-US" sz="2000" b="0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kumimoji="0" lang="en-US" sz="2000" b="0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en-US" sz="2000" b="0" i="1" u="none" strike="noStrike" kern="1200" cap="none" spc="0" normalizeH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sz="20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  <a:sym typeface="Wingdings" panose="05000000000000000000" pitchFamily="2" charset="2"/>
                </a:endParaRPr>
              </a:p>
              <a:p>
                <a:pPr marL="400050" lvl="1" indent="0">
                  <a:buNone/>
                  <a:defRPr/>
                </a:pPr>
                <a:endParaRPr lang="en-US" sz="2000" dirty="0">
                  <a:solidFill>
                    <a:srgbClr val="000000"/>
                  </a:solidFill>
                  <a:latin typeface="Arial"/>
                  <a:ea typeface="宋体"/>
                  <a:sym typeface="Wingdings" panose="05000000000000000000" pitchFamily="2" charset="2"/>
                </a:endParaRPr>
              </a:p>
              <a:p>
                <a:pPr>
                  <a:defRPr/>
                </a:pPr>
                <a:r>
                  <a:rPr kumimoji="0" lang="en-US" sz="2400" b="0" i="0" u="none" strike="noStrike" kern="1200" cap="none" spc="0" normalizeH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/>
                    <a:ea typeface="宋体"/>
                    <a:cs typeface="+mn-cs"/>
                    <a:sym typeface="Wingdings" panose="05000000000000000000" pitchFamily="2" charset="2"/>
                  </a:rPr>
                  <a:t>Only works for simple returns</a:t>
                </a:r>
              </a:p>
              <a:p>
                <a:pPr>
                  <a:defRPr/>
                </a:pPr>
                <a:endParaRPr lang="en-US" sz="2400" dirty="0">
                  <a:solidFill>
                    <a:srgbClr val="000000"/>
                  </a:solidFill>
                  <a:latin typeface="Arial"/>
                  <a:ea typeface="宋体"/>
                  <a:sym typeface="Wingdings" panose="05000000000000000000" pitchFamily="2" charset="2"/>
                </a:endParaRPr>
              </a:p>
              <a:p>
                <a:pPr marL="0" indent="0"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𝑅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𝑝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Wingdings" panose="05000000000000000000" pitchFamily="2" charset="2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0" lang="en-US" sz="2400" b="0" i="0" u="none" strike="noStrike" kern="1200" cap="none" spc="0" normalizeH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  <a:sym typeface="Wingdings" panose="05000000000000000000" pitchFamily="2" charset="2"/>
                </a:endParaRPr>
              </a:p>
              <a:p>
                <a:pPr marL="457200" lvl="1" indent="0">
                  <a:buNone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宋体"/>
                  <a:cs typeface="+mn-cs"/>
                </a:endParaRPr>
              </a:p>
            </p:txBody>
          </p:sp>
        </mc:Choice>
        <mc:Fallback xmlns="">
          <p:sp>
            <p:nvSpPr>
              <p:cNvPr id="8" name="Rectangle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448" y="1186575"/>
                <a:ext cx="8207711" cy="920080"/>
              </a:xfrm>
              <a:prstGeom prst="rect">
                <a:avLst/>
              </a:prstGeom>
              <a:blipFill>
                <a:blip r:embed="rId2"/>
                <a:stretch>
                  <a:fillRect l="-1040" b="-3913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9877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400" dirty="0">
                <a:solidFill>
                  <a:schemeClr val="bg1"/>
                </a:solidFill>
              </a:rPr>
              <a:t>Log and simple return summary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13448" y="1186575"/>
            <a:ext cx="8207711" cy="9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Need simple returns to calculate portfolio returns</a:t>
            </a:r>
          </a:p>
          <a:p>
            <a:pPr>
              <a:defRPr/>
            </a:pP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Wingdings" panose="05000000000000000000" pitchFamily="2" charset="2"/>
              </a:rPr>
              <a:t>Log returns are additive and convenient for time series: of an individual stock or a portfolio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Also convenient for statistical analysis and because maximizing one period expected return also maximizes long-run expected growth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Log returns more negatively skewed than simple returns</a:t>
            </a:r>
          </a:p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Relationship between expected log returns and expected simple returns requires Jensen’s inequality adjustment related to volatility</a:t>
            </a:r>
          </a:p>
          <a:p>
            <a:pPr lvl="1">
              <a:defRPr/>
            </a:pPr>
            <a:r>
              <a:rPr lang="en-US" sz="2000" dirty="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The more volatile the asset, the bigger the gap between mean simple </a:t>
            </a:r>
            <a:r>
              <a:rPr lang="en-US" sz="2000">
                <a:solidFill>
                  <a:srgbClr val="000000"/>
                </a:solidFill>
                <a:latin typeface="Arial"/>
                <a:ea typeface="宋体"/>
                <a:sym typeface="Wingdings" panose="05000000000000000000" pitchFamily="2" charset="2"/>
              </a:rPr>
              <a:t>and log returns. </a:t>
            </a: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7805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Intro to Stock Pricing and Returns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05044"/>
            <a:ext cx="9016530" cy="2538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Key concepts: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Dividend Discount Model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Discounted Free Cash Flow Model (a “DCF” model)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Multiples Valuation</a:t>
            </a:r>
          </a:p>
        </p:txBody>
      </p:sp>
    </p:spTree>
    <p:extLst>
      <p:ext uri="{BB962C8B-B14F-4D97-AF65-F5344CB8AC3E}">
        <p14:creationId xmlns:p14="http://schemas.microsoft.com/office/powerpoint/2010/main" val="2188243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Dividend Discount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33874" y="908944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One-period investor: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3159125" y="836713"/>
          <a:ext cx="2132955" cy="805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0" name="Equation" r:id="rId3" imgW="1143000" imgH="431640" progId="Equation.3">
                  <p:embed/>
                </p:oleObj>
              </mc:Choice>
              <mc:Fallback>
                <p:oleObj name="Equation" r:id="rId3" imgW="1143000" imgH="43164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9125" y="836713"/>
                        <a:ext cx="2132955" cy="8056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79512" y="1629023"/>
            <a:ext cx="864096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Return on equity, </a:t>
            </a:r>
            <a:r>
              <a:rPr lang="en-US" dirty="0" err="1"/>
              <a:t>r</a:t>
            </a:r>
            <a:r>
              <a:rPr lang="en-US" baseline="-25000" dirty="0" err="1"/>
              <a:t>s</a:t>
            </a:r>
            <a:r>
              <a:rPr lang="en-US" dirty="0"/>
              <a:t>, determined by firm risk, what investments of similar risk will yield (opportunity cost of capital)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dirty="0"/>
              <a:t>Can be decomposed into expected dividend yield and capital gain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2843808" y="2601703"/>
          <a:ext cx="2844180" cy="7552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1" name="Equation" r:id="rId5" imgW="1625400" imgH="431640" progId="Equation.3">
                  <p:embed/>
                </p:oleObj>
              </mc:Choice>
              <mc:Fallback>
                <p:oleObj name="Equation" r:id="rId5" imgW="1625400" imgH="4316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2601703"/>
                        <a:ext cx="2844180" cy="7552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86274" y="3268349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Two-period investor: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3419872" y="3273176"/>
          <a:ext cx="3312368" cy="7929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" name="Equation" r:id="rId7" imgW="1803240" imgH="431640" progId="Equation.3">
                  <p:embed/>
                </p:oleObj>
              </mc:Choice>
              <mc:Fallback>
                <p:oleObj name="Equation" r:id="rId7" imgW="1803240" imgH="431640" progId="Equation.3">
                  <p:embed/>
                  <p:pic>
                    <p:nvPicPr>
                      <p:cNvPr id="9" name="Object 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9872" y="3273176"/>
                        <a:ext cx="3312368" cy="7929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251520" y="4126727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N-period investor: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2882900" y="4131056"/>
          <a:ext cx="431641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3" name="Equation" r:id="rId9" imgW="2349360" imgH="431640" progId="Equation.3">
                  <p:embed/>
                </p:oleObj>
              </mc:Choice>
              <mc:Fallback>
                <p:oleObj name="Equation" r:id="rId9" imgW="2349360" imgH="431640" progId="Equation.3">
                  <p:embed/>
                  <p:pic>
                    <p:nvPicPr>
                      <p:cNvPr id="11" name="Object 1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882900" y="4131056"/>
                        <a:ext cx="4316413" cy="79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51520" y="4941168"/>
            <a:ext cx="321399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Infinite Horizon: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/>
          </p:nvPr>
        </p:nvGraphicFramePr>
        <p:xfrm>
          <a:off x="2905125" y="4956175"/>
          <a:ext cx="209867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4" name="Equation" r:id="rId11" imgW="1143000" imgH="431640" progId="Equation.3">
                  <p:embed/>
                </p:oleObj>
              </mc:Choice>
              <mc:Fallback>
                <p:oleObj name="Equation" r:id="rId11" imgW="1143000" imgH="431640" progId="Equation.3">
                  <p:embed/>
                  <p:pic>
                    <p:nvPicPr>
                      <p:cNvPr id="13" name="Object 1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05125" y="4956175"/>
                        <a:ext cx="2098675" cy="793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8"/>
          <p:cNvSpPr txBox="1">
            <a:spLocks noChangeArrowheads="1"/>
          </p:cNvSpPr>
          <p:nvPr/>
        </p:nvSpPr>
        <p:spPr bwMode="auto">
          <a:xfrm>
            <a:off x="642136" y="5949280"/>
            <a:ext cx="7746288" cy="40011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dirty="0"/>
              <a:t>In principle, all give same answer, investor horizon does not matter</a:t>
            </a:r>
          </a:p>
        </p:txBody>
      </p:sp>
    </p:spTree>
    <p:extLst>
      <p:ext uri="{BB962C8B-B14F-4D97-AF65-F5344CB8AC3E}">
        <p14:creationId xmlns:p14="http://schemas.microsoft.com/office/powerpoint/2010/main" val="237105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Constant Dividend Growth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3448" y="2348880"/>
            <a:ext cx="6022302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Also called the Gordon Growth Model: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668149"/>
              </p:ext>
            </p:extLst>
          </p:nvPr>
        </p:nvGraphicFramePr>
        <p:xfrm>
          <a:off x="3366194" y="2852936"/>
          <a:ext cx="2907752" cy="1566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Equation" r:id="rId3" imgW="799920" imgH="431640" progId="Equation.3">
                  <p:embed/>
                </p:oleObj>
              </mc:Choice>
              <mc:Fallback>
                <p:oleObj name="Equation" r:id="rId3" imgW="799920" imgH="43164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66194" y="2852936"/>
                        <a:ext cx="2907752" cy="1566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9733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Limitations of Dividend Discount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8469" y="908720"/>
            <a:ext cx="885104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Some firms return cash to shareholders through share repurchases, which are not accounted for explicitly by the dividend discount model</a:t>
            </a: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Use the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total payout model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to address this issue (to obtain same answer using DDM, would need to model the fact that repurchasing shares allows faster growth in per share dividends)</a:t>
            </a:r>
          </a:p>
          <a:p>
            <a:pPr marL="914400" marR="0" lvl="1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0" indent="-4572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Dividend policy varies considerably across firms; dividends and other payouts are what ultimately matters to investors, but the ability to pay dividends is driven by deeper fundamentals, i.e., cash flows</a:t>
            </a: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Discounted cash flow models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address this issue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438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Discounted Free Cash Flow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8469" y="908720"/>
            <a:ext cx="885104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Enterprise Value (V or EV) = 	   Market Value of Equity (S)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				+ Market Value of Debt (D)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				-  Excess Cash 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Excess Cash: Cash that could be taken out of the company without impacting the future operations of the firm on which the future cash flow forecasts are based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886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Discounted Free Cash Flow Model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8469" y="908720"/>
            <a:ext cx="8851040" cy="5760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Arial" charset="0"/>
                <a:ea typeface="宋体" pitchFamily="2" charset="-122"/>
              </a:rPr>
              <a:t>D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efinition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 of Free Cash Flows: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FCF = UCF = EBIT (1-Tc) + Depreciation – CAPX –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Δ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NWC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*simplify by combining depreciation and CAPX using  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	Net investment = CAPX – Depreciation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This can sometimes be confusing because another interpretation of Net investment is gross investment less asset sales.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Enterprise value:  V = PV(Future Free Cash Flows of Firm)</a:t>
            </a: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Share price: P = (V – D + Excess Cash) / shares outstanding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7935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Cash Flows vs. Earnings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90600" y="1676400"/>
          <a:ext cx="7113079" cy="3881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6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Sales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 algn="r">
                        <a:buFontTx/>
                        <a:buChar char="-"/>
                      </a:pPr>
                      <a:r>
                        <a:rPr lang="en-US" dirty="0"/>
                        <a:t>Costs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Earnings</a:t>
                      </a:r>
                      <a:r>
                        <a:rPr lang="en-US" baseline="0" dirty="0"/>
                        <a:t> Before Int., Tax, </a:t>
                      </a:r>
                      <a:r>
                        <a:rPr lang="en-US" baseline="0" dirty="0" err="1"/>
                        <a:t>Dep</a:t>
                      </a:r>
                      <a:r>
                        <a:rPr lang="en-US" baseline="0" dirty="0"/>
                        <a:t>, and </a:t>
                      </a:r>
                      <a:r>
                        <a:rPr lang="en-US" baseline="0" dirty="0" err="1"/>
                        <a:t>Amm</a:t>
                      </a:r>
                      <a:r>
                        <a:rPr lang="en-US" baseline="0" dirty="0"/>
                        <a:t>.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EBITDA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-Depreciation and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Amortization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Earnings</a:t>
                      </a:r>
                      <a:r>
                        <a:rPr lang="en-US" baseline="0" dirty="0"/>
                        <a:t> Before Interest and Tax</a:t>
                      </a:r>
                      <a:r>
                        <a:rPr lang="en-US" dirty="0"/>
                        <a:t> 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EBIT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-Taxes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Net</a:t>
                      </a:r>
                      <a:r>
                        <a:rPr lang="en-US" baseline="0" dirty="0"/>
                        <a:t> Operating Profits Less Adjusted Tax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NOPLAT =</a:t>
                      </a:r>
                      <a:r>
                        <a:rPr lang="en-US" b="1" baseline="0" dirty="0"/>
                        <a:t> (1-t) EBIT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r">
                        <a:buFontTx/>
                        <a:buNone/>
                      </a:pPr>
                      <a:r>
                        <a:rPr lang="en-US" dirty="0"/>
                        <a:t>+ Depreciation and </a:t>
                      </a:r>
                      <a:r>
                        <a:rPr lang="en-US" dirty="0" err="1"/>
                        <a:t>Ammortization</a:t>
                      </a:r>
                      <a:endParaRPr lang="en-US" dirty="0"/>
                    </a:p>
                    <a:p>
                      <a:pPr marL="285750" indent="-285750" algn="r">
                        <a:buFontTx/>
                        <a:buChar char="-"/>
                      </a:pPr>
                      <a:r>
                        <a:rPr lang="en-US" dirty="0"/>
                        <a:t>Net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err="1"/>
                        <a:t>Capx</a:t>
                      </a:r>
                      <a:endParaRPr lang="en-US" baseline="0" dirty="0"/>
                    </a:p>
                    <a:p>
                      <a:pPr marL="285750" indent="-285750" algn="r">
                        <a:buFontTx/>
                        <a:buChar char="-"/>
                      </a:pPr>
                      <a:r>
                        <a:rPr lang="en-US" baseline="0" dirty="0"/>
                        <a:t>Change in NWC</a:t>
                      </a:r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Free Cash</a:t>
                      </a:r>
                      <a:r>
                        <a:rPr lang="en-US" baseline="0" dirty="0"/>
                        <a:t> F</a:t>
                      </a:r>
                      <a:r>
                        <a:rPr lang="en-US" dirty="0"/>
                        <a:t>low (Unlevered Cash Flow)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FCF = UCF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5701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Discount Rate: WACC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宋体" pitchFamily="2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38469" y="908720"/>
                <a:ext cx="8851040" cy="576064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When using the Free Cash Flow to the Firm Model, we discount by the Weighted Average Cost of Capital (WACC)</a:t>
                </a:r>
              </a:p>
              <a:p>
                <a:pPr marL="342900" marR="0" lvl="1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宋体" pitchFamily="2" charset="-122"/>
                    <a:cs typeface="+mn-cs"/>
                  </a:rPr>
                  <a:t>A weighted average of the costs of capital required by all investors in the firm (equity and debt).  This is a corporate finance concept. </a:t>
                </a:r>
              </a:p>
              <a:p>
                <a:pPr marL="342900" marR="0" lvl="1" indent="-34290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𝑊𝐴𝐶𝐶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=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𝑆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𝑉</m:t>
                        </m:r>
                      </m:den>
                    </m:f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𝑆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+</m:t>
                    </m:r>
                    <m:f>
                      <m:f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𝐷</m:t>
                        </m:r>
                      </m:num>
                      <m:den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𝑉</m:t>
                        </m:r>
                      </m:den>
                    </m:f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(1−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𝑇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𝐶</m:t>
                        </m:r>
                      </m:sub>
                    </m:sSub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宋体" pitchFamily="2" charset="-122"/>
                        <a:cs typeface="+mn-cs"/>
                      </a:rPr>
                      <m:t>)</m:t>
                    </m:r>
                    <m:sSub>
                      <m:sSubPr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宋体" pitchFamily="2" charset="-122"/>
                            <a:cs typeface="+mn-cs"/>
                          </a:rPr>
                          <m:t>𝐷</m:t>
                        </m:r>
                      </m:sub>
                    </m:sSub>
                  </m:oMath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457200" marR="0" lvl="1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宋体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69" y="908720"/>
                <a:ext cx="8851040" cy="576064"/>
              </a:xfrm>
              <a:prstGeom prst="rect">
                <a:avLst/>
              </a:prstGeom>
              <a:blipFill>
                <a:blip r:embed="rId3"/>
                <a:stretch>
                  <a:fillRect l="-1102" t="-7368" r="-1102" b="-229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610007"/>
              </p:ext>
            </p:extLst>
          </p:nvPr>
        </p:nvGraphicFramePr>
        <p:xfrm>
          <a:off x="1828800" y="4038600"/>
          <a:ext cx="5354634" cy="173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Equation" r:id="rId4" imgW="1333440" imgH="431640" progId="Equation.3">
                  <p:embed/>
                </p:oleObj>
              </mc:Choice>
              <mc:Fallback>
                <p:oleObj name="Equation" r:id="rId4" imgW="1333440" imgH="4316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038600"/>
                        <a:ext cx="5354634" cy="173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50750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 dirty="0">
                <a:solidFill>
                  <a:schemeClr val="bg1"/>
                </a:solidFill>
              </a:rPr>
              <a:t>Multiples Valuation</a:t>
            </a:r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7250"/>
            <a:ext cx="9144000" cy="5214938"/>
          </a:xfrm>
        </p:spPr>
        <p:txBody>
          <a:bodyPr/>
          <a:lstStyle/>
          <a:p>
            <a:pPr marL="514350" indent="-457200" algn="just"/>
            <a:r>
              <a:rPr lang="en-US" altLang="zh-CN" sz="2400"/>
              <a:t>Basic idea: use prices of a peer group to build up an estimate of value for the firm you are analyzing (law-of-one-price) </a:t>
            </a:r>
          </a:p>
          <a:p>
            <a:pPr marL="514350" indent="-457200">
              <a:buFontTx/>
              <a:buNone/>
            </a:pPr>
            <a:endParaRPr lang="en-US" altLang="zh-CN" sz="1000"/>
          </a:p>
          <a:p>
            <a:pPr marL="514350" indent="-457200"/>
            <a:r>
              <a:rPr lang="en-US" altLang="zh-CN" sz="2400"/>
              <a:t>Outline of typical steps: 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Choose a relevant peer group (e.g., firms in an industry)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Propose a quantity (e.g., EBITDA) that you believe correlates to value (e.g., EV) among firms in the peer group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Calculate the corresponding ratio (e.g., </a:t>
            </a:r>
            <a:r>
              <a:rPr lang="el-GR" altLang="zh-CN" sz="2000"/>
              <a:t>λ</a:t>
            </a:r>
            <a:r>
              <a:rPr lang="en-US" altLang="zh-CN" sz="2000" baseline="-25000"/>
              <a:t>i</a:t>
            </a:r>
            <a:r>
              <a:rPr lang="en-US" altLang="zh-CN" sz="2000"/>
              <a:t>=EV</a:t>
            </a:r>
            <a:r>
              <a:rPr lang="en-US" altLang="zh-CN" sz="2000" baseline="-25000"/>
              <a:t>i</a:t>
            </a:r>
            <a:r>
              <a:rPr lang="en-US" altLang="zh-CN" sz="2000"/>
              <a:t>/EBITDA</a:t>
            </a:r>
            <a:r>
              <a:rPr lang="en-US" altLang="zh-CN" sz="2000" baseline="-25000"/>
              <a:t>i</a:t>
            </a:r>
            <a:r>
              <a:rPr lang="en-US" altLang="zh-CN" sz="2000"/>
              <a:t>) for all observations i in the peer group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Designate the average multiple: </a:t>
            </a:r>
          </a:p>
          <a:p>
            <a:pPr marL="914400" lvl="1" indent="-457200">
              <a:buFontTx/>
              <a:buAutoNum type="arabicPeriod"/>
            </a:pPr>
            <a:r>
              <a:rPr lang="en-US" altLang="zh-CN" sz="2000"/>
              <a:t>Apply this multiple to the firm you are analyzing to estimate its value:  </a:t>
            </a:r>
          </a:p>
          <a:p>
            <a:pPr marL="514350" indent="-457200">
              <a:buFontTx/>
              <a:buNone/>
            </a:pPr>
            <a:endParaRPr lang="en-US" altLang="zh-CN" sz="2400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zh-CN" altLang="zh-CN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4549775" y="3822700"/>
          <a:ext cx="266541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6" name="Equation" r:id="rId3" imgW="965160" imgH="291960" progId="Equation.DSMT4">
                  <p:embed/>
                </p:oleObj>
              </mc:Choice>
              <mc:Fallback>
                <p:oleObj name="Equation" r:id="rId3" imgW="965160" imgH="291960" progId="Equation.DSMT4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9775" y="3822700"/>
                        <a:ext cx="2665413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2651125" y="5000625"/>
          <a:ext cx="35639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7" name="Equation" r:id="rId5" imgW="1104840" imgH="253800" progId="Equation.DSMT4">
                  <p:embed/>
                </p:oleObj>
              </mc:Choice>
              <mc:Fallback>
                <p:oleObj name="Equation" r:id="rId5" imgW="1104840" imgH="253800" progId="Equation.DSMT4">
                  <p:embed/>
                  <p:pic>
                    <p:nvPicPr>
                      <p:cNvPr id="102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125" y="5000625"/>
                        <a:ext cx="3563938" cy="815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717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>
                <a:solidFill>
                  <a:schemeClr val="bg1"/>
                </a:solidFill>
              </a:rPr>
              <a:t>Multiples Valuation: Theory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28688"/>
            <a:ext cx="9144000" cy="1928812"/>
          </a:xfrm>
        </p:spPr>
        <p:txBody>
          <a:bodyPr/>
          <a:lstStyle/>
          <a:p>
            <a:pPr marL="514350" indent="-457200" algn="just"/>
            <a:r>
              <a:rPr lang="en-US" altLang="zh-CN" sz="2400" dirty="0"/>
              <a:t>There is theory behind some important multiples</a:t>
            </a:r>
          </a:p>
          <a:p>
            <a:pPr marL="514350" indent="-457200">
              <a:buFontTx/>
              <a:buNone/>
            </a:pPr>
            <a:endParaRPr lang="en-US" altLang="zh-CN" sz="800" dirty="0"/>
          </a:p>
          <a:p>
            <a:pPr marL="514350" indent="-457200"/>
            <a:r>
              <a:rPr lang="en-US" altLang="zh-CN" sz="2400" dirty="0"/>
              <a:t>E.g., the price-dividend (P/D) ratio:</a:t>
            </a:r>
          </a:p>
          <a:p>
            <a:pPr marL="914400" lvl="1" indent="-457200"/>
            <a:r>
              <a:rPr lang="en-US" altLang="zh-CN" sz="2000" dirty="0"/>
              <a:t>For a firm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with constant growth of dividends:</a:t>
            </a:r>
          </a:p>
          <a:p>
            <a:pPr marL="914400" lvl="1" indent="-457200">
              <a:buFontTx/>
              <a:buNone/>
            </a:pPr>
            <a:endParaRPr lang="en-US" altLang="zh-CN" sz="2000" dirty="0"/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  <a:endParaRPr lang="en-US" altLang="zh-CN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3214688" y="2714625"/>
          <a:ext cx="2357437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0" name="Equation" r:id="rId3" imgW="1015920" imgH="457200" progId="Equation.DSMT4">
                  <p:embed/>
                </p:oleObj>
              </mc:Choice>
              <mc:Fallback>
                <p:oleObj name="Equation" r:id="rId3" imgW="1015920" imgH="457200" progId="Equation.DSMT4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88" y="2714625"/>
                        <a:ext cx="2357437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0" y="3714750"/>
            <a:ext cx="9144000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Hence: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  <a:p>
            <a:pPr marL="51435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	</a:t>
            </a:r>
          </a:p>
          <a:p>
            <a:pPr marL="514350" marR="0" lvl="0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宋体"/>
                <a:cs typeface="+mn-cs"/>
              </a:rPr>
              <a:t>	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宋体"/>
              <a:cs typeface="+mn-cs"/>
            </a:endParaRPr>
          </a:p>
        </p:txBody>
      </p:sp>
      <p:graphicFrame>
        <p:nvGraphicFramePr>
          <p:cNvPr id="2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60256"/>
              </p:ext>
            </p:extLst>
          </p:nvPr>
        </p:nvGraphicFramePr>
        <p:xfrm>
          <a:off x="1600200" y="4377292"/>
          <a:ext cx="250507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1" name="Equation" r:id="rId5" imgW="1079280" imgH="457200" progId="Equation.DSMT4">
                  <p:embed/>
                </p:oleObj>
              </mc:Choice>
              <mc:Fallback>
                <p:oleObj name="Equation" r:id="rId5" imgW="1079280" imgH="457200" progId="Equation.DSMT4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4377292"/>
                        <a:ext cx="2505075" cy="1060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5" name="TextBox 8"/>
          <p:cNvSpPr txBox="1">
            <a:spLocks noChangeArrowheads="1"/>
          </p:cNvSpPr>
          <p:nvPr/>
        </p:nvSpPr>
        <p:spPr bwMode="auto">
          <a:xfrm>
            <a:off x="6000750" y="3000375"/>
            <a:ext cx="2946400" cy="4000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Gordon Growth Formula</a:t>
            </a:r>
          </a:p>
        </p:txBody>
      </p:sp>
      <p:cxnSp>
        <p:nvCxnSpPr>
          <p:cNvPr id="2056" name="Straight Arrow Connector 10"/>
          <p:cNvCxnSpPr>
            <a:cxnSpLocks noChangeShapeType="1"/>
          </p:cNvCxnSpPr>
          <p:nvPr/>
        </p:nvCxnSpPr>
        <p:spPr bwMode="auto">
          <a:xfrm rot="10800000">
            <a:off x="5572125" y="3214688"/>
            <a:ext cx="357188" cy="1587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8" name="TextBox 11"/>
          <p:cNvSpPr txBox="1">
            <a:spLocks noChangeArrowheads="1"/>
          </p:cNvSpPr>
          <p:nvPr/>
        </p:nvSpPr>
        <p:spPr bwMode="auto">
          <a:xfrm>
            <a:off x="214313" y="5715000"/>
            <a:ext cx="8715375" cy="70788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Thus, the P/D ratio is driven by equity risk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r</a:t>
            </a:r>
            <a:r>
              <a:rPr kumimoji="0" lang="en-US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s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) and the growth rate (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g</a:t>
            </a:r>
            <a:r>
              <a:rPr kumimoji="0" lang="en-US" sz="2000" b="1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D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).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000000"/>
                </a:solidFill>
              </a:rPr>
              <a:t>The stock return is driven by dividend yield (P/D) and growth (</a:t>
            </a:r>
            <a:r>
              <a:rPr lang="en-US" b="1" dirty="0" err="1">
                <a:solidFill>
                  <a:srgbClr val="000000"/>
                </a:solidFill>
              </a:rPr>
              <a:t>g</a:t>
            </a:r>
            <a:r>
              <a:rPr lang="en-US" b="1" baseline="-25000" dirty="0" err="1">
                <a:solidFill>
                  <a:srgbClr val="000000"/>
                </a:solidFill>
              </a:rPr>
              <a:t>D</a:t>
            </a:r>
            <a:r>
              <a:rPr lang="en-US" b="1" dirty="0">
                <a:solidFill>
                  <a:srgbClr val="000000"/>
                </a:solidFill>
              </a:rPr>
              <a:t>).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宋体" pitchFamily="2" charset="-122"/>
                <a:cs typeface="+mn-cs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43718069-765F-4C8D-A5B0-979B76E8EC0E}"/>
                  </a:ext>
                </a:extLst>
              </p:cNvPr>
              <p:cNvSpPr txBox="1"/>
              <p:nvPr/>
            </p:nvSpPr>
            <p:spPr bwMode="auto">
              <a:xfrm>
                <a:off x="5105400" y="4468813"/>
                <a:ext cx="3351212" cy="806449"/>
              </a:xfrm>
              <a:prstGeom prst="rect">
                <a:avLst/>
              </a:prstGeom>
              <a:noFill/>
              <a:ex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𝑠𝑡𝑜𝑐𝑘</m:t>
                          </m:r>
                        </m:sub>
                      </m:sSub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Object 3">
                <a:extLst>
                  <a:ext uri="{FF2B5EF4-FFF2-40B4-BE49-F238E27FC236}">
                    <a16:creationId xmlns:a16="http://schemas.microsoft.com/office/drawing/2014/main" id="{43718069-765F-4C8D-A5B0-979B76E8E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05400" y="4468813"/>
                <a:ext cx="3351212" cy="80644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38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</a:rPr>
              <a:t>Varieties of Multiples: Numerator and Denominator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14375"/>
            <a:ext cx="9144000" cy="5786438"/>
          </a:xfrm>
        </p:spPr>
        <p:txBody>
          <a:bodyPr/>
          <a:lstStyle/>
          <a:p>
            <a:pPr marL="514350" indent="-457200"/>
            <a:r>
              <a:rPr lang="en-US" altLang="zh-CN" sz="2400" dirty="0"/>
              <a:t>In the numerator:</a:t>
            </a:r>
          </a:p>
          <a:p>
            <a:pPr marL="914400" lvl="1" indent="-457200"/>
            <a:r>
              <a:rPr lang="en-US" altLang="zh-CN" sz="2000" dirty="0"/>
              <a:t>Enterprise value, denoted V or EV</a:t>
            </a:r>
          </a:p>
          <a:p>
            <a:pPr marL="914400" lvl="1" indent="-457200"/>
            <a:r>
              <a:rPr lang="en-US" altLang="zh-CN" sz="2000" dirty="0"/>
              <a:t>Equity value, either per share (P) or total market cap (S)</a:t>
            </a:r>
          </a:p>
          <a:p>
            <a:pPr marL="514350" indent="-457200">
              <a:buFontTx/>
              <a:buNone/>
            </a:pPr>
            <a:endParaRPr lang="en-US" altLang="zh-CN" sz="800" dirty="0"/>
          </a:p>
          <a:p>
            <a:pPr marL="514350" indent="-457200"/>
            <a:r>
              <a:rPr lang="en-US" altLang="zh-CN" sz="2400" dirty="0"/>
              <a:t>In the denominator:</a:t>
            </a:r>
          </a:p>
          <a:p>
            <a:pPr marL="914400" lvl="1" indent="-457200"/>
            <a:r>
              <a:rPr lang="en-US" altLang="zh-CN" sz="2000" dirty="0"/>
              <a:t>Dividends (for P or S)</a:t>
            </a:r>
          </a:p>
          <a:p>
            <a:pPr marL="914400" lvl="1" indent="-457200"/>
            <a:r>
              <a:rPr lang="en-US" altLang="zh-CN" sz="2000" dirty="0"/>
              <a:t>Aggregate Dividends plus coupon payments (for EV)</a:t>
            </a:r>
          </a:p>
          <a:p>
            <a:pPr marL="914400" lvl="1" indent="-457200"/>
            <a:r>
              <a:rPr lang="en-US" altLang="zh-CN" sz="2000" dirty="0"/>
              <a:t>FCF=UCF (for EV)</a:t>
            </a:r>
          </a:p>
          <a:p>
            <a:pPr marL="914400" lvl="1" indent="-457200"/>
            <a:r>
              <a:rPr lang="en-US" altLang="zh-CN" sz="2000" dirty="0"/>
              <a:t>LCF (“Levered Cash Flow” or “Cash Flow to Equity”, per share for P, aggregate for S)</a:t>
            </a:r>
          </a:p>
          <a:p>
            <a:pPr marL="914400" lvl="1" indent="-457200"/>
            <a:r>
              <a:rPr lang="en-US" altLang="zh-CN" sz="2000" dirty="0"/>
              <a:t>EBIT (for EV, trailing or forecasted)</a:t>
            </a:r>
          </a:p>
          <a:p>
            <a:pPr marL="914400" lvl="1" indent="-457200"/>
            <a:r>
              <a:rPr lang="en-US" altLang="zh-CN" sz="2000" dirty="0"/>
              <a:t>EBITDA (for EV), or EBITDA less maintenance CAPEX</a:t>
            </a:r>
          </a:p>
          <a:p>
            <a:pPr marL="914400" lvl="1" indent="-457200"/>
            <a:r>
              <a:rPr lang="en-US" altLang="zh-CN" sz="2000" dirty="0"/>
              <a:t>Sales/Revenues (for EV)</a:t>
            </a:r>
          </a:p>
          <a:p>
            <a:pPr marL="914400" lvl="1" indent="-457200"/>
            <a:r>
              <a:rPr lang="en-US" altLang="zh-CN" sz="2000" dirty="0"/>
              <a:t># of customers, web site hits, # of employees, R&amp;D spending, … (EV)</a:t>
            </a:r>
          </a:p>
          <a:p>
            <a:pPr marL="914400" lvl="1" indent="-457200"/>
            <a:r>
              <a:rPr lang="en-US" altLang="zh-CN" sz="2000" dirty="0"/>
              <a:t>Book value (of assets for EV, of equity for S, of equity per share for P)</a:t>
            </a:r>
          </a:p>
          <a:p>
            <a:pPr marL="914400" lvl="1" indent="-457200"/>
            <a:r>
              <a:rPr lang="en-US" altLang="zh-CN" sz="2000" dirty="0"/>
              <a:t>…</a:t>
            </a:r>
          </a:p>
          <a:p>
            <a:pPr marL="914400" lvl="1" indent="-457200"/>
            <a:endParaRPr lang="en-US" altLang="zh-CN" sz="2000" dirty="0"/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</a:p>
          <a:p>
            <a:pPr marL="514350" indent="-457200">
              <a:buFontTx/>
              <a:buNone/>
            </a:pPr>
            <a:r>
              <a:rPr lang="en-US" altLang="zh-CN" sz="2400" dirty="0"/>
              <a:t>	</a:t>
            </a:r>
            <a:endParaRPr lang="en-US" altLang="zh-CN" sz="2000" dirty="0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zh-CN" altLang="zh-CN" dirty="0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8521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94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94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46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4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4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4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4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46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Why do pricing models matter for quant finance?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05044"/>
            <a:ext cx="9016530" cy="2538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400" dirty="0"/>
              <a:t>The stock pricing models have stock price on the left, and on the right a required return with a variety of other variables</a:t>
            </a:r>
          </a:p>
          <a:p>
            <a:endParaRPr lang="en-US" sz="2400" dirty="0"/>
          </a:p>
          <a:p>
            <a:r>
              <a:rPr lang="en-US" sz="2400" dirty="0"/>
              <a:t>In quantitative finance, we invert the problem, we make inferences about returns (</a:t>
            </a:r>
            <a:r>
              <a:rPr lang="en-US" sz="2400" dirty="0" err="1"/>
              <a:t>lhs</a:t>
            </a:r>
            <a:r>
              <a:rPr lang="en-US" sz="2400" dirty="0"/>
              <a:t>) using stock characteristics and prices, often ratios as predictors (</a:t>
            </a:r>
            <a:r>
              <a:rPr lang="en-US" sz="2400" dirty="0" err="1"/>
              <a:t>rhs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We will see this when we look at cross-sectional trading strategies in week 3.</a:t>
            </a:r>
          </a:p>
        </p:txBody>
      </p:sp>
    </p:spTree>
    <p:extLst>
      <p:ext uri="{BB962C8B-B14F-4D97-AF65-F5344CB8AC3E}">
        <p14:creationId xmlns:p14="http://schemas.microsoft.com/office/powerpoint/2010/main" val="17478951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3881" y="-99392"/>
            <a:ext cx="9036495" cy="1008112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</a:rPr>
              <a:t>More on ratios…</a:t>
            </a:r>
          </a:p>
        </p:txBody>
      </p:sp>
      <p:sp>
        <p:nvSpPr>
          <p:cNvPr id="3075" name="Rectangle 4"/>
          <p:cNvSpPr>
            <a:spLocks noChangeArrowheads="1"/>
          </p:cNvSpPr>
          <p:nvPr/>
        </p:nvSpPr>
        <p:spPr bwMode="auto">
          <a:xfrm>
            <a:off x="113448" y="1988840"/>
            <a:ext cx="9036496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/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  <a:p>
            <a:pPr eaLnBrk="0" hangingPunct="0">
              <a:spcBef>
                <a:spcPct val="20000"/>
              </a:spcBef>
            </a:pPr>
            <a:r>
              <a:rPr lang="en-US" sz="2200" dirty="0"/>
              <a:t>	</a:t>
            </a:r>
          </a:p>
          <a:p>
            <a:pPr eaLnBrk="0" hangingPunct="0">
              <a:spcBef>
                <a:spcPct val="20000"/>
              </a:spcBef>
            </a:pPr>
            <a:endParaRPr lang="en-US" sz="2200" dirty="0"/>
          </a:p>
        </p:txBody>
      </p:sp>
      <p:sp>
        <p:nvSpPr>
          <p:cNvPr id="2" name="TextBox 1"/>
          <p:cNvSpPr txBox="1"/>
          <p:nvPr/>
        </p:nvSpPr>
        <p:spPr>
          <a:xfrm>
            <a:off x="179512" y="1805044"/>
            <a:ext cx="9016530" cy="253835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218469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</a:rPr>
              <a:t>Choosing a Multiple to Use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7250"/>
            <a:ext cx="9144000" cy="2500313"/>
          </a:xfrm>
        </p:spPr>
        <p:txBody>
          <a:bodyPr/>
          <a:lstStyle/>
          <a:p>
            <a:pPr marL="514350" indent="-457200"/>
            <a:r>
              <a:rPr lang="en-US" altLang="zh-CN" sz="2400"/>
              <a:t>For any industry/situation, there are often a number of potential multiples one could use</a:t>
            </a:r>
          </a:p>
          <a:p>
            <a:pPr marL="914400" lvl="1" indent="-457200"/>
            <a:r>
              <a:rPr lang="en-US" altLang="zh-CN" sz="2000"/>
              <a:t>EV/EBITDA, EV/FCF, EV/sales, EV/Assets, etc.</a:t>
            </a:r>
          </a:p>
          <a:p>
            <a:pPr marL="914400" lvl="1" indent="-457200">
              <a:buFontTx/>
              <a:buNone/>
            </a:pPr>
            <a:endParaRPr lang="en-US" altLang="zh-CN" sz="800"/>
          </a:p>
          <a:p>
            <a:pPr marL="514350" indent="-457200"/>
            <a:r>
              <a:rPr lang="en-US" altLang="zh-CN" sz="2400"/>
              <a:t>To compare accuracy of different multiples within peer group, interpret multiples valuation as a restricted (zero intercept) regression:	</a:t>
            </a:r>
          </a:p>
          <a:p>
            <a:pPr marL="514350" indent="-457200">
              <a:buFontTx/>
              <a:buNone/>
            </a:pPr>
            <a:r>
              <a:rPr lang="en-US" altLang="zh-CN" sz="2400"/>
              <a:t>	</a:t>
            </a:r>
            <a:endParaRPr lang="zh-CN" altLang="zh-CN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/>
          </a:p>
        </p:txBody>
      </p:sp>
      <p:graphicFrame>
        <p:nvGraphicFramePr>
          <p:cNvPr id="10242" name="Chart 4"/>
          <p:cNvGraphicFramePr>
            <a:graphicFrameLocks/>
          </p:cNvGraphicFramePr>
          <p:nvPr/>
        </p:nvGraphicFramePr>
        <p:xfrm>
          <a:off x="357188" y="3500438"/>
          <a:ext cx="3548062" cy="288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r:id="rId3" imgW="3548180" imgH="2889754" progId="Excel.Sheet.8">
                  <p:embed/>
                </p:oleObj>
              </mc:Choice>
              <mc:Fallback>
                <p:oleObj r:id="rId3" imgW="3548180" imgH="2889754" progId="Excel.Sheet.8">
                  <p:embed/>
                  <p:pic>
                    <p:nvPicPr>
                      <p:cNvPr id="10242" name="Chart 4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8" y="3500438"/>
                        <a:ext cx="3548062" cy="2889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Chart 5"/>
          <p:cNvGraphicFramePr>
            <a:graphicFrameLocks/>
          </p:cNvGraphicFramePr>
          <p:nvPr>
            <p:extLst/>
          </p:nvPr>
        </p:nvGraphicFramePr>
        <p:xfrm>
          <a:off x="4929188" y="3500438"/>
          <a:ext cx="3629025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7" name="Worksheet" r:id="rId5" imgW="3628957" imgH="2943225" progId="Excel.Sheet.8">
                  <p:embed/>
                </p:oleObj>
              </mc:Choice>
              <mc:Fallback>
                <p:oleObj name="Worksheet" r:id="rId5" imgW="3628957" imgH="2943225" progId="Excel.Sheet.8">
                  <p:embed/>
                  <p:pic>
                    <p:nvPicPr>
                      <p:cNvPr id="10243" name="Chart 5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9188" y="3500438"/>
                        <a:ext cx="3629025" cy="2943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0080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2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>
                <a:solidFill>
                  <a:schemeClr val="bg1"/>
                </a:solidFill>
              </a:rPr>
              <a:t>Combining Information in Different Multiples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57250"/>
            <a:ext cx="9144000" cy="2143125"/>
          </a:xfrm>
        </p:spPr>
        <p:txBody>
          <a:bodyPr/>
          <a:lstStyle/>
          <a:p>
            <a:pPr marL="514350" indent="-457200"/>
            <a:r>
              <a:rPr lang="en-US" altLang="zh-CN" sz="2400"/>
              <a:t>Suppose we have several multiples that seem to work well</a:t>
            </a:r>
          </a:p>
          <a:p>
            <a:pPr marL="914400" lvl="1" indent="-457200"/>
            <a:r>
              <a:rPr lang="en-US" altLang="zh-CN" sz="2000"/>
              <a:t>One ad hoc way to combine information is to calculate implied values from each multiple, and average</a:t>
            </a:r>
          </a:p>
          <a:p>
            <a:pPr marL="914400" lvl="1" indent="-457200"/>
            <a:r>
              <a:rPr lang="en-US" altLang="zh-CN" sz="2000"/>
              <a:t>A more systematic way to approach the problem is to run a multiple regression, e.g.</a:t>
            </a:r>
          </a:p>
          <a:p>
            <a:pPr marL="914400" lvl="1" indent="-457200">
              <a:buFontTx/>
              <a:buNone/>
            </a:pPr>
            <a:endParaRPr lang="en-US" altLang="zh-CN" sz="800"/>
          </a:p>
          <a:p>
            <a:pPr marL="514350" indent="-457200">
              <a:buFontTx/>
              <a:buNone/>
            </a:pPr>
            <a:r>
              <a:rPr lang="en-US" altLang="zh-CN" sz="2400"/>
              <a:t>	</a:t>
            </a:r>
          </a:p>
          <a:p>
            <a:pPr marL="514350" indent="-457200">
              <a:buFontTx/>
              <a:buNone/>
            </a:pPr>
            <a:r>
              <a:rPr lang="en-US" altLang="zh-CN" sz="2400"/>
              <a:t>	</a:t>
            </a:r>
            <a:endParaRPr lang="zh-CN" altLang="zh-CN"/>
          </a:p>
          <a:p>
            <a:pPr marL="914400" lvl="1" indent="-457200">
              <a:lnSpc>
                <a:spcPct val="90000"/>
              </a:lnSpc>
              <a:buFontTx/>
              <a:buNone/>
            </a:pPr>
            <a:endParaRPr lang="en-US" altLang="zh-CN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857250" y="2643188"/>
          <a:ext cx="685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Equation" r:id="rId3" imgW="2743200" imgH="228600" progId="Equation.DSMT4">
                  <p:embed/>
                </p:oleObj>
              </mc:Choice>
              <mc:Fallback>
                <p:oleObj name="Equation" r:id="rId3" imgW="2743200" imgH="228600" progId="Equation.DSMT4">
                  <p:embed/>
                  <p:pic>
                    <p:nvPicPr>
                      <p:cNvPr id="1126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643188"/>
                        <a:ext cx="6858000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1" name="TextBox 7"/>
          <p:cNvSpPr txBox="1">
            <a:spLocks noChangeArrowheads="1"/>
          </p:cNvSpPr>
          <p:nvPr/>
        </p:nvSpPr>
        <p:spPr bwMode="auto">
          <a:xfrm>
            <a:off x="214313" y="5257800"/>
            <a:ext cx="8489950" cy="885825"/>
          </a:xfrm>
          <a:prstGeom prst="rect">
            <a:avLst/>
          </a:prstGeom>
          <a:solidFill>
            <a:schemeClr val="accent1"/>
          </a:solidFill>
          <a:ln w="34925">
            <a:solidFill>
              <a:srgbClr val="000000"/>
            </a:solidFill>
            <a:miter lim="800000"/>
            <a:headEnd/>
            <a:tailEnd/>
          </a:ln>
          <a:extLst/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sz="2400" dirty="0"/>
              <a:t>Issues: collinearity? Overfitting?  Seems like a candidate for machine learning applications!</a:t>
            </a:r>
          </a:p>
        </p:txBody>
      </p:sp>
      <p:sp>
        <p:nvSpPr>
          <p:cNvPr id="11272" name="TextBox 8"/>
          <p:cNvSpPr txBox="1">
            <a:spLocks noChangeArrowheads="1"/>
          </p:cNvSpPr>
          <p:nvPr/>
        </p:nvSpPr>
        <p:spPr bwMode="auto">
          <a:xfrm>
            <a:off x="214313" y="3500438"/>
            <a:ext cx="8632825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/>
              <a:t>Obtain estimates of regression coefficients using peers, and apply these coefficients to the corresponding variables for firm being analyzed:</a:t>
            </a:r>
          </a:p>
        </p:txBody>
      </p:sp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1222375" y="4325938"/>
          <a:ext cx="612775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Equation" r:id="rId5" imgW="2450880" imgH="253800" progId="Equation.DSMT4">
                  <p:embed/>
                </p:oleObj>
              </mc:Choice>
              <mc:Fallback>
                <p:oleObj name="Equation" r:id="rId5" imgW="2450880" imgH="253800" progId="Equation.DSMT4">
                  <p:embed/>
                  <p:pic>
                    <p:nvPicPr>
                      <p:cNvPr id="11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4325938"/>
                        <a:ext cx="6127750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7443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1" grpId="0" animBg="1"/>
      <p:bldP spid="1127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-142875"/>
            <a:ext cx="7772400" cy="1143000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Using Number of Employees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6628" name="Picture 4" descr="employe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7738"/>
            <a:ext cx="9144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Box 6"/>
          <p:cNvSpPr txBox="1">
            <a:spLocks noChangeArrowheads="1"/>
          </p:cNvSpPr>
          <p:nvPr/>
        </p:nvSpPr>
        <p:spPr bwMode="auto">
          <a:xfrm>
            <a:off x="4214813" y="1785938"/>
            <a:ext cx="3711575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sz="1800" dirty="0"/>
              <a:t>This sample used for all plots in this file is all </a:t>
            </a:r>
            <a:r>
              <a:rPr lang="en-US" sz="1800" dirty="0" err="1"/>
              <a:t>Compustat</a:t>
            </a:r>
            <a:r>
              <a:rPr lang="en-US" sz="1800" dirty="0"/>
              <a:t> firms in manufacturing in year </a:t>
            </a:r>
            <a:r>
              <a:rPr lang="en-US" sz="1800" dirty="0" err="1"/>
              <a:t>xxxx</a:t>
            </a:r>
            <a:r>
              <a:rPr lang="en-US" sz="1800" dirty="0"/>
              <a:t>. Each dot represents a firm.  The regression line is restricted to have an intercept of zero.</a:t>
            </a:r>
          </a:p>
        </p:txBody>
      </p:sp>
    </p:spTree>
    <p:extLst>
      <p:ext uri="{BB962C8B-B14F-4D97-AF65-F5344CB8AC3E}">
        <p14:creationId xmlns:p14="http://schemas.microsoft.com/office/powerpoint/2010/main" val="3290287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142875"/>
            <a:ext cx="8229600" cy="654050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Sales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7652" name="Picture 4" descr="sa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8" y="785813"/>
            <a:ext cx="9001125" cy="562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6507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42875"/>
            <a:ext cx="8229600" cy="511175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EBIT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8676" name="Picture 4" descr="ebi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857250"/>
            <a:ext cx="8643937" cy="547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02281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42875"/>
            <a:ext cx="8229600" cy="582613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EBITDA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29700" name="Picture 4" descr="ebit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941388"/>
            <a:ext cx="8786813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32504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142875"/>
            <a:ext cx="8229600" cy="511175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Multiples Valuation Using Book Value of Assets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en-US"/>
          </a:p>
        </p:txBody>
      </p:sp>
      <p:pic>
        <p:nvPicPr>
          <p:cNvPr id="30724" name="Picture 4" descr="ass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928688"/>
            <a:ext cx="8810625" cy="528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463987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55"/>
          <p:cNvSpPr>
            <a:spLocks noGrp="1" noChangeArrowheads="1"/>
          </p:cNvSpPr>
          <p:nvPr>
            <p:ph type="title"/>
          </p:nvPr>
        </p:nvSpPr>
        <p:spPr>
          <a:xfrm>
            <a:off x="428625" y="0"/>
            <a:ext cx="8229600" cy="928688"/>
          </a:xfrm>
        </p:spPr>
        <p:txBody>
          <a:bodyPr/>
          <a:lstStyle/>
          <a:p>
            <a:pPr eaLnBrk="1" hangingPunct="1"/>
            <a:r>
              <a:rPr lang="en-US" sz="2400">
                <a:solidFill>
                  <a:schemeClr val="bg1"/>
                </a:solidFill>
              </a:rPr>
              <a:t>Cross-Industry Comparison of R</a:t>
            </a:r>
            <a:r>
              <a:rPr lang="en-US" sz="2400" baseline="30000">
                <a:solidFill>
                  <a:schemeClr val="bg1"/>
                </a:solidFill>
              </a:rPr>
              <a:t>2 </a:t>
            </a:r>
            <a:r>
              <a:rPr lang="en-US" sz="2400">
                <a:solidFill>
                  <a:schemeClr val="bg1"/>
                </a:solidFill>
              </a:rPr>
              <a:t>from Regressions of EV on other variables</a:t>
            </a:r>
            <a:endParaRPr lang="en-US" sz="2400" baseline="30000">
              <a:solidFill>
                <a:schemeClr val="bg1"/>
              </a:solidFill>
            </a:endParaRPr>
          </a:p>
        </p:txBody>
      </p:sp>
      <p:graphicFrame>
        <p:nvGraphicFramePr>
          <p:cNvPr id="3135" name="Group 63"/>
          <p:cNvGraphicFramePr>
            <a:graphicFrameLocks noGrp="1"/>
          </p:cNvGraphicFramePr>
          <p:nvPr>
            <p:ph idx="1"/>
          </p:nvPr>
        </p:nvGraphicFramePr>
        <p:xfrm>
          <a:off x="457200" y="1905000"/>
          <a:ext cx="8229600" cy="4053215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399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 of Employees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Sales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EBITDA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Assets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Manufacturing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9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Mining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0.16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98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Retail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0.97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0.94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6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Info. Tech.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0.61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0.48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0.35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568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Finance and Insurance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0.82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0.84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0.66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0.68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0.73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798" name="TextBox 55"/>
          <p:cNvSpPr txBox="1">
            <a:spLocks noChangeArrowheads="1"/>
          </p:cNvSpPr>
          <p:nvPr/>
        </p:nvSpPr>
        <p:spPr bwMode="auto">
          <a:xfrm>
            <a:off x="381000" y="6172200"/>
            <a:ext cx="8482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sz="1000" dirty="0"/>
              <a:t>This table reports R2 from univariate regressions of enterprise value (EV) on each of the variables listed in the column headings.  The initial sample is all </a:t>
            </a:r>
            <a:r>
              <a:rPr lang="en-US" sz="1000" dirty="0" err="1"/>
              <a:t>Compustat</a:t>
            </a:r>
            <a:r>
              <a:rPr lang="en-US" sz="1000" dirty="0"/>
              <a:t> firms in the year </a:t>
            </a:r>
            <a:r>
              <a:rPr lang="en-US" sz="1000" dirty="0" err="1"/>
              <a:t>xxxx</a:t>
            </a:r>
            <a:r>
              <a:rPr lang="en-US" sz="1000" dirty="0"/>
              <a:t> data, and in each row the sample is restricted only to firms in that industry. </a:t>
            </a:r>
          </a:p>
        </p:txBody>
      </p:sp>
    </p:spTree>
    <p:extLst>
      <p:ext uri="{BB962C8B-B14F-4D97-AF65-F5344CB8AC3E}">
        <p14:creationId xmlns:p14="http://schemas.microsoft.com/office/powerpoint/2010/main" val="23342456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5"/>
          <p:cNvSpPr>
            <a:spLocks noGrp="1" noChangeArrowheads="1"/>
          </p:cNvSpPr>
          <p:nvPr>
            <p:ph type="title"/>
          </p:nvPr>
        </p:nvSpPr>
        <p:spPr>
          <a:xfrm>
            <a:off x="314325" y="142875"/>
            <a:ext cx="8472488" cy="582613"/>
          </a:xfrm>
        </p:spPr>
        <p:txBody>
          <a:bodyPr/>
          <a:lstStyle/>
          <a:p>
            <a:pPr eaLnBrk="1" hangingPunct="1"/>
            <a:r>
              <a:rPr lang="en-US" sz="2800">
                <a:solidFill>
                  <a:schemeClr val="bg1"/>
                </a:solidFill>
              </a:rPr>
              <a:t>Cross-Industry Comparison: Regression Coefficient</a:t>
            </a:r>
          </a:p>
        </p:txBody>
      </p:sp>
      <p:graphicFrame>
        <p:nvGraphicFramePr>
          <p:cNvPr id="5124" name="Group 4"/>
          <p:cNvGraphicFramePr>
            <a:graphicFrameLocks noGrp="1"/>
          </p:cNvGraphicFramePr>
          <p:nvPr>
            <p:ph idx="1"/>
          </p:nvPr>
        </p:nvGraphicFramePr>
        <p:xfrm>
          <a:off x="357188" y="1458913"/>
          <a:ext cx="8572501" cy="3470275"/>
        </p:xfrm>
        <a:graphic>
          <a:graphicData uri="http://schemas.openxmlformats.org/drawingml/2006/table">
            <a:tbl>
              <a:tblPr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7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922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rial" charset="0"/>
                      </a:endParaRP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# of Employees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Sales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EBITDA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Assets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Manufacturing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545.7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1.05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7.53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5.95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1.13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Mining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559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2.44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6.99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5.35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1.10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Retail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106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0.57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10.20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7.90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Arial" charset="0"/>
                        </a:rPr>
                        <a:t>1.26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0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Info. Tech.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663.3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2.11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10.25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5.22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  <a:cs typeface="Arial" charset="0"/>
                        </a:rPr>
                        <a:t>0.85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1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Finance and Insurance</a:t>
                      </a:r>
                    </a:p>
                  </a:txBody>
                  <a:tcPr marL="91439" marR="91439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899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1.34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2.86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2.81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Arial" charset="0"/>
                          <a:cs typeface="Arial" charset="0"/>
                        </a:rPr>
                        <a:t>0.09</a:t>
                      </a:r>
                    </a:p>
                  </a:txBody>
                  <a:tcPr marL="91439" marR="91439"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822" name="TextBox 55"/>
          <p:cNvSpPr txBox="1">
            <a:spLocks noChangeArrowheads="1"/>
          </p:cNvSpPr>
          <p:nvPr/>
        </p:nvSpPr>
        <p:spPr bwMode="auto">
          <a:xfrm>
            <a:off x="285750" y="5214938"/>
            <a:ext cx="8482013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just" eaLnBrk="1" hangingPunct="1"/>
            <a:r>
              <a:rPr lang="en-US" sz="1600" dirty="0"/>
              <a:t>This table reports the regression coefficients from univariate regressions of enterprise value (EV) on each of the variables listed in the column headings.  The initial sample is all </a:t>
            </a:r>
            <a:r>
              <a:rPr lang="en-US" sz="1600" dirty="0" err="1"/>
              <a:t>Compustat</a:t>
            </a:r>
            <a:r>
              <a:rPr lang="en-US" sz="1600" dirty="0"/>
              <a:t> firms in the year </a:t>
            </a:r>
            <a:r>
              <a:rPr lang="en-US" sz="1600" dirty="0" err="1"/>
              <a:t>xxxx</a:t>
            </a:r>
            <a:r>
              <a:rPr lang="en-US" sz="1600" dirty="0"/>
              <a:t> data, and in each row the sample is restricted only to firms in that industry. </a:t>
            </a:r>
          </a:p>
        </p:txBody>
      </p:sp>
    </p:spTree>
    <p:extLst>
      <p:ext uri="{BB962C8B-B14F-4D97-AF65-F5344CB8AC3E}">
        <p14:creationId xmlns:p14="http://schemas.microsoft.com/office/powerpoint/2010/main" val="29648514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3600">
                <a:solidFill>
                  <a:schemeClr val="bg1"/>
                </a:solidFill>
              </a:rPr>
              <a:t>Which to Use, DCF or Multiples?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5750" y="1214438"/>
            <a:ext cx="8643938" cy="4500562"/>
          </a:xfrm>
        </p:spPr>
        <p:txBody>
          <a:bodyPr/>
          <a:lstStyle/>
          <a:p>
            <a:pPr marL="514350" indent="-457200">
              <a:buFontTx/>
              <a:buNone/>
            </a:pPr>
            <a:r>
              <a:rPr lang="en-US" altLang="zh-CN" sz="2400"/>
              <a:t>Often, both are valuable</a:t>
            </a:r>
          </a:p>
          <a:p>
            <a:pPr marL="914400" lvl="1" indent="-457200" algn="just"/>
            <a:r>
              <a:rPr lang="en-US" altLang="zh-CN" sz="2000"/>
              <a:t>Intuitively, DCF more accurate for projects with easy to forecast cash flows (e.g., infrastructure projects), and where the purchase will be buy and hold</a:t>
            </a:r>
          </a:p>
          <a:p>
            <a:pPr marL="914400" lvl="1" indent="-457200" algn="just"/>
            <a:r>
              <a:rPr lang="en-US" altLang="zh-CN" sz="2000"/>
              <a:t>Multiples may tend to be more often used when cash flows are difficult to predict, and the asset will be sold at current market valuations (e.g., IPO)</a:t>
            </a:r>
          </a:p>
          <a:p>
            <a:pPr marL="914400" lvl="1" indent="-457200">
              <a:buFontTx/>
              <a:buNone/>
            </a:pP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40174977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214313"/>
            <a:ext cx="8229600" cy="511175"/>
          </a:xfrm>
        </p:spPr>
        <p:txBody>
          <a:bodyPr/>
          <a:lstStyle/>
          <a:p>
            <a:r>
              <a:rPr lang="en-US" altLang="zh-CN" sz="2800" dirty="0">
                <a:solidFill>
                  <a:schemeClr val="bg1"/>
                </a:solidFill>
              </a:rPr>
              <a:t>Multiples and Predictability of Stock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Rectangle 3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250031" y="838200"/>
                <a:ext cx="8643938" cy="5564981"/>
              </a:xfrm>
            </p:spPr>
            <p:txBody>
              <a:bodyPr/>
              <a:lstStyle/>
              <a:p>
                <a:pPr marL="0" indent="0">
                  <a:buFontTx/>
                  <a:buNone/>
                </a:pPr>
                <a:r>
                  <a:rPr lang="en-US" altLang="zh-CN" sz="2000" dirty="0"/>
                  <a:t>All of the multiples that can be used in firm valuation (e.g., B/M, EV/Assets, EV/EBITDA) are also commonly used in predicting individual stock returns</a:t>
                </a:r>
              </a:p>
              <a:p>
                <a:pPr marL="514350" indent="-457200">
                  <a:buFont typeface="+mj-lt"/>
                  <a:buAutoNum type="arabicPeriod"/>
                </a:pPr>
                <a:r>
                  <a:rPr lang="en-US" altLang="zh-CN" sz="2000" dirty="0"/>
                  <a:t>Linear regressions, e.g.,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𝑓𝑡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𝑖𝑡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marL="514350" indent="-457200">
                  <a:buFont typeface="+mj-lt"/>
                  <a:buAutoNum type="arabicPeriod"/>
                </a:pPr>
                <a:r>
                  <a:rPr lang="en-US" altLang="zh-CN" sz="2000" dirty="0"/>
                  <a:t>Portfolio sorts and double sorts on predictor variables (non-parametric, like a managed ETF) .  See </a:t>
                </a:r>
                <a:r>
                  <a:rPr lang="en-US" altLang="zh-CN" sz="2000" dirty="0">
                    <a:hlinkClick r:id="rId3"/>
                  </a:rPr>
                  <a:t>Ken French’s website</a:t>
                </a:r>
                <a:r>
                  <a:rPr lang="en-US" altLang="zh-CN" sz="2000" dirty="0"/>
                  <a:t>.</a:t>
                </a:r>
              </a:p>
              <a:p>
                <a:pPr marL="514350" indent="-457200">
                  <a:buFont typeface="+mj-lt"/>
                  <a:buAutoNum type="arabicPeriod"/>
                </a:pPr>
                <a:r>
                  <a:rPr lang="en-US" altLang="zh-CN" sz="2000" dirty="0"/>
                  <a:t>Very recent literature on machine learning (Gu, Kelly, and </a:t>
                </a:r>
                <a:r>
                  <a:rPr lang="en-US" altLang="zh-CN" sz="2000" dirty="0" err="1"/>
                  <a:t>Xiu</a:t>
                </a:r>
                <a:r>
                  <a:rPr lang="en-US" altLang="zh-CN" sz="2000" dirty="0"/>
                  <a:t>, 2019), </a:t>
                </a:r>
                <a:r>
                  <a:rPr lang="en-US" altLang="zh-CN" sz="2000" dirty="0">
                    <a:hlinkClick r:id="rId4"/>
                  </a:rPr>
                  <a:t>Empirical Asset Pricing via Machine Learning</a:t>
                </a:r>
                <a:endParaRPr lang="en-US" altLang="zh-CN" sz="2000" dirty="0"/>
              </a:p>
              <a:p>
                <a:pPr marL="514350" indent="-457200">
                  <a:buFont typeface="+mj-lt"/>
                  <a:buAutoNum type="arabicPeriod"/>
                </a:pPr>
                <a:endParaRPr lang="en-US" altLang="zh-CN" sz="1200" dirty="0"/>
              </a:p>
              <a:p>
                <a:pPr marL="57150" indent="0">
                  <a:buNone/>
                </a:pPr>
                <a:r>
                  <a:rPr lang="en-US" altLang="zh-CN" sz="1600" dirty="0"/>
                  <a:t>Comments: We will do 1) and 2) starting next week, with Python code for 2, and working on performance analysis.  Extending this is a possible topic for your final project, begin to consider next week.</a:t>
                </a:r>
              </a:p>
              <a:p>
                <a:pPr marL="57150" indent="0">
                  <a:buNone/>
                </a:pPr>
                <a:endParaRPr lang="en-US" altLang="zh-CN" sz="1600" dirty="0"/>
              </a:p>
              <a:p>
                <a:pPr marL="57150" indent="0">
                  <a:buNone/>
                </a:pPr>
                <a:r>
                  <a:rPr lang="en-US" altLang="zh-CN" sz="1600" dirty="0"/>
                  <a:t>If you think you might be interested in 3) for a group project, please read the cited paper and give us some indication of interest.  We will think about how a group project in this direction can be structured.</a:t>
                </a:r>
              </a:p>
              <a:p>
                <a:pPr marL="57150" indent="0">
                  <a:buNone/>
                </a:pPr>
                <a:endParaRPr lang="en-US" altLang="zh-CN" sz="1600" dirty="0"/>
              </a:p>
              <a:p>
                <a:pPr marL="57150" indent="0">
                  <a:buNone/>
                </a:pPr>
                <a:r>
                  <a:rPr lang="en-US" altLang="zh-CN" sz="1600" dirty="0"/>
                  <a:t>Keep in mind other possibility for group project, unstructured data, e.g., Twitter, Glassdoor, etc. Again we will discuss further next week.</a:t>
                </a:r>
              </a:p>
              <a:p>
                <a:pPr marL="914400" lvl="1" indent="-457200">
                  <a:buFontTx/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22531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0031" y="838200"/>
                <a:ext cx="8643938" cy="5564981"/>
              </a:xfrm>
              <a:blipFill>
                <a:blip r:embed="rId5"/>
                <a:stretch>
                  <a:fillRect l="-705" t="-548" r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38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2729</TotalTime>
  <Words>3077</Words>
  <Application>Microsoft Office PowerPoint</Application>
  <PresentationFormat>On-screen Show (4:3)</PresentationFormat>
  <Paragraphs>601</Paragraphs>
  <Slides>46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宋体</vt:lpstr>
      <vt:lpstr>Arial</vt:lpstr>
      <vt:lpstr>Calibri</vt:lpstr>
      <vt:lpstr>Cambria Math</vt:lpstr>
      <vt:lpstr>Tahoma</vt:lpstr>
      <vt:lpstr>Wingdings</vt:lpstr>
      <vt:lpstr>Office Theme</vt:lpstr>
      <vt:lpstr>默认设计模板</vt:lpstr>
      <vt:lpstr>1_默认设计模板</vt:lpstr>
      <vt:lpstr>Equation</vt:lpstr>
      <vt:lpstr>Microsoft Excel 97-2003 Worksheet</vt:lpstr>
      <vt:lpstr>Worksheet</vt:lpstr>
      <vt:lpstr>BAFI 508 Data-Driven Investments  Class 3: Stock Pricing and Stock Returns Individual Securities and Portfolios</vt:lpstr>
      <vt:lpstr>Outline for Today</vt:lpstr>
      <vt:lpstr>Measures of Risk and Return: Forward looking</vt:lpstr>
      <vt:lpstr>Measures of Risk and Return: Historical</vt:lpstr>
      <vt:lpstr>Is Variance / Volatility the Only Measure of Risk that Matters?</vt:lpstr>
      <vt:lpstr>Skewness</vt:lpstr>
      <vt:lpstr>Skewness in Stocks and Portfolios</vt:lpstr>
      <vt:lpstr>Kurtosis</vt:lpstr>
      <vt:lpstr>Autocorrelation</vt:lpstr>
      <vt:lpstr>Key Concept: Efficient Markets</vt:lpstr>
      <vt:lpstr>Implications of Efficient Markets</vt:lpstr>
      <vt:lpstr>Autocorrelation in Stocks and Portfolios</vt:lpstr>
      <vt:lpstr>Predictability and Market Efficiency</vt:lpstr>
      <vt:lpstr>Risk of a portfolio as securities are added</vt:lpstr>
      <vt:lpstr>Benefits of Diversification in Practice</vt:lpstr>
      <vt:lpstr>Comparison with Older Data</vt:lpstr>
      <vt:lpstr>What causes diversification?</vt:lpstr>
      <vt:lpstr>Summary: Types of Risks</vt:lpstr>
      <vt:lpstr>Simple returns vs log returns</vt:lpstr>
      <vt:lpstr>Properties of log returns and simple returns</vt:lpstr>
      <vt:lpstr>Warning about log returns</vt:lpstr>
      <vt:lpstr>Log and simple return summary</vt:lpstr>
      <vt:lpstr>Intro to Stock Pricing and Returns</vt:lpstr>
      <vt:lpstr>Dividend Discount Model</vt:lpstr>
      <vt:lpstr>Constant Dividend Growth Model</vt:lpstr>
      <vt:lpstr>Limitations of Dividend Discount Model</vt:lpstr>
      <vt:lpstr>Discounted Free Cash Flow Model</vt:lpstr>
      <vt:lpstr>Discounted Free Cash Flow Model</vt:lpstr>
      <vt:lpstr>Cash Flows vs. Earnings</vt:lpstr>
      <vt:lpstr>Discount Rate: WACC</vt:lpstr>
      <vt:lpstr>Multiples Valuation</vt:lpstr>
      <vt:lpstr>Multiples Valuation: Theory</vt:lpstr>
      <vt:lpstr>Varieties of Multiples: Numerator and Denominator</vt:lpstr>
      <vt:lpstr>Why do pricing models matter for quant finance?</vt:lpstr>
      <vt:lpstr>More on ratios…</vt:lpstr>
      <vt:lpstr>Choosing a Multiple to Use</vt:lpstr>
      <vt:lpstr>Combining Information in Different Multiples</vt:lpstr>
      <vt:lpstr>Multiples Using Number of Employees</vt:lpstr>
      <vt:lpstr>Multiples Valuation Using Sales</vt:lpstr>
      <vt:lpstr>Multiples Valuation Using EBIT</vt:lpstr>
      <vt:lpstr>Multiples Valuation Using EBITDA</vt:lpstr>
      <vt:lpstr>Multiples Valuation Using Book Value of Assets</vt:lpstr>
      <vt:lpstr>Cross-Industry Comparison of R2 from Regressions of EV on other variables</vt:lpstr>
      <vt:lpstr>Cross-Industry Comparison: Regression Coefficient</vt:lpstr>
      <vt:lpstr>Which to Use, DCF or Multiples?</vt:lpstr>
      <vt:lpstr>Multiples and Predictability of Stock Returns</vt:lpstr>
    </vt:vector>
  </TitlesOfParts>
  <Company>Sauder School of Business, UBC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Performance Evaluation</dc:title>
  <dc:creator>Murray Carlson</dc:creator>
  <cp:lastModifiedBy>%</cp:lastModifiedBy>
  <cp:revision>240</cp:revision>
  <cp:lastPrinted>2011-02-09T17:45:52Z</cp:lastPrinted>
  <dcterms:created xsi:type="dcterms:W3CDTF">2010-11-15T21:14:58Z</dcterms:created>
  <dcterms:modified xsi:type="dcterms:W3CDTF">2022-04-26T15:57:05Z</dcterms:modified>
</cp:coreProperties>
</file>