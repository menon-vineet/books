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652" r:id="rId2"/>
    <p:sldMasterId id="2147483783" r:id="rId3"/>
  </p:sldMasterIdLst>
  <p:notesMasterIdLst>
    <p:notesMasterId r:id="rId48"/>
  </p:notesMasterIdLst>
  <p:handoutMasterIdLst>
    <p:handoutMasterId r:id="rId49"/>
  </p:handoutMasterIdLst>
  <p:sldIdLst>
    <p:sldId id="360" r:id="rId4"/>
    <p:sldId id="413" r:id="rId5"/>
    <p:sldId id="418" r:id="rId6"/>
    <p:sldId id="469" r:id="rId7"/>
    <p:sldId id="470" r:id="rId8"/>
    <p:sldId id="471" r:id="rId9"/>
    <p:sldId id="472" r:id="rId10"/>
    <p:sldId id="422" r:id="rId11"/>
    <p:sldId id="423" r:id="rId12"/>
    <p:sldId id="424" r:id="rId13"/>
    <p:sldId id="425" r:id="rId14"/>
    <p:sldId id="426" r:id="rId15"/>
    <p:sldId id="427" r:id="rId16"/>
    <p:sldId id="428" r:id="rId17"/>
    <p:sldId id="460" r:id="rId18"/>
    <p:sldId id="473" r:id="rId19"/>
    <p:sldId id="458" r:id="rId20"/>
    <p:sldId id="459" r:id="rId21"/>
    <p:sldId id="464" r:id="rId22"/>
    <p:sldId id="474" r:id="rId23"/>
    <p:sldId id="430" r:id="rId24"/>
    <p:sldId id="431" r:id="rId25"/>
    <p:sldId id="432" r:id="rId26"/>
    <p:sldId id="433" r:id="rId27"/>
    <p:sldId id="434" r:id="rId28"/>
    <p:sldId id="436" r:id="rId29"/>
    <p:sldId id="475" r:id="rId30"/>
    <p:sldId id="437" r:id="rId31"/>
    <p:sldId id="438" r:id="rId32"/>
    <p:sldId id="439" r:id="rId33"/>
    <p:sldId id="440" r:id="rId34"/>
    <p:sldId id="441" r:id="rId35"/>
    <p:sldId id="476" r:id="rId36"/>
    <p:sldId id="477" r:id="rId37"/>
    <p:sldId id="447" r:id="rId38"/>
    <p:sldId id="448" r:id="rId39"/>
    <p:sldId id="449" r:id="rId40"/>
    <p:sldId id="450" r:id="rId41"/>
    <p:sldId id="451" r:id="rId42"/>
    <p:sldId id="452" r:id="rId43"/>
    <p:sldId id="453" r:id="rId44"/>
    <p:sldId id="454" r:id="rId45"/>
    <p:sldId id="455" r:id="rId46"/>
    <p:sldId id="456" r:id="rId47"/>
  </p:sldIdLst>
  <p:sldSz cx="9144000" cy="6858000" type="screen4x3"/>
  <p:notesSz cx="7023100" cy="9309100"/>
  <p:defaultTextStyle>
    <a:defPPr>
      <a:defRPr lang="en-US"/>
    </a:defPPr>
    <a:lvl1pPr algn="l" rtl="0" fontAlgn="base">
      <a:spcBef>
        <a:spcPct val="0"/>
      </a:spcBef>
      <a:spcAft>
        <a:spcPct val="0"/>
      </a:spcAft>
      <a:defRPr kern="1200">
        <a:solidFill>
          <a:schemeClr val="tx1"/>
        </a:solidFill>
        <a:latin typeface="Times New Roman" pitchFamily="18" charset="0"/>
        <a:ea typeface="+mn-ea"/>
        <a:cs typeface="+mn-cs"/>
      </a:defRPr>
    </a:lvl1pPr>
    <a:lvl2pPr marL="457200" algn="l" rtl="0" fontAlgn="base">
      <a:spcBef>
        <a:spcPct val="0"/>
      </a:spcBef>
      <a:spcAft>
        <a:spcPct val="0"/>
      </a:spcAft>
      <a:defRPr kern="1200">
        <a:solidFill>
          <a:schemeClr val="tx1"/>
        </a:solidFill>
        <a:latin typeface="Times New Roman" pitchFamily="18" charset="0"/>
        <a:ea typeface="+mn-ea"/>
        <a:cs typeface="+mn-cs"/>
      </a:defRPr>
    </a:lvl2pPr>
    <a:lvl3pPr marL="914400" algn="l" rtl="0" fontAlgn="base">
      <a:spcBef>
        <a:spcPct val="0"/>
      </a:spcBef>
      <a:spcAft>
        <a:spcPct val="0"/>
      </a:spcAft>
      <a:defRPr kern="1200">
        <a:solidFill>
          <a:schemeClr val="tx1"/>
        </a:solidFill>
        <a:latin typeface="Times New Roman" pitchFamily="18" charset="0"/>
        <a:ea typeface="+mn-ea"/>
        <a:cs typeface="+mn-cs"/>
      </a:defRPr>
    </a:lvl3pPr>
    <a:lvl4pPr marL="1371600" algn="l" rtl="0" fontAlgn="base">
      <a:spcBef>
        <a:spcPct val="0"/>
      </a:spcBef>
      <a:spcAft>
        <a:spcPct val="0"/>
      </a:spcAft>
      <a:defRPr kern="1200">
        <a:solidFill>
          <a:schemeClr val="tx1"/>
        </a:solidFill>
        <a:latin typeface="Times New Roman" pitchFamily="18" charset="0"/>
        <a:ea typeface="+mn-ea"/>
        <a:cs typeface="+mn-cs"/>
      </a:defRPr>
    </a:lvl4pPr>
    <a:lvl5pPr marL="1828800" algn="l" rtl="0" fontAlgn="base">
      <a:spcBef>
        <a:spcPct val="0"/>
      </a:spcBef>
      <a:spcAft>
        <a:spcPct val="0"/>
      </a:spcAft>
      <a:defRPr kern="1200">
        <a:solidFill>
          <a:schemeClr val="tx1"/>
        </a:solidFill>
        <a:latin typeface="Times New Roman" pitchFamily="18" charset="0"/>
        <a:ea typeface="+mn-ea"/>
        <a:cs typeface="+mn-cs"/>
      </a:defRPr>
    </a:lvl5pPr>
    <a:lvl6pPr marL="2286000" algn="l" defTabSz="914400" rtl="0" eaLnBrk="1" latinLnBrk="0" hangingPunct="1">
      <a:defRPr kern="1200">
        <a:solidFill>
          <a:schemeClr val="tx1"/>
        </a:solidFill>
        <a:latin typeface="Times New Roman" pitchFamily="18" charset="0"/>
        <a:ea typeface="+mn-ea"/>
        <a:cs typeface="+mn-cs"/>
      </a:defRPr>
    </a:lvl6pPr>
    <a:lvl7pPr marL="2743200" algn="l" defTabSz="914400" rtl="0" eaLnBrk="1" latinLnBrk="0" hangingPunct="1">
      <a:defRPr kern="1200">
        <a:solidFill>
          <a:schemeClr val="tx1"/>
        </a:solidFill>
        <a:latin typeface="Times New Roman" pitchFamily="18" charset="0"/>
        <a:ea typeface="+mn-ea"/>
        <a:cs typeface="+mn-cs"/>
      </a:defRPr>
    </a:lvl7pPr>
    <a:lvl8pPr marL="3200400" algn="l" defTabSz="914400" rtl="0" eaLnBrk="1" latinLnBrk="0" hangingPunct="1">
      <a:defRPr kern="1200">
        <a:solidFill>
          <a:schemeClr val="tx1"/>
        </a:solidFill>
        <a:latin typeface="Times New Roman" pitchFamily="18" charset="0"/>
        <a:ea typeface="+mn-ea"/>
        <a:cs typeface="+mn-cs"/>
      </a:defRPr>
    </a:lvl8pPr>
    <a:lvl9pPr marL="3657600" algn="l" defTabSz="914400" rtl="0" eaLnBrk="1" latinLnBrk="0" hangingPunct="1">
      <a:defRPr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userDrawn="1">
          <p15:clr>
            <a:srgbClr val="A4A3A4"/>
          </p15:clr>
        </p15:guide>
        <p15:guide id="2" pos="221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94634" autoAdjust="0"/>
  </p:normalViewPr>
  <p:slideViewPr>
    <p:cSldViewPr>
      <p:cViewPr varScale="1">
        <p:scale>
          <a:sx n="60" d="100"/>
          <a:sy n="60" d="100"/>
        </p:scale>
        <p:origin x="1464" y="42"/>
      </p:cViewPr>
      <p:guideLst>
        <p:guide orient="horz" pos="2160"/>
        <p:guide pos="2880"/>
      </p:guideLst>
    </p:cSldViewPr>
  </p:slideViewPr>
  <p:notesTextViewPr>
    <p:cViewPr>
      <p:scale>
        <a:sx n="100" d="100"/>
        <a:sy n="100" d="100"/>
      </p:scale>
      <p:origin x="0" y="0"/>
    </p:cViewPr>
  </p:notesTextViewPr>
  <p:sorterViewPr>
    <p:cViewPr>
      <p:scale>
        <a:sx n="75" d="100"/>
        <a:sy n="75" d="100"/>
      </p:scale>
      <p:origin x="0" y="12341"/>
    </p:cViewPr>
  </p:sorterViewPr>
  <p:notesViewPr>
    <p:cSldViewPr>
      <p:cViewPr varScale="1">
        <p:scale>
          <a:sx n="36" d="100"/>
          <a:sy n="36" d="100"/>
        </p:scale>
        <p:origin x="-1476" y="-84"/>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defRPr sz="1200">
                <a:latin typeface="Arial" charset="0"/>
              </a:defRPr>
            </a:lvl1pPr>
          </a:lstStyle>
          <a:p>
            <a:pPr>
              <a:defRPr/>
            </a:pPr>
            <a:endParaRPr lang="en-US"/>
          </a:p>
        </p:txBody>
      </p:sp>
      <p:sp>
        <p:nvSpPr>
          <p:cNvPr id="59395" name="Rectangle 3"/>
          <p:cNvSpPr>
            <a:spLocks noGrp="1" noChangeArrowheads="1"/>
          </p:cNvSpPr>
          <p:nvPr>
            <p:ph type="dt" sz="quarter" idx="1"/>
          </p:nvPr>
        </p:nvSpPr>
        <p:spPr bwMode="auto">
          <a:xfrm>
            <a:off x="3978132"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a:defRPr sz="1200">
                <a:latin typeface="Arial" charset="0"/>
              </a:defRPr>
            </a:lvl1pPr>
          </a:lstStyle>
          <a:p>
            <a:pPr>
              <a:defRPr/>
            </a:pPr>
            <a:endParaRPr lang="en-US"/>
          </a:p>
        </p:txBody>
      </p:sp>
      <p:sp>
        <p:nvSpPr>
          <p:cNvPr id="59396" name="Rectangle 4"/>
          <p:cNvSpPr>
            <a:spLocks noGrp="1" noChangeArrowheads="1"/>
          </p:cNvSpPr>
          <p:nvPr>
            <p:ph type="ftr" sz="quarter" idx="2"/>
          </p:nvPr>
        </p:nvSpPr>
        <p:spPr bwMode="auto">
          <a:xfrm>
            <a:off x="0"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defRPr sz="1200">
                <a:latin typeface="Arial" charset="0"/>
              </a:defRPr>
            </a:lvl1pPr>
          </a:lstStyle>
          <a:p>
            <a:pPr>
              <a:defRPr/>
            </a:pPr>
            <a:endParaRPr lang="en-US"/>
          </a:p>
        </p:txBody>
      </p:sp>
      <p:sp>
        <p:nvSpPr>
          <p:cNvPr id="59397" name="Rectangle 5"/>
          <p:cNvSpPr>
            <a:spLocks noGrp="1" noChangeArrowheads="1"/>
          </p:cNvSpPr>
          <p:nvPr>
            <p:ph type="sldNum" sz="quarter" idx="3"/>
          </p:nvPr>
        </p:nvSpPr>
        <p:spPr bwMode="auto">
          <a:xfrm>
            <a:off x="3978132"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a:defRPr sz="1200">
                <a:latin typeface="Arial" charset="0"/>
              </a:defRPr>
            </a:lvl1pPr>
          </a:lstStyle>
          <a:p>
            <a:pPr>
              <a:defRPr/>
            </a:pPr>
            <a:fld id="{0A4C62E0-18C7-4D23-B410-4E9B29B27715}" type="slidenum">
              <a:rPr lang="en-US"/>
              <a:pPr>
                <a:defRPr/>
              </a:pPr>
              <a:t>‹#›</a:t>
            </a:fld>
            <a:endParaRPr lang="en-US" dirty="0"/>
          </a:p>
        </p:txBody>
      </p:sp>
    </p:spTree>
    <p:extLst>
      <p:ext uri="{BB962C8B-B14F-4D97-AF65-F5344CB8AC3E}">
        <p14:creationId xmlns:p14="http://schemas.microsoft.com/office/powerpoint/2010/main" val="31242266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defRPr sz="1200">
                <a:latin typeface="Arial" charset="0"/>
              </a:defRPr>
            </a:lvl1pPr>
          </a:lstStyle>
          <a:p>
            <a:pPr>
              <a:defRPr/>
            </a:pPr>
            <a:endParaRPr lang="en-US"/>
          </a:p>
        </p:txBody>
      </p:sp>
      <p:sp>
        <p:nvSpPr>
          <p:cNvPr id="5123" name="Rectangle 3"/>
          <p:cNvSpPr>
            <a:spLocks noGrp="1" noChangeArrowheads="1"/>
          </p:cNvSpPr>
          <p:nvPr>
            <p:ph type="dt" idx="1"/>
          </p:nvPr>
        </p:nvSpPr>
        <p:spPr bwMode="auto">
          <a:xfrm>
            <a:off x="3978132"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a:defRPr sz="1200">
                <a:latin typeface="Arial" charset="0"/>
              </a:defRPr>
            </a:lvl1pPr>
          </a:lstStyle>
          <a:p>
            <a:pPr>
              <a:defRPr/>
            </a:pPr>
            <a:endParaRPr lang="en-US"/>
          </a:p>
        </p:txBody>
      </p:sp>
      <p:sp>
        <p:nvSpPr>
          <p:cNvPr id="71684" name="Rectangle 4"/>
          <p:cNvSpPr>
            <a:spLocks noGrp="1" noRot="1" noChangeAspect="1" noChangeArrowheads="1" noTextEdit="1"/>
          </p:cNvSpPr>
          <p:nvPr>
            <p:ph type="sldImg" idx="2"/>
          </p:nvPr>
        </p:nvSpPr>
        <p:spPr bwMode="auto">
          <a:xfrm>
            <a:off x="1184275" y="698500"/>
            <a:ext cx="4654550" cy="34909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2310" y="4421823"/>
            <a:ext cx="5618480" cy="418909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defRPr sz="12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978132"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a:defRPr sz="1200">
                <a:latin typeface="Arial" charset="0"/>
              </a:defRPr>
            </a:lvl1pPr>
          </a:lstStyle>
          <a:p>
            <a:pPr>
              <a:defRPr/>
            </a:pPr>
            <a:fld id="{75AD670F-EEE4-4643-B99A-F7C5550EF606}" type="slidenum">
              <a:rPr lang="en-US"/>
              <a:pPr>
                <a:defRPr/>
              </a:pPr>
              <a:t>‹#›</a:t>
            </a:fld>
            <a:endParaRPr lang="en-US" dirty="0"/>
          </a:p>
        </p:txBody>
      </p:sp>
    </p:spTree>
    <p:extLst>
      <p:ext uri="{BB962C8B-B14F-4D97-AF65-F5344CB8AC3E}">
        <p14:creationId xmlns:p14="http://schemas.microsoft.com/office/powerpoint/2010/main" val="30163161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58255" indent="-291636" eaLnBrk="0" hangingPunct="0">
              <a:defRPr>
                <a:solidFill>
                  <a:schemeClr val="tx1"/>
                </a:solidFill>
                <a:latin typeface="Times New Roman" pitchFamily="18" charset="0"/>
              </a:defRPr>
            </a:lvl2pPr>
            <a:lvl3pPr marL="1166546" indent="-233309" eaLnBrk="0" hangingPunct="0">
              <a:defRPr>
                <a:solidFill>
                  <a:schemeClr val="tx1"/>
                </a:solidFill>
                <a:latin typeface="Times New Roman" pitchFamily="18" charset="0"/>
              </a:defRPr>
            </a:lvl3pPr>
            <a:lvl4pPr marL="1633164" indent="-233309" eaLnBrk="0" hangingPunct="0">
              <a:defRPr>
                <a:solidFill>
                  <a:schemeClr val="tx1"/>
                </a:solidFill>
                <a:latin typeface="Times New Roman" pitchFamily="18" charset="0"/>
              </a:defRPr>
            </a:lvl4pPr>
            <a:lvl5pPr marL="2099782" indent="-233309" eaLnBrk="0" hangingPunct="0">
              <a:defRPr>
                <a:solidFill>
                  <a:schemeClr val="tx1"/>
                </a:solidFill>
                <a:latin typeface="Times New Roman" pitchFamily="18" charset="0"/>
              </a:defRPr>
            </a:lvl5pPr>
            <a:lvl6pPr marL="2566401" indent="-233309" eaLnBrk="0" fontAlgn="base" hangingPunct="0">
              <a:spcBef>
                <a:spcPct val="0"/>
              </a:spcBef>
              <a:spcAft>
                <a:spcPct val="0"/>
              </a:spcAft>
              <a:defRPr>
                <a:solidFill>
                  <a:schemeClr val="tx1"/>
                </a:solidFill>
                <a:latin typeface="Times New Roman" pitchFamily="18" charset="0"/>
              </a:defRPr>
            </a:lvl6pPr>
            <a:lvl7pPr marL="3033019" indent="-233309" eaLnBrk="0" fontAlgn="base" hangingPunct="0">
              <a:spcBef>
                <a:spcPct val="0"/>
              </a:spcBef>
              <a:spcAft>
                <a:spcPct val="0"/>
              </a:spcAft>
              <a:defRPr>
                <a:solidFill>
                  <a:schemeClr val="tx1"/>
                </a:solidFill>
                <a:latin typeface="Times New Roman" pitchFamily="18" charset="0"/>
              </a:defRPr>
            </a:lvl7pPr>
            <a:lvl8pPr marL="3499637" indent="-233309" eaLnBrk="0" fontAlgn="base" hangingPunct="0">
              <a:spcBef>
                <a:spcPct val="0"/>
              </a:spcBef>
              <a:spcAft>
                <a:spcPct val="0"/>
              </a:spcAft>
              <a:defRPr>
                <a:solidFill>
                  <a:schemeClr val="tx1"/>
                </a:solidFill>
                <a:latin typeface="Times New Roman" pitchFamily="18" charset="0"/>
              </a:defRPr>
            </a:lvl8pPr>
            <a:lvl9pPr marL="3966256" indent="-233309" eaLnBrk="0" fontAlgn="base" hangingPunct="0">
              <a:spcBef>
                <a:spcPct val="0"/>
              </a:spcBef>
              <a:spcAft>
                <a:spcPct val="0"/>
              </a:spcAft>
              <a:defRPr>
                <a:solidFill>
                  <a:schemeClr val="tx1"/>
                </a:solidFill>
                <a:latin typeface="Times New Roman" pitchFamily="18" charset="0"/>
              </a:defRPr>
            </a:lvl9pPr>
          </a:lstStyle>
          <a:p>
            <a:pPr eaLnBrk="1" hangingPunct="1"/>
            <a:fld id="{4E187B77-373F-4821-8163-D6883C49DA06}" type="slidenum">
              <a:rPr lang="en-US" smtClean="0">
                <a:latin typeface="Arial" charset="0"/>
              </a:rPr>
              <a:pPr eaLnBrk="1" hangingPunct="1"/>
              <a:t>1</a:t>
            </a:fld>
            <a:endParaRPr lang="en-US">
              <a:latin typeface="Arial"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ADEAFD7-234B-49FC-AD57-40C7EDFF3F04}"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760862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F9891BB-57D2-4077-A62F-03F8DE25CC44}"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359276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129F22E3-71D5-457A-976F-AF5AF7404B2E}" type="slidenum">
              <a:rPr lang="en-US">
                <a:solidFill>
                  <a:srgbClr val="000000"/>
                </a:solidFill>
                <a:latin typeface="Arial" charset="0"/>
              </a:rPr>
              <a:pPr defTabSz="933237" eaLnBrk="1" hangingPunct="1">
                <a:defRPr/>
              </a:pPr>
              <a:t>8</a:t>
            </a:fld>
            <a:endParaRPr lang="en-US">
              <a:solidFill>
                <a:srgbClr val="000000"/>
              </a:solidFill>
              <a:latin typeface="Arial"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951719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812816B7-AE3F-47FA-8219-33E3B8AED3D2}" type="slidenum">
              <a:rPr lang="en-US">
                <a:solidFill>
                  <a:srgbClr val="000000"/>
                </a:solidFill>
                <a:latin typeface="Arial" charset="0"/>
              </a:rPr>
              <a:pPr defTabSz="933237" eaLnBrk="1" hangingPunct="1">
                <a:defRPr/>
              </a:pPr>
              <a:t>9</a:t>
            </a:fld>
            <a:endParaRPr lang="en-US">
              <a:solidFill>
                <a:srgbClr val="000000"/>
              </a:solidFill>
              <a:latin typeface="Arial"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487671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812816B7-AE3F-47FA-8219-33E3B8AED3D2}" type="slidenum">
              <a:rPr lang="en-US">
                <a:solidFill>
                  <a:srgbClr val="000000"/>
                </a:solidFill>
                <a:latin typeface="Arial" charset="0"/>
              </a:rPr>
              <a:pPr defTabSz="933237" eaLnBrk="1" hangingPunct="1">
                <a:defRPr/>
              </a:pPr>
              <a:t>10</a:t>
            </a:fld>
            <a:endParaRPr lang="en-US">
              <a:solidFill>
                <a:srgbClr val="000000"/>
              </a:solidFill>
              <a:latin typeface="Arial"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8876343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812816B7-AE3F-47FA-8219-33E3B8AED3D2}" type="slidenum">
              <a:rPr lang="en-US">
                <a:solidFill>
                  <a:srgbClr val="000000"/>
                </a:solidFill>
                <a:latin typeface="Arial" charset="0"/>
              </a:rPr>
              <a:pPr defTabSz="933237" eaLnBrk="1" hangingPunct="1">
                <a:defRPr/>
              </a:pPr>
              <a:t>11</a:t>
            </a:fld>
            <a:endParaRPr lang="en-US">
              <a:solidFill>
                <a:srgbClr val="000000"/>
              </a:solidFill>
              <a:latin typeface="Arial"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674253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812816B7-AE3F-47FA-8219-33E3B8AED3D2}" type="slidenum">
              <a:rPr lang="en-US">
                <a:solidFill>
                  <a:srgbClr val="000000"/>
                </a:solidFill>
                <a:latin typeface="Arial" charset="0"/>
              </a:rPr>
              <a:pPr defTabSz="933237" eaLnBrk="1" hangingPunct="1">
                <a:defRPr/>
              </a:pPr>
              <a:t>12</a:t>
            </a:fld>
            <a:endParaRPr lang="en-US">
              <a:solidFill>
                <a:srgbClr val="000000"/>
              </a:solidFill>
              <a:latin typeface="Arial"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975010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179C6998-C571-4B57-A9D2-AB82E5172732}" type="slidenum">
              <a:rPr lang="en-US">
                <a:solidFill>
                  <a:srgbClr val="000000"/>
                </a:solidFill>
                <a:latin typeface="Arial" charset="0"/>
              </a:rPr>
              <a:pPr defTabSz="933237" eaLnBrk="1" hangingPunct="1">
                <a:defRPr/>
              </a:pPr>
              <a:t>13</a:t>
            </a:fld>
            <a:endParaRPr lang="en-US">
              <a:solidFill>
                <a:srgbClr val="000000"/>
              </a:solidFill>
              <a:latin typeface="Arial"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692882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AD38A8B5-9276-4D43-96CB-9CC6C8958560}" type="slidenum">
              <a:rPr lang="en-US">
                <a:solidFill>
                  <a:srgbClr val="000000"/>
                </a:solidFill>
                <a:latin typeface="Arial" charset="0"/>
              </a:rPr>
              <a:pPr defTabSz="933237" eaLnBrk="1" hangingPunct="1">
                <a:defRPr/>
              </a:pPr>
              <a:t>14</a:t>
            </a:fld>
            <a:endParaRPr lang="en-US">
              <a:solidFill>
                <a:srgbClr val="000000"/>
              </a:solidFill>
              <a:latin typeface="Arial"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593931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AD38A8B5-9276-4D43-96CB-9CC6C8958560}" type="slidenum">
              <a:rPr lang="en-US">
                <a:solidFill>
                  <a:srgbClr val="000000"/>
                </a:solidFill>
                <a:latin typeface="Arial" charset="0"/>
              </a:rPr>
              <a:pPr defTabSz="933237" eaLnBrk="1" hangingPunct="1">
                <a:defRPr/>
              </a:pPr>
              <a:t>15</a:t>
            </a:fld>
            <a:endParaRPr lang="en-US">
              <a:solidFill>
                <a:srgbClr val="000000"/>
              </a:solidFill>
              <a:latin typeface="Arial"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944872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F4D6B29F-CA7E-478F-8327-3AB4B7C45918}"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16</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5552304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AD38A8B5-9276-4D43-96CB-9CC6C8958560}" type="slidenum">
              <a:rPr lang="en-US">
                <a:solidFill>
                  <a:srgbClr val="000000"/>
                </a:solidFill>
                <a:latin typeface="Arial" charset="0"/>
              </a:rPr>
              <a:pPr defTabSz="933237" eaLnBrk="1" hangingPunct="1">
                <a:defRPr/>
              </a:pPr>
              <a:t>17</a:t>
            </a:fld>
            <a:endParaRPr lang="en-US">
              <a:solidFill>
                <a:srgbClr val="000000"/>
              </a:solidFill>
              <a:latin typeface="Arial"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857901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AD38A8B5-9276-4D43-96CB-9CC6C8958560}" type="slidenum">
              <a:rPr lang="en-US">
                <a:solidFill>
                  <a:srgbClr val="000000"/>
                </a:solidFill>
                <a:latin typeface="Arial" charset="0"/>
              </a:rPr>
              <a:pPr defTabSz="933237" eaLnBrk="1" hangingPunct="1">
                <a:defRPr/>
              </a:pPr>
              <a:t>18</a:t>
            </a:fld>
            <a:endParaRPr lang="en-US">
              <a:solidFill>
                <a:srgbClr val="000000"/>
              </a:solidFill>
              <a:latin typeface="Arial"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1855541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AD38A8B5-9276-4D43-96CB-9CC6C8958560}" type="slidenum">
              <a:rPr lang="en-US">
                <a:solidFill>
                  <a:srgbClr val="000000"/>
                </a:solidFill>
                <a:latin typeface="Arial" charset="0"/>
              </a:rPr>
              <a:pPr defTabSz="933237" eaLnBrk="1" hangingPunct="1">
                <a:defRPr/>
              </a:pPr>
              <a:t>19</a:t>
            </a:fld>
            <a:endParaRPr lang="en-US">
              <a:solidFill>
                <a:srgbClr val="000000"/>
              </a:solidFill>
              <a:latin typeface="Arial"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65308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F4D6B29F-CA7E-478F-8327-3AB4B7C45918}"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20</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3630473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5BF3DD76-1C3F-41BC-89BC-15FBCFA1C911}" type="slidenum">
              <a:rPr lang="en-US">
                <a:solidFill>
                  <a:srgbClr val="000000"/>
                </a:solidFill>
                <a:latin typeface="Arial" charset="0"/>
              </a:rPr>
              <a:pPr defTabSz="933237" eaLnBrk="1" hangingPunct="1">
                <a:defRPr/>
              </a:pPr>
              <a:t>21</a:t>
            </a:fld>
            <a:endParaRPr lang="en-US">
              <a:solidFill>
                <a:srgbClr val="000000"/>
              </a:solidFill>
              <a:latin typeface="Arial"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0739317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4672C66F-0EF6-4683-AE5E-E4F40C2B6646}" type="slidenum">
              <a:rPr lang="en-US">
                <a:solidFill>
                  <a:srgbClr val="000000"/>
                </a:solidFill>
                <a:latin typeface="Arial" charset="0"/>
              </a:rPr>
              <a:pPr defTabSz="933237" eaLnBrk="1" hangingPunct="1">
                <a:defRPr/>
              </a:pPr>
              <a:t>22</a:t>
            </a:fld>
            <a:endParaRPr lang="en-US">
              <a:solidFill>
                <a:srgbClr val="000000"/>
              </a:solidFill>
              <a:latin typeface="Arial"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6246480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24F3B53D-C98B-4BF1-97B8-5E7D305A4BEB}" type="slidenum">
              <a:rPr lang="en-US">
                <a:solidFill>
                  <a:srgbClr val="000000"/>
                </a:solidFill>
                <a:latin typeface="Arial" charset="0"/>
              </a:rPr>
              <a:pPr defTabSz="933237" eaLnBrk="1" hangingPunct="1">
                <a:defRPr/>
              </a:pPr>
              <a:t>23</a:t>
            </a:fld>
            <a:endParaRPr lang="en-US">
              <a:solidFill>
                <a:srgbClr val="000000"/>
              </a:solidFill>
              <a:latin typeface="Arial"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6509372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69ABC51D-5761-4FC0-9797-7E3332498EB8}" type="slidenum">
              <a:rPr lang="en-US">
                <a:solidFill>
                  <a:srgbClr val="000000"/>
                </a:solidFill>
                <a:latin typeface="Arial" charset="0"/>
              </a:rPr>
              <a:pPr defTabSz="933237" eaLnBrk="1" hangingPunct="1">
                <a:defRPr/>
              </a:pPr>
              <a:t>24</a:t>
            </a:fld>
            <a:endParaRPr lang="en-US">
              <a:solidFill>
                <a:srgbClr val="000000"/>
              </a:solidFill>
              <a:latin typeface="Arial"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8834618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69ABC51D-5761-4FC0-9797-7E3332498EB8}" type="slidenum">
              <a:rPr lang="en-US">
                <a:solidFill>
                  <a:srgbClr val="000000"/>
                </a:solidFill>
                <a:latin typeface="Arial" charset="0"/>
              </a:rPr>
              <a:pPr defTabSz="933237" eaLnBrk="1" hangingPunct="1">
                <a:defRPr/>
              </a:pPr>
              <a:t>25</a:t>
            </a:fld>
            <a:endParaRPr lang="en-US">
              <a:solidFill>
                <a:srgbClr val="000000"/>
              </a:solidFill>
              <a:latin typeface="Arial"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939059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795D7A2D-9085-4351-8FC5-83A3A719D7B0}" type="slidenum">
              <a:rPr lang="en-US">
                <a:solidFill>
                  <a:srgbClr val="000000"/>
                </a:solidFill>
                <a:latin typeface="Arial" charset="0"/>
              </a:rPr>
              <a:pPr defTabSz="933237" eaLnBrk="1" hangingPunct="1">
                <a:defRPr/>
              </a:pPr>
              <a:t>28</a:t>
            </a:fld>
            <a:endParaRPr lang="en-US">
              <a:solidFill>
                <a:srgbClr val="000000"/>
              </a:solidFill>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4021018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795D7A2D-9085-4351-8FC5-83A3A719D7B0}" type="slidenum">
              <a:rPr lang="en-US">
                <a:solidFill>
                  <a:srgbClr val="000000"/>
                </a:solidFill>
                <a:latin typeface="Arial" charset="0"/>
              </a:rPr>
              <a:pPr defTabSz="933237" eaLnBrk="1" hangingPunct="1">
                <a:defRPr/>
              </a:pPr>
              <a:t>29</a:t>
            </a:fld>
            <a:endParaRPr lang="en-US">
              <a:solidFill>
                <a:srgbClr val="000000"/>
              </a:solidFill>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1049458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795D7A2D-9085-4351-8FC5-83A3A719D7B0}" type="slidenum">
              <a:rPr lang="en-US">
                <a:solidFill>
                  <a:srgbClr val="000000"/>
                </a:solidFill>
                <a:latin typeface="Arial" charset="0"/>
              </a:rPr>
              <a:pPr defTabSz="933237" eaLnBrk="1" hangingPunct="1">
                <a:defRPr/>
              </a:pPr>
              <a:t>30</a:t>
            </a:fld>
            <a:endParaRPr lang="en-US">
              <a:solidFill>
                <a:srgbClr val="000000"/>
              </a:solidFill>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3055001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795D7A2D-9085-4351-8FC5-83A3A719D7B0}" type="slidenum">
              <a:rPr lang="en-US">
                <a:solidFill>
                  <a:srgbClr val="000000"/>
                </a:solidFill>
                <a:latin typeface="Arial" charset="0"/>
              </a:rPr>
              <a:pPr defTabSz="933237" eaLnBrk="1" hangingPunct="1">
                <a:defRPr/>
              </a:pPr>
              <a:t>31</a:t>
            </a:fld>
            <a:endParaRPr lang="en-US">
              <a:solidFill>
                <a:srgbClr val="000000"/>
              </a:solidFill>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6313005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795D7A2D-9085-4351-8FC5-83A3A719D7B0}" type="slidenum">
              <a:rPr lang="en-US">
                <a:solidFill>
                  <a:srgbClr val="000000"/>
                </a:solidFill>
                <a:latin typeface="Arial" charset="0"/>
              </a:rPr>
              <a:pPr defTabSz="933237" eaLnBrk="1" hangingPunct="1">
                <a:defRPr/>
              </a:pPr>
              <a:t>32</a:t>
            </a:fld>
            <a:endParaRPr lang="en-US">
              <a:solidFill>
                <a:srgbClr val="000000"/>
              </a:solidFill>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9658169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420860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8551407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795D7A2D-9085-4351-8FC5-83A3A719D7B0}" type="slidenum">
              <a:rPr lang="en-US">
                <a:solidFill>
                  <a:srgbClr val="000000"/>
                </a:solidFill>
                <a:latin typeface="Arial" charset="0"/>
              </a:rPr>
              <a:pPr defTabSz="933237" eaLnBrk="1" hangingPunct="1">
                <a:defRPr/>
              </a:pPr>
              <a:t>35</a:t>
            </a:fld>
            <a:endParaRPr lang="en-US">
              <a:solidFill>
                <a:srgbClr val="000000"/>
              </a:solidFill>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650127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700922C-A417-476D-9B3C-8B4196C7586B}" type="slidenum">
              <a:rPr lang="en-US"/>
              <a:pPr>
                <a:defRPr/>
              </a:pPr>
              <a:t>‹#›</a:t>
            </a:fld>
            <a:endParaRPr lang="en-US" dirty="0"/>
          </a:p>
        </p:txBody>
      </p:sp>
    </p:spTree>
    <p:extLst>
      <p:ext uri="{BB962C8B-B14F-4D97-AF65-F5344CB8AC3E}">
        <p14:creationId xmlns:p14="http://schemas.microsoft.com/office/powerpoint/2010/main" val="871199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B05D9D9-EE7F-4543-AB66-3F1DFD9571CF}" type="slidenum">
              <a:rPr lang="en-US"/>
              <a:pPr>
                <a:defRPr/>
              </a:pPr>
              <a:t>‹#›</a:t>
            </a:fld>
            <a:endParaRPr lang="en-US" dirty="0"/>
          </a:p>
        </p:txBody>
      </p:sp>
    </p:spTree>
    <p:extLst>
      <p:ext uri="{BB962C8B-B14F-4D97-AF65-F5344CB8AC3E}">
        <p14:creationId xmlns:p14="http://schemas.microsoft.com/office/powerpoint/2010/main" val="1924621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21EDA56-4DEF-4D65-BE6E-1572598CCA17}" type="slidenum">
              <a:rPr lang="en-US"/>
              <a:pPr>
                <a:defRPr/>
              </a:pPr>
              <a:t>‹#›</a:t>
            </a:fld>
            <a:endParaRPr lang="en-US" dirty="0"/>
          </a:p>
        </p:txBody>
      </p:sp>
    </p:spTree>
    <p:extLst>
      <p:ext uri="{BB962C8B-B14F-4D97-AF65-F5344CB8AC3E}">
        <p14:creationId xmlns:p14="http://schemas.microsoft.com/office/powerpoint/2010/main" val="1997614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04B9AFE-E56C-49E8-A944-FCDC7E7BB63A}" type="slidenum">
              <a:rPr lang="en-US"/>
              <a:pPr>
                <a:defRPr/>
              </a:pPr>
              <a:t>‹#›</a:t>
            </a:fld>
            <a:endParaRPr lang="en-US" dirty="0"/>
          </a:p>
        </p:txBody>
      </p:sp>
    </p:spTree>
    <p:extLst>
      <p:ext uri="{BB962C8B-B14F-4D97-AF65-F5344CB8AC3E}">
        <p14:creationId xmlns:p14="http://schemas.microsoft.com/office/powerpoint/2010/main" val="263366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3838A06-030F-4B24-A54A-A906CA3E1AA3}" type="slidenum">
              <a:rPr lang="en-US"/>
              <a:pPr>
                <a:defRPr/>
              </a:pPr>
              <a:t>‹#›</a:t>
            </a:fld>
            <a:endParaRPr lang="en-US" dirty="0"/>
          </a:p>
        </p:txBody>
      </p:sp>
    </p:spTree>
    <p:extLst>
      <p:ext uri="{BB962C8B-B14F-4D97-AF65-F5344CB8AC3E}">
        <p14:creationId xmlns:p14="http://schemas.microsoft.com/office/powerpoint/2010/main" val="1387358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9CDF1AF-B7E0-4B48-B1A4-13DEF0A055DE}" type="slidenum">
              <a:rPr lang="en-US"/>
              <a:pPr>
                <a:defRPr/>
              </a:pPr>
              <a:t>‹#›</a:t>
            </a:fld>
            <a:endParaRPr lang="en-US" dirty="0"/>
          </a:p>
        </p:txBody>
      </p:sp>
    </p:spTree>
    <p:extLst>
      <p:ext uri="{BB962C8B-B14F-4D97-AF65-F5344CB8AC3E}">
        <p14:creationId xmlns:p14="http://schemas.microsoft.com/office/powerpoint/2010/main" val="3187931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F21908C-9AD0-4D26-BF73-D883910CB44E}" type="slidenum">
              <a:rPr lang="en-US"/>
              <a:pPr>
                <a:defRPr/>
              </a:pPr>
              <a:t>‹#›</a:t>
            </a:fld>
            <a:endParaRPr lang="en-US" dirty="0"/>
          </a:p>
        </p:txBody>
      </p:sp>
    </p:spTree>
    <p:extLst>
      <p:ext uri="{BB962C8B-B14F-4D97-AF65-F5344CB8AC3E}">
        <p14:creationId xmlns:p14="http://schemas.microsoft.com/office/powerpoint/2010/main" val="347634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9A7DE90-684E-41A8-9571-6CF6F374268A}" type="slidenum">
              <a:rPr lang="en-US"/>
              <a:pPr>
                <a:defRPr/>
              </a:pPr>
              <a:t>‹#›</a:t>
            </a:fld>
            <a:endParaRPr lang="en-US" dirty="0"/>
          </a:p>
        </p:txBody>
      </p:sp>
    </p:spTree>
    <p:extLst>
      <p:ext uri="{BB962C8B-B14F-4D97-AF65-F5344CB8AC3E}">
        <p14:creationId xmlns:p14="http://schemas.microsoft.com/office/powerpoint/2010/main" val="997407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DFCB6DE-A44F-4C48-B01C-E1B18EC6157F}" type="slidenum">
              <a:rPr lang="en-US"/>
              <a:pPr>
                <a:defRPr/>
              </a:pPr>
              <a:t>‹#›</a:t>
            </a:fld>
            <a:endParaRPr lang="en-US" dirty="0"/>
          </a:p>
        </p:txBody>
      </p:sp>
    </p:spTree>
    <p:extLst>
      <p:ext uri="{BB962C8B-B14F-4D97-AF65-F5344CB8AC3E}">
        <p14:creationId xmlns:p14="http://schemas.microsoft.com/office/powerpoint/2010/main" val="2640183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71005DC-5D55-4265-A123-04676CC76002}" type="slidenum">
              <a:rPr lang="en-US"/>
              <a:pPr>
                <a:defRPr/>
              </a:pPr>
              <a:t>‹#›</a:t>
            </a:fld>
            <a:endParaRPr lang="en-US" dirty="0"/>
          </a:p>
        </p:txBody>
      </p:sp>
    </p:spTree>
    <p:extLst>
      <p:ext uri="{BB962C8B-B14F-4D97-AF65-F5344CB8AC3E}">
        <p14:creationId xmlns:p14="http://schemas.microsoft.com/office/powerpoint/2010/main" val="3791209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81000"/>
            <a:ext cx="2076450" cy="57451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381000"/>
            <a:ext cx="6076950" cy="5745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A4EF797-BE74-40B7-A394-58CB629C4BA9}" type="slidenum">
              <a:rPr lang="en-US"/>
              <a:pPr>
                <a:defRPr/>
              </a:pPr>
              <a:t>‹#›</a:t>
            </a:fld>
            <a:endParaRPr lang="en-US" dirty="0"/>
          </a:p>
        </p:txBody>
      </p:sp>
    </p:spTree>
    <p:extLst>
      <p:ext uri="{BB962C8B-B14F-4D97-AF65-F5344CB8AC3E}">
        <p14:creationId xmlns:p14="http://schemas.microsoft.com/office/powerpoint/2010/main" val="6695437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222625" y="304800"/>
            <a:ext cx="11909425" cy="4724400"/>
            <a:chOff x="-2030" y="192"/>
            <a:chExt cx="7502" cy="2976"/>
          </a:xfrm>
        </p:grpSpPr>
        <p:sp>
          <p:nvSpPr>
            <p:cNvPr id="5" name="Line 3"/>
            <p:cNvSpPr>
              <a:spLocks noChangeShapeType="1"/>
            </p:cNvSpPr>
            <p:nvPr/>
          </p:nvSpPr>
          <p:spPr bwMode="auto">
            <a:xfrm>
              <a:off x="912" y="1584"/>
              <a:ext cx="4560" cy="0"/>
            </a:xfrm>
            <a:prstGeom prst="line">
              <a:avLst/>
            </a:prstGeom>
            <a:noFill/>
            <a:ln w="12700">
              <a:solidFill>
                <a:schemeClr val="tx1"/>
              </a:solidFill>
              <a:round/>
              <a:headEnd/>
              <a:tailEnd/>
            </a:ln>
            <a:effectLst/>
          </p:spPr>
          <p:txBody>
            <a:bodyPr/>
            <a:lstStyle/>
            <a:p>
              <a:pPr>
                <a:defRPr/>
              </a:pPr>
              <a:endParaRPr lang="en-US" dirty="0"/>
            </a:p>
          </p:txBody>
        </p:sp>
        <p:sp>
          <p:nvSpPr>
            <p:cNvPr id="6" name="AutoShape 4"/>
            <p:cNvSpPr>
              <a:spLocks noChangeArrowheads="1"/>
            </p:cNvSpPr>
            <p:nvPr/>
          </p:nvSpPr>
          <p:spPr bwMode="auto">
            <a:xfrm>
              <a:off x="-1584" y="864"/>
              <a:ext cx="2304" cy="2304"/>
            </a:xfrm>
            <a:custGeom>
              <a:avLst/>
              <a:gdLst>
                <a:gd name="G0" fmla="+- 12083 0 0"/>
                <a:gd name="G1" fmla="+- -32000 0 0"/>
                <a:gd name="G2" fmla="+- 32000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44083" y="2368"/>
                </a:cxn>
                <a:cxn ang="0">
                  <a:pos x="64000" y="32000"/>
                </a:cxn>
                <a:cxn ang="0">
                  <a:pos x="44083" y="61631"/>
                </a:cxn>
                <a:cxn ang="0">
                  <a:pos x="44083" y="61631"/>
                </a:cxn>
                <a:cxn ang="0">
                  <a:pos x="44082" y="61631"/>
                </a:cxn>
                <a:cxn ang="0">
                  <a:pos x="44083" y="61632"/>
                </a:cxn>
                <a:cxn ang="0">
                  <a:pos x="44083" y="2368"/>
                </a:cxn>
                <a:cxn ang="0">
                  <a:pos x="44082" y="2368"/>
                </a:cxn>
                <a:cxn ang="0">
                  <a:pos x="44083" y="2368"/>
                </a:cxn>
              </a:cxnLst>
              <a:rect l="T13" t="T15" r="T17" b="T19"/>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w="9525">
              <a:noFill/>
              <a:miter lim="800000"/>
              <a:headEnd/>
              <a:tailEnd/>
            </a:ln>
          </p:spPr>
          <p:txBody>
            <a:bodyPr/>
            <a:lstStyle/>
            <a:p>
              <a:pPr>
                <a:defRPr/>
              </a:pPr>
              <a:endParaRPr lang="en-US" sz="2400" dirty="0"/>
            </a:p>
          </p:txBody>
        </p:sp>
        <p:sp>
          <p:nvSpPr>
            <p:cNvPr id="7" name="AutoShape 5"/>
            <p:cNvSpPr>
              <a:spLocks noChangeArrowheads="1"/>
            </p:cNvSpPr>
            <p:nvPr/>
          </p:nvSpPr>
          <p:spPr bwMode="auto">
            <a:xfrm>
              <a:off x="-2030" y="192"/>
              <a:ext cx="2544" cy="2544"/>
            </a:xfrm>
            <a:custGeom>
              <a:avLst/>
              <a:gdLst>
                <a:gd name="G0" fmla="+- 18994 0 0"/>
                <a:gd name="G1" fmla="+- -30013 0 0"/>
                <a:gd name="G2" fmla="+- 32000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50994" y="6246"/>
                </a:cxn>
                <a:cxn ang="0">
                  <a:pos x="64000" y="32000"/>
                </a:cxn>
                <a:cxn ang="0">
                  <a:pos x="50994" y="57753"/>
                </a:cxn>
                <a:cxn ang="0">
                  <a:pos x="50994" y="57753"/>
                </a:cxn>
                <a:cxn ang="0">
                  <a:pos x="50993" y="57753"/>
                </a:cxn>
                <a:cxn ang="0">
                  <a:pos x="50994" y="57754"/>
                </a:cxn>
                <a:cxn ang="0">
                  <a:pos x="50994" y="6246"/>
                </a:cxn>
                <a:cxn ang="0">
                  <a:pos x="50993" y="6246"/>
                </a:cxn>
                <a:cxn ang="0">
                  <a:pos x="50994" y="6246"/>
                </a:cxn>
              </a:cxnLst>
              <a:rect l="T13" t="T15" r="T17" b="T19"/>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w="9525">
              <a:noFill/>
              <a:miter lim="800000"/>
              <a:headEnd/>
              <a:tailEnd/>
            </a:ln>
          </p:spPr>
          <p:txBody>
            <a:bodyPr/>
            <a:lstStyle/>
            <a:p>
              <a:pPr>
                <a:defRPr/>
              </a:pPr>
              <a:endParaRPr lang="en-US" dirty="0">
                <a:latin typeface="Arial" charset="0"/>
              </a:endParaRPr>
            </a:p>
          </p:txBody>
        </p:sp>
      </p:grpSp>
      <p:sp>
        <p:nvSpPr>
          <p:cNvPr id="229382" name="Rectangle 6"/>
          <p:cNvSpPr>
            <a:spLocks noGrp="1" noChangeArrowheads="1"/>
          </p:cNvSpPr>
          <p:nvPr>
            <p:ph type="ctrTitle"/>
          </p:nvPr>
        </p:nvSpPr>
        <p:spPr>
          <a:xfrm>
            <a:off x="1443038" y="985838"/>
            <a:ext cx="7239000" cy="1444625"/>
          </a:xfrm>
        </p:spPr>
        <p:txBody>
          <a:bodyPr/>
          <a:lstStyle>
            <a:lvl1pPr>
              <a:defRPr sz="4000"/>
            </a:lvl1pPr>
          </a:lstStyle>
          <a:p>
            <a:r>
              <a:rPr lang="en-US"/>
              <a:t>Click to edit Master title style</a:t>
            </a:r>
          </a:p>
        </p:txBody>
      </p:sp>
      <p:sp>
        <p:nvSpPr>
          <p:cNvPr id="229383" name="Rectangle 7"/>
          <p:cNvSpPr>
            <a:spLocks noGrp="1" noChangeArrowheads="1"/>
          </p:cNvSpPr>
          <p:nvPr>
            <p:ph type="subTitle" idx="1"/>
          </p:nvPr>
        </p:nvSpPr>
        <p:spPr>
          <a:xfrm>
            <a:off x="1443038" y="3427413"/>
            <a:ext cx="7239000" cy="1752600"/>
          </a:xfrm>
        </p:spPr>
        <p:txBody>
          <a:bodyPr/>
          <a:lstStyle>
            <a:lvl1pPr marL="0" indent="0">
              <a:buFont typeface="Wingdings" pitchFamily="2" charset="2"/>
              <a:buNone/>
              <a:defRPr/>
            </a:lvl1pPr>
          </a:lstStyle>
          <a:p>
            <a:r>
              <a:rPr lang="en-US"/>
              <a:t>Click to edit Master subtitle style</a:t>
            </a:r>
          </a:p>
        </p:txBody>
      </p:sp>
      <p:sp>
        <p:nvSpPr>
          <p:cNvPr id="8" name="Rectangle 8"/>
          <p:cNvSpPr>
            <a:spLocks noGrp="1" noChangeArrowheads="1"/>
          </p:cNvSpPr>
          <p:nvPr>
            <p:ph type="dt" sz="half" idx="10"/>
          </p:nvPr>
        </p:nvSpPr>
        <p:spPr/>
        <p:txBody>
          <a:bodyPr/>
          <a:lstStyle>
            <a:lvl1pPr>
              <a:defRPr/>
            </a:lvl1pPr>
          </a:lstStyle>
          <a:p>
            <a:pPr>
              <a:defRPr/>
            </a:pPr>
            <a:endParaRPr lang="en-US"/>
          </a:p>
        </p:txBody>
      </p:sp>
      <p:sp>
        <p:nvSpPr>
          <p:cNvPr id="9" name="Rectangle 9"/>
          <p:cNvSpPr>
            <a:spLocks noGrp="1" noChangeArrowheads="1"/>
          </p:cNvSpPr>
          <p:nvPr>
            <p:ph type="ftr" sz="quarter" idx="11"/>
          </p:nvPr>
        </p:nvSpPr>
        <p:spPr/>
        <p:txBody>
          <a:bodyPr/>
          <a:lstStyle>
            <a:lvl1pPr>
              <a:defRPr/>
            </a:lvl1pPr>
          </a:lstStyle>
          <a:p>
            <a:pPr>
              <a:defRPr/>
            </a:pPr>
            <a:endParaRPr lang="en-US"/>
          </a:p>
        </p:txBody>
      </p:sp>
      <p:sp>
        <p:nvSpPr>
          <p:cNvPr id="10" name="Rectangle 10"/>
          <p:cNvSpPr>
            <a:spLocks noGrp="1" noChangeArrowheads="1"/>
          </p:cNvSpPr>
          <p:nvPr>
            <p:ph type="sldNum" sz="quarter" idx="12"/>
          </p:nvPr>
        </p:nvSpPr>
        <p:spPr/>
        <p:txBody>
          <a:bodyPr/>
          <a:lstStyle>
            <a:lvl1pPr>
              <a:defRPr/>
            </a:lvl1pPr>
          </a:lstStyle>
          <a:p>
            <a:pPr>
              <a:defRPr/>
            </a:pPr>
            <a:fld id="{6405AEEC-73E6-411C-AA98-3DDC2916B129}" type="slidenum">
              <a:rPr lang="en-US"/>
              <a:pPr>
                <a:defRPr/>
              </a:pPr>
              <a:t>‹#›</a:t>
            </a:fld>
            <a:endParaRPr lang="en-US" dirty="0"/>
          </a:p>
        </p:txBody>
      </p:sp>
    </p:spTree>
    <p:extLst>
      <p:ext uri="{BB962C8B-B14F-4D97-AF65-F5344CB8AC3E}">
        <p14:creationId xmlns:p14="http://schemas.microsoft.com/office/powerpoint/2010/main" val="125473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5FBE8A0A-EE35-4DF5-AFAF-A698601D8D96}" type="slidenum">
              <a:rPr lang="en-US"/>
              <a:pPr>
                <a:defRPr/>
              </a:pPr>
              <a:t>‹#›</a:t>
            </a:fld>
            <a:endParaRPr lang="en-US" dirty="0"/>
          </a:p>
        </p:txBody>
      </p:sp>
    </p:spTree>
    <p:extLst>
      <p:ext uri="{BB962C8B-B14F-4D97-AF65-F5344CB8AC3E}">
        <p14:creationId xmlns:p14="http://schemas.microsoft.com/office/powerpoint/2010/main" val="3688611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1B3E7A17-1D39-49F4-B474-963C20B1A9E1}" type="slidenum">
              <a:rPr lang="en-US"/>
              <a:pPr>
                <a:defRPr/>
              </a:pPr>
              <a:t>‹#›</a:t>
            </a:fld>
            <a:endParaRPr lang="en-US" dirty="0"/>
          </a:p>
        </p:txBody>
      </p:sp>
    </p:spTree>
    <p:extLst>
      <p:ext uri="{BB962C8B-B14F-4D97-AF65-F5344CB8AC3E}">
        <p14:creationId xmlns:p14="http://schemas.microsoft.com/office/powerpoint/2010/main" val="30186297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70013" y="1827213"/>
            <a:ext cx="357981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02225" y="1827213"/>
            <a:ext cx="35814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p:cNvSpPr>
            <a:spLocks noGrp="1" noChangeArrowheads="1"/>
          </p:cNvSpPr>
          <p:nvPr>
            <p:ph type="dt" sz="half" idx="10"/>
          </p:nvPr>
        </p:nvSpPr>
        <p:spPr>
          <a:ln/>
        </p:spPr>
        <p:txBody>
          <a:bodyPr/>
          <a:lstStyle>
            <a:lvl1pPr>
              <a:defRPr/>
            </a:lvl1pPr>
          </a:lstStyle>
          <a:p>
            <a:pPr>
              <a:defRPr/>
            </a:pPr>
            <a:endParaRPr 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p>
        </p:txBody>
      </p:sp>
      <p:sp>
        <p:nvSpPr>
          <p:cNvPr id="7" name="Rectangle 10"/>
          <p:cNvSpPr>
            <a:spLocks noGrp="1" noChangeArrowheads="1"/>
          </p:cNvSpPr>
          <p:nvPr>
            <p:ph type="sldNum" sz="quarter" idx="12"/>
          </p:nvPr>
        </p:nvSpPr>
        <p:spPr>
          <a:ln/>
        </p:spPr>
        <p:txBody>
          <a:bodyPr/>
          <a:lstStyle>
            <a:lvl1pPr>
              <a:defRPr/>
            </a:lvl1pPr>
          </a:lstStyle>
          <a:p>
            <a:pPr>
              <a:defRPr/>
            </a:pPr>
            <a:fld id="{C20E63F7-40EB-41E4-A711-0041EFAF01A5}" type="slidenum">
              <a:rPr lang="en-US"/>
              <a:pPr>
                <a:defRPr/>
              </a:pPr>
              <a:t>‹#›</a:t>
            </a:fld>
            <a:endParaRPr lang="en-US" dirty="0"/>
          </a:p>
        </p:txBody>
      </p:sp>
    </p:spTree>
    <p:extLst>
      <p:ext uri="{BB962C8B-B14F-4D97-AF65-F5344CB8AC3E}">
        <p14:creationId xmlns:p14="http://schemas.microsoft.com/office/powerpoint/2010/main" val="32086665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p:cNvSpPr>
            <a:spLocks noGrp="1" noChangeArrowheads="1"/>
          </p:cNvSpPr>
          <p:nvPr>
            <p:ph type="dt" sz="half" idx="10"/>
          </p:nvPr>
        </p:nvSpPr>
        <p:spPr>
          <a:ln/>
        </p:spPr>
        <p:txBody>
          <a:bodyPr/>
          <a:lstStyle>
            <a:lvl1pPr>
              <a:defRPr/>
            </a:lvl1pPr>
          </a:lstStyle>
          <a:p>
            <a:pPr>
              <a:defRPr/>
            </a:pPr>
            <a:endParaRPr lang="en-US"/>
          </a:p>
        </p:txBody>
      </p:sp>
      <p:sp>
        <p:nvSpPr>
          <p:cNvPr id="8" name="Rectangle 9"/>
          <p:cNvSpPr>
            <a:spLocks noGrp="1" noChangeArrowheads="1"/>
          </p:cNvSpPr>
          <p:nvPr>
            <p:ph type="ftr" sz="quarter" idx="11"/>
          </p:nvPr>
        </p:nvSpPr>
        <p:spPr>
          <a:ln/>
        </p:spPr>
        <p:txBody>
          <a:bodyPr/>
          <a:lstStyle>
            <a:lvl1pPr>
              <a:defRPr/>
            </a:lvl1pPr>
          </a:lstStyle>
          <a:p>
            <a:pPr>
              <a:defRPr/>
            </a:pPr>
            <a:endParaRPr lang="en-US"/>
          </a:p>
        </p:txBody>
      </p:sp>
      <p:sp>
        <p:nvSpPr>
          <p:cNvPr id="9" name="Rectangle 10"/>
          <p:cNvSpPr>
            <a:spLocks noGrp="1" noChangeArrowheads="1"/>
          </p:cNvSpPr>
          <p:nvPr>
            <p:ph type="sldNum" sz="quarter" idx="12"/>
          </p:nvPr>
        </p:nvSpPr>
        <p:spPr>
          <a:ln/>
        </p:spPr>
        <p:txBody>
          <a:bodyPr/>
          <a:lstStyle>
            <a:lvl1pPr>
              <a:defRPr/>
            </a:lvl1pPr>
          </a:lstStyle>
          <a:p>
            <a:pPr>
              <a:defRPr/>
            </a:pPr>
            <a:fld id="{F6A262BE-238D-40AB-871C-1C92CD352937}" type="slidenum">
              <a:rPr lang="en-US"/>
              <a:pPr>
                <a:defRPr/>
              </a:pPr>
              <a:t>‹#›</a:t>
            </a:fld>
            <a:endParaRPr lang="en-US" dirty="0"/>
          </a:p>
        </p:txBody>
      </p:sp>
    </p:spTree>
    <p:extLst>
      <p:ext uri="{BB962C8B-B14F-4D97-AF65-F5344CB8AC3E}">
        <p14:creationId xmlns:p14="http://schemas.microsoft.com/office/powerpoint/2010/main" val="23953036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p:cNvSpPr>
            <a:spLocks noGrp="1" noChangeArrowheads="1"/>
          </p:cNvSpPr>
          <p:nvPr>
            <p:ph type="dt" sz="half" idx="10"/>
          </p:nvPr>
        </p:nvSpPr>
        <p:spPr>
          <a:ln/>
        </p:spPr>
        <p:txBody>
          <a:bodyPr/>
          <a:lstStyle>
            <a:lvl1pPr>
              <a:defRPr/>
            </a:lvl1pPr>
          </a:lstStyle>
          <a:p>
            <a:pPr>
              <a:defRPr/>
            </a:pPr>
            <a:endParaRPr lang="en-US"/>
          </a:p>
        </p:txBody>
      </p:sp>
      <p:sp>
        <p:nvSpPr>
          <p:cNvPr id="4" name="Rectangle 9"/>
          <p:cNvSpPr>
            <a:spLocks noGrp="1" noChangeArrowheads="1"/>
          </p:cNvSpPr>
          <p:nvPr>
            <p:ph type="ftr" sz="quarter" idx="11"/>
          </p:nvPr>
        </p:nvSpPr>
        <p:spPr>
          <a:ln/>
        </p:spPr>
        <p:txBody>
          <a:bodyPr/>
          <a:lstStyle>
            <a:lvl1pPr>
              <a:defRPr/>
            </a:lvl1pPr>
          </a:lstStyle>
          <a:p>
            <a:pPr>
              <a:defRPr/>
            </a:pPr>
            <a:endParaRPr lang="en-US"/>
          </a:p>
        </p:txBody>
      </p:sp>
      <p:sp>
        <p:nvSpPr>
          <p:cNvPr id="5" name="Rectangle 10"/>
          <p:cNvSpPr>
            <a:spLocks noGrp="1" noChangeArrowheads="1"/>
          </p:cNvSpPr>
          <p:nvPr>
            <p:ph type="sldNum" sz="quarter" idx="12"/>
          </p:nvPr>
        </p:nvSpPr>
        <p:spPr>
          <a:ln/>
        </p:spPr>
        <p:txBody>
          <a:bodyPr/>
          <a:lstStyle>
            <a:lvl1pPr>
              <a:defRPr/>
            </a:lvl1pPr>
          </a:lstStyle>
          <a:p>
            <a:pPr>
              <a:defRPr/>
            </a:pPr>
            <a:fld id="{7354427D-8FE6-42E8-91A1-1C8012C4B878}" type="slidenum">
              <a:rPr lang="en-US"/>
              <a:pPr>
                <a:defRPr/>
              </a:pPr>
              <a:t>‹#›</a:t>
            </a:fld>
            <a:endParaRPr lang="en-US" dirty="0"/>
          </a:p>
        </p:txBody>
      </p:sp>
    </p:spTree>
    <p:extLst>
      <p:ext uri="{BB962C8B-B14F-4D97-AF65-F5344CB8AC3E}">
        <p14:creationId xmlns:p14="http://schemas.microsoft.com/office/powerpoint/2010/main" val="6152778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ln/>
        </p:spPr>
        <p:txBody>
          <a:bodyPr/>
          <a:lstStyle>
            <a:lvl1pPr>
              <a:defRPr/>
            </a:lvl1pPr>
          </a:lstStyle>
          <a:p>
            <a:pPr>
              <a:defRPr/>
            </a:pPr>
            <a:endParaRPr lang="en-US"/>
          </a:p>
        </p:txBody>
      </p:sp>
      <p:sp>
        <p:nvSpPr>
          <p:cNvPr id="3" name="Rectangle 9"/>
          <p:cNvSpPr>
            <a:spLocks noGrp="1" noChangeArrowheads="1"/>
          </p:cNvSpPr>
          <p:nvPr>
            <p:ph type="ftr" sz="quarter" idx="11"/>
          </p:nvPr>
        </p:nvSpPr>
        <p:spPr>
          <a:ln/>
        </p:spPr>
        <p:txBody>
          <a:bodyPr/>
          <a:lstStyle>
            <a:lvl1pPr>
              <a:defRPr/>
            </a:lvl1pPr>
          </a:lstStyle>
          <a:p>
            <a:pPr>
              <a:defRPr/>
            </a:pPr>
            <a:endParaRPr lang="en-US"/>
          </a:p>
        </p:txBody>
      </p:sp>
      <p:sp>
        <p:nvSpPr>
          <p:cNvPr id="4" name="Rectangle 10"/>
          <p:cNvSpPr>
            <a:spLocks noGrp="1" noChangeArrowheads="1"/>
          </p:cNvSpPr>
          <p:nvPr>
            <p:ph type="sldNum" sz="quarter" idx="12"/>
          </p:nvPr>
        </p:nvSpPr>
        <p:spPr>
          <a:ln/>
        </p:spPr>
        <p:txBody>
          <a:bodyPr/>
          <a:lstStyle>
            <a:lvl1pPr>
              <a:defRPr/>
            </a:lvl1pPr>
          </a:lstStyle>
          <a:p>
            <a:pPr>
              <a:defRPr/>
            </a:pPr>
            <a:fld id="{E5C95824-7CFA-458E-924D-9B5C50FA354A}" type="slidenum">
              <a:rPr lang="en-US"/>
              <a:pPr>
                <a:defRPr/>
              </a:pPr>
              <a:t>‹#›</a:t>
            </a:fld>
            <a:endParaRPr lang="en-US" dirty="0"/>
          </a:p>
        </p:txBody>
      </p:sp>
    </p:spTree>
    <p:extLst>
      <p:ext uri="{BB962C8B-B14F-4D97-AF65-F5344CB8AC3E}">
        <p14:creationId xmlns:p14="http://schemas.microsoft.com/office/powerpoint/2010/main" val="20284191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dt" sz="half" idx="10"/>
          </p:nvPr>
        </p:nvSpPr>
        <p:spPr>
          <a:ln/>
        </p:spPr>
        <p:txBody>
          <a:bodyPr/>
          <a:lstStyle>
            <a:lvl1pPr>
              <a:defRPr/>
            </a:lvl1pPr>
          </a:lstStyle>
          <a:p>
            <a:pPr>
              <a:defRPr/>
            </a:pPr>
            <a:endParaRPr 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p>
        </p:txBody>
      </p:sp>
      <p:sp>
        <p:nvSpPr>
          <p:cNvPr id="7" name="Rectangle 10"/>
          <p:cNvSpPr>
            <a:spLocks noGrp="1" noChangeArrowheads="1"/>
          </p:cNvSpPr>
          <p:nvPr>
            <p:ph type="sldNum" sz="quarter" idx="12"/>
          </p:nvPr>
        </p:nvSpPr>
        <p:spPr>
          <a:ln/>
        </p:spPr>
        <p:txBody>
          <a:bodyPr/>
          <a:lstStyle>
            <a:lvl1pPr>
              <a:defRPr/>
            </a:lvl1pPr>
          </a:lstStyle>
          <a:p>
            <a:pPr>
              <a:defRPr/>
            </a:pPr>
            <a:fld id="{4E695EF6-6B49-44B8-BD05-2CAC3D105DBA}" type="slidenum">
              <a:rPr lang="en-US"/>
              <a:pPr>
                <a:defRPr/>
              </a:pPr>
              <a:t>‹#›</a:t>
            </a:fld>
            <a:endParaRPr lang="en-US" dirty="0"/>
          </a:p>
        </p:txBody>
      </p:sp>
    </p:spTree>
    <p:extLst>
      <p:ext uri="{BB962C8B-B14F-4D97-AF65-F5344CB8AC3E}">
        <p14:creationId xmlns:p14="http://schemas.microsoft.com/office/powerpoint/2010/main" val="24634747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dt" sz="half" idx="10"/>
          </p:nvPr>
        </p:nvSpPr>
        <p:spPr>
          <a:ln/>
        </p:spPr>
        <p:txBody>
          <a:bodyPr/>
          <a:lstStyle>
            <a:lvl1pPr>
              <a:defRPr/>
            </a:lvl1pPr>
          </a:lstStyle>
          <a:p>
            <a:pPr>
              <a:defRPr/>
            </a:pPr>
            <a:endParaRPr 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p>
        </p:txBody>
      </p:sp>
      <p:sp>
        <p:nvSpPr>
          <p:cNvPr id="7" name="Rectangle 10"/>
          <p:cNvSpPr>
            <a:spLocks noGrp="1" noChangeArrowheads="1"/>
          </p:cNvSpPr>
          <p:nvPr>
            <p:ph type="sldNum" sz="quarter" idx="12"/>
          </p:nvPr>
        </p:nvSpPr>
        <p:spPr>
          <a:ln/>
        </p:spPr>
        <p:txBody>
          <a:bodyPr/>
          <a:lstStyle>
            <a:lvl1pPr>
              <a:defRPr/>
            </a:lvl1pPr>
          </a:lstStyle>
          <a:p>
            <a:pPr>
              <a:defRPr/>
            </a:pPr>
            <a:fld id="{C591DFEA-A30A-49FD-9949-4290970265F9}" type="slidenum">
              <a:rPr lang="en-US"/>
              <a:pPr>
                <a:defRPr/>
              </a:pPr>
              <a:t>‹#›</a:t>
            </a:fld>
            <a:endParaRPr lang="en-US" dirty="0"/>
          </a:p>
        </p:txBody>
      </p:sp>
    </p:spTree>
    <p:extLst>
      <p:ext uri="{BB962C8B-B14F-4D97-AF65-F5344CB8AC3E}">
        <p14:creationId xmlns:p14="http://schemas.microsoft.com/office/powerpoint/2010/main" val="10091138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8D3780B6-30FD-46FE-9E23-CCC1752C6FCF}" type="slidenum">
              <a:rPr lang="en-US"/>
              <a:pPr>
                <a:defRPr/>
              </a:pPr>
              <a:t>‹#›</a:t>
            </a:fld>
            <a:endParaRPr lang="en-US" dirty="0"/>
          </a:p>
        </p:txBody>
      </p:sp>
    </p:spTree>
    <p:extLst>
      <p:ext uri="{BB962C8B-B14F-4D97-AF65-F5344CB8AC3E}">
        <p14:creationId xmlns:p14="http://schemas.microsoft.com/office/powerpoint/2010/main" val="12146594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6413" y="301625"/>
            <a:ext cx="1827212" cy="56403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370013" y="301625"/>
            <a:ext cx="5334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1397D353-EF69-40C9-B526-58E78279C1D1}" type="slidenum">
              <a:rPr lang="en-US"/>
              <a:pPr>
                <a:defRPr/>
              </a:pPr>
              <a:t>‹#›</a:t>
            </a:fld>
            <a:endParaRPr lang="en-US" dirty="0"/>
          </a:p>
        </p:txBody>
      </p:sp>
    </p:spTree>
    <p:extLst>
      <p:ext uri="{BB962C8B-B14F-4D97-AF65-F5344CB8AC3E}">
        <p14:creationId xmlns:p14="http://schemas.microsoft.com/office/powerpoint/2010/main" val="4995422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Text Placeholder 2"/>
          <p:cNvSpPr>
            <a:spLocks noGrp="1"/>
          </p:cNvSpPr>
          <p:nvPr>
            <p:ph type="body" sz="half" idx="1"/>
          </p:nvPr>
        </p:nvSpPr>
        <p:spPr>
          <a:xfrm>
            <a:off x="1370013" y="1827213"/>
            <a:ext cx="3579812"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02225" y="1827213"/>
            <a:ext cx="3581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102225" y="3960813"/>
            <a:ext cx="3581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8"/>
          <p:cNvSpPr>
            <a:spLocks noGrp="1" noChangeArrowheads="1"/>
          </p:cNvSpPr>
          <p:nvPr>
            <p:ph type="dt" sz="half" idx="10"/>
          </p:nvPr>
        </p:nvSpPr>
        <p:spPr>
          <a:ln/>
        </p:spPr>
        <p:txBody>
          <a:bodyPr/>
          <a:lstStyle>
            <a:lvl1pPr>
              <a:defRPr/>
            </a:lvl1pPr>
          </a:lstStyle>
          <a:p>
            <a:pPr>
              <a:defRPr/>
            </a:pPr>
            <a:endParaRPr lang="en-US"/>
          </a:p>
        </p:txBody>
      </p:sp>
      <p:sp>
        <p:nvSpPr>
          <p:cNvPr id="7" name="Rectangle 9"/>
          <p:cNvSpPr>
            <a:spLocks noGrp="1" noChangeArrowheads="1"/>
          </p:cNvSpPr>
          <p:nvPr>
            <p:ph type="ftr" sz="quarter" idx="11"/>
          </p:nvPr>
        </p:nvSpPr>
        <p:spPr>
          <a:ln/>
        </p:spPr>
        <p:txBody>
          <a:bodyPr/>
          <a:lstStyle>
            <a:lvl1pPr>
              <a:defRPr/>
            </a:lvl1pPr>
          </a:lstStyle>
          <a:p>
            <a:pPr>
              <a:defRPr/>
            </a:pPr>
            <a:endParaRPr lang="en-US"/>
          </a:p>
        </p:txBody>
      </p:sp>
      <p:sp>
        <p:nvSpPr>
          <p:cNvPr id="8" name="Rectangle 10"/>
          <p:cNvSpPr>
            <a:spLocks noGrp="1" noChangeArrowheads="1"/>
          </p:cNvSpPr>
          <p:nvPr>
            <p:ph type="sldNum" sz="quarter" idx="12"/>
          </p:nvPr>
        </p:nvSpPr>
        <p:spPr>
          <a:ln/>
        </p:spPr>
        <p:txBody>
          <a:bodyPr/>
          <a:lstStyle>
            <a:lvl1pPr>
              <a:defRPr/>
            </a:lvl1pPr>
          </a:lstStyle>
          <a:p>
            <a:pPr>
              <a:defRPr/>
            </a:pPr>
            <a:fld id="{1654E393-D6FA-41B5-A562-24BDACF19FE6}" type="slidenum">
              <a:rPr lang="en-US"/>
              <a:pPr>
                <a:defRPr/>
              </a:pPr>
              <a:t>‹#›</a:t>
            </a:fld>
            <a:endParaRPr lang="en-US" dirty="0"/>
          </a:p>
        </p:txBody>
      </p:sp>
    </p:spTree>
    <p:extLst>
      <p:ext uri="{BB962C8B-B14F-4D97-AF65-F5344CB8AC3E}">
        <p14:creationId xmlns:p14="http://schemas.microsoft.com/office/powerpoint/2010/main" val="444250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Table Placeholder 2"/>
          <p:cNvSpPr>
            <a:spLocks noGrp="1"/>
          </p:cNvSpPr>
          <p:nvPr>
            <p:ph type="tbl" idx="1"/>
          </p:nvPr>
        </p:nvSpPr>
        <p:spPr>
          <a:xfrm>
            <a:off x="1370013" y="1827213"/>
            <a:ext cx="7313612" cy="4114800"/>
          </a:xfrm>
        </p:spPr>
        <p:txBody>
          <a:bodyPr/>
          <a:lstStyle/>
          <a:p>
            <a:pPr lvl="0"/>
            <a:endParaRPr lang="en-US" noProof="0" dirty="0"/>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3CD90852-DBB6-4ABE-BE71-C281E6654258}" type="slidenum">
              <a:rPr lang="en-US"/>
              <a:pPr>
                <a:defRPr/>
              </a:pPr>
              <a:t>‹#›</a:t>
            </a:fld>
            <a:endParaRPr lang="en-US" dirty="0"/>
          </a:p>
        </p:txBody>
      </p:sp>
    </p:spTree>
    <p:extLst>
      <p:ext uri="{BB962C8B-B14F-4D97-AF65-F5344CB8AC3E}">
        <p14:creationId xmlns:p14="http://schemas.microsoft.com/office/powerpoint/2010/main" val="24347795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Chart Placeholder 2"/>
          <p:cNvSpPr>
            <a:spLocks noGrp="1"/>
          </p:cNvSpPr>
          <p:nvPr>
            <p:ph type="chart" idx="1"/>
          </p:nvPr>
        </p:nvSpPr>
        <p:spPr>
          <a:xfrm>
            <a:off x="1370013" y="1827213"/>
            <a:ext cx="7313612" cy="4114800"/>
          </a:xfrm>
        </p:spPr>
        <p:txBody>
          <a:bodyPr/>
          <a:lstStyle/>
          <a:p>
            <a:pPr lvl="0"/>
            <a:endParaRPr lang="en-US" noProof="0" dirty="0"/>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98D582F5-EC73-484C-AB33-F9ADA9F738AD}" type="slidenum">
              <a:rPr lang="en-US"/>
              <a:pPr>
                <a:defRPr/>
              </a:pPr>
              <a:t>‹#›</a:t>
            </a:fld>
            <a:endParaRPr lang="en-US" dirty="0"/>
          </a:p>
        </p:txBody>
      </p:sp>
    </p:spTree>
    <p:extLst>
      <p:ext uri="{BB962C8B-B14F-4D97-AF65-F5344CB8AC3E}">
        <p14:creationId xmlns:p14="http://schemas.microsoft.com/office/powerpoint/2010/main" val="36582612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B585CE0-996E-4ADC-B25C-01121271739E}"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42849220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3/11/2025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4987358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3/11/2025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992706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3/11/2025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109230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3/11/2025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81094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3/11/2025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439775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3/11/2025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884608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3/11/2025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678804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3/11/2025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7873526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3/11/2025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420755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3/11/2025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620151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3/11/2025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276556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81000" y="381000"/>
            <a:ext cx="8229600" cy="11430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457200" y="1600200"/>
            <a:ext cx="8229600" cy="45259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65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2765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2765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pPr>
              <a:defRPr/>
            </a:pPr>
            <a:fld id="{841ECCDC-96A6-466B-B5D2-D6BCF59D2469}" type="slidenum">
              <a:rPr lang="en-US"/>
              <a:pPr>
                <a:defRPr/>
              </a:pPr>
              <a:t>‹#›</a:t>
            </a:fld>
            <a:endParaRPr lang="en-US" dirty="0"/>
          </a:p>
        </p:txBody>
      </p:sp>
      <p:sp>
        <p:nvSpPr>
          <p:cNvPr id="27655" name="Line 7"/>
          <p:cNvSpPr>
            <a:spLocks noChangeShapeType="1"/>
          </p:cNvSpPr>
          <p:nvPr userDrawn="1"/>
        </p:nvSpPr>
        <p:spPr bwMode="auto">
          <a:xfrm>
            <a:off x="609600" y="1371600"/>
            <a:ext cx="8077200" cy="0"/>
          </a:xfrm>
          <a:prstGeom prst="line">
            <a:avLst/>
          </a:prstGeom>
          <a:noFill/>
          <a:ln w="28575">
            <a:solidFill>
              <a:schemeClr val="tx1"/>
            </a:solidFill>
            <a:round/>
            <a:headEnd/>
            <a:tailEnd/>
          </a:ln>
          <a:effectLst/>
        </p:spPr>
        <p:txBody>
          <a:bodyP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98" name="Group 2"/>
          <p:cNvGrpSpPr>
            <a:grpSpLocks/>
          </p:cNvGrpSpPr>
          <p:nvPr/>
        </p:nvGrpSpPr>
        <p:grpSpPr bwMode="auto">
          <a:xfrm>
            <a:off x="-3238500" y="0"/>
            <a:ext cx="11925300" cy="3810000"/>
            <a:chOff x="-2040" y="0"/>
            <a:chExt cx="7512" cy="2400"/>
          </a:xfrm>
        </p:grpSpPr>
        <p:sp>
          <p:nvSpPr>
            <p:cNvPr id="228355" name="AutoShape 3"/>
            <p:cNvSpPr>
              <a:spLocks noChangeArrowheads="1"/>
            </p:cNvSpPr>
            <p:nvPr/>
          </p:nvSpPr>
          <p:spPr bwMode="auto">
            <a:xfrm>
              <a:off x="-2040" y="432"/>
              <a:ext cx="2592" cy="1968"/>
            </a:xfrm>
            <a:custGeom>
              <a:avLst/>
              <a:gdLst>
                <a:gd name="G0" fmla="+- 18296 0 0"/>
                <a:gd name="G1" fmla="+- -30880 0 0"/>
                <a:gd name="G2" fmla="+- 31512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50296" y="5746"/>
                </a:cxn>
                <a:cxn ang="0">
                  <a:pos x="64000" y="32000"/>
                </a:cxn>
                <a:cxn ang="0">
                  <a:pos x="50296" y="58253"/>
                </a:cxn>
                <a:cxn ang="0">
                  <a:pos x="50296" y="58253"/>
                </a:cxn>
                <a:cxn ang="0">
                  <a:pos x="50295" y="58253"/>
                </a:cxn>
                <a:cxn ang="0">
                  <a:pos x="50296" y="58254"/>
                </a:cxn>
                <a:cxn ang="0">
                  <a:pos x="50296" y="5746"/>
                </a:cxn>
                <a:cxn ang="0">
                  <a:pos x="50295" y="5746"/>
                </a:cxn>
                <a:cxn ang="0">
                  <a:pos x="50296" y="5746"/>
                </a:cxn>
              </a:cxnLst>
              <a:rect l="T13" t="T15" r="T17" b="T19"/>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w="9525">
              <a:noFill/>
              <a:miter lim="800000"/>
              <a:headEnd/>
              <a:tailEnd/>
            </a:ln>
          </p:spPr>
          <p:txBody>
            <a:bodyPr/>
            <a:lstStyle/>
            <a:p>
              <a:pPr>
                <a:defRPr/>
              </a:pPr>
              <a:endParaRPr lang="en-US" sz="2400" dirty="0"/>
            </a:p>
          </p:txBody>
        </p:sp>
        <p:sp>
          <p:nvSpPr>
            <p:cNvPr id="228356" name="AutoShape 4"/>
            <p:cNvSpPr>
              <a:spLocks noChangeArrowheads="1"/>
            </p:cNvSpPr>
            <p:nvPr/>
          </p:nvSpPr>
          <p:spPr bwMode="auto">
            <a:xfrm>
              <a:off x="-1528" y="0"/>
              <a:ext cx="1949" cy="1987"/>
            </a:xfrm>
            <a:custGeom>
              <a:avLst/>
              <a:gdLst>
                <a:gd name="G0" fmla="+- 18077 0 0"/>
                <a:gd name="G1" fmla="+- -30880 0 0"/>
                <a:gd name="G2" fmla="+- 32000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50077" y="5595"/>
                </a:cxn>
                <a:cxn ang="0">
                  <a:pos x="64000" y="32000"/>
                </a:cxn>
                <a:cxn ang="0">
                  <a:pos x="50077" y="58404"/>
                </a:cxn>
                <a:cxn ang="0">
                  <a:pos x="50077" y="58404"/>
                </a:cxn>
                <a:cxn ang="0">
                  <a:pos x="50076" y="58404"/>
                </a:cxn>
                <a:cxn ang="0">
                  <a:pos x="50077" y="58405"/>
                </a:cxn>
                <a:cxn ang="0">
                  <a:pos x="50077" y="5595"/>
                </a:cxn>
                <a:cxn ang="0">
                  <a:pos x="50076" y="5595"/>
                </a:cxn>
                <a:cxn ang="0">
                  <a:pos x="50077" y="5595"/>
                </a:cxn>
              </a:cxnLst>
              <a:rect l="T13" t="T15" r="T17" b="T19"/>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w="9525">
              <a:noFill/>
              <a:miter lim="800000"/>
              <a:headEnd/>
              <a:tailEnd/>
            </a:ln>
          </p:spPr>
          <p:txBody>
            <a:bodyPr/>
            <a:lstStyle/>
            <a:p>
              <a:pPr>
                <a:defRPr/>
              </a:pPr>
              <a:endParaRPr lang="en-US" dirty="0">
                <a:latin typeface="Arial" charset="0"/>
              </a:endParaRPr>
            </a:p>
          </p:txBody>
        </p:sp>
        <p:sp>
          <p:nvSpPr>
            <p:cNvPr id="228357" name="Line 5"/>
            <p:cNvSpPr>
              <a:spLocks noChangeShapeType="1"/>
            </p:cNvSpPr>
            <p:nvPr/>
          </p:nvSpPr>
          <p:spPr bwMode="auto">
            <a:xfrm>
              <a:off x="864" y="960"/>
              <a:ext cx="4608" cy="0"/>
            </a:xfrm>
            <a:prstGeom prst="line">
              <a:avLst/>
            </a:prstGeom>
            <a:noFill/>
            <a:ln w="12700">
              <a:solidFill>
                <a:schemeClr val="tx1"/>
              </a:solidFill>
              <a:round/>
              <a:headEnd/>
              <a:tailEnd/>
            </a:ln>
            <a:effectLst/>
          </p:spPr>
          <p:txBody>
            <a:bodyPr/>
            <a:lstStyle/>
            <a:p>
              <a:pPr>
                <a:defRPr/>
              </a:pPr>
              <a:endParaRPr lang="en-US" dirty="0"/>
            </a:p>
          </p:txBody>
        </p:sp>
      </p:grpSp>
      <p:sp>
        <p:nvSpPr>
          <p:cNvPr id="4099" name="Rectangle 6"/>
          <p:cNvSpPr>
            <a:spLocks noGrp="1" noChangeArrowheads="1"/>
          </p:cNvSpPr>
          <p:nvPr>
            <p:ph type="title"/>
          </p:nvPr>
        </p:nvSpPr>
        <p:spPr bwMode="auto">
          <a:xfrm>
            <a:off x="1370013" y="301625"/>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4100" name="Rectangle 7"/>
          <p:cNvSpPr>
            <a:spLocks noGrp="1" noChangeArrowheads="1"/>
          </p:cNvSpPr>
          <p:nvPr>
            <p:ph type="body" idx="1"/>
          </p:nvPr>
        </p:nvSpPr>
        <p:spPr bwMode="auto">
          <a:xfrm>
            <a:off x="1370013" y="1827213"/>
            <a:ext cx="731361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8360" name="Rectangle 8"/>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n-lt"/>
              </a:defRPr>
            </a:lvl1pPr>
          </a:lstStyle>
          <a:p>
            <a:pPr>
              <a:defRPr/>
            </a:pPr>
            <a:endParaRPr lang="en-US"/>
          </a:p>
        </p:txBody>
      </p:sp>
      <p:sp>
        <p:nvSpPr>
          <p:cNvPr id="228361" name="Rectangle 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mn-lt"/>
              </a:defRPr>
            </a:lvl1pPr>
          </a:lstStyle>
          <a:p>
            <a:pPr>
              <a:defRPr/>
            </a:pPr>
            <a:endParaRPr lang="en-US"/>
          </a:p>
        </p:txBody>
      </p:sp>
      <p:sp>
        <p:nvSpPr>
          <p:cNvPr id="228362" name="Rectangle 10"/>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mn-lt"/>
              </a:defRPr>
            </a:lvl1pPr>
          </a:lstStyle>
          <a:p>
            <a:pPr>
              <a:defRPr/>
            </a:pPr>
            <a:fld id="{A6AF8879-9647-4193-B88F-B0D6F438621F}"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81"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95" r:id="rId15"/>
  </p:sldLayoutIdLst>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charset="0"/>
          <a:cs typeface="Arial" charset="0"/>
        </a:defRPr>
      </a:lvl2pPr>
      <a:lvl3pPr algn="l" rtl="0" eaLnBrk="0" fontAlgn="base" hangingPunct="0">
        <a:spcBef>
          <a:spcPct val="0"/>
        </a:spcBef>
        <a:spcAft>
          <a:spcPct val="0"/>
        </a:spcAft>
        <a:defRPr sz="3600">
          <a:solidFill>
            <a:schemeClr val="tx2"/>
          </a:solidFill>
          <a:latin typeface="Arial" charset="0"/>
          <a:cs typeface="Arial" charset="0"/>
        </a:defRPr>
      </a:lvl3pPr>
      <a:lvl4pPr algn="l" rtl="0" eaLnBrk="0" fontAlgn="base" hangingPunct="0">
        <a:spcBef>
          <a:spcPct val="0"/>
        </a:spcBef>
        <a:spcAft>
          <a:spcPct val="0"/>
        </a:spcAft>
        <a:defRPr sz="3600">
          <a:solidFill>
            <a:schemeClr val="tx2"/>
          </a:solidFill>
          <a:latin typeface="Arial" charset="0"/>
          <a:cs typeface="Arial" charset="0"/>
        </a:defRPr>
      </a:lvl4pPr>
      <a:lvl5pPr algn="l" rtl="0" eaLnBrk="0" fontAlgn="base" hangingPunct="0">
        <a:spcBef>
          <a:spcPct val="0"/>
        </a:spcBef>
        <a:spcAft>
          <a:spcPct val="0"/>
        </a:spcAft>
        <a:defRPr sz="3600">
          <a:solidFill>
            <a:schemeClr val="tx2"/>
          </a:solidFill>
          <a:latin typeface="Arial" charset="0"/>
          <a:cs typeface="Arial" charset="0"/>
        </a:defRPr>
      </a:lvl5pPr>
      <a:lvl6pPr marL="457200" algn="l" rtl="0" fontAlgn="base">
        <a:spcBef>
          <a:spcPct val="0"/>
        </a:spcBef>
        <a:spcAft>
          <a:spcPct val="0"/>
        </a:spcAft>
        <a:defRPr sz="3600">
          <a:solidFill>
            <a:schemeClr val="tx2"/>
          </a:solidFill>
          <a:latin typeface="Arial" charset="0"/>
          <a:cs typeface="Arial" charset="0"/>
        </a:defRPr>
      </a:lvl6pPr>
      <a:lvl7pPr marL="914400" algn="l" rtl="0" fontAlgn="base">
        <a:spcBef>
          <a:spcPct val="0"/>
        </a:spcBef>
        <a:spcAft>
          <a:spcPct val="0"/>
        </a:spcAft>
        <a:defRPr sz="3600">
          <a:solidFill>
            <a:schemeClr val="tx2"/>
          </a:solidFill>
          <a:latin typeface="Arial" charset="0"/>
          <a:cs typeface="Arial" charset="0"/>
        </a:defRPr>
      </a:lvl7pPr>
      <a:lvl8pPr marL="1371600" algn="l" rtl="0" fontAlgn="base">
        <a:spcBef>
          <a:spcPct val="0"/>
        </a:spcBef>
        <a:spcAft>
          <a:spcPct val="0"/>
        </a:spcAft>
        <a:defRPr sz="3600">
          <a:solidFill>
            <a:schemeClr val="tx2"/>
          </a:solidFill>
          <a:latin typeface="Arial" charset="0"/>
          <a:cs typeface="Arial" charset="0"/>
        </a:defRPr>
      </a:lvl8pPr>
      <a:lvl9pPr marL="1828800" algn="l" rtl="0" fontAlgn="base">
        <a:spcBef>
          <a:spcPct val="0"/>
        </a:spcBef>
        <a:spcAft>
          <a:spcPct val="0"/>
        </a:spcAft>
        <a:defRPr sz="36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l"/>
        <a:defRPr sz="2500">
          <a:solidFill>
            <a:schemeClr val="tx1"/>
          </a:solidFill>
          <a:latin typeface="+mn-lt"/>
          <a:cs typeface="+mn-cs"/>
        </a:defRPr>
      </a:lvl2pPr>
      <a:lvl3pPr marL="1143000" indent="-228600" algn="l" rtl="0" eaLnBrk="0" fontAlgn="base" hangingPunct="0">
        <a:spcBef>
          <a:spcPct val="20000"/>
        </a:spcBef>
        <a:spcAft>
          <a:spcPct val="0"/>
        </a:spcAft>
        <a:buClr>
          <a:schemeClr val="tx2"/>
        </a:buClr>
        <a:buSzPct val="65000"/>
        <a:buFont typeface="Wingdings" pitchFamily="2" charset="2"/>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l"/>
        <a:defRPr sz="1900">
          <a:solidFill>
            <a:schemeClr val="tx1"/>
          </a:solidFill>
          <a:latin typeface="+mn-lt"/>
          <a:cs typeface="+mn-cs"/>
        </a:defRPr>
      </a:lvl4pPr>
      <a:lvl5pPr marL="2057400" indent="-228600" algn="l" rtl="0" eaLnBrk="0" fontAlgn="base" hangingPunct="0">
        <a:spcBef>
          <a:spcPct val="20000"/>
        </a:spcBef>
        <a:spcAft>
          <a:spcPct val="0"/>
        </a:spcAft>
        <a:buClr>
          <a:schemeClr val="tx2"/>
        </a:buClr>
        <a:buSzPct val="60000"/>
        <a:buFont typeface="Wingdings" pitchFamily="2" charset="2"/>
        <a:buChar char="¡"/>
        <a:defRPr sz="1900">
          <a:solidFill>
            <a:schemeClr val="tx1"/>
          </a:solidFill>
          <a:latin typeface="+mn-lt"/>
          <a:cs typeface="+mn-cs"/>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3/11/2025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01585622"/>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hyperlink" Target="http://www.stern.nyu.edu/~adamodar/pc/datasets/histretSP.xls" TargetMode="Externa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8.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3.emf"/><Relationship Id="rId2" Type="http://schemas.openxmlformats.org/officeDocument/2006/relationships/slideLayout" Target="../slideLayouts/slideLayout15.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2.e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3.emf"/><Relationship Id="rId2" Type="http://schemas.openxmlformats.org/officeDocument/2006/relationships/slideLayout" Target="../slideLayouts/slideLayout15.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2.emf"/><Relationship Id="rId4"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hyperlink" Target="http://www.forbes.com/sites/greatspeculations/2015/04/23/two-rules-of-asset-allocation-to-follow-at-any-age/#43538ff6f7ed" TargetMode="External"/><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hyperlink" Target="http://www.moneysense.ca/save/investing/couch-potato-portfolio-how-to-set-it-up/" TargetMode="External"/><Relationship Id="rId5" Type="http://schemas.openxmlformats.org/officeDocument/2006/relationships/hyperlink" Target="https://www.tiaa.org/public/offer/products/mutual-funds/lifecycle-funds" TargetMode="External"/><Relationship Id="rId4" Type="http://schemas.openxmlformats.org/officeDocument/2006/relationships/hyperlink" Target="http://www.schwab.com/public/schwab/investing/retirement_and_planning/retirement_income/portfolio_allocation"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hyperlink" Target="http://www.cppib.com/content/dam/cppib/Who%20We%20Are/Governance/Policies/2015/Investment%20Statement%20-%20Investment%20Portfolio%202015.pdf" TargetMode="External"/><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hyperlink" Target="http://www.rba.gov.au/publications/bulletin/2014/sep/pdf/bu-0914-8.pdf" TargetMode="External"/><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hyperlink" Target="http://faculty.london.edu/avmiguel/DeMiguel-Garlappi-Uppal-RFS.pdf"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3.xml"/><Relationship Id="rId1" Type="http://schemas.openxmlformats.org/officeDocument/2006/relationships/vmlDrawing" Target="../drawings/vmlDrawing4.vml"/><Relationship Id="rId6" Type="http://schemas.openxmlformats.org/officeDocument/2006/relationships/image" Target="../media/image6.wmf"/><Relationship Id="rId5" Type="http://schemas.openxmlformats.org/officeDocument/2006/relationships/oleObject" Target="../embeddings/oleObject6.bin"/><Relationship Id="rId4" Type="http://schemas.openxmlformats.org/officeDocument/2006/relationships/image" Target="../media/image5.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3.xml"/><Relationship Id="rId1" Type="http://schemas.openxmlformats.org/officeDocument/2006/relationships/vmlDrawing" Target="../drawings/vmlDrawing5.vml"/><Relationship Id="rId4" Type="http://schemas.openxmlformats.org/officeDocument/2006/relationships/image" Target="../media/image7.wmf"/></Relationships>
</file>

<file path=ppt/slides/_rels/slide39.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3.xml"/><Relationship Id="rId1" Type="http://schemas.openxmlformats.org/officeDocument/2006/relationships/vmlDrawing" Target="../drawings/vmlDrawing6.vml"/><Relationship Id="rId6" Type="http://schemas.openxmlformats.org/officeDocument/2006/relationships/image" Target="../media/image9.wmf"/><Relationship Id="rId5" Type="http://schemas.openxmlformats.org/officeDocument/2006/relationships/oleObject" Target="../embeddings/oleObject9.bin"/><Relationship Id="rId4" Type="http://schemas.openxmlformats.org/officeDocument/2006/relationships/image" Target="../media/image8.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3.xml"/><Relationship Id="rId1" Type="http://schemas.openxmlformats.org/officeDocument/2006/relationships/vmlDrawing" Target="../drawings/vmlDrawing7.vml"/><Relationship Id="rId6" Type="http://schemas.openxmlformats.org/officeDocument/2006/relationships/image" Target="../media/image12.wmf"/><Relationship Id="rId5" Type="http://schemas.openxmlformats.org/officeDocument/2006/relationships/oleObject" Target="../embeddings/oleObject12.bin"/><Relationship Id="rId4" Type="http://schemas.openxmlformats.org/officeDocument/2006/relationships/image" Target="../media/image11.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6.xml"/><Relationship Id="rId1" Type="http://schemas.openxmlformats.org/officeDocument/2006/relationships/vmlDrawing" Target="../drawings/vmlDrawing8.vml"/><Relationship Id="rId4" Type="http://schemas.openxmlformats.org/officeDocument/2006/relationships/image" Target="../media/image13.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3.xml"/><Relationship Id="rId1" Type="http://schemas.openxmlformats.org/officeDocument/2006/relationships/vmlDrawing" Target="../drawings/vmlDrawing9.vml"/><Relationship Id="rId6" Type="http://schemas.openxmlformats.org/officeDocument/2006/relationships/image" Target="../media/image14.wmf"/><Relationship Id="rId5" Type="http://schemas.openxmlformats.org/officeDocument/2006/relationships/oleObject" Target="../embeddings/oleObject15.bin"/><Relationship Id="rId4" Type="http://schemas.openxmlformats.org/officeDocument/2006/relationships/image" Target="../media/image1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ctrTitle"/>
          </p:nvPr>
        </p:nvSpPr>
        <p:spPr>
          <a:xfrm>
            <a:off x="1447800" y="838200"/>
            <a:ext cx="7239000" cy="1058863"/>
          </a:xfrm>
        </p:spPr>
        <p:txBody>
          <a:bodyPr/>
          <a:lstStyle/>
          <a:p>
            <a:pPr eaLnBrk="1" hangingPunct="1"/>
            <a:r>
              <a:rPr lang="en-US" sz="3600" b="1" dirty="0">
                <a:latin typeface="Times New Roman" pitchFamily="18" charset="0"/>
              </a:rPr>
              <a:t>Asset Allocation </a:t>
            </a:r>
          </a:p>
        </p:txBody>
      </p:sp>
      <p:sp>
        <p:nvSpPr>
          <p:cNvPr id="6147" name="Rectangle 5"/>
          <p:cNvSpPr>
            <a:spLocks noGrp="1" noChangeArrowheads="1"/>
          </p:cNvSpPr>
          <p:nvPr>
            <p:ph type="subTitle" idx="1"/>
          </p:nvPr>
        </p:nvSpPr>
        <p:spPr/>
        <p:txBody>
          <a:bodyPr/>
          <a:lstStyle/>
          <a:p>
            <a:pPr eaLnBrk="1" hangingPunct="1"/>
            <a:endParaRPr lang="en-US" dirty="0">
              <a:latin typeface="Times New Roman" pitchFamily="18" charset="0"/>
            </a:endParaRPr>
          </a:p>
          <a:p>
            <a:pPr eaLnBrk="1" hangingPunct="1"/>
            <a:r>
              <a:rPr lang="en-US" dirty="0">
                <a:latin typeface="Times New Roman" pitchFamily="18" charset="0"/>
              </a:rPr>
              <a:t>BAFI 508: Data-Driven Investments</a:t>
            </a:r>
          </a:p>
          <a:p>
            <a:pPr eaLnBrk="1" hangingPunct="1"/>
            <a:r>
              <a:rPr lang="en-US" dirty="0">
                <a:latin typeface="Times New Roman" pitchFamily="18" charset="0"/>
              </a:rPr>
              <a:t>Class 5</a:t>
            </a:r>
          </a:p>
          <a:p>
            <a:pPr eaLnBrk="1" hangingPunct="1"/>
            <a:r>
              <a:rPr lang="en-US" dirty="0">
                <a:latin typeface="Times New Roman" pitchFamily="18" charset="0"/>
              </a:rPr>
              <a:t>Adlai Fisher</a:t>
            </a:r>
          </a:p>
          <a:p>
            <a:pPr eaLnBrk="1" hangingPunct="1"/>
            <a:endParaRPr lang="en-US" dirty="0">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715962"/>
          </a:xfrm>
        </p:spPr>
        <p:txBody>
          <a:bodyPr>
            <a:normAutofit fontScale="90000"/>
          </a:bodyPr>
          <a:lstStyle/>
          <a:p>
            <a:r>
              <a:rPr lang="en-US" dirty="0"/>
              <a:t>Outline</a:t>
            </a:r>
          </a:p>
        </p:txBody>
      </p:sp>
      <p:sp>
        <p:nvSpPr>
          <p:cNvPr id="3" name="Content Placeholder 2"/>
          <p:cNvSpPr>
            <a:spLocks noGrp="1"/>
          </p:cNvSpPr>
          <p:nvPr>
            <p:ph idx="1"/>
          </p:nvPr>
        </p:nvSpPr>
        <p:spPr>
          <a:xfrm>
            <a:off x="0" y="990600"/>
            <a:ext cx="9067800" cy="5867400"/>
          </a:xfrm>
        </p:spPr>
        <p:txBody>
          <a:bodyPr>
            <a:normAutofit lnSpcReduction="10000"/>
          </a:bodyPr>
          <a:lstStyle/>
          <a:p>
            <a:pPr marL="0" indent="0">
              <a:buNone/>
            </a:pPr>
            <a:endParaRPr lang="en-US" sz="2000" dirty="0"/>
          </a:p>
          <a:p>
            <a:pPr marL="0" indent="0">
              <a:buNone/>
            </a:pPr>
            <a:r>
              <a:rPr lang="en-US" sz="2200" dirty="0"/>
              <a:t>Asset allocation</a:t>
            </a:r>
          </a:p>
          <a:p>
            <a:pPr lvl="1"/>
            <a:r>
              <a:rPr lang="en-US" sz="2200" dirty="0"/>
              <a:t>Empirical: historical performance of different strategies (</a:t>
            </a:r>
            <a:r>
              <a:rPr lang="en-US" sz="2200" dirty="0" err="1"/>
              <a:t>histret</a:t>
            </a:r>
            <a:r>
              <a:rPr lang="en-US" sz="2200" dirty="0"/>
              <a:t> spreadsheet)</a:t>
            </a:r>
          </a:p>
          <a:p>
            <a:pPr lvl="1"/>
            <a:r>
              <a:rPr lang="en-US" sz="2200" dirty="0"/>
              <a:t>Theory: two-asset case, three-asset case, N-asset case (mv3)</a:t>
            </a:r>
          </a:p>
          <a:p>
            <a:pPr lvl="1"/>
            <a:r>
              <a:rPr lang="en-US" sz="2200" dirty="0"/>
              <a:t>Relation to homework</a:t>
            </a:r>
          </a:p>
          <a:p>
            <a:pPr marL="457200" lvl="1" indent="0">
              <a:buNone/>
            </a:pPr>
            <a:endParaRPr lang="en-US" sz="2200" dirty="0"/>
          </a:p>
          <a:p>
            <a:pPr marL="57150" indent="0">
              <a:buNone/>
            </a:pPr>
            <a:r>
              <a:rPr lang="en-US" sz="2200" dirty="0"/>
              <a:t>Additional discussion points (ongoing)</a:t>
            </a:r>
          </a:p>
          <a:p>
            <a:pPr lvl="1"/>
            <a:r>
              <a:rPr lang="en-US" sz="2200" dirty="0"/>
              <a:t>Relation to performance evaluation: CAPM and APT (will be useful in remainder of class)</a:t>
            </a:r>
          </a:p>
          <a:p>
            <a:pPr lvl="1"/>
            <a:r>
              <a:rPr lang="en-US" sz="2200" dirty="0"/>
              <a:t>Critiques of mean-variance asset allocation</a:t>
            </a:r>
          </a:p>
          <a:p>
            <a:pPr lvl="1"/>
            <a:endParaRPr lang="en-US" sz="2200" dirty="0"/>
          </a:p>
          <a:p>
            <a:pPr lvl="1"/>
            <a:endParaRPr lang="en-US" sz="2000" dirty="0"/>
          </a:p>
          <a:p>
            <a:pPr lvl="1"/>
            <a:endParaRPr lang="en-US" sz="2000" dirty="0"/>
          </a:p>
          <a:p>
            <a:pPr lvl="1"/>
            <a:endParaRPr lang="en-US" sz="2000" dirty="0"/>
          </a:p>
          <a:p>
            <a:r>
              <a:rPr lang="en-US" sz="2400" dirty="0"/>
              <a:t>Admin: HW2 due Saturday midnight.</a:t>
            </a:r>
          </a:p>
          <a:p>
            <a:pPr marL="0" indent="0">
              <a:buNone/>
            </a:pPr>
            <a:endParaRPr lang="en-US" sz="2000" dirty="0"/>
          </a:p>
          <a:p>
            <a:pPr marL="0" indent="0">
              <a:buNone/>
            </a:pPr>
            <a:endParaRPr lang="en-US" sz="2000" dirty="0"/>
          </a:p>
          <a:p>
            <a:endParaRPr lang="en-US" sz="2000"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277333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0"/>
            <a:ext cx="8686800" cy="715962"/>
          </a:xfrm>
        </p:spPr>
        <p:txBody>
          <a:bodyPr>
            <a:normAutofit fontScale="90000"/>
          </a:bodyPr>
          <a:lstStyle/>
          <a:p>
            <a:r>
              <a:rPr lang="en-US" dirty="0"/>
              <a:t>Data and Assignment 2</a:t>
            </a:r>
          </a:p>
        </p:txBody>
      </p:sp>
      <p:sp>
        <p:nvSpPr>
          <p:cNvPr id="3" name="Content Placeholder 2"/>
          <p:cNvSpPr>
            <a:spLocks noGrp="1"/>
          </p:cNvSpPr>
          <p:nvPr>
            <p:ph idx="1"/>
          </p:nvPr>
        </p:nvSpPr>
        <p:spPr>
          <a:xfrm>
            <a:off x="0" y="725254"/>
            <a:ext cx="9067800" cy="6132745"/>
          </a:xfrm>
        </p:spPr>
        <p:txBody>
          <a:bodyPr>
            <a:normAutofit/>
          </a:bodyPr>
          <a:lstStyle/>
          <a:p>
            <a:r>
              <a:rPr lang="en-US" sz="2000" dirty="0"/>
              <a:t>We will use </a:t>
            </a:r>
            <a:r>
              <a:rPr lang="en-US" sz="2000" dirty="0" err="1"/>
              <a:t>Aswath</a:t>
            </a:r>
            <a:r>
              <a:rPr lang="en-US" sz="2000" dirty="0"/>
              <a:t> </a:t>
            </a:r>
            <a:r>
              <a:rPr lang="en-US" sz="2000" dirty="0" err="1"/>
              <a:t>Damodaran’s</a:t>
            </a:r>
            <a:r>
              <a:rPr lang="en-US" sz="2000" dirty="0"/>
              <a:t> </a:t>
            </a:r>
            <a:r>
              <a:rPr lang="en-US" sz="2000" dirty="0">
                <a:hlinkClick r:id="rId2"/>
              </a:rPr>
              <a:t>data</a:t>
            </a:r>
            <a:r>
              <a:rPr lang="en-US" sz="2000" dirty="0"/>
              <a:t> for Assignment 2 and in class discussion.</a:t>
            </a:r>
          </a:p>
          <a:p>
            <a:endParaRPr lang="en-US" sz="2000" dirty="0"/>
          </a:p>
          <a:p>
            <a:r>
              <a:rPr lang="en-US" sz="2000" dirty="0"/>
              <a:t>The reason for using </a:t>
            </a:r>
            <a:r>
              <a:rPr lang="en-US" sz="2000" dirty="0" err="1"/>
              <a:t>Damodaran’s</a:t>
            </a:r>
            <a:r>
              <a:rPr lang="en-US" sz="2000" dirty="0"/>
              <a:t> data is that he does a favor for us by collecting the data all in one place</a:t>
            </a:r>
          </a:p>
          <a:p>
            <a:endParaRPr lang="en-US" sz="2000" dirty="0"/>
          </a:p>
          <a:p>
            <a:r>
              <a:rPr lang="en-US" sz="2000" dirty="0" err="1"/>
              <a:t>Damodaran</a:t>
            </a:r>
            <a:r>
              <a:rPr lang="en-US" sz="2000" dirty="0"/>
              <a:t> gives good documentation of the original sources of the data and calculations you can follow if interested.</a:t>
            </a:r>
          </a:p>
          <a:p>
            <a:endParaRPr lang="en-US" sz="2000" dirty="0"/>
          </a:p>
          <a:p>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3167633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0"/>
            <a:ext cx="8686800" cy="715962"/>
          </a:xfrm>
        </p:spPr>
        <p:txBody>
          <a:bodyPr>
            <a:normAutofit fontScale="90000"/>
          </a:bodyPr>
          <a:lstStyle/>
          <a:p>
            <a:r>
              <a:rPr lang="en-US" dirty="0"/>
              <a:t>Data: A First Analysis</a:t>
            </a:r>
          </a:p>
        </p:txBody>
      </p:sp>
      <p:sp>
        <p:nvSpPr>
          <p:cNvPr id="3" name="Content Placeholder 2"/>
          <p:cNvSpPr>
            <a:spLocks noGrp="1"/>
          </p:cNvSpPr>
          <p:nvPr>
            <p:ph idx="1"/>
          </p:nvPr>
        </p:nvSpPr>
        <p:spPr>
          <a:xfrm>
            <a:off x="0" y="725254"/>
            <a:ext cx="9067800" cy="6132745"/>
          </a:xfrm>
        </p:spPr>
        <p:txBody>
          <a:bodyPr>
            <a:normAutofit fontScale="92500" lnSpcReduction="10000"/>
          </a:bodyPr>
          <a:lstStyle/>
          <a:p>
            <a:pPr marL="457200" indent="-457200">
              <a:buFont typeface="+mj-lt"/>
              <a:buAutoNum type="arabicPeriod"/>
            </a:pPr>
            <a:r>
              <a:rPr lang="en-US" sz="2000" dirty="0"/>
              <a:t>Put together in a separate tab: </a:t>
            </a:r>
            <a:r>
              <a:rPr lang="en-US" sz="2000" dirty="0" err="1"/>
              <a:t>t-bill</a:t>
            </a:r>
            <a:r>
              <a:rPr lang="en-US" sz="2000" dirty="0"/>
              <a:t> returns, t-bond returns, stock returns</a:t>
            </a:r>
          </a:p>
          <a:p>
            <a:pPr marL="685800" lvl="1"/>
            <a:r>
              <a:rPr lang="en-US" sz="2000" dirty="0"/>
              <a:t>For each, calculate the mean, variance, skewness, kurtosis, first-order autocorrelation coefficient, and each of the three cross-correlations</a:t>
            </a:r>
          </a:p>
          <a:p>
            <a:pPr marL="685800" lvl="1"/>
            <a:r>
              <a:rPr lang="en-US" sz="2000" dirty="0"/>
              <a:t>You may find it easier to work in percentages</a:t>
            </a:r>
          </a:p>
          <a:p>
            <a:pPr marL="685800" lvl="1"/>
            <a:r>
              <a:rPr lang="en-US" sz="2000" dirty="0"/>
              <a:t>Discuss results</a:t>
            </a:r>
            <a:endParaRPr lang="en-US" sz="2000" dirty="0">
              <a:solidFill>
                <a:srgbClr val="00B0F0"/>
              </a:solidFill>
            </a:endParaRPr>
          </a:p>
          <a:p>
            <a:pPr marL="400050" lvl="1" indent="0">
              <a:buNone/>
            </a:pPr>
            <a:endParaRPr lang="en-US" sz="2000" dirty="0"/>
          </a:p>
          <a:p>
            <a:pPr marL="400050" indent="-457200">
              <a:buFont typeface="+mj-lt"/>
              <a:buAutoNum type="arabicPeriod"/>
            </a:pPr>
            <a:r>
              <a:rPr lang="en-US" sz="2400" dirty="0"/>
              <a:t>Calculate the </a:t>
            </a:r>
            <a:r>
              <a:rPr lang="en-US" sz="2400" b="1" i="1" dirty="0"/>
              <a:t>excess returns </a:t>
            </a:r>
            <a:r>
              <a:rPr lang="en-US" sz="2400" dirty="0"/>
              <a:t>on stocks and bonds (</a:t>
            </a:r>
            <a:r>
              <a:rPr lang="en-US" sz="2400" dirty="0" err="1"/>
              <a:t>R_i</a:t>
            </a:r>
            <a:r>
              <a:rPr lang="en-US" sz="2400" dirty="0"/>
              <a:t> – </a:t>
            </a:r>
            <a:r>
              <a:rPr lang="en-US" sz="2400" dirty="0" err="1"/>
              <a:t>r_f</a:t>
            </a:r>
            <a:r>
              <a:rPr lang="en-US" sz="2400" dirty="0"/>
              <a:t>) </a:t>
            </a:r>
            <a:r>
              <a:rPr lang="en-US" sz="2400" dirty="0">
                <a:solidFill>
                  <a:srgbClr val="00B0F0"/>
                </a:solidFill>
              </a:rPr>
              <a:t>(discuss concept)</a:t>
            </a:r>
          </a:p>
          <a:p>
            <a:pPr marL="685800" lvl="1"/>
            <a:r>
              <a:rPr lang="en-US" sz="2000" dirty="0"/>
              <a:t>Calculate the same statistics as above</a:t>
            </a:r>
          </a:p>
          <a:p>
            <a:pPr marL="685800" lvl="1"/>
            <a:r>
              <a:rPr lang="en-US" sz="2000" dirty="0"/>
              <a:t>Additionally, calculate the </a:t>
            </a:r>
            <a:r>
              <a:rPr lang="en-US" sz="2000" b="1" i="1" dirty="0"/>
              <a:t>Sharpe ratio</a:t>
            </a:r>
            <a:r>
              <a:rPr lang="en-US" sz="2000" dirty="0"/>
              <a:t>, which is the mean excess return divided by the standard deviation of returns </a:t>
            </a:r>
            <a:r>
              <a:rPr lang="en-US" sz="2000" dirty="0">
                <a:solidFill>
                  <a:srgbClr val="00B0F0"/>
                </a:solidFill>
              </a:rPr>
              <a:t>(discuss concept)</a:t>
            </a:r>
          </a:p>
          <a:p>
            <a:pPr marL="457200" indent="-457200">
              <a:buFont typeface="+mj-lt"/>
              <a:buAutoNum type="arabicPeriod"/>
            </a:pPr>
            <a:endParaRPr lang="en-US" sz="2400" dirty="0"/>
          </a:p>
          <a:p>
            <a:pPr marL="457200" indent="-457200">
              <a:buFont typeface="+mj-lt"/>
              <a:buAutoNum type="arabicPeriod"/>
            </a:pPr>
            <a:r>
              <a:rPr lang="en-US" sz="2400" dirty="0"/>
              <a:t>Form eleven different portfolios based on different asset allocations, with the percentage in stocks varying as 0%, 10%, …, 100%</a:t>
            </a:r>
            <a:endParaRPr lang="en-US" sz="2400" dirty="0">
              <a:solidFill>
                <a:srgbClr val="00B0F0"/>
              </a:solidFill>
            </a:endParaRPr>
          </a:p>
          <a:p>
            <a:pPr lvl="1" indent="-342900"/>
            <a:r>
              <a:rPr lang="en-US" sz="2000" dirty="0"/>
              <a:t>Calculate returns on each date for each allocation rule</a:t>
            </a:r>
          </a:p>
          <a:p>
            <a:pPr lvl="1" indent="-342900"/>
            <a:r>
              <a:rPr lang="en-US" sz="2000" dirty="0"/>
              <a:t>Calculate the same statistics as in (1) plus the Sharpe ratio for each portfolio</a:t>
            </a:r>
          </a:p>
          <a:p>
            <a:pPr lvl="1" indent="-342900"/>
            <a:r>
              <a:rPr lang="en-US" sz="2000" dirty="0"/>
              <a:t>Find the </a:t>
            </a:r>
            <a:r>
              <a:rPr lang="en-US" sz="2000" i="1" dirty="0"/>
              <a:t>minimum variance portfolio </a:t>
            </a:r>
            <a:r>
              <a:rPr lang="en-US" sz="2000" dirty="0">
                <a:solidFill>
                  <a:srgbClr val="00B0F0"/>
                </a:solidFill>
              </a:rPr>
              <a:t>(discuss concept)</a:t>
            </a:r>
          </a:p>
          <a:p>
            <a:pPr lvl="1" indent="-342900"/>
            <a:r>
              <a:rPr lang="en-US" sz="2000" dirty="0"/>
              <a:t>The </a:t>
            </a:r>
            <a:r>
              <a:rPr lang="en-US" sz="2000" i="1" dirty="0"/>
              <a:t>tangency portfolio </a:t>
            </a:r>
            <a:r>
              <a:rPr lang="en-US" sz="2000" dirty="0"/>
              <a:t>achieves the </a:t>
            </a:r>
            <a:r>
              <a:rPr lang="en-US" sz="2000" i="1" dirty="0"/>
              <a:t>highest Sharpe ratio </a:t>
            </a:r>
            <a:r>
              <a:rPr lang="en-US" sz="2000" dirty="0">
                <a:solidFill>
                  <a:srgbClr val="00B0F0"/>
                </a:solidFill>
              </a:rPr>
              <a:t>(discuss concept)</a:t>
            </a:r>
          </a:p>
          <a:p>
            <a:pPr lvl="1" indent="-342900"/>
            <a:endParaRPr lang="en-US" sz="2000" i="1" dirty="0"/>
          </a:p>
        </p:txBody>
      </p:sp>
    </p:spTree>
    <p:extLst>
      <p:ext uri="{BB962C8B-B14F-4D97-AF65-F5344CB8AC3E}">
        <p14:creationId xmlns:p14="http://schemas.microsoft.com/office/powerpoint/2010/main" val="4287199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0"/>
            <a:ext cx="8686800" cy="715962"/>
          </a:xfrm>
        </p:spPr>
        <p:txBody>
          <a:bodyPr>
            <a:normAutofit fontScale="90000"/>
          </a:bodyPr>
          <a:lstStyle/>
          <a:p>
            <a:r>
              <a:rPr lang="en-US" dirty="0"/>
              <a:t>Real vs Nominal</a:t>
            </a:r>
          </a:p>
        </p:txBody>
      </p:sp>
      <p:graphicFrame>
        <p:nvGraphicFramePr>
          <p:cNvPr id="4" name="Object 3"/>
          <p:cNvGraphicFramePr>
            <a:graphicFrameLocks noChangeAspect="1"/>
          </p:cNvGraphicFramePr>
          <p:nvPr>
            <p:extLst/>
          </p:nvPr>
        </p:nvGraphicFramePr>
        <p:xfrm>
          <a:off x="685800" y="3070930"/>
          <a:ext cx="3262086" cy="984250"/>
        </p:xfrm>
        <a:graphic>
          <a:graphicData uri="http://schemas.openxmlformats.org/presentationml/2006/ole">
            <mc:AlternateContent xmlns:mc="http://schemas.openxmlformats.org/markup-compatibility/2006">
              <mc:Choice xmlns:v="urn:schemas-microsoft-com:vml" Requires="v">
                <p:oleObj spid="_x0000_s22535" name="Equation" r:id="rId3" imgW="1473120" imgH="444240" progId="Equation.3">
                  <p:embed/>
                </p:oleObj>
              </mc:Choice>
              <mc:Fallback>
                <p:oleObj name="Equation" r:id="rId3" imgW="1473120" imgH="444240" progId="Equation.3">
                  <p:embed/>
                  <p:pic>
                    <p:nvPicPr>
                      <p:cNvPr id="4" name="Object 3"/>
                      <p:cNvPicPr/>
                      <p:nvPr/>
                    </p:nvPicPr>
                    <p:blipFill>
                      <a:blip r:embed="rId4"/>
                      <a:stretch>
                        <a:fillRect/>
                      </a:stretch>
                    </p:blipFill>
                    <p:spPr>
                      <a:xfrm>
                        <a:off x="685800" y="3070930"/>
                        <a:ext cx="3262086" cy="984250"/>
                      </a:xfrm>
                      <a:prstGeom prst="rect">
                        <a:avLst/>
                      </a:prstGeom>
                    </p:spPr>
                  </p:pic>
                </p:oleObj>
              </mc:Fallback>
            </mc:AlternateContent>
          </a:graphicData>
        </a:graphic>
      </p:graphicFrame>
      <p:sp>
        <p:nvSpPr>
          <p:cNvPr id="3" name="Content Placeholder 2"/>
          <p:cNvSpPr>
            <a:spLocks noGrp="1"/>
          </p:cNvSpPr>
          <p:nvPr>
            <p:ph idx="1"/>
          </p:nvPr>
        </p:nvSpPr>
        <p:spPr>
          <a:xfrm>
            <a:off x="0" y="725254"/>
            <a:ext cx="9067800" cy="2170345"/>
          </a:xfrm>
        </p:spPr>
        <p:txBody>
          <a:bodyPr>
            <a:normAutofit/>
          </a:bodyPr>
          <a:lstStyle/>
          <a:p>
            <a:endParaRPr lang="en-US" sz="2000" dirty="0"/>
          </a:p>
          <a:p>
            <a:r>
              <a:rPr lang="en-US" sz="2000" dirty="0"/>
              <a:t>The prior slide used </a:t>
            </a:r>
            <a:r>
              <a:rPr lang="en-US" sz="2000" i="1" dirty="0"/>
              <a:t>nominal returns</a:t>
            </a:r>
            <a:r>
              <a:rPr lang="en-US" sz="2000" dirty="0"/>
              <a:t>.  If you wanted to redo with </a:t>
            </a:r>
            <a:r>
              <a:rPr lang="en-US" sz="2000" i="1" dirty="0"/>
              <a:t>real returns </a:t>
            </a:r>
            <a:r>
              <a:rPr lang="en-US" sz="2000" dirty="0"/>
              <a:t>you would need to adjust all of the nominal returns for bills, bonds, and stocks, using the formula given below. </a:t>
            </a:r>
          </a:p>
        </p:txBody>
      </p:sp>
      <p:sp>
        <p:nvSpPr>
          <p:cNvPr id="6" name="TextBox 5">
            <a:extLst>
              <a:ext uri="{FF2B5EF4-FFF2-40B4-BE49-F238E27FC236}">
                <a16:creationId xmlns:a16="http://schemas.microsoft.com/office/drawing/2014/main" id="{CA513F52-A1B6-4E95-91AF-7571623ED91C}"/>
              </a:ext>
            </a:extLst>
          </p:cNvPr>
          <p:cNvSpPr txBox="1"/>
          <p:nvPr/>
        </p:nvSpPr>
        <p:spPr>
          <a:xfrm>
            <a:off x="4940808" y="2914471"/>
            <a:ext cx="3771900" cy="1200329"/>
          </a:xfrm>
          <a:prstGeom prst="rect">
            <a:avLst/>
          </a:prstGeom>
          <a:solidFill>
            <a:srgbClr val="00B0F0"/>
          </a:solidFill>
          <a:ln w="25400">
            <a:solidFill>
              <a:schemeClr val="tx1"/>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Times New Roman" pitchFamily="18" charset="0"/>
                <a:ea typeface="+mn-ea"/>
                <a:cs typeface="+mn-cs"/>
              </a:rPr>
              <a:t>This must be applied at the previous slide’s step 1, with the analysis in the previous slide’s steps 2 and 3 carried out on the derived real returns.</a:t>
            </a:r>
          </a:p>
        </p:txBody>
      </p:sp>
      <p:sp>
        <p:nvSpPr>
          <p:cNvPr id="7" name="Left Arrow 6">
            <a:extLst>
              <a:ext uri="{FF2B5EF4-FFF2-40B4-BE49-F238E27FC236}">
                <a16:creationId xmlns:a16="http://schemas.microsoft.com/office/drawing/2014/main" id="{F86FE881-B9D1-4CDC-9532-15EB321A649B}"/>
              </a:ext>
            </a:extLst>
          </p:cNvPr>
          <p:cNvSpPr/>
          <p:nvPr/>
        </p:nvSpPr>
        <p:spPr>
          <a:xfrm>
            <a:off x="4191000" y="3271589"/>
            <a:ext cx="673608" cy="484632"/>
          </a:xfrm>
          <a:prstGeom prst="leftArrow">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250287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1219200" y="301625"/>
            <a:ext cx="7848600" cy="1143000"/>
          </a:xfrm>
        </p:spPr>
        <p:txBody>
          <a:bodyPr/>
          <a:lstStyle/>
          <a:p>
            <a:pPr eaLnBrk="1" hangingPunct="1"/>
            <a:r>
              <a:rPr lang="en-US" sz="3200" dirty="0">
                <a:latin typeface="Times New Roman" pitchFamily="18" charset="0"/>
              </a:rPr>
              <a:t>Asset Allocation Theory: Mean-Variance Approach</a:t>
            </a:r>
          </a:p>
        </p:txBody>
      </p:sp>
      <p:sp>
        <p:nvSpPr>
          <p:cNvPr id="10244" name="Rectangle 3"/>
          <p:cNvSpPr>
            <a:spLocks noGrp="1" noChangeArrowheads="1"/>
          </p:cNvSpPr>
          <p:nvPr>
            <p:ph type="body" idx="1"/>
          </p:nvPr>
        </p:nvSpPr>
        <p:spPr>
          <a:xfrm>
            <a:off x="838201" y="1827213"/>
            <a:ext cx="8001000" cy="4114800"/>
          </a:xfrm>
        </p:spPr>
        <p:txBody>
          <a:bodyPr/>
          <a:lstStyle/>
          <a:p>
            <a:pPr eaLnBrk="1" hangingPunct="1"/>
            <a:r>
              <a:rPr lang="en-US" sz="2400" dirty="0">
                <a:latin typeface="Times New Roman" pitchFamily="18" charset="0"/>
              </a:rPr>
              <a:t>Also called “Modern Portfolio Theory” (origins in 1960’s): a backbone of institutional asset management and personal finance for many years.</a:t>
            </a:r>
          </a:p>
          <a:p>
            <a:pPr eaLnBrk="1" hangingPunct="1"/>
            <a:r>
              <a:rPr lang="en-US" sz="2400" dirty="0">
                <a:latin typeface="Times New Roman" pitchFamily="18" charset="0"/>
              </a:rPr>
              <a:t>Requires: define </a:t>
            </a:r>
            <a:r>
              <a:rPr lang="en-US" sz="2400" i="1" dirty="0">
                <a:latin typeface="Times New Roman" pitchFamily="18" charset="0"/>
              </a:rPr>
              <a:t>asset classes</a:t>
            </a:r>
            <a:r>
              <a:rPr lang="en-US" sz="2400" dirty="0">
                <a:latin typeface="Times New Roman" pitchFamily="18" charset="0"/>
              </a:rPr>
              <a:t>, </a:t>
            </a:r>
            <a:r>
              <a:rPr lang="en-US" sz="2400" i="1" dirty="0">
                <a:latin typeface="Times New Roman" pitchFamily="18" charset="0"/>
              </a:rPr>
              <a:t>expected returns</a:t>
            </a:r>
            <a:r>
              <a:rPr lang="en-US" sz="2400" dirty="0">
                <a:latin typeface="Times New Roman" pitchFamily="18" charset="0"/>
              </a:rPr>
              <a:t>, and a </a:t>
            </a:r>
            <a:r>
              <a:rPr lang="en-US" sz="2400" i="1" dirty="0">
                <a:latin typeface="Times New Roman" pitchFamily="18" charset="0"/>
              </a:rPr>
              <a:t>covariance matrix</a:t>
            </a:r>
            <a:r>
              <a:rPr lang="en-US" sz="2400" dirty="0">
                <a:latin typeface="Times New Roman" pitchFamily="18" charset="0"/>
              </a:rPr>
              <a:t>.  </a:t>
            </a:r>
          </a:p>
          <a:p>
            <a:pPr eaLnBrk="1" hangingPunct="1"/>
            <a:r>
              <a:rPr lang="en-US" sz="2400" dirty="0">
                <a:latin typeface="Times New Roman" pitchFamily="18" charset="0"/>
              </a:rPr>
              <a:t>Math: gives </a:t>
            </a:r>
            <a:r>
              <a:rPr lang="en-US" sz="2400" i="1" dirty="0">
                <a:latin typeface="Times New Roman" pitchFamily="18" charset="0"/>
              </a:rPr>
              <a:t>efficient frontier</a:t>
            </a:r>
            <a:r>
              <a:rPr lang="en-US" sz="2400" dirty="0">
                <a:latin typeface="Times New Roman" pitchFamily="18" charset="0"/>
              </a:rPr>
              <a:t>, which maximizes mean for a given variance/</a:t>
            </a:r>
            <a:r>
              <a:rPr lang="en-US" sz="2400" dirty="0" err="1">
                <a:latin typeface="Times New Roman" pitchFamily="18" charset="0"/>
              </a:rPr>
              <a:t>sd</a:t>
            </a:r>
            <a:endParaRPr lang="en-US" sz="2400" dirty="0">
              <a:latin typeface="Times New Roman" pitchFamily="18" charset="0"/>
            </a:endParaRPr>
          </a:p>
          <a:p>
            <a:pPr eaLnBrk="1" hangingPunct="1"/>
            <a:r>
              <a:rPr lang="en-US" sz="2400" dirty="0">
                <a:latin typeface="Times New Roman" pitchFamily="18" charset="0"/>
              </a:rPr>
              <a:t>According to individual </a:t>
            </a:r>
            <a:r>
              <a:rPr lang="en-US" sz="2400" i="1" dirty="0">
                <a:latin typeface="Times New Roman" pitchFamily="18" charset="0"/>
              </a:rPr>
              <a:t>risk tolerance</a:t>
            </a:r>
            <a:r>
              <a:rPr lang="en-US" sz="2400" dirty="0">
                <a:latin typeface="Times New Roman" pitchFamily="18" charset="0"/>
              </a:rPr>
              <a:t>: select a desired point on the frontier, giving the asset allocation.</a:t>
            </a:r>
          </a:p>
          <a:p>
            <a:pPr eaLnBrk="1" hangingPunct="1"/>
            <a:r>
              <a:rPr lang="en-US" sz="2400" dirty="0">
                <a:latin typeface="Times New Roman" pitchFamily="18" charset="0"/>
              </a:rPr>
              <a:t>Important to understand, pinpoint potential flaws.</a:t>
            </a:r>
          </a:p>
        </p:txBody>
      </p:sp>
    </p:spTree>
    <p:extLst>
      <p:ext uri="{BB962C8B-B14F-4D97-AF65-F5344CB8AC3E}">
        <p14:creationId xmlns:p14="http://schemas.microsoft.com/office/powerpoint/2010/main" val="1121025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sz="3000" b="1" dirty="0">
                <a:latin typeface="Times New Roman" pitchFamily="18" charset="0"/>
              </a:rPr>
              <a:t>Investment Vehicles / Asset Classes  </a:t>
            </a:r>
          </a:p>
        </p:txBody>
      </p:sp>
      <p:sp>
        <p:nvSpPr>
          <p:cNvPr id="14340" name="Rectangle 3"/>
          <p:cNvSpPr>
            <a:spLocks noGrp="1" noChangeArrowheads="1"/>
          </p:cNvSpPr>
          <p:nvPr>
            <p:ph type="body" idx="1"/>
          </p:nvPr>
        </p:nvSpPr>
        <p:spPr>
          <a:xfrm>
            <a:off x="838200" y="1827213"/>
            <a:ext cx="7845425" cy="4114800"/>
          </a:xfrm>
        </p:spPr>
        <p:txBody>
          <a:bodyPr/>
          <a:lstStyle/>
          <a:p>
            <a:pPr eaLnBrk="1" hangingPunct="1"/>
            <a:r>
              <a:rPr lang="en-US" sz="2500" dirty="0">
                <a:latin typeface="Times New Roman" pitchFamily="18" charset="0"/>
              </a:rPr>
              <a:t>How do we identify an “asset class”?  Are these stable over time?</a:t>
            </a:r>
          </a:p>
          <a:p>
            <a:pPr eaLnBrk="1" hangingPunct="1"/>
            <a:r>
              <a:rPr lang="en-US" sz="2500" dirty="0">
                <a:latin typeface="Times New Roman" pitchFamily="18" charset="0"/>
              </a:rPr>
              <a:t>What do people use now?</a:t>
            </a:r>
          </a:p>
          <a:p>
            <a:pPr lvl="1" eaLnBrk="1" hangingPunct="1"/>
            <a:r>
              <a:rPr lang="en-US" sz="2300" dirty="0">
                <a:latin typeface="Times New Roman" pitchFamily="18" charset="0"/>
              </a:rPr>
              <a:t>Bonds (domestic, foreign, Government, private, junk)</a:t>
            </a:r>
          </a:p>
          <a:p>
            <a:pPr lvl="1" eaLnBrk="1" hangingPunct="1"/>
            <a:r>
              <a:rPr lang="en-US" sz="2300" dirty="0">
                <a:latin typeface="Times New Roman" pitchFamily="18" charset="0"/>
              </a:rPr>
              <a:t>Stocks (domestic, US, EAFE, Emerging, big cap, small cap, mid-cap)</a:t>
            </a:r>
          </a:p>
          <a:p>
            <a:pPr lvl="1" eaLnBrk="1" hangingPunct="1"/>
            <a:r>
              <a:rPr lang="en-US" sz="2300" dirty="0">
                <a:latin typeface="Times New Roman" pitchFamily="18" charset="0"/>
              </a:rPr>
              <a:t>Alternative investments (real estate, private equity, ethical funds)</a:t>
            </a:r>
          </a:p>
          <a:p>
            <a:pPr eaLnBrk="1" hangingPunct="1"/>
            <a:r>
              <a:rPr lang="en-US" sz="2500" dirty="0">
                <a:latin typeface="Times New Roman" pitchFamily="18" charset="0"/>
              </a:rPr>
              <a:t>What are the tradeoffs in a few large simple asset classes versus a proliferation of finer categorizations?</a:t>
            </a:r>
          </a:p>
        </p:txBody>
      </p:sp>
    </p:spTree>
    <p:extLst>
      <p:ext uri="{BB962C8B-B14F-4D97-AF65-F5344CB8AC3E}">
        <p14:creationId xmlns:p14="http://schemas.microsoft.com/office/powerpoint/2010/main" val="33638157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34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4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4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34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en-US" sz="2800" b="1" dirty="0">
                <a:latin typeface="Times New Roman" pitchFamily="18" charset="0"/>
              </a:rPr>
              <a:t>The “Modern Portfolio Theory” Recipe</a:t>
            </a:r>
          </a:p>
        </p:txBody>
      </p:sp>
      <p:sp>
        <p:nvSpPr>
          <p:cNvPr id="20484" name="Rectangle 3"/>
          <p:cNvSpPr>
            <a:spLocks noGrp="1" noChangeArrowheads="1"/>
          </p:cNvSpPr>
          <p:nvPr>
            <p:ph type="body" idx="1"/>
          </p:nvPr>
        </p:nvSpPr>
        <p:spPr>
          <a:xfrm>
            <a:off x="685800" y="1827213"/>
            <a:ext cx="7997825" cy="4114800"/>
          </a:xfrm>
        </p:spPr>
        <p:txBody>
          <a:bodyPr/>
          <a:lstStyle/>
          <a:p>
            <a:pPr eaLnBrk="1" hangingPunct="1">
              <a:lnSpc>
                <a:spcPct val="90000"/>
              </a:lnSpc>
            </a:pPr>
            <a:r>
              <a:rPr lang="en-US" sz="2400" dirty="0">
                <a:latin typeface="Times New Roman" pitchFamily="18" charset="0"/>
              </a:rPr>
              <a:t>Define and select asset classes [not obvious]</a:t>
            </a:r>
          </a:p>
          <a:p>
            <a:pPr marL="0" indent="0" eaLnBrk="1" hangingPunct="1">
              <a:lnSpc>
                <a:spcPct val="90000"/>
              </a:lnSpc>
              <a:buNone/>
            </a:pPr>
            <a:endParaRPr lang="en-US" sz="2400" dirty="0">
              <a:latin typeface="Times New Roman" pitchFamily="18" charset="0"/>
            </a:endParaRPr>
          </a:p>
          <a:p>
            <a:pPr eaLnBrk="1" hangingPunct="1">
              <a:lnSpc>
                <a:spcPct val="90000"/>
              </a:lnSpc>
            </a:pPr>
            <a:r>
              <a:rPr lang="en-US" sz="2400" dirty="0">
                <a:latin typeface="Times New Roman" pitchFamily="18" charset="0"/>
              </a:rPr>
              <a:t>Gather inputs: expected returns, expected risk (or standard deviation of returns) and expected “co-movements” (or correlations) of returns for each asset class [the most difficult part]</a:t>
            </a:r>
          </a:p>
          <a:p>
            <a:pPr marL="0" indent="0" eaLnBrk="1" hangingPunct="1">
              <a:lnSpc>
                <a:spcPct val="90000"/>
              </a:lnSpc>
              <a:buNone/>
            </a:pPr>
            <a:endParaRPr lang="en-US" sz="2400" dirty="0">
              <a:latin typeface="Times New Roman" pitchFamily="18" charset="0"/>
            </a:endParaRPr>
          </a:p>
          <a:p>
            <a:pPr eaLnBrk="1" hangingPunct="1">
              <a:lnSpc>
                <a:spcPct val="90000"/>
              </a:lnSpc>
            </a:pPr>
            <a:r>
              <a:rPr lang="en-US" sz="2400" dirty="0">
                <a:latin typeface="Times New Roman" pitchFamily="18" charset="0"/>
              </a:rPr>
              <a:t>Minimize expected risk, given desired expected returns or maximize expected returns, given desired expected risk level [pretty easy math recipe, the MPT part]</a:t>
            </a:r>
          </a:p>
        </p:txBody>
      </p:sp>
    </p:spTree>
    <p:extLst>
      <p:ext uri="{BB962C8B-B14F-4D97-AF65-F5344CB8AC3E}">
        <p14:creationId xmlns:p14="http://schemas.microsoft.com/office/powerpoint/2010/main" val="1205344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1371600" y="679450"/>
            <a:ext cx="7772400" cy="768350"/>
          </a:xfrm>
        </p:spPr>
        <p:txBody>
          <a:bodyPr/>
          <a:lstStyle/>
          <a:p>
            <a:pPr eaLnBrk="1" hangingPunct="1"/>
            <a:br>
              <a:rPr lang="en-US" sz="3200" dirty="0">
                <a:latin typeface="Times New Roman" pitchFamily="18" charset="0"/>
              </a:rPr>
            </a:br>
            <a:r>
              <a:rPr lang="en-US" sz="2700" b="1" dirty="0">
                <a:latin typeface="Times New Roman" pitchFamily="18" charset="0"/>
              </a:rPr>
              <a:t>Required Formulas</a:t>
            </a:r>
          </a:p>
        </p:txBody>
      </p:sp>
      <p:sp>
        <p:nvSpPr>
          <p:cNvPr id="21508" name="Rectangle 3"/>
          <p:cNvSpPr>
            <a:spLocks noGrp="1" noChangeArrowheads="1"/>
          </p:cNvSpPr>
          <p:nvPr>
            <p:ph type="body" idx="1"/>
          </p:nvPr>
        </p:nvSpPr>
        <p:spPr>
          <a:xfrm>
            <a:off x="1143000" y="1600200"/>
            <a:ext cx="7313612" cy="4114800"/>
          </a:xfrm>
        </p:spPr>
        <p:txBody>
          <a:bodyPr/>
          <a:lstStyle/>
          <a:p>
            <a:pPr marL="222250" indent="-222250" eaLnBrk="1" hangingPunct="1"/>
            <a:r>
              <a:rPr lang="en-US" dirty="0">
                <a:latin typeface="Times New Roman" pitchFamily="18" charset="0"/>
              </a:rPr>
              <a:t>  </a:t>
            </a:r>
            <a:r>
              <a:rPr lang="en-US" sz="2400" dirty="0">
                <a:latin typeface="Times New Roman" pitchFamily="18" charset="0"/>
              </a:rPr>
              <a:t>To carry out the basic mean-variance analysis, we need formulas for:</a:t>
            </a:r>
          </a:p>
          <a:p>
            <a:pPr marL="622300" lvl="1" indent="-222250" eaLnBrk="1" hangingPunct="1"/>
            <a:r>
              <a:rPr lang="en-US" sz="2000" dirty="0">
                <a:latin typeface="Times New Roman" pitchFamily="18" charset="0"/>
              </a:rPr>
              <a:t>Portfolio Means</a:t>
            </a:r>
          </a:p>
          <a:p>
            <a:pPr marL="622300" lvl="1" indent="-222250" eaLnBrk="1" hangingPunct="1"/>
            <a:r>
              <a:rPr lang="en-US" sz="2000" dirty="0">
                <a:latin typeface="Times New Roman" pitchFamily="18" charset="0"/>
              </a:rPr>
              <a:t>Portfolio Variance / Standard deviation</a:t>
            </a:r>
          </a:p>
        </p:txBody>
      </p:sp>
    </p:spTree>
    <p:extLst>
      <p:ext uri="{BB962C8B-B14F-4D97-AF65-F5344CB8AC3E}">
        <p14:creationId xmlns:p14="http://schemas.microsoft.com/office/powerpoint/2010/main" val="66844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1371600" y="679450"/>
            <a:ext cx="7772400" cy="768350"/>
          </a:xfrm>
        </p:spPr>
        <p:txBody>
          <a:bodyPr/>
          <a:lstStyle/>
          <a:p>
            <a:pPr eaLnBrk="1" hangingPunct="1"/>
            <a:br>
              <a:rPr lang="en-US" sz="3200" dirty="0">
                <a:latin typeface="Times New Roman" pitchFamily="18" charset="0"/>
              </a:rPr>
            </a:br>
            <a:r>
              <a:rPr lang="en-US" sz="2700" b="1" dirty="0">
                <a:latin typeface="Times New Roman" pitchFamily="18" charset="0"/>
              </a:rPr>
              <a:t>Portfolio Mean Returns</a:t>
            </a:r>
          </a:p>
        </p:txBody>
      </p:sp>
      <mc:AlternateContent xmlns:mc="http://schemas.openxmlformats.org/markup-compatibility/2006" xmlns:a14="http://schemas.microsoft.com/office/drawing/2010/main">
        <mc:Choice Requires="a14">
          <p:sp>
            <p:nvSpPr>
              <p:cNvPr id="21508" name="Rectangle 3"/>
              <p:cNvSpPr>
                <a:spLocks noGrp="1" noChangeArrowheads="1"/>
              </p:cNvSpPr>
              <p:nvPr>
                <p:ph type="body" idx="1"/>
              </p:nvPr>
            </p:nvSpPr>
            <p:spPr>
              <a:xfrm>
                <a:off x="1143000" y="1600200"/>
                <a:ext cx="7313612" cy="4800600"/>
              </a:xfrm>
            </p:spPr>
            <p:txBody>
              <a:bodyPr/>
              <a:lstStyle/>
              <a:p>
                <a:pPr marL="222250" indent="-222250" eaLnBrk="1" hangingPunct="1"/>
                <a:r>
                  <a:rPr lang="en-US" dirty="0">
                    <a:latin typeface="Times New Roman" pitchFamily="18" charset="0"/>
                  </a:rPr>
                  <a:t>  </a:t>
                </a:r>
                <a:r>
                  <a:rPr lang="en-US" sz="2400" dirty="0">
                    <a:latin typeface="Times New Roman" pitchFamily="18" charset="0"/>
                  </a:rPr>
                  <a:t>Portfolio mean returns are linear in portfolio weights </a:t>
                </a:r>
                <a:r>
                  <a:rPr lang="en-US" sz="2400" dirty="0" err="1">
                    <a:latin typeface="Times New Roman" pitchFamily="18" charset="0"/>
                  </a:rPr>
                  <a:t>w_i</a:t>
                </a:r>
                <a:r>
                  <a:rPr lang="en-US" sz="2400" dirty="0">
                    <a:latin typeface="Times New Roman" pitchFamily="18" charset="0"/>
                  </a:rPr>
                  <a:t> and the mean returns on individual assets </a:t>
                </a:r>
                <a:r>
                  <a:rPr lang="en-US" sz="2400" dirty="0" err="1">
                    <a:latin typeface="Times New Roman" pitchFamily="18" charset="0"/>
                  </a:rPr>
                  <a:t>i</a:t>
                </a:r>
                <a:endParaRPr lang="en-US" sz="2400" dirty="0">
                  <a:latin typeface="Times New Roman" pitchFamily="18" charset="0"/>
                </a:endParaRPr>
              </a:p>
              <a:p>
                <a:pPr marL="622300" lvl="1" indent="-222250" eaLnBrk="1" hangingPunct="1"/>
                <a:r>
                  <a:rPr lang="en-US" sz="2000" dirty="0">
                    <a:latin typeface="Times New Roman" pitchFamily="18" charset="0"/>
                  </a:rPr>
                  <a:t>In expectations:</a:t>
                </a:r>
                <a:endParaRPr lang="en-US" sz="2400" dirty="0">
                  <a:latin typeface="Times New Roman" pitchFamily="18" charset="0"/>
                </a:endParaRPr>
              </a:p>
              <a:p>
                <a:pPr marL="0" indent="0" eaLnBrk="1" hangingPunct="1">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𝑝</m:t>
                              </m:r>
                            </m:sub>
                          </m:sSub>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sub>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𝑖</m:t>
                                  </m:r>
                                </m:sub>
                              </m:sSub>
                            </m:e>
                          </m:d>
                        </m:e>
                      </m:nary>
                    </m:oMath>
                  </m:oMathPara>
                </a14:m>
                <a:endParaRPr lang="en-US" sz="2000" dirty="0">
                  <a:latin typeface="Times New Roman" pitchFamily="18" charset="0"/>
                </a:endParaRPr>
              </a:p>
              <a:p>
                <a:pPr lvl="1" eaLnBrk="1" hangingPunct="1"/>
                <a:r>
                  <a:rPr lang="en-US" sz="2000" dirty="0">
                    <a:latin typeface="Times New Roman" pitchFamily="18" charset="0"/>
                  </a:rPr>
                  <a:t>True of sample means as well</a:t>
                </a:r>
              </a:p>
              <a:p>
                <a:pPr marL="457200" lvl="1" indent="0" eaLnBrk="1" hangingPunct="1">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𝑅</m:t>
                              </m:r>
                            </m:e>
                          </m:acc>
                        </m:e>
                        <m:sub>
                          <m:r>
                            <a:rPr lang="en-US" sz="2000" b="0" i="1" smtClean="0">
                              <a:latin typeface="Cambria Math" panose="02040503050406030204" pitchFamily="18" charset="0"/>
                            </a:rPr>
                            <m:t>𝑝</m:t>
                          </m:r>
                        </m:sub>
                      </m:sSub>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sub>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𝑅</m:t>
                                  </m:r>
                                </m:e>
                              </m:acc>
                            </m:e>
                            <m:sub>
                              <m:r>
                                <a:rPr lang="en-US" sz="2000" b="0" i="1" smtClean="0">
                                  <a:latin typeface="Cambria Math" panose="02040503050406030204" pitchFamily="18" charset="0"/>
                                </a:rPr>
                                <m:t>𝑖</m:t>
                              </m:r>
                            </m:sub>
                          </m:sSub>
                        </m:e>
                      </m:nary>
                    </m:oMath>
                  </m:oMathPara>
                </a14:m>
                <a:endParaRPr lang="en-US" sz="2000" dirty="0">
                  <a:latin typeface="Times New Roman" pitchFamily="18" charset="0"/>
                </a:endParaRPr>
              </a:p>
              <a:p>
                <a:pPr lvl="1" eaLnBrk="1" hangingPunct="1"/>
                <a:r>
                  <a:rPr lang="en-US" sz="2000" dirty="0">
                    <a:latin typeface="Times New Roman" pitchFamily="18" charset="0"/>
                  </a:rPr>
                  <a:t>Remember that portfolio weights have to add up to one:</a:t>
                </a:r>
              </a:p>
              <a:p>
                <a:pPr marL="457200" lvl="1" indent="0" eaLnBrk="1" hangingPunct="1">
                  <a:buNone/>
                </a:pPr>
                <a14:m>
                  <m:oMathPara xmlns:m="http://schemas.openxmlformats.org/officeDocument/2006/math">
                    <m:oMathParaPr>
                      <m:jc m:val="centerGroup"/>
                    </m:oMathParaPr>
                    <m:oMath xmlns:m="http://schemas.openxmlformats.org/officeDocument/2006/math">
                      <m:nary>
                        <m:naryPr>
                          <m:chr m:val="∑"/>
                          <m:supHide m:val="on"/>
                          <m:ctrlPr>
                            <a:rPr lang="en-US" sz="2000" i="1" smtClean="0">
                              <a:latin typeface="Cambria Math" panose="02040503050406030204" pitchFamily="18" charset="0"/>
                            </a:rPr>
                          </m:ctrlPr>
                        </m:naryPr>
                        <m:sub>
                          <m:r>
                            <m:rPr>
                              <m:brk m:alnAt="7"/>
                            </m:rPr>
                            <a:rPr lang="en-US" sz="2000" b="0" i="1" smtClean="0">
                              <a:latin typeface="Cambria Math" panose="02040503050406030204" pitchFamily="18" charset="0"/>
                            </a:rPr>
                            <m:t>𝑖</m:t>
                          </m:r>
                        </m:sub>
                        <m:sup/>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=1</m:t>
                          </m:r>
                        </m:e>
                      </m:nary>
                    </m:oMath>
                  </m:oMathPara>
                </a14:m>
                <a:endParaRPr lang="en-US" sz="2000" dirty="0">
                  <a:latin typeface="Times New Roman" pitchFamily="18" charset="0"/>
                </a:endParaRPr>
              </a:p>
              <a:p>
                <a:pPr marL="0" indent="0" eaLnBrk="1" hangingPunct="1">
                  <a:buNone/>
                </a:pPr>
                <a:endParaRPr lang="en-US" sz="2000" dirty="0">
                  <a:latin typeface="Times New Roman" pitchFamily="18" charset="0"/>
                </a:endParaRPr>
              </a:p>
            </p:txBody>
          </p:sp>
        </mc:Choice>
        <mc:Fallback xmlns="">
          <p:sp>
            <p:nvSpPr>
              <p:cNvPr id="21508" name="Rectangle 3"/>
              <p:cNvSpPr>
                <a:spLocks noGrp="1" noRot="1" noChangeAspect="1" noMove="1" noResize="1" noEditPoints="1" noAdjustHandles="1" noChangeArrowheads="1" noChangeShapeType="1" noTextEdit="1"/>
              </p:cNvSpPr>
              <p:nvPr>
                <p:ph type="body" idx="1"/>
              </p:nvPr>
            </p:nvSpPr>
            <p:spPr>
              <a:xfrm>
                <a:off x="1143000" y="1600200"/>
                <a:ext cx="7313612" cy="4800600"/>
              </a:xfrm>
              <a:blipFill>
                <a:blip r:embed="rId3"/>
                <a:stretch>
                  <a:fillRect l="-751"/>
                </a:stretch>
              </a:blipFill>
            </p:spPr>
            <p:txBody>
              <a:bodyPr/>
              <a:lstStyle/>
              <a:p>
                <a:r>
                  <a:rPr lang="en-US">
                    <a:noFill/>
                  </a:rPr>
                  <a:t> </a:t>
                </a:r>
              </a:p>
            </p:txBody>
          </p:sp>
        </mc:Fallback>
      </mc:AlternateContent>
    </p:spTree>
    <p:extLst>
      <p:ext uri="{BB962C8B-B14F-4D97-AF65-F5344CB8AC3E}">
        <p14:creationId xmlns:p14="http://schemas.microsoft.com/office/powerpoint/2010/main" val="3382818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1371600" y="679450"/>
            <a:ext cx="7772400" cy="768350"/>
          </a:xfrm>
        </p:spPr>
        <p:txBody>
          <a:bodyPr/>
          <a:lstStyle/>
          <a:p>
            <a:pPr eaLnBrk="1" hangingPunct="1"/>
            <a:br>
              <a:rPr lang="en-US" sz="3200" dirty="0">
                <a:latin typeface="Times New Roman" pitchFamily="18" charset="0"/>
              </a:rPr>
            </a:br>
            <a:r>
              <a:rPr lang="en-US" sz="2700" b="1" dirty="0">
                <a:latin typeface="Times New Roman" pitchFamily="18" charset="0"/>
              </a:rPr>
              <a:t>Portfolio Variances</a:t>
            </a:r>
          </a:p>
        </p:txBody>
      </p:sp>
      <mc:AlternateContent xmlns:mc="http://schemas.openxmlformats.org/markup-compatibility/2006" xmlns:a14="http://schemas.microsoft.com/office/drawing/2010/main">
        <mc:Choice Requires="a14">
          <p:sp>
            <p:nvSpPr>
              <p:cNvPr id="21508" name="Rectangle 3"/>
              <p:cNvSpPr>
                <a:spLocks noGrp="1" noChangeArrowheads="1"/>
              </p:cNvSpPr>
              <p:nvPr>
                <p:ph type="body" idx="1"/>
              </p:nvPr>
            </p:nvSpPr>
            <p:spPr>
              <a:xfrm>
                <a:off x="1143000" y="1600200"/>
                <a:ext cx="7313612" cy="4800600"/>
              </a:xfrm>
            </p:spPr>
            <p:txBody>
              <a:bodyPr/>
              <a:lstStyle/>
              <a:p>
                <a:pPr marL="222250" indent="-222250" eaLnBrk="1" hangingPunct="1"/>
                <a:r>
                  <a:rPr lang="en-US" dirty="0">
                    <a:latin typeface="Times New Roman" pitchFamily="18" charset="0"/>
                  </a:rPr>
                  <a:t>  </a:t>
                </a:r>
                <a:r>
                  <a:rPr lang="en-US" sz="2400" dirty="0">
                    <a:latin typeface="Times New Roman" pitchFamily="18" charset="0"/>
                  </a:rPr>
                  <a:t>Portfolio variances build on the rule that Var(X+Y)=Var(X)+Var(Y)+2cov(X,Y)</a:t>
                </a:r>
              </a:p>
              <a:p>
                <a:pPr marL="622300" lvl="1" indent="-222250" eaLnBrk="1" hangingPunct="1"/>
                <a:r>
                  <a:rPr lang="en-US" sz="2000" dirty="0">
                    <a:latin typeface="Times New Roman" pitchFamily="18" charset="0"/>
                  </a:rPr>
                  <a:t>In population or sample moments:</a:t>
                </a:r>
                <a:endParaRPr lang="en-US" sz="2400" dirty="0">
                  <a:latin typeface="Times New Roman" pitchFamily="18" charset="0"/>
                </a:endParaRPr>
              </a:p>
              <a:p>
                <a:pPr marL="0" indent="0" eaLnBrk="1" hangingPunct="1">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𝑉𝑎𝑟</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𝑝</m:t>
                              </m:r>
                            </m:sub>
                          </m:sSub>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sub>
                        <m:sup/>
                        <m:e>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𝑉𝑎𝑟</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𝑖</m:t>
                                  </m:r>
                                </m:sub>
                              </m:sSub>
                            </m:e>
                          </m:d>
                          <m:r>
                            <a:rPr lang="en-US" sz="2000" b="0" i="1" smtClean="0">
                              <a:latin typeface="Cambria Math" panose="02040503050406030204" pitchFamily="18" charset="0"/>
                            </a:rPr>
                            <m:t>+2</m:t>
                          </m:r>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𝑗</m:t>
                              </m:r>
                            </m:sub>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𝐶𝑜𝑣</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𝑗</m:t>
                                      </m:r>
                                    </m:sub>
                                  </m:sSub>
                                </m:e>
                              </m:d>
                            </m:e>
                          </m:nary>
                        </m:e>
                      </m:nary>
                    </m:oMath>
                  </m:oMathPara>
                </a14:m>
                <a:endParaRPr lang="en-US" sz="2000" dirty="0">
                  <a:latin typeface="Times New Roman" pitchFamily="18" charset="0"/>
                </a:endParaRPr>
              </a:p>
              <a:p>
                <a:pPr marL="0" indent="0" eaLnBrk="1" hangingPunct="1">
                  <a:buNone/>
                </a:pPr>
                <a:endParaRPr lang="en-US" sz="2000" dirty="0">
                  <a:latin typeface="Times New Roman" pitchFamily="18" charset="0"/>
                </a:endParaRPr>
              </a:p>
            </p:txBody>
          </p:sp>
        </mc:Choice>
        <mc:Fallback xmlns="">
          <p:sp>
            <p:nvSpPr>
              <p:cNvPr id="21508" name="Rectangle 3"/>
              <p:cNvSpPr>
                <a:spLocks noGrp="1" noRot="1" noChangeAspect="1" noMove="1" noResize="1" noEditPoints="1" noAdjustHandles="1" noChangeArrowheads="1" noChangeShapeType="1" noTextEdit="1"/>
              </p:cNvSpPr>
              <p:nvPr>
                <p:ph type="body" idx="1"/>
              </p:nvPr>
            </p:nvSpPr>
            <p:spPr>
              <a:xfrm>
                <a:off x="1143000" y="1600200"/>
                <a:ext cx="7313612" cy="4800600"/>
              </a:xfrm>
              <a:blipFill>
                <a:blip r:embed="rId3"/>
                <a:stretch>
                  <a:fillRect l="-751"/>
                </a:stretch>
              </a:blipFill>
            </p:spPr>
            <p:txBody>
              <a:bodyPr/>
              <a:lstStyle/>
              <a:p>
                <a:r>
                  <a:rPr lang="en-US">
                    <a:noFill/>
                  </a:rPr>
                  <a:t> </a:t>
                </a:r>
              </a:p>
            </p:txBody>
          </p:sp>
        </mc:Fallback>
      </mc:AlternateContent>
    </p:spTree>
    <p:extLst>
      <p:ext uri="{BB962C8B-B14F-4D97-AF65-F5344CB8AC3E}">
        <p14:creationId xmlns:p14="http://schemas.microsoft.com/office/powerpoint/2010/main" val="1346347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1371600" y="679450"/>
            <a:ext cx="7772400" cy="768350"/>
          </a:xfrm>
        </p:spPr>
        <p:txBody>
          <a:bodyPr/>
          <a:lstStyle/>
          <a:p>
            <a:pPr eaLnBrk="1" hangingPunct="1"/>
            <a:br>
              <a:rPr lang="en-US" sz="3200" dirty="0">
                <a:latin typeface="Times New Roman" pitchFamily="18" charset="0"/>
              </a:rPr>
            </a:br>
            <a:r>
              <a:rPr lang="en-US" sz="2700" b="1" dirty="0">
                <a:latin typeface="Times New Roman" pitchFamily="18" charset="0"/>
              </a:rPr>
              <a:t>Two Asset Example</a:t>
            </a:r>
          </a:p>
        </p:txBody>
      </p:sp>
      <p:sp>
        <p:nvSpPr>
          <p:cNvPr id="21508" name="Rectangle 3"/>
          <p:cNvSpPr>
            <a:spLocks noGrp="1" noChangeArrowheads="1"/>
          </p:cNvSpPr>
          <p:nvPr>
            <p:ph type="body" idx="1"/>
          </p:nvPr>
        </p:nvSpPr>
        <p:spPr>
          <a:xfrm>
            <a:off x="1143000" y="1600200"/>
            <a:ext cx="7313612" cy="4114800"/>
          </a:xfrm>
        </p:spPr>
        <p:txBody>
          <a:bodyPr/>
          <a:lstStyle/>
          <a:p>
            <a:pPr marL="222250" indent="-222250" eaLnBrk="1" hangingPunct="1"/>
            <a:r>
              <a:rPr lang="en-US" sz="2000" dirty="0">
                <a:latin typeface="Times New Roman" pitchFamily="18" charset="0"/>
              </a:rPr>
              <a:t>  Find combinations of assets that</a:t>
            </a:r>
          </a:p>
          <a:p>
            <a:pPr lvl="1" eaLnBrk="1" hangingPunct="1"/>
            <a:r>
              <a:rPr lang="en-US" sz="2000" dirty="0">
                <a:latin typeface="Times New Roman" pitchFamily="18" charset="0"/>
              </a:rPr>
              <a:t>Minimize risk for a given expected return, or</a:t>
            </a:r>
          </a:p>
          <a:p>
            <a:pPr lvl="1" eaLnBrk="1" hangingPunct="1"/>
            <a:r>
              <a:rPr lang="en-US" sz="2000" dirty="0">
                <a:latin typeface="Times New Roman" pitchFamily="18" charset="0"/>
              </a:rPr>
              <a:t>Maximize expected return for a given volatility</a:t>
            </a:r>
          </a:p>
          <a:p>
            <a:pPr marL="222250" indent="-222250" eaLnBrk="1" hangingPunct="1"/>
            <a:r>
              <a:rPr lang="en-US" sz="2000" dirty="0">
                <a:latin typeface="Times New Roman" pitchFamily="18" charset="0"/>
              </a:rPr>
              <a:t>  </a:t>
            </a:r>
            <a:r>
              <a:rPr lang="en-US" sz="2000" dirty="0">
                <a:solidFill>
                  <a:srgbClr val="00B050"/>
                </a:solidFill>
                <a:latin typeface="Times New Roman" pitchFamily="18" charset="0"/>
                <a:cs typeface="Times New Roman" pitchFamily="18" charset="0"/>
              </a:rPr>
              <a:t>In class</a:t>
            </a:r>
            <a:r>
              <a:rPr lang="en-US" sz="2000" dirty="0">
                <a:latin typeface="Times New Roman" pitchFamily="18" charset="0"/>
              </a:rPr>
              <a:t>: </a:t>
            </a:r>
            <a:r>
              <a:rPr lang="en-US" sz="2000" dirty="0">
                <a:solidFill>
                  <a:srgbClr val="00B050"/>
                </a:solidFill>
                <a:latin typeface="Times New Roman" pitchFamily="18" charset="0"/>
              </a:rPr>
              <a:t>Assume two asset classes as shown below. Vary weights by 10% and calculate expected returns and volatility of the 11 portfolios. </a:t>
            </a:r>
          </a:p>
          <a:p>
            <a:pPr lvl="1" eaLnBrk="1" hangingPunct="1"/>
            <a:r>
              <a:rPr lang="en-US" sz="2000" dirty="0">
                <a:latin typeface="Times New Roman" pitchFamily="18" charset="0"/>
              </a:rPr>
              <a:t>Stock: E(r) = .08, </a:t>
            </a:r>
            <a:r>
              <a:rPr lang="en-US" sz="2000" dirty="0" err="1">
                <a:latin typeface="Times New Roman" pitchFamily="18" charset="0"/>
                <a:cs typeface="Times New Roman" pitchFamily="18" charset="0"/>
              </a:rPr>
              <a:t>σ</a:t>
            </a:r>
            <a:r>
              <a:rPr lang="en-US" sz="2000" baseline="-25000" dirty="0" err="1">
                <a:latin typeface="Times New Roman" pitchFamily="18" charset="0"/>
                <a:cs typeface="Times New Roman" pitchFamily="18" charset="0"/>
              </a:rPr>
              <a:t>S</a:t>
            </a:r>
            <a:r>
              <a:rPr lang="en-US" sz="2000" dirty="0">
                <a:latin typeface="Times New Roman" pitchFamily="18" charset="0"/>
                <a:cs typeface="Times New Roman" pitchFamily="18" charset="0"/>
              </a:rPr>
              <a:t> = .15</a:t>
            </a:r>
          </a:p>
          <a:p>
            <a:pPr lvl="1" eaLnBrk="1" hangingPunct="1"/>
            <a:r>
              <a:rPr lang="en-US" sz="2000" dirty="0">
                <a:latin typeface="Times New Roman" pitchFamily="18" charset="0"/>
                <a:cs typeface="Times New Roman" pitchFamily="18" charset="0"/>
              </a:rPr>
              <a:t>Bonds: E(r) = .04, </a:t>
            </a:r>
            <a:r>
              <a:rPr lang="en-US" sz="2000" dirty="0" err="1">
                <a:latin typeface="Times New Roman" pitchFamily="18" charset="0"/>
                <a:cs typeface="Times New Roman" pitchFamily="18" charset="0"/>
              </a:rPr>
              <a:t>σ</a:t>
            </a:r>
            <a:r>
              <a:rPr lang="en-US" sz="2000" baseline="-25000" dirty="0" err="1">
                <a:latin typeface="Times New Roman" pitchFamily="18" charset="0"/>
                <a:cs typeface="Times New Roman" pitchFamily="18" charset="0"/>
              </a:rPr>
              <a:t>B</a:t>
            </a:r>
            <a:r>
              <a:rPr lang="en-US" sz="2000" dirty="0">
                <a:latin typeface="Times New Roman" pitchFamily="18" charset="0"/>
                <a:cs typeface="Times New Roman" pitchFamily="18" charset="0"/>
              </a:rPr>
              <a:t> = .10</a:t>
            </a:r>
          </a:p>
          <a:p>
            <a:pPr lvl="1" eaLnBrk="1" hangingPunct="1"/>
            <a:r>
              <a:rPr lang="en-US" sz="2000" dirty="0">
                <a:latin typeface="Times New Roman" pitchFamily="18" charset="0"/>
                <a:cs typeface="Times New Roman" pitchFamily="18" charset="0"/>
              </a:rPr>
              <a:t>Correlation: </a:t>
            </a:r>
            <a:r>
              <a:rPr lang="en-US" sz="2000" dirty="0" err="1">
                <a:latin typeface="Times New Roman" pitchFamily="18" charset="0"/>
                <a:cs typeface="Times New Roman" pitchFamily="18" charset="0"/>
              </a:rPr>
              <a:t>ρ</a:t>
            </a:r>
            <a:r>
              <a:rPr lang="en-US" sz="2000" baseline="-25000" dirty="0" err="1">
                <a:latin typeface="Times New Roman" pitchFamily="18" charset="0"/>
                <a:cs typeface="Times New Roman" pitchFamily="18" charset="0"/>
              </a:rPr>
              <a:t>S,B</a:t>
            </a:r>
            <a:r>
              <a:rPr lang="en-US" sz="2000" dirty="0">
                <a:latin typeface="Times New Roman" pitchFamily="18" charset="0"/>
                <a:cs typeface="Times New Roman" pitchFamily="18" charset="0"/>
              </a:rPr>
              <a:t> = .30</a:t>
            </a:r>
          </a:p>
          <a:p>
            <a:pPr eaLnBrk="1" hangingPunct="1"/>
            <a:endParaRPr lang="en-US" sz="2000" dirty="0">
              <a:latin typeface="Times New Roman" pitchFamily="18" charset="0"/>
              <a:cs typeface="Times New Roman" pitchFamily="18" charset="0"/>
            </a:endParaRPr>
          </a:p>
          <a:p>
            <a:pPr eaLnBrk="1" hangingPunct="1"/>
            <a:r>
              <a:rPr lang="en-US" sz="2000" dirty="0">
                <a:latin typeface="Times New Roman" pitchFamily="18" charset="0"/>
                <a:cs typeface="Times New Roman" pitchFamily="18" charset="0"/>
              </a:rPr>
              <a:t>Remember E[</a:t>
            </a:r>
            <a:r>
              <a:rPr lang="en-US" sz="2000" dirty="0" err="1">
                <a:latin typeface="Times New Roman" pitchFamily="18" charset="0"/>
                <a:cs typeface="Times New Roman" pitchFamily="18" charset="0"/>
              </a:rPr>
              <a:t>Rp</a:t>
            </a:r>
            <a:r>
              <a:rPr lang="en-US" sz="2000" dirty="0">
                <a:latin typeface="Times New Roman" pitchFamily="18" charset="0"/>
                <a:cs typeface="Times New Roman" pitchFamily="18" charset="0"/>
              </a:rPr>
              <a:t>]=w1E[R1]+w2E[R2]</a:t>
            </a:r>
          </a:p>
          <a:p>
            <a:pPr eaLnBrk="1" hangingPunct="1"/>
            <a:r>
              <a:rPr lang="en-US" sz="2000" dirty="0">
                <a:latin typeface="Times New Roman" pitchFamily="18" charset="0"/>
                <a:cs typeface="Times New Roman" pitchFamily="18" charset="0"/>
              </a:rPr>
              <a:t>And Var(</a:t>
            </a:r>
            <a:r>
              <a:rPr lang="en-US" sz="2000" dirty="0" err="1">
                <a:latin typeface="Times New Roman" pitchFamily="18" charset="0"/>
                <a:cs typeface="Times New Roman" pitchFamily="18" charset="0"/>
              </a:rPr>
              <a:t>Rp</a:t>
            </a:r>
            <a:r>
              <a:rPr lang="en-US" sz="2000" dirty="0">
                <a:latin typeface="Times New Roman" pitchFamily="18" charset="0"/>
                <a:cs typeface="Times New Roman" pitchFamily="18" charset="0"/>
              </a:rPr>
              <a:t>) = (w1^2)*Var(R1) + (w2^2)*Var(R2) + 2*w1 * w2 * </a:t>
            </a:r>
            <a:r>
              <a:rPr lang="en-US" sz="2000" dirty="0" err="1">
                <a:latin typeface="Times New Roman" pitchFamily="18" charset="0"/>
                <a:cs typeface="Times New Roman" pitchFamily="18" charset="0"/>
              </a:rPr>
              <a:t>Cov</a:t>
            </a:r>
            <a:r>
              <a:rPr lang="en-US" sz="2000" dirty="0">
                <a:latin typeface="Times New Roman" pitchFamily="18" charset="0"/>
                <a:cs typeface="Times New Roman" pitchFamily="18" charset="0"/>
              </a:rPr>
              <a:t>(R1,R2)</a:t>
            </a:r>
            <a:endParaRPr lang="en-US" sz="2000" dirty="0">
              <a:latin typeface="Times New Roman" pitchFamily="18" charset="0"/>
            </a:endParaRPr>
          </a:p>
        </p:txBody>
      </p:sp>
      <p:sp>
        <p:nvSpPr>
          <p:cNvPr id="4" name="TextBox 3"/>
          <p:cNvSpPr txBox="1"/>
          <p:nvPr/>
        </p:nvSpPr>
        <p:spPr>
          <a:xfrm>
            <a:off x="6172200" y="3918260"/>
            <a:ext cx="2857500" cy="830997"/>
          </a:xfrm>
          <a:prstGeom prst="rect">
            <a:avLst/>
          </a:prstGeom>
          <a:solidFill>
            <a:srgbClr val="00B0F0"/>
          </a:solidFill>
          <a:ln w="25400">
            <a:solidFill>
              <a:schemeClr val="tx1"/>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CA" sz="1600" b="0" i="0" u="none" strike="noStrike" kern="1200" cap="none" spc="0" normalizeH="0" baseline="0" noProof="0" dirty="0">
                <a:ln>
                  <a:noFill/>
                </a:ln>
                <a:solidFill>
                  <a:srgbClr val="000000"/>
                </a:solidFill>
                <a:effectLst/>
                <a:uLnTx/>
                <a:uFillTx/>
                <a:cs typeface="Arial"/>
              </a:rPr>
              <a:t>Note that these inputs could be estimated from our spreadsheet </a:t>
            </a:r>
            <a:r>
              <a:rPr kumimoji="0" lang="en-CA" sz="1600" b="0" i="0" u="none" strike="noStrike" kern="1200" cap="none" spc="0" normalizeH="0" baseline="0" noProof="0" dirty="0" err="1">
                <a:ln>
                  <a:noFill/>
                </a:ln>
                <a:solidFill>
                  <a:srgbClr val="000000"/>
                </a:solidFill>
                <a:effectLst/>
                <a:uLnTx/>
                <a:uFillTx/>
                <a:cs typeface="Arial"/>
              </a:rPr>
              <a:t>histretSP</a:t>
            </a:r>
            <a:r>
              <a:rPr lang="en-CA" sz="1600" dirty="0">
                <a:solidFill>
                  <a:srgbClr val="000000"/>
                </a:solidFill>
                <a:cs typeface="Arial"/>
              </a:rPr>
              <a:t>!</a:t>
            </a:r>
            <a:r>
              <a:rPr kumimoji="0" lang="en-CA" sz="1600" b="0" i="0" u="none" strike="noStrike" kern="1200" cap="none" spc="0" normalizeH="0" baseline="0" noProof="0" dirty="0">
                <a:ln>
                  <a:noFill/>
                </a:ln>
                <a:solidFill>
                  <a:srgbClr val="000000"/>
                </a:solidFill>
                <a:effectLst/>
                <a:uLnTx/>
                <a:uFillTx/>
                <a:cs typeface="Arial"/>
              </a:rPr>
              <a:t> </a:t>
            </a:r>
          </a:p>
        </p:txBody>
      </p:sp>
      <p:sp>
        <p:nvSpPr>
          <p:cNvPr id="5" name="Left Arrow 4"/>
          <p:cNvSpPr/>
          <p:nvPr/>
        </p:nvSpPr>
        <p:spPr>
          <a:xfrm>
            <a:off x="5257800" y="4058403"/>
            <a:ext cx="762000" cy="261206"/>
          </a:xfrm>
          <a:prstGeom prst="leftArrow">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Verdana"/>
              <a:ea typeface="+mn-ea"/>
              <a:cs typeface="Arial"/>
            </a:endParaRPr>
          </a:p>
        </p:txBody>
      </p:sp>
    </p:spTree>
    <p:extLst>
      <p:ext uri="{BB962C8B-B14F-4D97-AF65-F5344CB8AC3E}">
        <p14:creationId xmlns:p14="http://schemas.microsoft.com/office/powerpoint/2010/main" val="503990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01"/>
          <p:cNvSpPr>
            <a:spLocks noGrp="1" noChangeArrowheads="1"/>
          </p:cNvSpPr>
          <p:nvPr>
            <p:ph type="title"/>
          </p:nvPr>
        </p:nvSpPr>
        <p:spPr/>
        <p:txBody>
          <a:bodyPr/>
          <a:lstStyle/>
          <a:p>
            <a:pPr eaLnBrk="1" hangingPunct="1"/>
            <a:r>
              <a:rPr lang="en-US" sz="3200" b="1">
                <a:solidFill>
                  <a:schemeClr val="tx1"/>
                </a:solidFill>
                <a:latin typeface="Times New Roman" pitchFamily="18" charset="0"/>
              </a:rPr>
              <a:t>Example - Portfolios</a:t>
            </a:r>
          </a:p>
        </p:txBody>
      </p:sp>
      <p:graphicFrame>
        <p:nvGraphicFramePr>
          <p:cNvPr id="224743" name="Group 487"/>
          <p:cNvGraphicFramePr>
            <a:graphicFrameLocks noGrp="1"/>
          </p:cNvGraphicFramePr>
          <p:nvPr>
            <p:ph idx="1"/>
            <p:extLst>
              <p:ext uri="{D42A27DB-BD31-4B8C-83A1-F6EECF244321}">
                <p14:modId xmlns:p14="http://schemas.microsoft.com/office/powerpoint/2010/main" val="1505541557"/>
              </p:ext>
            </p:extLst>
          </p:nvPr>
        </p:nvGraphicFramePr>
        <p:xfrm>
          <a:off x="838200" y="1827213"/>
          <a:ext cx="7313612" cy="4575809"/>
        </p:xfrm>
        <a:graphic>
          <a:graphicData uri="http://schemas.openxmlformats.org/drawingml/2006/table">
            <a:tbl>
              <a:tblPr/>
              <a:tblGrid>
                <a:gridCol w="1831975">
                  <a:extLst>
                    <a:ext uri="{9D8B030D-6E8A-4147-A177-3AD203B41FA5}">
                      <a16:colId xmlns:a16="http://schemas.microsoft.com/office/drawing/2014/main" val="20000"/>
                    </a:ext>
                  </a:extLst>
                </a:gridCol>
                <a:gridCol w="1377950">
                  <a:extLst>
                    <a:ext uri="{9D8B030D-6E8A-4147-A177-3AD203B41FA5}">
                      <a16:colId xmlns:a16="http://schemas.microsoft.com/office/drawing/2014/main" val="20001"/>
                    </a:ext>
                  </a:extLst>
                </a:gridCol>
                <a:gridCol w="1377950">
                  <a:extLst>
                    <a:ext uri="{9D8B030D-6E8A-4147-A177-3AD203B41FA5}">
                      <a16:colId xmlns:a16="http://schemas.microsoft.com/office/drawing/2014/main" val="20002"/>
                    </a:ext>
                  </a:extLst>
                </a:gridCol>
                <a:gridCol w="1214437">
                  <a:extLst>
                    <a:ext uri="{9D8B030D-6E8A-4147-A177-3AD203B41FA5}">
                      <a16:colId xmlns:a16="http://schemas.microsoft.com/office/drawing/2014/main" val="20003"/>
                    </a:ext>
                  </a:extLst>
                </a:gridCol>
                <a:gridCol w="1511300">
                  <a:extLst>
                    <a:ext uri="{9D8B030D-6E8A-4147-A177-3AD203B41FA5}">
                      <a16:colId xmlns:a16="http://schemas.microsoft.com/office/drawing/2014/main" val="20004"/>
                    </a:ext>
                  </a:extLst>
                </a:gridCol>
              </a:tblGrid>
              <a:tr h="552449">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1600" b="0" i="0" u="none" strike="noStrike" cap="none" normalizeH="0" baseline="0" dirty="0">
                        <a:ln>
                          <a:noFill/>
                        </a:ln>
                        <a:solidFill>
                          <a:schemeClr val="tx1"/>
                        </a:solidFill>
                        <a:effectLst/>
                        <a:latin typeface="Verdana" pitchFamily="34" charset="0"/>
                        <a:cs typeface="Arial" charset="0"/>
                      </a:endParaRPr>
                    </a:p>
                  </a:txBody>
                  <a:tcPr anchor="b"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600" b="0" i="0" u="none" strike="noStrike" cap="none" normalizeH="0" baseline="0" dirty="0">
                          <a:ln>
                            <a:noFill/>
                          </a:ln>
                          <a:solidFill>
                            <a:schemeClr val="tx1"/>
                          </a:solidFill>
                          <a:effectLst/>
                          <a:latin typeface="Verdana" pitchFamily="34" charset="0"/>
                          <a:cs typeface="Arial" charset="0"/>
                        </a:rPr>
                        <a:t>Bond</a:t>
                      </a:r>
                    </a:p>
                  </a:txBody>
                  <a:tcPr anchor="b"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600" b="0" i="0" u="none" strike="noStrike" cap="none" normalizeH="0" baseline="0" dirty="0">
                          <a:ln>
                            <a:noFill/>
                          </a:ln>
                          <a:solidFill>
                            <a:schemeClr val="tx1"/>
                          </a:solidFill>
                          <a:effectLst/>
                          <a:latin typeface="Verdana" pitchFamily="34" charset="0"/>
                          <a:cs typeface="Arial" charset="0"/>
                        </a:rPr>
                        <a:t>Stock</a:t>
                      </a:r>
                    </a:p>
                  </a:txBody>
                  <a:tcPr anchor="b"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Verdana" pitchFamily="34" charset="0"/>
                          <a:cs typeface="Arial" charset="0"/>
                        </a:rPr>
                        <a:t>Portfolio</a:t>
                      </a:r>
                      <a:endParaRPr kumimoji="0" lang="en-US" sz="16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Verdana" pitchFamily="34" charset="0"/>
                          <a:cs typeface="Arial" charset="0"/>
                        </a:rPr>
                        <a:t>Portfolio </a:t>
                      </a:r>
                      <a:endParaRPr kumimoji="0" lang="en-US" sz="16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Verdana" pitchFamily="34" charset="0"/>
                          <a:cs typeface="Arial" charset="0"/>
                        </a:rPr>
                        <a:t>Portfolio</a:t>
                      </a:r>
                      <a:endParaRPr kumimoji="0" lang="en-US" sz="1600" b="0" i="0" u="none" strike="noStrike" cap="none" normalizeH="0" baseline="0" dirty="0">
                        <a:ln>
                          <a:noFill/>
                        </a:ln>
                        <a:solidFill>
                          <a:schemeClr val="tx1"/>
                        </a:solidFill>
                        <a:effectLst/>
                        <a:latin typeface="Verdana" pitchFamily="34" charset="0"/>
                        <a:cs typeface="Arial"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Verdana" pitchFamily="34" charset="0"/>
                          <a:cs typeface="Arial" charset="0"/>
                        </a:rPr>
                        <a:t>Weight(1)</a:t>
                      </a:r>
                      <a:endParaRPr kumimoji="0" lang="en-US" sz="16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Verdana" pitchFamily="34" charset="0"/>
                          <a:cs typeface="Arial" charset="0"/>
                        </a:rPr>
                        <a:t>Weight(2)</a:t>
                      </a:r>
                      <a:endParaRPr kumimoji="0" lang="en-US" sz="16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Verdana" pitchFamily="34" charset="0"/>
                          <a:cs typeface="Arial" charset="0"/>
                        </a:rPr>
                        <a:t>return</a:t>
                      </a:r>
                      <a:endParaRPr kumimoji="0" lang="en-US" sz="16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Verdana" pitchFamily="34" charset="0"/>
                          <a:cs typeface="Arial" charset="0"/>
                        </a:rPr>
                        <a:t>StdDev</a:t>
                      </a:r>
                      <a:endParaRPr kumimoji="0" lang="en-US" sz="16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1</a:t>
                      </a: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100%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4.00%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10.00%</a:t>
                      </a: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2</a:t>
                      </a: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90%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10%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4.40%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9.56%</a:t>
                      </a: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3</a:t>
                      </a: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80%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20%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4.80%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9.35%</a:t>
                      </a: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4</a:t>
                      </a: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70%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30%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5.20%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9.39%</a:t>
                      </a: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5</a:t>
                      </a: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60%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40%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5.60%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9.67%</a:t>
                      </a: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6</a:t>
                      </a: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50%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50%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6.00%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10.19%</a:t>
                      </a: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7</a:t>
                      </a: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40%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60%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6.40%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10.89%</a:t>
                      </a: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8</a:t>
                      </a: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30%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70%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6.80%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11.75%</a:t>
                      </a: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9"/>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9</a:t>
                      </a: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20%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80%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7.20%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12.74%</a:t>
                      </a: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0"/>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10</a:t>
                      </a: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10%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90%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7.60%</a:t>
                      </a: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13.83%</a:t>
                      </a: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1"/>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11</a:t>
                      </a:r>
                    </a:p>
                  </a:txBody>
                  <a:tcPr anchor="b" horzOverflow="overflow">
                    <a:lnL cap="flat">
                      <a:noFill/>
                    </a:lnL>
                    <a:lnR>
                      <a:noFill/>
                    </a:lnR>
                    <a:lnT>
                      <a:noFill/>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0%</a:t>
                      </a:r>
                    </a:p>
                  </a:txBody>
                  <a:tcPr anchor="b"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100%</a:t>
                      </a:r>
                    </a:p>
                  </a:txBody>
                  <a:tcPr anchor="b"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8.00%</a:t>
                      </a:r>
                    </a:p>
                  </a:txBody>
                  <a:tcPr anchor="b"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cs typeface="Arial" charset="0"/>
                        </a:rPr>
                        <a:t>15.00%</a:t>
                      </a:r>
                    </a:p>
                  </a:txBody>
                  <a:tcPr anchor="b"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895673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700" b="1" dirty="0">
                <a:latin typeface="Times New Roman" pitchFamily="18" charset="0"/>
              </a:rPr>
              <a:t>Diversification</a:t>
            </a:r>
          </a:p>
        </p:txBody>
      </p:sp>
      <p:sp>
        <p:nvSpPr>
          <p:cNvPr id="23556" name="Rectangle 3"/>
          <p:cNvSpPr>
            <a:spLocks noGrp="1" noChangeArrowheads="1"/>
          </p:cNvSpPr>
          <p:nvPr>
            <p:ph type="body" idx="1"/>
          </p:nvPr>
        </p:nvSpPr>
        <p:spPr>
          <a:xfrm>
            <a:off x="990600" y="1827213"/>
            <a:ext cx="8153400" cy="4114800"/>
          </a:xfrm>
        </p:spPr>
        <p:txBody>
          <a:bodyPr/>
          <a:lstStyle/>
          <a:p>
            <a:pPr marL="222250" indent="-222250" eaLnBrk="1" hangingPunct="1"/>
            <a:r>
              <a:rPr lang="en-US" dirty="0">
                <a:latin typeface="Times New Roman" pitchFamily="18" charset="0"/>
              </a:rPr>
              <a:t> </a:t>
            </a:r>
            <a:r>
              <a:rPr lang="en-US" sz="2400" dirty="0">
                <a:latin typeface="Times New Roman" pitchFamily="18" charset="0"/>
              </a:rPr>
              <a:t>Investing in bonds has an expected return of 4% and a volatility of 10%</a:t>
            </a:r>
          </a:p>
          <a:p>
            <a:pPr marL="0" indent="0" eaLnBrk="1" hangingPunct="1">
              <a:buNone/>
            </a:pPr>
            <a:endParaRPr lang="en-US" sz="2400" dirty="0">
              <a:latin typeface="Times New Roman" pitchFamily="18" charset="0"/>
            </a:endParaRPr>
          </a:p>
          <a:p>
            <a:pPr marL="222250" indent="-222250" eaLnBrk="1" hangingPunct="1"/>
            <a:r>
              <a:rPr lang="en-US" sz="2400" dirty="0">
                <a:latin typeface="Times New Roman" pitchFamily="18" charset="0"/>
              </a:rPr>
              <a:t>But, a 50-50 mix of stocks and bonds has a volatility of 10.2% (about the same as bonds), but an expected return of 6%</a:t>
            </a:r>
          </a:p>
          <a:p>
            <a:pPr marL="0" indent="0" eaLnBrk="1" hangingPunct="1">
              <a:buNone/>
            </a:pPr>
            <a:endParaRPr lang="en-US" sz="2400" dirty="0">
              <a:latin typeface="Times New Roman" pitchFamily="18" charset="0"/>
            </a:endParaRPr>
          </a:p>
          <a:p>
            <a:pPr marL="222250" indent="-222250" eaLnBrk="1" hangingPunct="1"/>
            <a:r>
              <a:rPr lang="en-US" sz="2400" dirty="0">
                <a:latin typeface="Times New Roman" pitchFamily="18" charset="0"/>
              </a:rPr>
              <a:t>The 50-50 mix is better because of the correlation of stocks and bonds</a:t>
            </a:r>
          </a:p>
        </p:txBody>
      </p:sp>
    </p:spTree>
    <p:extLst>
      <p:ext uri="{BB962C8B-B14F-4D97-AF65-F5344CB8AC3E}">
        <p14:creationId xmlns:p14="http://schemas.microsoft.com/office/powerpoint/2010/main" val="1519160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700" b="1" dirty="0">
                <a:latin typeface="Times New Roman" pitchFamily="18" charset="0"/>
              </a:rPr>
              <a:t>“Efficient” Portfolio and “Efficient Frontier”</a:t>
            </a:r>
          </a:p>
        </p:txBody>
      </p:sp>
      <p:sp>
        <p:nvSpPr>
          <p:cNvPr id="23556" name="Rectangle 3"/>
          <p:cNvSpPr>
            <a:spLocks noGrp="1" noChangeArrowheads="1"/>
          </p:cNvSpPr>
          <p:nvPr>
            <p:ph type="body" idx="1"/>
          </p:nvPr>
        </p:nvSpPr>
        <p:spPr>
          <a:xfrm>
            <a:off x="838200" y="1827212"/>
            <a:ext cx="8229600" cy="4649787"/>
          </a:xfrm>
        </p:spPr>
        <p:txBody>
          <a:bodyPr/>
          <a:lstStyle/>
          <a:p>
            <a:pPr marL="222250" indent="-222250" eaLnBrk="1" hangingPunct="1"/>
            <a:r>
              <a:rPr lang="en-US" dirty="0">
                <a:latin typeface="Times New Roman" pitchFamily="18" charset="0"/>
              </a:rPr>
              <a:t> </a:t>
            </a:r>
            <a:r>
              <a:rPr lang="en-US" sz="2400" dirty="0">
                <a:latin typeface="Times New Roman" pitchFamily="18" charset="0"/>
              </a:rPr>
              <a:t>An “efficient” portfolio maximizes expected return for any level of risk (standard deviation)</a:t>
            </a:r>
          </a:p>
          <a:p>
            <a:pPr marL="622300" lvl="1" indent="-222250" eaLnBrk="1" hangingPunct="1"/>
            <a:r>
              <a:rPr lang="en-US" sz="2400" dirty="0">
                <a:latin typeface="Times New Roman" pitchFamily="18" charset="0"/>
              </a:rPr>
              <a:t>Note that “efficient” here has nothing to do with market efficiency, different use of word</a:t>
            </a:r>
          </a:p>
          <a:p>
            <a:pPr marL="622300" lvl="1" indent="-222250" eaLnBrk="1" hangingPunct="1"/>
            <a:endParaRPr lang="en-US" sz="2400" dirty="0">
              <a:latin typeface="Times New Roman" pitchFamily="18" charset="0"/>
            </a:endParaRPr>
          </a:p>
          <a:p>
            <a:pPr marL="222250" indent="-222250" eaLnBrk="1" hangingPunct="1"/>
            <a:r>
              <a:rPr lang="en-US" sz="2400" dirty="0">
                <a:latin typeface="Times New Roman" pitchFamily="18" charset="0"/>
              </a:rPr>
              <a:t>The “efficient frontier” is the set of all efficient portfolios</a:t>
            </a:r>
          </a:p>
          <a:p>
            <a:pPr marL="400050" lvl="1" indent="0" eaLnBrk="1" hangingPunct="1">
              <a:buNone/>
            </a:pPr>
            <a:endParaRPr lang="en-US" sz="2400" dirty="0">
              <a:latin typeface="Times New Roman" pitchFamily="18" charset="0"/>
            </a:endParaRPr>
          </a:p>
        </p:txBody>
      </p:sp>
    </p:spTree>
    <p:extLst>
      <p:ext uri="{BB962C8B-B14F-4D97-AF65-F5344CB8AC3E}">
        <p14:creationId xmlns:p14="http://schemas.microsoft.com/office/powerpoint/2010/main" val="4270683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p:txBody>
          <a:bodyPr/>
          <a:lstStyle/>
          <a:p>
            <a:pPr eaLnBrk="1" hangingPunct="1"/>
            <a:r>
              <a:rPr lang="en-US" sz="2400" b="1" dirty="0">
                <a:latin typeface="Times New Roman" pitchFamily="18" charset="0"/>
              </a:rPr>
              <a:t>The Efficient Frontier in the Example</a:t>
            </a:r>
          </a:p>
        </p:txBody>
      </p:sp>
      <p:graphicFrame>
        <p:nvGraphicFramePr>
          <p:cNvPr id="2050" name="Object 3"/>
          <p:cNvGraphicFramePr>
            <a:graphicFrameLocks noGrp="1" noChangeAspect="1"/>
          </p:cNvGraphicFramePr>
          <p:nvPr>
            <p:ph sz="half" idx="1"/>
          </p:nvPr>
        </p:nvGraphicFramePr>
        <p:xfrm>
          <a:off x="1370013" y="2863850"/>
          <a:ext cx="3589337" cy="2039938"/>
        </p:xfrm>
        <a:graphic>
          <a:graphicData uri="http://schemas.openxmlformats.org/presentationml/2006/ole">
            <mc:AlternateContent xmlns:mc="http://schemas.openxmlformats.org/markup-compatibility/2006">
              <mc:Choice xmlns:v="urn:schemas-microsoft-com:vml" Requires="v">
                <p:oleObj spid="_x0000_s23564" name="Chart" r:id="rId4" imgW="8229600" imgH="4524482" progId="MSGraph.Chart.8">
                  <p:embed followColorScheme="full"/>
                </p:oleObj>
              </mc:Choice>
              <mc:Fallback>
                <p:oleObj name="Chart" r:id="rId4" imgW="8229600" imgH="4524482" progId="MSGraph.Chart.8">
                  <p:embed followColorScheme="full"/>
                  <p:pic>
                    <p:nvPicPr>
                      <p:cNvPr id="2050" name="Object 3"/>
                      <p:cNvPicPr>
                        <a:picLocks noChangeAspect="1" noChangeArrowheads="1"/>
                      </p:cNvPicPr>
                      <p:nvPr/>
                    </p:nvPicPr>
                    <p:blipFill>
                      <a:blip r:embed="rId5"/>
                      <a:srcRect/>
                      <a:stretch>
                        <a:fillRect/>
                      </a:stretch>
                    </p:blipFill>
                    <p:spPr bwMode="auto">
                      <a:xfrm>
                        <a:off x="1370013" y="2863850"/>
                        <a:ext cx="3589337" cy="2039938"/>
                      </a:xfrm>
                      <a:prstGeom prst="rect">
                        <a:avLst/>
                      </a:prstGeom>
                    </p:spPr>
                  </p:pic>
                </p:oleObj>
              </mc:Fallback>
            </mc:AlternateContent>
          </a:graphicData>
        </a:graphic>
      </p:graphicFrame>
      <p:graphicFrame>
        <p:nvGraphicFramePr>
          <p:cNvPr id="2051" name="Object 6"/>
          <p:cNvGraphicFramePr>
            <a:graphicFrameLocks noGrp="1" noChangeAspect="1"/>
          </p:cNvGraphicFramePr>
          <p:nvPr>
            <p:ph sz="half" idx="2"/>
            <p:extLst/>
          </p:nvPr>
        </p:nvGraphicFramePr>
        <p:xfrm>
          <a:off x="1512888" y="2035175"/>
          <a:ext cx="7170737" cy="3805238"/>
        </p:xfrm>
        <a:graphic>
          <a:graphicData uri="http://schemas.openxmlformats.org/presentationml/2006/ole">
            <mc:AlternateContent xmlns:mc="http://schemas.openxmlformats.org/markup-compatibility/2006">
              <mc:Choice xmlns:v="urn:schemas-microsoft-com:vml" Requires="v">
                <p:oleObj spid="_x0000_s23565" name="Chart" r:id="rId6" imgW="5114860" imgH="2438520" progId="Excel.Chart.8">
                  <p:embed/>
                </p:oleObj>
              </mc:Choice>
              <mc:Fallback>
                <p:oleObj name="Chart" r:id="rId6" imgW="5114860" imgH="2438520" progId="Excel.Chart.8">
                  <p:embed/>
                  <p:pic>
                    <p:nvPicPr>
                      <p:cNvPr id="2051"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2888" y="2035175"/>
                        <a:ext cx="7170737" cy="380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1676400" y="6022757"/>
            <a:ext cx="6353630" cy="646331"/>
          </a:xfrm>
          <a:prstGeom prst="rect">
            <a:avLst/>
          </a:prstGeom>
          <a:solidFill>
            <a:schemeClr val="accent1">
              <a:lumMod val="20000"/>
              <a:lumOff val="80000"/>
            </a:schemeClr>
          </a:solidFill>
          <a:ln>
            <a:solidFill>
              <a:schemeClr val="accent4"/>
            </a:solid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The efficient frontier includes only points on the curve above the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“minimum variance portfolio” (MVP)</a:t>
            </a:r>
          </a:p>
        </p:txBody>
      </p:sp>
      <p:cxnSp>
        <p:nvCxnSpPr>
          <p:cNvPr id="4" name="Straight Arrow Connector 3"/>
          <p:cNvCxnSpPr/>
          <p:nvPr/>
        </p:nvCxnSpPr>
        <p:spPr>
          <a:xfrm>
            <a:off x="3641847" y="3200400"/>
            <a:ext cx="609600" cy="457200"/>
          </a:xfrm>
          <a:prstGeom prst="straightConnector1">
            <a:avLst/>
          </a:prstGeom>
          <a:ln w="412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901359" y="2971800"/>
            <a:ext cx="684803" cy="369332"/>
          </a:xfrm>
          <a:prstGeom prst="rect">
            <a:avLst/>
          </a:prstGeom>
          <a:noFill/>
          <a:ln>
            <a:solidFill>
              <a:schemeClr val="tx1"/>
            </a:solid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MVP</a:t>
            </a:r>
          </a:p>
        </p:txBody>
      </p:sp>
    </p:spTree>
    <p:extLst>
      <p:ext uri="{BB962C8B-B14F-4D97-AF65-F5344CB8AC3E}">
        <p14:creationId xmlns:p14="http://schemas.microsoft.com/office/powerpoint/2010/main" val="2386192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700" b="1" dirty="0">
                <a:latin typeface="Times New Roman" pitchFamily="18" charset="0"/>
              </a:rPr>
              <a:t>Sharpe Ratio</a:t>
            </a:r>
          </a:p>
        </p:txBody>
      </p:sp>
      <mc:AlternateContent xmlns:mc="http://schemas.openxmlformats.org/markup-compatibility/2006" xmlns:a14="http://schemas.microsoft.com/office/drawing/2010/main">
        <mc:Choice Requires="a14">
          <p:sp>
            <p:nvSpPr>
              <p:cNvPr id="23556" name="Rectangle 3"/>
              <p:cNvSpPr>
                <a:spLocks noGrp="1" noChangeArrowheads="1"/>
              </p:cNvSpPr>
              <p:nvPr>
                <p:ph type="body" idx="1"/>
              </p:nvPr>
            </p:nvSpPr>
            <p:spPr>
              <a:xfrm>
                <a:off x="1066800" y="1827213"/>
                <a:ext cx="8001000" cy="4114800"/>
              </a:xfrm>
            </p:spPr>
            <p:txBody>
              <a:bodyPr/>
              <a:lstStyle/>
              <a:p>
                <a:pPr marL="222250" indent="-222250" eaLnBrk="1" hangingPunct="1"/>
                <a:r>
                  <a:rPr lang="en-US" dirty="0">
                    <a:latin typeface="Times New Roman" pitchFamily="18" charset="0"/>
                  </a:rPr>
                  <a:t> </a:t>
                </a:r>
                <a:r>
                  <a:rPr lang="en-US" sz="2400" dirty="0">
                    <a:latin typeface="Times New Roman" pitchFamily="18" charset="0"/>
                  </a:rPr>
                  <a:t>Definition: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𝐸</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𝑝</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𝑟</m:t>
                            </m:r>
                          </m:e>
                          <m:sub>
                            <m:r>
                              <a:rPr lang="en-US" sz="2400" b="0" i="1" smtClean="0">
                                <a:latin typeface="Cambria Math" panose="02040503050406030204" pitchFamily="18" charset="0"/>
                              </a:rPr>
                              <m:t>𝑓</m:t>
                            </m:r>
                          </m:sub>
                        </m:sSub>
                        <m:r>
                          <a:rPr lang="en-US" sz="2400" b="0" i="1" smtClean="0">
                            <a:latin typeface="Cambria Math" panose="02040503050406030204" pitchFamily="18" charset="0"/>
                          </a:rPr>
                          <m:t>]</m:t>
                        </m:r>
                      </m:num>
                      <m:den>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𝑝</m:t>
                            </m:r>
                          </m:sub>
                        </m:sSub>
                      </m:den>
                    </m:f>
                  </m:oMath>
                </a14:m>
                <a:endParaRPr lang="en-US" sz="2400" dirty="0">
                  <a:latin typeface="Times New Roman" pitchFamily="18" charset="0"/>
                </a:endParaRPr>
              </a:p>
              <a:p>
                <a:pPr marL="222250" indent="-222250" eaLnBrk="1" hangingPunct="1"/>
                <a:r>
                  <a:rPr lang="en-US" sz="2400" dirty="0">
                    <a:latin typeface="Times New Roman" pitchFamily="18" charset="0"/>
                  </a:rPr>
                  <a:t>A measure of performance, expected excess return divided by standard deviation</a:t>
                </a:r>
              </a:p>
              <a:p>
                <a:pPr marL="222250" indent="-222250" eaLnBrk="1" hangingPunct="1"/>
                <a:endParaRPr lang="en-US" sz="2400" dirty="0">
                  <a:latin typeface="Times New Roman" pitchFamily="18" charset="0"/>
                </a:endParaRPr>
              </a:p>
              <a:p>
                <a:pPr marL="222250" indent="-222250" eaLnBrk="1" hangingPunct="1"/>
                <a:r>
                  <a:rPr lang="en-US" sz="2400" dirty="0">
                    <a:latin typeface="Times New Roman" pitchFamily="18" charset="0"/>
                  </a:rPr>
                  <a:t>The Maximal Sharpe Ratio Portfolio (MSRP) is special because it is the portfolio among all possibilities that gives us the highest Sharpe ratio</a:t>
                </a:r>
              </a:p>
              <a:p>
                <a:pPr marL="222250" indent="-222250" eaLnBrk="1" hangingPunct="1"/>
                <a:endParaRPr lang="en-US" sz="2400" dirty="0">
                  <a:latin typeface="Times New Roman" pitchFamily="18" charset="0"/>
                </a:endParaRPr>
              </a:p>
              <a:p>
                <a:pPr marL="222250" indent="-222250" eaLnBrk="1" hangingPunct="1"/>
                <a:r>
                  <a:rPr lang="en-US" sz="2400" dirty="0">
                    <a:latin typeface="Times New Roman" pitchFamily="18" charset="0"/>
                  </a:rPr>
                  <a:t>This measure of performance is especially useful for an entire portfolio</a:t>
                </a:r>
              </a:p>
              <a:p>
                <a:pPr marL="0" indent="0" eaLnBrk="1" hangingPunct="1">
                  <a:buNone/>
                </a:pPr>
                <a:endParaRPr lang="en-US" dirty="0">
                  <a:latin typeface="Times New Roman" pitchFamily="18" charset="0"/>
                </a:endParaRPr>
              </a:p>
            </p:txBody>
          </p:sp>
        </mc:Choice>
        <mc:Fallback xmlns="">
          <p:sp>
            <p:nvSpPr>
              <p:cNvPr id="23556" name="Rectangle 3"/>
              <p:cNvSpPr>
                <a:spLocks noGrp="1" noRot="1" noChangeAspect="1" noMove="1" noResize="1" noEditPoints="1" noAdjustHandles="1" noChangeArrowheads="1" noChangeShapeType="1" noTextEdit="1"/>
              </p:cNvSpPr>
              <p:nvPr>
                <p:ph type="body" idx="1"/>
              </p:nvPr>
            </p:nvSpPr>
            <p:spPr>
              <a:xfrm>
                <a:off x="1066800" y="1827213"/>
                <a:ext cx="8001000" cy="4114800"/>
              </a:xfrm>
              <a:blipFill>
                <a:blip r:embed="rId3"/>
                <a:stretch>
                  <a:fillRect l="-685" r="-1219" b="-10222"/>
                </a:stretch>
              </a:blipFill>
            </p:spPr>
            <p:txBody>
              <a:bodyPr/>
              <a:lstStyle/>
              <a:p>
                <a:r>
                  <a:rPr lang="en-US">
                    <a:noFill/>
                  </a:rPr>
                  <a:t> </a:t>
                </a:r>
              </a:p>
            </p:txBody>
          </p:sp>
        </mc:Fallback>
      </mc:AlternateContent>
    </p:spTree>
    <p:extLst>
      <p:ext uri="{BB962C8B-B14F-4D97-AF65-F5344CB8AC3E}">
        <p14:creationId xmlns:p14="http://schemas.microsoft.com/office/powerpoint/2010/main" val="84426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6">
                                            <p:txEl>
                                              <p:pRg st="3" end="3"/>
                                            </p:txEl>
                                          </p:spTgt>
                                        </p:tgtEl>
                                        <p:attrNameLst>
                                          <p:attrName>style.visibility</p:attrName>
                                        </p:attrNameLst>
                                      </p:cBhvr>
                                      <p:to>
                                        <p:strVal val="visible"/>
                                      </p:to>
                                    </p:set>
                                    <p:anim calcmode="lin" valueType="num">
                                      <p:cBhvr additive="base">
                                        <p:cTn id="7" dur="500" fill="hold"/>
                                        <p:tgtEl>
                                          <p:spTgt spid="23556">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556">
                                            <p:txEl>
                                              <p:pRg st="5" end="5"/>
                                            </p:txEl>
                                          </p:spTgt>
                                        </p:tgtEl>
                                        <p:attrNameLst>
                                          <p:attrName>style.visibility</p:attrName>
                                        </p:attrNameLst>
                                      </p:cBhvr>
                                      <p:to>
                                        <p:strVal val="visible"/>
                                      </p:to>
                                    </p:set>
                                    <p:anim calcmode="lin" valueType="num">
                                      <p:cBhvr additive="base">
                                        <p:cTn id="13" dur="500" fill="hold"/>
                                        <p:tgtEl>
                                          <p:spTgt spid="23556">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700" b="1" dirty="0">
                <a:latin typeface="Times New Roman" pitchFamily="18" charset="0"/>
              </a:rPr>
              <a:t>Adding a risk-free asset</a:t>
            </a:r>
          </a:p>
        </p:txBody>
      </p:sp>
      <p:sp>
        <p:nvSpPr>
          <p:cNvPr id="23556" name="Rectangle 3"/>
          <p:cNvSpPr>
            <a:spLocks noGrp="1" noChangeArrowheads="1"/>
          </p:cNvSpPr>
          <p:nvPr>
            <p:ph type="body" idx="1"/>
          </p:nvPr>
        </p:nvSpPr>
        <p:spPr>
          <a:xfrm>
            <a:off x="1219200" y="1676400"/>
            <a:ext cx="7313612" cy="4573587"/>
          </a:xfrm>
        </p:spPr>
        <p:txBody>
          <a:bodyPr/>
          <a:lstStyle/>
          <a:p>
            <a:pPr marL="222250" indent="-222250" eaLnBrk="1" hangingPunct="1"/>
            <a:r>
              <a:rPr lang="en-US" sz="2400" dirty="0">
                <a:latin typeface="Times New Roman" pitchFamily="18" charset="0"/>
              </a:rPr>
              <a:t> If we add a risk-free asset to any risky asset efficient frontier, we end up improving the efficient frontier</a:t>
            </a:r>
          </a:p>
          <a:p>
            <a:pPr marL="222250" indent="-222250" eaLnBrk="1" hangingPunct="1"/>
            <a:endParaRPr lang="en-US" sz="2400" dirty="0">
              <a:latin typeface="Times New Roman" pitchFamily="18" charset="0"/>
            </a:endParaRPr>
          </a:p>
          <a:p>
            <a:pPr marL="222250" indent="-222250" eaLnBrk="1" hangingPunct="1"/>
            <a:r>
              <a:rPr lang="en-US" sz="2400" dirty="0">
                <a:latin typeface="Times New Roman" pitchFamily="18" charset="0"/>
              </a:rPr>
              <a:t>The new efficient frontier is a line, linear combinations of risk-free asset with a single portfolio, the Maximal Sharpe Ratio Portfolio</a:t>
            </a:r>
          </a:p>
          <a:p>
            <a:pPr marL="622300" lvl="1" indent="-222250" eaLnBrk="1" hangingPunct="1"/>
            <a:r>
              <a:rPr lang="en-US" sz="2400" dirty="0">
                <a:latin typeface="Times New Roman" pitchFamily="18" charset="0"/>
              </a:rPr>
              <a:t>See next slide…</a:t>
            </a:r>
          </a:p>
        </p:txBody>
      </p:sp>
    </p:spTree>
    <p:extLst>
      <p:ext uri="{BB962C8B-B14F-4D97-AF65-F5344CB8AC3E}">
        <p14:creationId xmlns:p14="http://schemas.microsoft.com/office/powerpoint/2010/main" val="70853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6">
                                            <p:txEl>
                                              <p:pRg st="3" end="3"/>
                                            </p:txEl>
                                          </p:spTgt>
                                        </p:tgtEl>
                                        <p:attrNameLst>
                                          <p:attrName>style.visibility</p:attrName>
                                        </p:attrNameLst>
                                      </p:cBhvr>
                                      <p:to>
                                        <p:strVal val="visible"/>
                                      </p:to>
                                    </p:set>
                                    <p:anim calcmode="lin" valueType="num">
                                      <p:cBhvr additive="base">
                                        <p:cTn id="7" dur="500" fill="hold"/>
                                        <p:tgtEl>
                                          <p:spTgt spid="23556">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700" b="1" dirty="0">
                <a:latin typeface="Times New Roman" pitchFamily="18" charset="0"/>
              </a:rPr>
              <a:t>Combining risky asset and risk-free</a:t>
            </a:r>
          </a:p>
        </p:txBody>
      </p:sp>
      <p:sp>
        <p:nvSpPr>
          <p:cNvPr id="23556" name="Rectangle 3"/>
          <p:cNvSpPr>
            <a:spLocks noGrp="1" noChangeArrowheads="1"/>
          </p:cNvSpPr>
          <p:nvPr>
            <p:ph type="body" idx="1"/>
          </p:nvPr>
        </p:nvSpPr>
        <p:spPr>
          <a:xfrm>
            <a:off x="1219200" y="1676400"/>
            <a:ext cx="7313612" cy="4573587"/>
          </a:xfrm>
        </p:spPr>
        <p:txBody>
          <a:bodyPr/>
          <a:lstStyle/>
          <a:p>
            <a:pPr marL="222250" indent="-222250" eaLnBrk="1" hangingPunct="1"/>
            <a:r>
              <a:rPr lang="en-US" dirty="0">
                <a:latin typeface="Times New Roman" pitchFamily="18" charset="0"/>
              </a:rPr>
              <a:t>Using our formulas (assume excess returns, so risk-free excess is by def zero always)</a:t>
            </a:r>
          </a:p>
          <a:p>
            <a:pPr marL="0" indent="0" eaLnBrk="1" hangingPunct="1">
              <a:buNone/>
            </a:pPr>
            <a:r>
              <a:rPr lang="en-US" dirty="0">
                <a:latin typeface="Times New Roman" pitchFamily="18" charset="0"/>
              </a:rPr>
              <a:t>E[w1*r1+w2*0]=w_1*E(r1)</a:t>
            </a:r>
          </a:p>
          <a:p>
            <a:pPr marL="0" indent="0" eaLnBrk="1" hangingPunct="1">
              <a:buNone/>
            </a:pPr>
            <a:endParaRPr lang="en-US" dirty="0">
              <a:latin typeface="Times New Roman" pitchFamily="18" charset="0"/>
            </a:endParaRPr>
          </a:p>
          <a:p>
            <a:pPr marL="0" indent="0" eaLnBrk="1" hangingPunct="1">
              <a:buNone/>
            </a:pPr>
            <a:r>
              <a:rPr lang="en-US" dirty="0">
                <a:latin typeface="Times New Roman" pitchFamily="18" charset="0"/>
              </a:rPr>
              <a:t>Var[w1*r1+w2*0]=w1^2*Var(r1)</a:t>
            </a:r>
          </a:p>
          <a:p>
            <a:pPr marL="0" indent="0" eaLnBrk="1" hangingPunct="1">
              <a:buNone/>
            </a:pPr>
            <a:r>
              <a:rPr lang="en-US" dirty="0">
                <a:latin typeface="Times New Roman" pitchFamily="18" charset="0"/>
              </a:rPr>
              <a:t>Therefore </a:t>
            </a:r>
            <a:r>
              <a:rPr lang="en-US" dirty="0" err="1">
                <a:latin typeface="Times New Roman" pitchFamily="18" charset="0"/>
              </a:rPr>
              <a:t>s.d.</a:t>
            </a:r>
            <a:r>
              <a:rPr lang="en-US" dirty="0">
                <a:latin typeface="Times New Roman" pitchFamily="18" charset="0"/>
              </a:rPr>
              <a:t>[w1*r1+w2*0]=w1*sigma1</a:t>
            </a:r>
          </a:p>
          <a:p>
            <a:pPr marL="0" indent="0" eaLnBrk="1" hangingPunct="1">
              <a:buNone/>
            </a:pPr>
            <a:endParaRPr lang="en-US" dirty="0">
              <a:latin typeface="Times New Roman" pitchFamily="18" charset="0"/>
            </a:endParaRPr>
          </a:p>
          <a:p>
            <a:pPr marL="0" indent="0" eaLnBrk="1" hangingPunct="1">
              <a:buNone/>
            </a:pPr>
            <a:r>
              <a:rPr lang="en-US" dirty="0">
                <a:latin typeface="Times New Roman" pitchFamily="18" charset="0"/>
              </a:rPr>
              <a:t>Both mean and standard deviation are linear in w, varying w traces a line in mean-</a:t>
            </a:r>
            <a:r>
              <a:rPr lang="en-US" dirty="0" err="1">
                <a:latin typeface="Times New Roman" pitchFamily="18" charset="0"/>
              </a:rPr>
              <a:t>sd</a:t>
            </a:r>
            <a:r>
              <a:rPr lang="en-US" dirty="0">
                <a:latin typeface="Times New Roman" pitchFamily="18" charset="0"/>
              </a:rPr>
              <a:t> graph.</a:t>
            </a:r>
          </a:p>
        </p:txBody>
      </p:sp>
    </p:spTree>
    <p:extLst>
      <p:ext uri="{BB962C8B-B14F-4D97-AF65-F5344CB8AC3E}">
        <p14:creationId xmlns:p14="http://schemas.microsoft.com/office/powerpoint/2010/main" val="282832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p:txBody>
          <a:bodyPr/>
          <a:lstStyle/>
          <a:p>
            <a:pPr eaLnBrk="1" hangingPunct="1"/>
            <a:r>
              <a:rPr lang="en-US" sz="2400" b="1" dirty="0">
                <a:latin typeface="Times New Roman" pitchFamily="18" charset="0"/>
              </a:rPr>
              <a:t>Efficient Frontier with Riskless Asset</a:t>
            </a:r>
          </a:p>
        </p:txBody>
      </p:sp>
      <p:graphicFrame>
        <p:nvGraphicFramePr>
          <p:cNvPr id="2050" name="Object 3"/>
          <p:cNvGraphicFramePr>
            <a:graphicFrameLocks noGrp="1" noChangeAspect="1"/>
          </p:cNvGraphicFramePr>
          <p:nvPr>
            <p:ph sz="half" idx="1"/>
          </p:nvPr>
        </p:nvGraphicFramePr>
        <p:xfrm>
          <a:off x="1370013" y="2863850"/>
          <a:ext cx="3589337" cy="2039938"/>
        </p:xfrm>
        <a:graphic>
          <a:graphicData uri="http://schemas.openxmlformats.org/presentationml/2006/ole">
            <mc:AlternateContent xmlns:mc="http://schemas.openxmlformats.org/markup-compatibility/2006">
              <mc:Choice xmlns:v="urn:schemas-microsoft-com:vml" Requires="v">
                <p:oleObj spid="_x0000_s24588" name="Chart" r:id="rId4" imgW="8229600" imgH="4524482" progId="MSGraph.Chart.8">
                  <p:embed followColorScheme="full"/>
                </p:oleObj>
              </mc:Choice>
              <mc:Fallback>
                <p:oleObj name="Chart" r:id="rId4" imgW="8229600" imgH="4524482" progId="MSGraph.Chart.8">
                  <p:embed followColorScheme="full"/>
                  <p:pic>
                    <p:nvPicPr>
                      <p:cNvPr id="2050" name="Object 3"/>
                      <p:cNvPicPr>
                        <a:picLocks noChangeAspect="1" noChangeArrowheads="1"/>
                      </p:cNvPicPr>
                      <p:nvPr/>
                    </p:nvPicPr>
                    <p:blipFill>
                      <a:blip r:embed="rId5"/>
                      <a:srcRect/>
                      <a:stretch>
                        <a:fillRect/>
                      </a:stretch>
                    </p:blipFill>
                    <p:spPr bwMode="auto">
                      <a:xfrm>
                        <a:off x="1370013" y="2863850"/>
                        <a:ext cx="3589337" cy="2039938"/>
                      </a:xfrm>
                      <a:prstGeom prst="rect">
                        <a:avLst/>
                      </a:prstGeom>
                    </p:spPr>
                  </p:pic>
                </p:oleObj>
              </mc:Fallback>
            </mc:AlternateContent>
          </a:graphicData>
        </a:graphic>
      </p:graphicFrame>
      <p:graphicFrame>
        <p:nvGraphicFramePr>
          <p:cNvPr id="2051" name="Object 6"/>
          <p:cNvGraphicFramePr>
            <a:graphicFrameLocks noGrp="1" noChangeAspect="1"/>
          </p:cNvGraphicFramePr>
          <p:nvPr>
            <p:ph sz="half" idx="2"/>
            <p:extLst/>
          </p:nvPr>
        </p:nvGraphicFramePr>
        <p:xfrm>
          <a:off x="1295400" y="1600200"/>
          <a:ext cx="7170737" cy="3805238"/>
        </p:xfrm>
        <a:graphic>
          <a:graphicData uri="http://schemas.openxmlformats.org/presentationml/2006/ole">
            <mc:AlternateContent xmlns:mc="http://schemas.openxmlformats.org/markup-compatibility/2006">
              <mc:Choice xmlns:v="urn:schemas-microsoft-com:vml" Requires="v">
                <p:oleObj spid="_x0000_s24589" name="Chart" r:id="rId6" imgW="5114860" imgH="2438520" progId="Excel.Chart.8">
                  <p:embed/>
                </p:oleObj>
              </mc:Choice>
              <mc:Fallback>
                <p:oleObj name="Chart" r:id="rId6" imgW="5114860" imgH="2438520" progId="Excel.Chart.8">
                  <p:embed/>
                  <p:pic>
                    <p:nvPicPr>
                      <p:cNvPr id="2051"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400" y="1600200"/>
                        <a:ext cx="7170737" cy="380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228600" y="5269429"/>
            <a:ext cx="8610600" cy="1569660"/>
          </a:xfrm>
          <a:prstGeom prst="rect">
            <a:avLst/>
          </a:prstGeom>
          <a:solidFill>
            <a:schemeClr val="accent1">
              <a:lumMod val="20000"/>
              <a:lumOff val="80000"/>
            </a:schemeClr>
          </a:solidFill>
          <a:ln>
            <a:solidFill>
              <a:schemeClr val="accent4"/>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Times New Roman" pitchFamily="18" charset="0"/>
                <a:ea typeface="+mn-ea"/>
                <a:cs typeface="Arial"/>
              </a:rPr>
              <a:t>With a riskless asset, the new “efficient frontier” is the black arrow.</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Times New Roman" pitchFamily="18" charset="0"/>
                <a:ea typeface="+mn-ea"/>
                <a:cs typeface="Arial"/>
              </a:rPr>
              <a:t>Single contact point with risky efficient frontier is the MSRP, or “tangency portfolio”</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Times New Roman" pitchFamily="18" charset="0"/>
                <a:ea typeface="+mn-ea"/>
                <a:cs typeface="Arial"/>
              </a:rPr>
              <a:t>The MSRP or “tangency portfolio” plays a special role in asset pricing</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Times New Roman" pitchFamily="18" charset="0"/>
                <a:ea typeface="+mn-ea"/>
                <a:cs typeface="Arial"/>
              </a:rPr>
              <a:t>Under strong assumptions, all investors hold combination of riskless asset and tangency portfolio</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Times New Roman" pitchFamily="18" charset="0"/>
                <a:ea typeface="+mn-ea"/>
                <a:cs typeface="Arial"/>
              </a:rPr>
              <a:t>Then, the tangency portfolio would have to be the “market portfolio”</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Times New Roman" pitchFamily="18" charset="0"/>
                <a:ea typeface="+mn-ea"/>
                <a:cs typeface="Arial"/>
              </a:rPr>
              <a:t>Leads to CAPM</a:t>
            </a:r>
          </a:p>
        </p:txBody>
      </p:sp>
      <p:cxnSp>
        <p:nvCxnSpPr>
          <p:cNvPr id="5" name="Straight Arrow Connector 4"/>
          <p:cNvCxnSpPr>
            <a:cxnSpLocks/>
          </p:cNvCxnSpPr>
          <p:nvPr/>
        </p:nvCxnSpPr>
        <p:spPr>
          <a:xfrm flipV="1">
            <a:off x="2133600" y="2111369"/>
            <a:ext cx="4419600" cy="17526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262318" y="2222004"/>
            <a:ext cx="1804725" cy="369332"/>
          </a:xfrm>
          <a:prstGeom prst="rect">
            <a:avLst/>
          </a:prstGeom>
          <a:solidFill>
            <a:schemeClr val="accent1">
              <a:lumMod val="20000"/>
              <a:lumOff val="80000"/>
            </a:schemeClr>
          </a:solidFill>
          <a:ln w="19050">
            <a:solidFill>
              <a:schemeClr val="accent4"/>
            </a:solid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MSRP / tangency</a:t>
            </a:r>
          </a:p>
        </p:txBody>
      </p:sp>
      <p:cxnSp>
        <p:nvCxnSpPr>
          <p:cNvPr id="16" name="Straight Arrow Connector 15"/>
          <p:cNvCxnSpPr/>
          <p:nvPr/>
        </p:nvCxnSpPr>
        <p:spPr>
          <a:xfrm>
            <a:off x="3581400" y="2646524"/>
            <a:ext cx="762000" cy="310453"/>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0336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Rectangle 2"/>
          <p:cNvSpPr>
            <a:spLocks noGrp="1" noChangeArrowheads="1"/>
          </p:cNvSpPr>
          <p:nvPr>
            <p:ph type="title"/>
          </p:nvPr>
        </p:nvSpPr>
        <p:spPr/>
        <p:txBody>
          <a:bodyPr/>
          <a:lstStyle/>
          <a:p>
            <a:pPr eaLnBrk="1" hangingPunct="1"/>
            <a:r>
              <a:rPr lang="en-US" sz="2700" b="1" dirty="0">
                <a:latin typeface="Times New Roman" pitchFamily="18" charset="0"/>
              </a:rPr>
              <a:t>General Statement of Mean-Variance Objective Function with Two Assets</a:t>
            </a:r>
          </a:p>
        </p:txBody>
      </p:sp>
      <mc:AlternateContent xmlns:mc="http://schemas.openxmlformats.org/markup-compatibility/2006" xmlns:a14="http://schemas.microsoft.com/office/drawing/2010/main">
        <mc:Choice Requires="a14">
          <p:sp>
            <p:nvSpPr>
              <p:cNvPr id="1032" name="Rectangle 3"/>
              <p:cNvSpPr>
                <a:spLocks noGrp="1" noChangeArrowheads="1"/>
              </p:cNvSpPr>
              <p:nvPr>
                <p:ph type="body" sz="half" idx="1"/>
              </p:nvPr>
            </p:nvSpPr>
            <p:spPr>
              <a:xfrm>
                <a:off x="914400" y="1600200"/>
                <a:ext cx="7848600" cy="4530725"/>
              </a:xfrm>
            </p:spPr>
            <p:txBody>
              <a:bodyPr/>
              <a:lstStyle/>
              <a:p>
                <a:pPr eaLnBrk="1" hangingPunct="1">
                  <a:lnSpc>
                    <a:spcPct val="80000"/>
                  </a:lnSpc>
                </a:pPr>
                <a:r>
                  <a:rPr lang="en-US" sz="2100" dirty="0">
                    <a:latin typeface="Times New Roman" pitchFamily="18" charset="0"/>
                  </a:rPr>
                  <a:t>Solve the equation</a:t>
                </a:r>
              </a:p>
              <a:p>
                <a:pPr marL="0" indent="0" eaLnBrk="1" hangingPunct="1">
                  <a:lnSpc>
                    <a:spcPct val="80000"/>
                  </a:lnSpc>
                  <a:buNone/>
                </a:pPr>
                <a:r>
                  <a:rPr lang="en-US" sz="2100" dirty="0">
                    <a:latin typeface="Times New Roman" pitchFamily="18" charset="0"/>
                  </a:rPr>
                  <a:t> </a:t>
                </a:r>
              </a:p>
              <a:p>
                <a:pPr marL="0" indent="0" eaLnBrk="1" hangingPunct="1">
                  <a:lnSpc>
                    <a:spcPct val="80000"/>
                  </a:lnSpc>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𝑀𝑖𝑛</m:t>
                          </m:r>
                        </m:e>
                        <m:sub>
                          <m:r>
                            <a:rPr lang="en-US" sz="2400" b="0" i="1" smtClean="0">
                              <a:latin typeface="Cambria Math" panose="02040503050406030204" pitchFamily="18" charset="0"/>
                            </a:rPr>
                            <m:t>𝑤</m:t>
                          </m:r>
                        </m:sub>
                      </m:sSub>
                      <m:sSubSup>
                        <m:sSubSupPr>
                          <m:ctrlPr>
                            <a:rPr lang="en-US" sz="2400" i="1" smtClean="0">
                              <a:latin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𝑝</m:t>
                          </m:r>
                        </m:sub>
                        <m:sup>
                          <m:r>
                            <a:rPr lang="en-US" sz="2400" b="0" i="1" smtClean="0">
                              <a:latin typeface="Cambria Math" panose="02040503050406030204" pitchFamily="18" charset="0"/>
                            </a:rPr>
                            <m:t>2</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𝑤</m:t>
                          </m:r>
                        </m:e>
                        <m:sub>
                          <m:r>
                            <a:rPr lang="en-US" sz="2400" b="0" i="1" smtClean="0">
                              <a:latin typeface="Cambria Math" panose="02040503050406030204" pitchFamily="18" charset="0"/>
                            </a:rPr>
                            <m:t>1</m:t>
                          </m:r>
                        </m:sub>
                        <m:sup>
                          <m:r>
                            <a:rPr lang="en-US" sz="2400" b="0" i="1" smtClean="0">
                              <a:latin typeface="Cambria Math" panose="02040503050406030204" pitchFamily="18" charset="0"/>
                            </a:rPr>
                            <m:t>2</m:t>
                          </m:r>
                        </m:sup>
                      </m:sSubSup>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1</m:t>
                          </m:r>
                        </m:sub>
                        <m:sup>
                          <m:r>
                            <a:rPr lang="en-US" sz="2400" b="0" i="1" smtClean="0">
                              <a:latin typeface="Cambria Math" panose="02040503050406030204" pitchFamily="18" charset="0"/>
                            </a:rPr>
                            <m:t>2</m:t>
                          </m:r>
                        </m:sup>
                      </m:sSubSup>
                      <m:r>
                        <a:rPr lang="en-US" sz="24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𝑤</m:t>
                          </m:r>
                        </m:e>
                        <m:sub>
                          <m:r>
                            <a:rPr lang="en-US" sz="2400" b="0" i="1" smtClean="0">
                              <a:latin typeface="Cambria Math" panose="02040503050406030204" pitchFamily="18" charset="0"/>
                            </a:rPr>
                            <m:t>2</m:t>
                          </m:r>
                        </m:sub>
                        <m:sup>
                          <m:r>
                            <a:rPr lang="en-US" sz="2400" i="1">
                              <a:latin typeface="Cambria Math" panose="02040503050406030204" pitchFamily="18" charset="0"/>
                            </a:rPr>
                            <m:t>2</m:t>
                          </m:r>
                        </m:sup>
                      </m:sSubSup>
                      <m:sSubSup>
                        <m:sSubSupPr>
                          <m:ctrlPr>
                            <a:rPr lang="en-US" sz="2400" i="1">
                              <a:latin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ea typeface="Cambria Math" panose="02040503050406030204" pitchFamily="18" charset="0"/>
                            </a:rPr>
                            <m:t>2</m:t>
                          </m:r>
                        </m:sub>
                        <m:sup>
                          <m:r>
                            <a:rPr lang="en-US" sz="2400" i="1">
                              <a:latin typeface="Cambria Math" panose="02040503050406030204" pitchFamily="18" charset="0"/>
                            </a:rPr>
                            <m:t>2</m:t>
                          </m:r>
                        </m:sup>
                      </m:sSubSup>
                      <m:r>
                        <a:rPr lang="en-US" sz="2400" b="0" i="1" smtClean="0">
                          <a:latin typeface="Cambria Math" panose="02040503050406030204" pitchFamily="18" charset="0"/>
                        </a:rPr>
                        <m:t>+2</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1</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2</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12</m:t>
                          </m:r>
                        </m:sub>
                      </m:sSub>
                    </m:oMath>
                  </m:oMathPara>
                </a14:m>
                <a:endParaRPr lang="en-US" sz="2400" dirty="0">
                  <a:latin typeface="Times New Roman" pitchFamily="18" charset="0"/>
                </a:endParaRPr>
              </a:p>
              <a:p>
                <a:pPr marL="0" indent="0" eaLnBrk="1" hangingPunct="1">
                  <a:lnSpc>
                    <a:spcPct val="80000"/>
                  </a:lnSpc>
                  <a:buNone/>
                </a:pPr>
                <a:endParaRPr lang="en-US" sz="2400" dirty="0">
                  <a:latin typeface="Times New Roman" pitchFamily="18" charset="0"/>
                </a:endParaRPr>
              </a:p>
              <a:p>
                <a:pPr eaLnBrk="1" hangingPunct="1">
                  <a:lnSpc>
                    <a:spcPct val="80000"/>
                  </a:lnSpc>
                </a:pPr>
                <a:r>
                  <a:rPr lang="en-US" sz="2100" dirty="0">
                    <a:latin typeface="Times New Roman" pitchFamily="18" charset="0"/>
                  </a:rPr>
                  <a:t>Subject to </a:t>
                </a:r>
                <a14:m>
                  <m:oMath xmlns:m="http://schemas.openxmlformats.org/officeDocument/2006/math">
                    <m:sSub>
                      <m:sSubPr>
                        <m:ctrlPr>
                          <a:rPr lang="en-US" sz="2100" i="1" smtClean="0">
                            <a:latin typeface="Cambria Math" panose="02040503050406030204" pitchFamily="18" charset="0"/>
                          </a:rPr>
                        </m:ctrlPr>
                      </m:sSubPr>
                      <m:e>
                        <m:r>
                          <a:rPr lang="en-US" sz="2100" b="0" i="1" smtClean="0">
                            <a:latin typeface="Cambria Math" panose="02040503050406030204" pitchFamily="18" charset="0"/>
                          </a:rPr>
                          <m:t>𝑤</m:t>
                        </m:r>
                      </m:e>
                      <m:sub>
                        <m:r>
                          <a:rPr lang="en-US" sz="2100" b="0" i="1" smtClean="0">
                            <a:latin typeface="Cambria Math" panose="02040503050406030204" pitchFamily="18" charset="0"/>
                          </a:rPr>
                          <m:t>1</m:t>
                        </m:r>
                      </m:sub>
                    </m:sSub>
                    <m:r>
                      <a:rPr lang="en-US" sz="2100" b="0" i="1" smtClean="0">
                        <a:latin typeface="Cambria Math" panose="02040503050406030204" pitchFamily="18" charset="0"/>
                      </a:rPr>
                      <m:t>𝐸</m:t>
                    </m:r>
                    <m:d>
                      <m:dPr>
                        <m:ctrlPr>
                          <a:rPr lang="en-US" sz="2100" b="0" i="1" smtClean="0">
                            <a:latin typeface="Cambria Math" panose="02040503050406030204" pitchFamily="18" charset="0"/>
                          </a:rPr>
                        </m:ctrlPr>
                      </m:dPr>
                      <m:e>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𝑟</m:t>
                            </m:r>
                          </m:e>
                          <m:sub>
                            <m:r>
                              <a:rPr lang="en-US" sz="2100" b="0" i="1" smtClean="0">
                                <a:latin typeface="Cambria Math" panose="02040503050406030204" pitchFamily="18" charset="0"/>
                              </a:rPr>
                              <m:t>1</m:t>
                            </m:r>
                          </m:sub>
                        </m:sSub>
                      </m:e>
                    </m:d>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𝑤</m:t>
                        </m:r>
                      </m:e>
                      <m:sub>
                        <m:r>
                          <a:rPr lang="en-US" sz="2100" b="0" i="1" smtClean="0">
                            <a:latin typeface="Cambria Math" panose="02040503050406030204" pitchFamily="18" charset="0"/>
                          </a:rPr>
                          <m:t>2</m:t>
                        </m:r>
                      </m:sub>
                    </m:sSub>
                    <m:r>
                      <a:rPr lang="en-US" sz="2100" b="0" i="1" smtClean="0">
                        <a:latin typeface="Cambria Math" panose="02040503050406030204" pitchFamily="18" charset="0"/>
                      </a:rPr>
                      <m:t>𝐸</m:t>
                    </m:r>
                    <m:d>
                      <m:dPr>
                        <m:ctrlPr>
                          <a:rPr lang="en-US" sz="2100" b="0" i="1" smtClean="0">
                            <a:latin typeface="Cambria Math" panose="02040503050406030204" pitchFamily="18" charset="0"/>
                          </a:rPr>
                        </m:ctrlPr>
                      </m:dPr>
                      <m:e>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𝑟</m:t>
                            </m:r>
                          </m:e>
                          <m:sub>
                            <m:r>
                              <a:rPr lang="en-US" sz="2100" b="0" i="1" smtClean="0">
                                <a:latin typeface="Cambria Math" panose="02040503050406030204" pitchFamily="18" charset="0"/>
                              </a:rPr>
                              <m:t>2</m:t>
                            </m:r>
                          </m:sub>
                        </m:sSub>
                      </m:e>
                    </m:d>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𝑟</m:t>
                            </m:r>
                          </m:e>
                        </m:acc>
                      </m:e>
                      <m:sub>
                        <m:r>
                          <a:rPr lang="en-US" sz="2100" b="0" i="1" smtClean="0">
                            <a:latin typeface="Cambria Math" panose="02040503050406030204" pitchFamily="18" charset="0"/>
                          </a:rPr>
                          <m:t>𝑝</m:t>
                        </m:r>
                      </m:sub>
                    </m:sSub>
                  </m:oMath>
                </a14:m>
                <a:endParaRPr lang="en-US" sz="2100" dirty="0">
                  <a:latin typeface="Times New Roman" pitchFamily="18" charset="0"/>
                </a:endParaRPr>
              </a:p>
              <a:p>
                <a:pPr eaLnBrk="1" hangingPunct="1">
                  <a:lnSpc>
                    <a:spcPct val="80000"/>
                  </a:lnSpc>
                </a:pPr>
                <a:endParaRPr lang="en-US" sz="2100" dirty="0">
                  <a:latin typeface="Times New Roman" pitchFamily="18" charset="0"/>
                </a:endParaRPr>
              </a:p>
              <a:p>
                <a:pPr eaLnBrk="1" hangingPunct="1">
                  <a:lnSpc>
                    <a:spcPct val="80000"/>
                  </a:lnSpc>
                </a:pPr>
                <a:r>
                  <a:rPr lang="en-US" sz="2100" dirty="0">
                    <a:latin typeface="Times New Roman" pitchFamily="18" charset="0"/>
                  </a:rPr>
                  <a:t>The variance of return to asset class j is </a:t>
                </a:r>
                <a:r>
                  <a:rPr lang="en-US" sz="2100" dirty="0" err="1">
                    <a:latin typeface="Symbol" pitchFamily="18" charset="2"/>
                  </a:rPr>
                  <a:t>s</a:t>
                </a:r>
                <a:r>
                  <a:rPr lang="en-US" sz="2100" baseline="-25000" dirty="0" err="1">
                    <a:latin typeface="Times New Roman" pitchFamily="18" charset="0"/>
                  </a:rPr>
                  <a:t>j</a:t>
                </a:r>
                <a:endParaRPr lang="en-US" sz="2100" baseline="-25000" dirty="0">
                  <a:latin typeface="Times New Roman" pitchFamily="18" charset="0"/>
                </a:endParaRPr>
              </a:p>
              <a:p>
                <a:pPr eaLnBrk="1" hangingPunct="1">
                  <a:lnSpc>
                    <a:spcPct val="80000"/>
                  </a:lnSpc>
                </a:pPr>
                <a:r>
                  <a:rPr lang="en-US" sz="2100" dirty="0" err="1">
                    <a:latin typeface="Times New Roman" pitchFamily="18" charset="0"/>
                  </a:rPr>
                  <a:t>w</a:t>
                </a:r>
                <a:r>
                  <a:rPr lang="en-US" sz="2100" baseline="-25000" dirty="0" err="1">
                    <a:latin typeface="Times New Roman" pitchFamily="18" charset="0"/>
                  </a:rPr>
                  <a:t>i</a:t>
                </a:r>
                <a:r>
                  <a:rPr lang="en-US" sz="2100" dirty="0">
                    <a:latin typeface="Times New Roman" pitchFamily="18" charset="0"/>
                  </a:rPr>
                  <a:t> is the  weighting in asset class </a:t>
                </a:r>
                <a:r>
                  <a:rPr lang="en-US" sz="2100" dirty="0" err="1">
                    <a:latin typeface="Times New Roman" pitchFamily="18" charset="0"/>
                  </a:rPr>
                  <a:t>i</a:t>
                </a:r>
                <a:r>
                  <a:rPr lang="en-US" sz="2100" dirty="0">
                    <a:latin typeface="Times New Roman" pitchFamily="18" charset="0"/>
                  </a:rPr>
                  <a:t>  </a:t>
                </a:r>
              </a:p>
              <a:p>
                <a:pPr eaLnBrk="1" hangingPunct="1">
                  <a:lnSpc>
                    <a:spcPct val="80000"/>
                  </a:lnSpc>
                </a:pPr>
                <a:r>
                  <a:rPr lang="en-US" sz="2100" dirty="0">
                    <a:latin typeface="Times New Roman" pitchFamily="18" charset="0"/>
                  </a:rPr>
                  <a:t>The expected return on asset class j is E(</a:t>
                </a:r>
                <a:r>
                  <a:rPr lang="en-US" sz="2100" dirty="0" err="1">
                    <a:latin typeface="Times New Roman" pitchFamily="18" charset="0"/>
                  </a:rPr>
                  <a:t>r</a:t>
                </a:r>
                <a:r>
                  <a:rPr lang="en-US" sz="2100" baseline="-25000" dirty="0" err="1">
                    <a:latin typeface="Times New Roman" pitchFamily="18" charset="0"/>
                  </a:rPr>
                  <a:t>j</a:t>
                </a:r>
                <a:r>
                  <a:rPr lang="en-US" sz="2100" dirty="0">
                    <a:latin typeface="Times New Roman" pitchFamily="18" charset="0"/>
                  </a:rPr>
                  <a:t>) </a:t>
                </a:r>
              </a:p>
              <a:p>
                <a:pPr eaLnBrk="1" hangingPunct="1">
                  <a:lnSpc>
                    <a:spcPct val="80000"/>
                  </a:lnSpc>
                </a:pPr>
                <a:r>
                  <a:rPr lang="en-US" sz="2100" dirty="0">
                    <a:latin typeface="Times New Roman" pitchFamily="18" charset="0"/>
                  </a:rPr>
                  <a:t>The desired expected return is </a:t>
                </a:r>
                <a14:m>
                  <m:oMath xmlns:m="http://schemas.openxmlformats.org/officeDocument/2006/math">
                    <m:sSub>
                      <m:sSubPr>
                        <m:ctrlPr>
                          <a:rPr lang="en-US" sz="2100" i="1" smtClean="0">
                            <a:latin typeface="Cambria Math" panose="02040503050406030204" pitchFamily="18" charset="0"/>
                          </a:rPr>
                        </m:ctrlPr>
                      </m:sSubPr>
                      <m:e>
                        <m:acc>
                          <m:accPr>
                            <m:chr m:val="̅"/>
                            <m:ctrlPr>
                              <a:rPr lang="en-US" sz="2100" i="1" smtClean="0">
                                <a:latin typeface="Cambria Math" panose="02040503050406030204" pitchFamily="18" charset="0"/>
                              </a:rPr>
                            </m:ctrlPr>
                          </m:accPr>
                          <m:e>
                            <m:r>
                              <a:rPr lang="en-US" sz="2100" b="0" i="1" smtClean="0">
                                <a:latin typeface="Cambria Math" panose="02040503050406030204" pitchFamily="18" charset="0"/>
                              </a:rPr>
                              <m:t>𝑟</m:t>
                            </m:r>
                          </m:e>
                        </m:acc>
                      </m:e>
                      <m:sub>
                        <m:r>
                          <a:rPr lang="en-US" sz="2100" b="0" i="1" smtClean="0">
                            <a:latin typeface="Cambria Math" panose="02040503050406030204" pitchFamily="18" charset="0"/>
                          </a:rPr>
                          <m:t>𝑝</m:t>
                        </m:r>
                      </m:sub>
                    </m:sSub>
                  </m:oMath>
                </a14:m>
                <a:endParaRPr lang="en-US" sz="2100" dirty="0">
                  <a:latin typeface="Times New Roman" pitchFamily="18" charset="0"/>
                </a:endParaRPr>
              </a:p>
              <a:p>
                <a:pPr eaLnBrk="1" hangingPunct="1">
                  <a:lnSpc>
                    <a:spcPct val="80000"/>
                  </a:lnSpc>
                </a:pPr>
                <a:r>
                  <a:rPr lang="en-US" sz="2100" dirty="0">
                    <a:latin typeface="Times New Roman" pitchFamily="18" charset="0"/>
                  </a:rPr>
                  <a:t>The covariance of returns is </a:t>
                </a:r>
                <a:r>
                  <a:rPr lang="en-US" sz="2100" dirty="0" err="1">
                    <a:latin typeface="Symbol" pitchFamily="18" charset="2"/>
                  </a:rPr>
                  <a:t>s</a:t>
                </a:r>
                <a:r>
                  <a:rPr lang="en-US" sz="2100" baseline="-25000" dirty="0" err="1">
                    <a:latin typeface="Times New Roman" pitchFamily="18" charset="0"/>
                  </a:rPr>
                  <a:t>ij</a:t>
                </a:r>
                <a:endParaRPr lang="en-US" sz="2100" baseline="-25000" dirty="0">
                  <a:latin typeface="Times New Roman" pitchFamily="18" charset="0"/>
                </a:endParaRPr>
              </a:p>
              <a:p>
                <a:pPr eaLnBrk="1" hangingPunct="1">
                  <a:lnSpc>
                    <a:spcPct val="80000"/>
                  </a:lnSpc>
                </a:pPr>
                <a:r>
                  <a:rPr lang="en-US" sz="2100" dirty="0">
                    <a:latin typeface="Times New Roman" pitchFamily="18" charset="0"/>
                  </a:rPr>
                  <a:t>The variance of the portfolio return is </a:t>
                </a:r>
                <a14:m>
                  <m:oMath xmlns:m="http://schemas.openxmlformats.org/officeDocument/2006/math">
                    <m:sSubSup>
                      <m:sSubSupPr>
                        <m:ctrlPr>
                          <a:rPr lang="en-US" sz="2100" i="1" smtClean="0">
                            <a:latin typeface="Cambria Math" panose="02040503050406030204" pitchFamily="18" charset="0"/>
                          </a:rPr>
                        </m:ctrlPr>
                      </m:sSubSupPr>
                      <m:e>
                        <m:r>
                          <a:rPr lang="en-US" sz="2100" i="1" smtClean="0">
                            <a:latin typeface="Cambria Math" panose="02040503050406030204" pitchFamily="18" charset="0"/>
                            <a:ea typeface="Cambria Math" panose="02040503050406030204" pitchFamily="18" charset="0"/>
                          </a:rPr>
                          <m:t>𝜎</m:t>
                        </m:r>
                      </m:e>
                      <m:sub>
                        <m:r>
                          <a:rPr lang="en-US" sz="2100" b="0" i="1" smtClean="0">
                            <a:latin typeface="Cambria Math" panose="02040503050406030204" pitchFamily="18" charset="0"/>
                          </a:rPr>
                          <m:t>𝑝</m:t>
                        </m:r>
                      </m:sub>
                      <m:sup>
                        <m:r>
                          <a:rPr lang="en-US" sz="2100" b="0" i="1" smtClean="0">
                            <a:latin typeface="Cambria Math" panose="02040503050406030204" pitchFamily="18" charset="0"/>
                          </a:rPr>
                          <m:t>2</m:t>
                        </m:r>
                      </m:sup>
                    </m:sSubSup>
                  </m:oMath>
                </a14:m>
                <a:endParaRPr lang="en-US" sz="2100" dirty="0">
                  <a:latin typeface="Times New Roman" pitchFamily="18" charset="0"/>
                </a:endParaRPr>
              </a:p>
              <a:p>
                <a:pPr eaLnBrk="1" hangingPunct="1">
                  <a:lnSpc>
                    <a:spcPct val="80000"/>
                  </a:lnSpc>
                </a:pPr>
                <a:r>
                  <a:rPr lang="en-US" sz="2100" dirty="0">
                    <a:latin typeface="Times New Roman" pitchFamily="18" charset="0"/>
                  </a:rPr>
                  <a:t>The portfolio weights satisfy w1+w2=1 or equivalently w2=1-w1</a:t>
                </a:r>
              </a:p>
              <a:p>
                <a:pPr eaLnBrk="1" hangingPunct="1">
                  <a:lnSpc>
                    <a:spcPct val="80000"/>
                  </a:lnSpc>
                </a:pPr>
                <a:endParaRPr lang="en-US" sz="2100" dirty="0">
                  <a:latin typeface="Times New Roman" pitchFamily="18" charset="0"/>
                </a:endParaRPr>
              </a:p>
            </p:txBody>
          </p:sp>
        </mc:Choice>
        <mc:Fallback xmlns="">
          <p:sp>
            <p:nvSpPr>
              <p:cNvPr id="1032" name="Rectangle 3"/>
              <p:cNvSpPr>
                <a:spLocks noGrp="1" noRot="1" noChangeAspect="1" noMove="1" noResize="1" noEditPoints="1" noAdjustHandles="1" noChangeArrowheads="1" noChangeShapeType="1" noTextEdit="1"/>
              </p:cNvSpPr>
              <p:nvPr>
                <p:ph type="body" sz="half" idx="1"/>
              </p:nvPr>
            </p:nvSpPr>
            <p:spPr>
              <a:xfrm>
                <a:off x="914400" y="1600200"/>
                <a:ext cx="7848600" cy="4530725"/>
              </a:xfrm>
              <a:blipFill>
                <a:blip r:embed="rId3"/>
                <a:stretch>
                  <a:fillRect l="-233" t="-2288"/>
                </a:stretch>
              </a:blipFill>
            </p:spPr>
            <p:txBody>
              <a:bodyPr/>
              <a:lstStyle/>
              <a:p>
                <a:r>
                  <a:rPr lang="en-US">
                    <a:noFill/>
                  </a:rPr>
                  <a:t> </a:t>
                </a:r>
              </a:p>
            </p:txBody>
          </p:sp>
        </mc:Fallback>
      </mc:AlternateContent>
    </p:spTree>
    <p:extLst>
      <p:ext uri="{BB962C8B-B14F-4D97-AF65-F5344CB8AC3E}">
        <p14:creationId xmlns:p14="http://schemas.microsoft.com/office/powerpoint/2010/main" val="552829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685800" y="228600"/>
            <a:ext cx="7772400" cy="1143000"/>
          </a:xfrm>
        </p:spPr>
        <p:txBody>
          <a:bodyPr/>
          <a:lstStyle/>
          <a:p>
            <a:pPr eaLnBrk="1" hangingPunct="1"/>
            <a:r>
              <a:rPr lang="en-US" sz="2800" b="1" dirty="0">
                <a:latin typeface="Times New Roman" pitchFamily="18" charset="0"/>
              </a:rPr>
              <a:t>Constructing the Mean-Variance Efficient Frontier: </a:t>
            </a:r>
            <a:r>
              <a:rPr lang="en-US" sz="2800" b="1" i="1" dirty="0">
                <a:latin typeface="Times New Roman" pitchFamily="18" charset="0"/>
              </a:rPr>
              <a:t>Three assets</a:t>
            </a:r>
          </a:p>
        </p:txBody>
      </p:sp>
      <p:sp>
        <p:nvSpPr>
          <p:cNvPr id="28676" name="Rectangle 3"/>
          <p:cNvSpPr>
            <a:spLocks noGrp="1" noChangeArrowheads="1"/>
          </p:cNvSpPr>
          <p:nvPr>
            <p:ph type="body" idx="1"/>
          </p:nvPr>
        </p:nvSpPr>
        <p:spPr>
          <a:xfrm>
            <a:off x="685800" y="1752600"/>
            <a:ext cx="8153400" cy="4343400"/>
          </a:xfrm>
        </p:spPr>
        <p:txBody>
          <a:bodyPr/>
          <a:lstStyle/>
          <a:p>
            <a:pPr eaLnBrk="1" hangingPunct="1"/>
            <a:r>
              <a:rPr lang="en-US" sz="2400" dirty="0">
                <a:latin typeface="Times New Roman" pitchFamily="18" charset="0"/>
              </a:rPr>
              <a:t>Suppose the client allows three risky asset classes:  </a:t>
            </a:r>
          </a:p>
          <a:p>
            <a:pPr eaLnBrk="1" hangingPunct="1">
              <a:buFont typeface="Wingdings" pitchFamily="2" charset="2"/>
              <a:buNone/>
            </a:pPr>
            <a:r>
              <a:rPr lang="en-US" sz="2400" dirty="0">
                <a:latin typeface="Times New Roman" pitchFamily="18" charset="0"/>
              </a:rPr>
              <a:t>		(1) government bonds (2) stocks and (3) corporate bonds.</a:t>
            </a:r>
          </a:p>
          <a:p>
            <a:pPr eaLnBrk="1" hangingPunct="1">
              <a:buFont typeface="Wingdings" pitchFamily="2" charset="2"/>
              <a:buNone/>
            </a:pPr>
            <a:r>
              <a:rPr lang="en-US" sz="2400" dirty="0">
                <a:solidFill>
                  <a:srgbClr val="00B050"/>
                </a:solidFill>
                <a:latin typeface="Times New Roman" pitchFamily="18" charset="0"/>
              </a:rPr>
              <a:t>In class:  How would you develop the M-V frontier?</a:t>
            </a:r>
          </a:p>
          <a:p>
            <a:pPr eaLnBrk="1" hangingPunct="1">
              <a:buClr>
                <a:schemeClr val="tx1"/>
              </a:buClr>
            </a:pPr>
            <a:r>
              <a:rPr lang="en-US" sz="2400" dirty="0">
                <a:latin typeface="Times New Roman" pitchFamily="18" charset="0"/>
              </a:rPr>
              <a:t>To construct the M-V efficient frontier, first find the </a:t>
            </a:r>
            <a:r>
              <a:rPr lang="en-US" sz="2400" i="1" dirty="0">
                <a:latin typeface="Times New Roman" pitchFamily="18" charset="0"/>
              </a:rPr>
              <a:t>minimum variance portfolio (MVP)</a:t>
            </a:r>
            <a:r>
              <a:rPr lang="en-US" sz="2400" dirty="0">
                <a:latin typeface="Times New Roman" pitchFamily="18" charset="0"/>
              </a:rPr>
              <a:t>.  </a:t>
            </a:r>
          </a:p>
          <a:p>
            <a:pPr eaLnBrk="1" hangingPunct="1">
              <a:buClr>
                <a:schemeClr val="tx1"/>
              </a:buClr>
            </a:pPr>
            <a:r>
              <a:rPr lang="en-US" sz="2400" dirty="0">
                <a:latin typeface="Times New Roman" pitchFamily="18" charset="0"/>
              </a:rPr>
              <a:t>This is the mix that is as far to the left in the M-V graph as possible, regardless of expected return.</a:t>
            </a:r>
          </a:p>
          <a:p>
            <a:pPr eaLnBrk="1" hangingPunct="1">
              <a:buClr>
                <a:schemeClr val="tx1"/>
              </a:buClr>
            </a:pPr>
            <a:r>
              <a:rPr lang="en-US" sz="2400" dirty="0">
                <a:latin typeface="Times New Roman" pitchFamily="18" charset="0"/>
              </a:rPr>
              <a:t>This comes from choosing the weights, </a:t>
            </a:r>
            <a:r>
              <a:rPr lang="en-US" sz="2400" i="1" dirty="0">
                <a:latin typeface="Times New Roman" pitchFamily="18" charset="0"/>
              </a:rPr>
              <a:t>w</a:t>
            </a:r>
            <a:r>
              <a:rPr lang="en-US" sz="2400" i="1" baseline="-25000" dirty="0">
                <a:latin typeface="Times New Roman" pitchFamily="18" charset="0"/>
              </a:rPr>
              <a:t>1 </a:t>
            </a:r>
            <a:r>
              <a:rPr lang="en-US" sz="2400" i="1" dirty="0">
                <a:latin typeface="Times New Roman" pitchFamily="18" charset="0"/>
              </a:rPr>
              <a:t> </a:t>
            </a:r>
            <a:r>
              <a:rPr lang="en-US" sz="2400" dirty="0">
                <a:latin typeface="Times New Roman" pitchFamily="18" charset="0"/>
              </a:rPr>
              <a:t>on government bonds, </a:t>
            </a:r>
            <a:r>
              <a:rPr lang="en-US" sz="2400" i="1" dirty="0">
                <a:latin typeface="Times New Roman" pitchFamily="18" charset="0"/>
              </a:rPr>
              <a:t>w</a:t>
            </a:r>
            <a:r>
              <a:rPr lang="en-US" sz="2400" i="1" baseline="-25000" dirty="0">
                <a:latin typeface="Times New Roman" pitchFamily="18" charset="0"/>
              </a:rPr>
              <a:t>2 </a:t>
            </a:r>
            <a:r>
              <a:rPr lang="en-US" sz="2400" dirty="0">
                <a:latin typeface="Times New Roman" pitchFamily="18" charset="0"/>
              </a:rPr>
              <a:t>on stocks and </a:t>
            </a:r>
            <a:r>
              <a:rPr lang="en-US" sz="2400" i="1" dirty="0">
                <a:latin typeface="Times New Roman" pitchFamily="18" charset="0"/>
              </a:rPr>
              <a:t>w</a:t>
            </a:r>
            <a:r>
              <a:rPr lang="en-US" sz="2400" i="1" baseline="-25000" dirty="0">
                <a:latin typeface="Times New Roman" pitchFamily="18" charset="0"/>
              </a:rPr>
              <a:t>3</a:t>
            </a:r>
            <a:r>
              <a:rPr lang="en-US" sz="2400" i="1" dirty="0">
                <a:latin typeface="Times New Roman" pitchFamily="18" charset="0"/>
              </a:rPr>
              <a:t> (</a:t>
            </a:r>
            <a:r>
              <a:rPr lang="en-US" sz="2400" i="1" baseline="-25000" dirty="0">
                <a:latin typeface="Times New Roman" pitchFamily="18" charset="0"/>
              </a:rPr>
              <a:t> </a:t>
            </a:r>
            <a:r>
              <a:rPr lang="en-US" sz="2400" dirty="0">
                <a:latin typeface="Times New Roman" pitchFamily="18" charset="0"/>
              </a:rPr>
              <a:t>= 1 </a:t>
            </a:r>
            <a:r>
              <a:rPr lang="en-US" sz="2400" i="1" dirty="0">
                <a:latin typeface="Times New Roman" pitchFamily="18" charset="0"/>
              </a:rPr>
              <a:t>-</a:t>
            </a:r>
            <a:r>
              <a:rPr lang="en-US" sz="2400" dirty="0">
                <a:latin typeface="Times New Roman" pitchFamily="18" charset="0"/>
              </a:rPr>
              <a:t> </a:t>
            </a:r>
            <a:r>
              <a:rPr lang="en-US" sz="2400" i="1" dirty="0">
                <a:latin typeface="Times New Roman" pitchFamily="18" charset="0"/>
              </a:rPr>
              <a:t>w</a:t>
            </a:r>
            <a:r>
              <a:rPr lang="en-US" sz="2400" i="1" baseline="-25000" dirty="0">
                <a:latin typeface="Times New Roman" pitchFamily="18" charset="0"/>
              </a:rPr>
              <a:t>1 </a:t>
            </a:r>
            <a:r>
              <a:rPr lang="en-US" sz="2400" i="1" dirty="0">
                <a:latin typeface="Times New Roman" pitchFamily="18" charset="0"/>
              </a:rPr>
              <a:t>- w</a:t>
            </a:r>
            <a:r>
              <a:rPr lang="en-US" sz="2400" baseline="-25000" dirty="0">
                <a:latin typeface="Times New Roman" pitchFamily="18" charset="0"/>
              </a:rPr>
              <a:t>2 </a:t>
            </a:r>
            <a:r>
              <a:rPr lang="en-US" sz="2400" dirty="0">
                <a:latin typeface="Times New Roman" pitchFamily="18" charset="0"/>
              </a:rPr>
              <a:t>) in corporate bonds, to minimize the portfolio return variance (in Excel can use solver)</a:t>
            </a:r>
          </a:p>
        </p:txBody>
      </p:sp>
    </p:spTree>
    <p:extLst>
      <p:ext uri="{BB962C8B-B14F-4D97-AF65-F5344CB8AC3E}">
        <p14:creationId xmlns:p14="http://schemas.microsoft.com/office/powerpoint/2010/main" val="1530995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en-US" sz="2800" b="1">
                <a:solidFill>
                  <a:schemeClr val="tx1"/>
                </a:solidFill>
                <a:latin typeface="Times New Roman" pitchFamily="18" charset="0"/>
              </a:rPr>
              <a:t>Constructing the Mean-Variance Efficient Frontier: Three assets</a:t>
            </a:r>
          </a:p>
        </p:txBody>
      </p:sp>
      <p:sp>
        <p:nvSpPr>
          <p:cNvPr id="29700" name="Rectangle 3"/>
          <p:cNvSpPr>
            <a:spLocks noGrp="1" noChangeArrowheads="1"/>
          </p:cNvSpPr>
          <p:nvPr>
            <p:ph type="body" idx="1"/>
          </p:nvPr>
        </p:nvSpPr>
        <p:spPr/>
        <p:txBody>
          <a:bodyPr/>
          <a:lstStyle/>
          <a:p>
            <a:pPr eaLnBrk="1" hangingPunct="1"/>
            <a:r>
              <a:rPr lang="en-US" sz="2500" dirty="0">
                <a:latin typeface="Times New Roman" pitchFamily="18" charset="0"/>
              </a:rPr>
              <a:t>The portfolio variance is:</a:t>
            </a:r>
          </a:p>
          <a:p>
            <a:pPr eaLnBrk="1" hangingPunct="1">
              <a:buFont typeface="Wingdings" pitchFamily="2" charset="2"/>
              <a:buNone/>
            </a:pPr>
            <a:r>
              <a:rPr lang="en-US" sz="2500" dirty="0">
                <a:latin typeface="Times New Roman" pitchFamily="18" charset="0"/>
              </a:rPr>
              <a:t>  </a:t>
            </a:r>
            <a:r>
              <a:rPr lang="en-US" sz="2500" dirty="0">
                <a:latin typeface="Symbol" pitchFamily="18" charset="2"/>
              </a:rPr>
              <a:t>s</a:t>
            </a:r>
            <a:r>
              <a:rPr lang="en-US" sz="2500" baseline="-25000" dirty="0">
                <a:latin typeface="Times New Roman" pitchFamily="18" charset="0"/>
              </a:rPr>
              <a:t>p</a:t>
            </a:r>
            <a:r>
              <a:rPr lang="en-US" sz="2500" baseline="30000" dirty="0">
                <a:latin typeface="Times New Roman" pitchFamily="18" charset="0"/>
              </a:rPr>
              <a:t>2</a:t>
            </a:r>
            <a:r>
              <a:rPr lang="en-US" sz="2500" dirty="0">
                <a:latin typeface="Times New Roman" pitchFamily="18" charset="0"/>
              </a:rPr>
              <a:t> = (w</a:t>
            </a:r>
            <a:r>
              <a:rPr lang="en-US" sz="2500" baseline="-25000" dirty="0">
                <a:latin typeface="Times New Roman" pitchFamily="18" charset="0"/>
              </a:rPr>
              <a:t>1</a:t>
            </a:r>
            <a:r>
              <a:rPr lang="en-US" sz="2500" dirty="0">
                <a:latin typeface="Times New Roman" pitchFamily="18" charset="0"/>
              </a:rPr>
              <a:t>)</a:t>
            </a:r>
            <a:r>
              <a:rPr lang="en-US" sz="2500" baseline="30000" dirty="0">
                <a:latin typeface="Times New Roman" pitchFamily="18" charset="0"/>
              </a:rPr>
              <a:t>2</a:t>
            </a:r>
            <a:r>
              <a:rPr lang="en-US" sz="2500" dirty="0">
                <a:latin typeface="Symbol" pitchFamily="18" charset="2"/>
              </a:rPr>
              <a:t>s</a:t>
            </a:r>
            <a:r>
              <a:rPr lang="en-US" sz="2500" baseline="-25000" dirty="0">
                <a:latin typeface="Times New Roman" pitchFamily="18" charset="0"/>
              </a:rPr>
              <a:t>1</a:t>
            </a:r>
            <a:r>
              <a:rPr lang="en-US" sz="2500" baseline="30000" dirty="0">
                <a:latin typeface="Times New Roman" pitchFamily="18" charset="0"/>
              </a:rPr>
              <a:t>2</a:t>
            </a:r>
            <a:r>
              <a:rPr lang="en-US" sz="2500" dirty="0">
                <a:latin typeface="Times New Roman" pitchFamily="18" charset="0"/>
              </a:rPr>
              <a:t> +(w</a:t>
            </a:r>
            <a:r>
              <a:rPr lang="en-US" sz="2500" baseline="-25000" dirty="0">
                <a:latin typeface="Times New Roman" pitchFamily="18" charset="0"/>
              </a:rPr>
              <a:t>2</a:t>
            </a:r>
            <a:r>
              <a:rPr lang="en-US" sz="2500" dirty="0">
                <a:latin typeface="Times New Roman" pitchFamily="18" charset="0"/>
              </a:rPr>
              <a:t>)</a:t>
            </a:r>
            <a:r>
              <a:rPr lang="en-US" sz="2500" baseline="30000" dirty="0">
                <a:latin typeface="Times New Roman" pitchFamily="18" charset="0"/>
              </a:rPr>
              <a:t>2</a:t>
            </a:r>
            <a:r>
              <a:rPr lang="en-US" sz="2500" dirty="0">
                <a:latin typeface="Symbol" pitchFamily="18" charset="2"/>
              </a:rPr>
              <a:t>s</a:t>
            </a:r>
            <a:r>
              <a:rPr lang="en-US" sz="2500" baseline="-25000" dirty="0">
                <a:latin typeface="Times New Roman" pitchFamily="18" charset="0"/>
              </a:rPr>
              <a:t>2</a:t>
            </a:r>
            <a:r>
              <a:rPr lang="en-US" sz="2500" baseline="30000" dirty="0">
                <a:latin typeface="Times New Roman" pitchFamily="18" charset="0"/>
              </a:rPr>
              <a:t>2</a:t>
            </a:r>
            <a:r>
              <a:rPr lang="en-US" sz="2500" dirty="0">
                <a:latin typeface="Times New Roman" pitchFamily="18" charset="0"/>
              </a:rPr>
              <a:t> + (1-w</a:t>
            </a:r>
            <a:r>
              <a:rPr lang="en-US" sz="2500" baseline="-25000" dirty="0">
                <a:latin typeface="Times New Roman" pitchFamily="18" charset="0"/>
              </a:rPr>
              <a:t>1</a:t>
            </a:r>
            <a:r>
              <a:rPr lang="en-US" sz="2500" dirty="0">
                <a:latin typeface="Times New Roman" pitchFamily="18" charset="0"/>
              </a:rPr>
              <a:t>-w</a:t>
            </a:r>
            <a:r>
              <a:rPr lang="en-US" sz="2500" baseline="-25000" dirty="0">
                <a:latin typeface="Times New Roman" pitchFamily="18" charset="0"/>
              </a:rPr>
              <a:t>2</a:t>
            </a:r>
            <a:r>
              <a:rPr lang="en-US" sz="2500" dirty="0">
                <a:latin typeface="Times New Roman" pitchFamily="18" charset="0"/>
              </a:rPr>
              <a:t>)</a:t>
            </a:r>
            <a:r>
              <a:rPr lang="en-US" sz="2500" baseline="30000" dirty="0">
                <a:latin typeface="Times New Roman" pitchFamily="18" charset="0"/>
              </a:rPr>
              <a:t>2</a:t>
            </a:r>
            <a:r>
              <a:rPr lang="en-US" sz="2500" dirty="0">
                <a:latin typeface="Symbol" pitchFamily="18" charset="2"/>
              </a:rPr>
              <a:t>s</a:t>
            </a:r>
            <a:r>
              <a:rPr lang="en-US" sz="2500" baseline="-25000" dirty="0">
                <a:latin typeface="Times New Roman" pitchFamily="18" charset="0"/>
              </a:rPr>
              <a:t>3</a:t>
            </a:r>
            <a:r>
              <a:rPr lang="en-US" sz="2500" baseline="30000" dirty="0">
                <a:latin typeface="Times New Roman" pitchFamily="18" charset="0"/>
              </a:rPr>
              <a:t>2</a:t>
            </a:r>
            <a:r>
              <a:rPr lang="en-US" sz="2500" dirty="0">
                <a:latin typeface="Times New Roman" pitchFamily="18" charset="0"/>
              </a:rPr>
              <a:t> +2w</a:t>
            </a:r>
            <a:r>
              <a:rPr lang="en-US" sz="2500" baseline="-25000" dirty="0">
                <a:latin typeface="Times New Roman" pitchFamily="18" charset="0"/>
              </a:rPr>
              <a:t>1w2</a:t>
            </a:r>
            <a:r>
              <a:rPr lang="en-US" sz="2500" dirty="0">
                <a:latin typeface="Symbol" pitchFamily="18" charset="2"/>
              </a:rPr>
              <a:t>s</a:t>
            </a:r>
            <a:r>
              <a:rPr lang="en-US" sz="2500" baseline="-25000" dirty="0">
                <a:latin typeface="Times New Roman" pitchFamily="18" charset="0"/>
              </a:rPr>
              <a:t>1,2</a:t>
            </a:r>
            <a:r>
              <a:rPr lang="en-US" sz="2500" dirty="0">
                <a:latin typeface="Times New Roman" pitchFamily="18" charset="0"/>
              </a:rPr>
              <a:t> +2w</a:t>
            </a:r>
            <a:r>
              <a:rPr lang="en-US" sz="2500" baseline="-25000" dirty="0">
                <a:latin typeface="Times New Roman" pitchFamily="18" charset="0"/>
              </a:rPr>
              <a:t>1</a:t>
            </a:r>
            <a:r>
              <a:rPr lang="en-US" sz="2500" dirty="0">
                <a:latin typeface="Times New Roman" pitchFamily="18" charset="0"/>
              </a:rPr>
              <a:t>(1-w</a:t>
            </a:r>
            <a:r>
              <a:rPr lang="en-US" sz="2500" baseline="-25000" dirty="0">
                <a:latin typeface="Times New Roman" pitchFamily="18" charset="0"/>
              </a:rPr>
              <a:t>1</a:t>
            </a:r>
            <a:r>
              <a:rPr lang="en-US" sz="2500" dirty="0">
                <a:latin typeface="Times New Roman" pitchFamily="18" charset="0"/>
              </a:rPr>
              <a:t>-w</a:t>
            </a:r>
            <a:r>
              <a:rPr lang="en-US" sz="2500" baseline="-25000" dirty="0">
                <a:latin typeface="Times New Roman" pitchFamily="18" charset="0"/>
              </a:rPr>
              <a:t>2</a:t>
            </a:r>
            <a:r>
              <a:rPr lang="en-US" sz="2500" dirty="0">
                <a:latin typeface="Times New Roman" pitchFamily="18" charset="0"/>
              </a:rPr>
              <a:t>)</a:t>
            </a:r>
            <a:r>
              <a:rPr lang="en-US" sz="2500" dirty="0">
                <a:latin typeface="Symbol" pitchFamily="18" charset="2"/>
              </a:rPr>
              <a:t>s</a:t>
            </a:r>
            <a:r>
              <a:rPr lang="en-US" sz="2500" baseline="-25000" dirty="0">
                <a:latin typeface="Times New Roman" pitchFamily="18" charset="0"/>
              </a:rPr>
              <a:t>1,3</a:t>
            </a:r>
            <a:r>
              <a:rPr lang="en-US" sz="2500" dirty="0">
                <a:latin typeface="Times New Roman" pitchFamily="18" charset="0"/>
              </a:rPr>
              <a:t> + 2w</a:t>
            </a:r>
            <a:r>
              <a:rPr lang="en-US" sz="2500" baseline="-25000" dirty="0">
                <a:latin typeface="Times New Roman" pitchFamily="18" charset="0"/>
              </a:rPr>
              <a:t>2</a:t>
            </a:r>
            <a:r>
              <a:rPr lang="en-US" sz="2500" dirty="0">
                <a:latin typeface="Times New Roman" pitchFamily="18" charset="0"/>
              </a:rPr>
              <a:t>(1-w</a:t>
            </a:r>
            <a:r>
              <a:rPr lang="en-US" sz="2500" baseline="-25000" dirty="0">
                <a:latin typeface="Times New Roman" pitchFamily="18" charset="0"/>
              </a:rPr>
              <a:t>1</a:t>
            </a:r>
            <a:r>
              <a:rPr lang="en-US" sz="2500" dirty="0">
                <a:latin typeface="Times New Roman" pitchFamily="18" charset="0"/>
              </a:rPr>
              <a:t>-w</a:t>
            </a:r>
            <a:r>
              <a:rPr lang="en-US" sz="2500" baseline="-25000" dirty="0">
                <a:latin typeface="Times New Roman" pitchFamily="18" charset="0"/>
              </a:rPr>
              <a:t>2</a:t>
            </a:r>
            <a:r>
              <a:rPr lang="en-US" sz="2500" dirty="0">
                <a:latin typeface="Times New Roman" pitchFamily="18" charset="0"/>
              </a:rPr>
              <a:t>)</a:t>
            </a:r>
            <a:r>
              <a:rPr lang="en-US" sz="2500" dirty="0">
                <a:latin typeface="Symbol" pitchFamily="18" charset="2"/>
              </a:rPr>
              <a:t>s</a:t>
            </a:r>
            <a:r>
              <a:rPr lang="en-US" sz="2500" baseline="-25000" dirty="0">
                <a:latin typeface="Times New Roman" pitchFamily="18" charset="0"/>
              </a:rPr>
              <a:t>2,3</a:t>
            </a:r>
          </a:p>
          <a:p>
            <a:pPr eaLnBrk="1" hangingPunct="1"/>
            <a:endParaRPr lang="en-US" sz="2500" baseline="-25000" dirty="0">
              <a:latin typeface="Times New Roman" pitchFamily="18" charset="0"/>
            </a:endParaRPr>
          </a:p>
          <a:p>
            <a:pPr eaLnBrk="1" hangingPunct="1"/>
            <a:r>
              <a:rPr lang="en-US" sz="2500" dirty="0">
                <a:latin typeface="Times New Roman" pitchFamily="18" charset="0"/>
              </a:rPr>
              <a:t>Where </a:t>
            </a:r>
            <a:r>
              <a:rPr lang="en-US" sz="2500" dirty="0" err="1">
                <a:latin typeface="Symbol" pitchFamily="18" charset="2"/>
              </a:rPr>
              <a:t>s</a:t>
            </a:r>
            <a:r>
              <a:rPr lang="en-US" sz="2500" baseline="-25000" dirty="0" err="1">
                <a:latin typeface="Times New Roman" pitchFamily="18" charset="0"/>
              </a:rPr>
              <a:t>i,j</a:t>
            </a:r>
            <a:r>
              <a:rPr lang="en-US" sz="2500" dirty="0">
                <a:latin typeface="Times New Roman" pitchFamily="18" charset="0"/>
              </a:rPr>
              <a:t> is the covariance of the returns of asset classes </a:t>
            </a:r>
            <a:r>
              <a:rPr lang="en-US" sz="2500" dirty="0" err="1">
                <a:latin typeface="Times New Roman" pitchFamily="18" charset="0"/>
              </a:rPr>
              <a:t>i</a:t>
            </a:r>
            <a:r>
              <a:rPr lang="en-US" sz="2500" dirty="0">
                <a:latin typeface="Times New Roman" pitchFamily="18" charset="0"/>
              </a:rPr>
              <a:t> and j and </a:t>
            </a:r>
            <a:r>
              <a:rPr lang="en-US" sz="2500" dirty="0" err="1">
                <a:latin typeface="Symbol" pitchFamily="18" charset="2"/>
              </a:rPr>
              <a:t>s</a:t>
            </a:r>
            <a:r>
              <a:rPr lang="en-US" sz="2500" baseline="-25000" dirty="0" err="1">
                <a:latin typeface="Times New Roman" pitchFamily="18" charset="0"/>
              </a:rPr>
              <a:t>j</a:t>
            </a:r>
            <a:r>
              <a:rPr lang="en-US" sz="2500" dirty="0">
                <a:latin typeface="Times New Roman" pitchFamily="18" charset="0"/>
              </a:rPr>
              <a:t> is the standard deviation of returns of asset j</a:t>
            </a:r>
          </a:p>
        </p:txBody>
      </p:sp>
    </p:spTree>
    <p:extLst>
      <p:ext uri="{BB962C8B-B14F-4D97-AF65-F5344CB8AC3E}">
        <p14:creationId xmlns:p14="http://schemas.microsoft.com/office/powerpoint/2010/main" val="778844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685800" y="-381000"/>
            <a:ext cx="7772400" cy="1752600"/>
          </a:xfrm>
        </p:spPr>
        <p:txBody>
          <a:bodyPr/>
          <a:lstStyle/>
          <a:p>
            <a:pPr eaLnBrk="1" hangingPunct="1"/>
            <a:r>
              <a:rPr lang="en-US" sz="2800" b="1" dirty="0">
                <a:solidFill>
                  <a:schemeClr val="tx1"/>
                </a:solidFill>
                <a:latin typeface="Times New Roman" pitchFamily="18" charset="0"/>
              </a:rPr>
              <a:t>Three assets: Any desired portfolio return</a:t>
            </a:r>
          </a:p>
        </p:txBody>
      </p:sp>
      <p:sp>
        <p:nvSpPr>
          <p:cNvPr id="30724" name="Rectangle 3"/>
          <p:cNvSpPr>
            <a:spLocks noGrp="1" noChangeArrowheads="1"/>
          </p:cNvSpPr>
          <p:nvPr>
            <p:ph type="body" idx="1"/>
          </p:nvPr>
        </p:nvSpPr>
        <p:spPr>
          <a:xfrm>
            <a:off x="685800" y="1524000"/>
            <a:ext cx="7772400" cy="4572000"/>
          </a:xfrm>
        </p:spPr>
        <p:txBody>
          <a:bodyPr/>
          <a:lstStyle/>
          <a:p>
            <a:pPr eaLnBrk="1" hangingPunct="1">
              <a:lnSpc>
                <a:spcPct val="90000"/>
              </a:lnSpc>
            </a:pPr>
            <a:r>
              <a:rPr lang="en-US" sz="2500" dirty="0">
                <a:latin typeface="Times New Roman" pitchFamily="18" charset="0"/>
              </a:rPr>
              <a:t>We solve a </a:t>
            </a:r>
            <a:r>
              <a:rPr lang="en-US" sz="2500" i="1" dirty="0">
                <a:latin typeface="Times New Roman" pitchFamily="18" charset="0"/>
              </a:rPr>
              <a:t>constrained minimization</a:t>
            </a:r>
            <a:r>
              <a:rPr lang="en-US" sz="2500" dirty="0">
                <a:latin typeface="Times New Roman" pitchFamily="18" charset="0"/>
              </a:rPr>
              <a:t>.</a:t>
            </a:r>
          </a:p>
          <a:p>
            <a:pPr eaLnBrk="1" hangingPunct="1">
              <a:lnSpc>
                <a:spcPct val="90000"/>
              </a:lnSpc>
            </a:pPr>
            <a:r>
              <a:rPr lang="en-US" sz="2500" dirty="0">
                <a:latin typeface="Times New Roman" pitchFamily="18" charset="0"/>
              </a:rPr>
              <a:t>We choose  </a:t>
            </a:r>
            <a:r>
              <a:rPr lang="en-US" sz="2500" i="1" dirty="0">
                <a:latin typeface="Times New Roman" pitchFamily="18" charset="0"/>
              </a:rPr>
              <a:t>w</a:t>
            </a:r>
            <a:r>
              <a:rPr lang="en-US" sz="2500" i="1" baseline="-25000" dirty="0">
                <a:latin typeface="Times New Roman" pitchFamily="18" charset="0"/>
              </a:rPr>
              <a:t>1 </a:t>
            </a:r>
            <a:r>
              <a:rPr lang="en-US" sz="2500" dirty="0">
                <a:latin typeface="Times New Roman" pitchFamily="18" charset="0"/>
              </a:rPr>
              <a:t>and </a:t>
            </a:r>
            <a:r>
              <a:rPr lang="en-US" sz="2500" i="1" dirty="0">
                <a:latin typeface="Times New Roman" pitchFamily="18" charset="0"/>
              </a:rPr>
              <a:t>w</a:t>
            </a:r>
            <a:r>
              <a:rPr lang="en-US" sz="2500" i="1" baseline="-25000" dirty="0">
                <a:latin typeface="Times New Roman" pitchFamily="18" charset="0"/>
              </a:rPr>
              <a:t>2</a:t>
            </a:r>
            <a:r>
              <a:rPr lang="en-US" sz="2500" i="1" dirty="0">
                <a:latin typeface="Times New Roman" pitchFamily="18" charset="0"/>
              </a:rPr>
              <a:t> </a:t>
            </a:r>
            <a:r>
              <a:rPr lang="en-US" sz="2500" dirty="0">
                <a:latin typeface="Times New Roman" pitchFamily="18" charset="0"/>
              </a:rPr>
              <a:t>to minimize</a:t>
            </a:r>
            <a:r>
              <a:rPr lang="en-US" sz="2500" i="1" dirty="0">
                <a:latin typeface="Times New Roman" pitchFamily="18" charset="0"/>
              </a:rPr>
              <a:t> </a:t>
            </a:r>
            <a:r>
              <a:rPr lang="en-US" sz="2500" dirty="0">
                <a:latin typeface="Symbol" pitchFamily="18" charset="2"/>
              </a:rPr>
              <a:t>s</a:t>
            </a:r>
            <a:r>
              <a:rPr lang="en-US" sz="2500" baseline="-25000" dirty="0">
                <a:latin typeface="Times New Roman" pitchFamily="18" charset="0"/>
              </a:rPr>
              <a:t>p</a:t>
            </a:r>
            <a:r>
              <a:rPr lang="en-US" sz="2500" baseline="30000" dirty="0">
                <a:latin typeface="Times New Roman" pitchFamily="18" charset="0"/>
              </a:rPr>
              <a:t>2</a:t>
            </a:r>
            <a:r>
              <a:rPr lang="en-US" sz="2500" i="1" dirty="0">
                <a:latin typeface="Times New Roman" pitchFamily="18" charset="0"/>
              </a:rPr>
              <a:t> subject</a:t>
            </a:r>
            <a:r>
              <a:rPr lang="en-US" sz="2500" dirty="0">
                <a:latin typeface="Times New Roman" pitchFamily="18" charset="0"/>
              </a:rPr>
              <a:t> </a:t>
            </a:r>
            <a:r>
              <a:rPr lang="en-US" sz="2500" i="1" dirty="0">
                <a:latin typeface="Times New Roman" pitchFamily="18" charset="0"/>
              </a:rPr>
              <a:t>to </a:t>
            </a:r>
            <a:r>
              <a:rPr lang="en-US" sz="2500" dirty="0">
                <a:latin typeface="Times New Roman" pitchFamily="18" charset="0"/>
              </a:rPr>
              <a:t>the portfolio having a specified expected return, </a:t>
            </a:r>
          </a:p>
          <a:p>
            <a:pPr eaLnBrk="1" hangingPunct="1">
              <a:lnSpc>
                <a:spcPct val="90000"/>
              </a:lnSpc>
              <a:buFont typeface="Wingdings" pitchFamily="2" charset="2"/>
              <a:buNone/>
            </a:pPr>
            <a:r>
              <a:rPr lang="en-US" sz="2500" dirty="0">
                <a:latin typeface="Times New Roman" pitchFamily="18" charset="0"/>
              </a:rPr>
              <a:t>     </a:t>
            </a:r>
            <a:r>
              <a:rPr lang="en-US" sz="2500" dirty="0" err="1">
                <a:latin typeface="Times New Roman" pitchFamily="18" charset="0"/>
              </a:rPr>
              <a:t>r</a:t>
            </a:r>
            <a:r>
              <a:rPr lang="en-US" sz="2500" baseline="-25000" dirty="0" err="1">
                <a:latin typeface="Times New Roman" pitchFamily="18" charset="0"/>
              </a:rPr>
              <a:t>p</a:t>
            </a:r>
            <a:r>
              <a:rPr lang="en-US" sz="2500" dirty="0">
                <a:latin typeface="Times New Roman" pitchFamily="18" charset="0"/>
              </a:rPr>
              <a:t> = w</a:t>
            </a:r>
            <a:r>
              <a:rPr lang="en-US" sz="2500" baseline="-25000" dirty="0">
                <a:latin typeface="Times New Roman" pitchFamily="18" charset="0"/>
              </a:rPr>
              <a:t>1</a:t>
            </a:r>
            <a:r>
              <a:rPr lang="en-US" sz="2500" dirty="0">
                <a:latin typeface="Times New Roman" pitchFamily="18" charset="0"/>
              </a:rPr>
              <a:t>E(r</a:t>
            </a:r>
            <a:r>
              <a:rPr lang="en-US" sz="2500" baseline="-25000" dirty="0">
                <a:latin typeface="Times New Roman" pitchFamily="18" charset="0"/>
              </a:rPr>
              <a:t>1</a:t>
            </a:r>
            <a:r>
              <a:rPr lang="en-US" sz="2500" dirty="0">
                <a:latin typeface="Times New Roman" pitchFamily="18" charset="0"/>
              </a:rPr>
              <a:t>) + w</a:t>
            </a:r>
            <a:r>
              <a:rPr lang="en-US" sz="2500" baseline="-25000" dirty="0">
                <a:latin typeface="Times New Roman" pitchFamily="18" charset="0"/>
              </a:rPr>
              <a:t>2</a:t>
            </a:r>
            <a:r>
              <a:rPr lang="en-US" sz="2500" dirty="0">
                <a:latin typeface="Times New Roman" pitchFamily="18" charset="0"/>
              </a:rPr>
              <a:t>E(r</a:t>
            </a:r>
            <a:r>
              <a:rPr lang="en-US" sz="2500" baseline="-25000" dirty="0">
                <a:latin typeface="Times New Roman" pitchFamily="18" charset="0"/>
              </a:rPr>
              <a:t>2</a:t>
            </a:r>
            <a:r>
              <a:rPr lang="en-US" sz="2500" dirty="0">
                <a:latin typeface="Times New Roman" pitchFamily="18" charset="0"/>
              </a:rPr>
              <a:t>) +w</a:t>
            </a:r>
            <a:r>
              <a:rPr lang="en-US" sz="2500" baseline="-25000" dirty="0">
                <a:latin typeface="Times New Roman" pitchFamily="18" charset="0"/>
              </a:rPr>
              <a:t>3</a:t>
            </a:r>
            <a:r>
              <a:rPr lang="en-US" sz="2500" dirty="0">
                <a:latin typeface="Times New Roman" pitchFamily="18" charset="0"/>
              </a:rPr>
              <a:t>E(r</a:t>
            </a:r>
            <a:r>
              <a:rPr lang="en-US" sz="2500" baseline="-25000" dirty="0">
                <a:latin typeface="Times New Roman" pitchFamily="18" charset="0"/>
              </a:rPr>
              <a:t>3</a:t>
            </a:r>
            <a:r>
              <a:rPr lang="en-US" sz="2500" dirty="0">
                <a:latin typeface="Times New Roman" pitchFamily="18" charset="0"/>
              </a:rPr>
              <a:t>)  </a:t>
            </a:r>
          </a:p>
          <a:p>
            <a:pPr eaLnBrk="1" hangingPunct="1">
              <a:lnSpc>
                <a:spcPct val="90000"/>
              </a:lnSpc>
            </a:pPr>
            <a:r>
              <a:rPr lang="en-US" sz="2500" dirty="0">
                <a:latin typeface="Times New Roman" pitchFamily="18" charset="0"/>
              </a:rPr>
              <a:t>We set  </a:t>
            </a:r>
            <a:r>
              <a:rPr lang="en-US" sz="2500" i="1" dirty="0" err="1">
                <a:latin typeface="Times New Roman" pitchFamily="18" charset="0"/>
              </a:rPr>
              <a:t>r</a:t>
            </a:r>
            <a:r>
              <a:rPr lang="en-US" sz="2500" baseline="-25000" dirty="0" err="1">
                <a:latin typeface="Times New Roman" pitchFamily="18" charset="0"/>
              </a:rPr>
              <a:t>p</a:t>
            </a:r>
            <a:r>
              <a:rPr lang="en-US" sz="2500" dirty="0">
                <a:latin typeface="Times New Roman" pitchFamily="18" charset="0"/>
              </a:rPr>
              <a:t>  at different levels, starting a little bigger than the expected return on the minimum variance portfolio, and then getting bigger.</a:t>
            </a:r>
          </a:p>
          <a:p>
            <a:pPr eaLnBrk="1" hangingPunct="1">
              <a:lnSpc>
                <a:spcPct val="90000"/>
              </a:lnSpc>
            </a:pPr>
            <a:r>
              <a:rPr lang="en-US" sz="2500" dirty="0">
                <a:latin typeface="Times New Roman" pitchFamily="18" charset="0"/>
              </a:rPr>
              <a:t>For each </a:t>
            </a:r>
            <a:r>
              <a:rPr lang="en-US" sz="2500" i="1" dirty="0" err="1">
                <a:latin typeface="Times New Roman" pitchFamily="18" charset="0"/>
              </a:rPr>
              <a:t>r</a:t>
            </a:r>
            <a:r>
              <a:rPr lang="en-US" sz="2500" baseline="-25000" dirty="0" err="1">
                <a:latin typeface="Times New Roman" pitchFamily="18" charset="0"/>
              </a:rPr>
              <a:t>p</a:t>
            </a:r>
            <a:r>
              <a:rPr lang="en-US" sz="2500" dirty="0">
                <a:latin typeface="Times New Roman" pitchFamily="18" charset="0"/>
              </a:rPr>
              <a:t> we solve the constrained minimization, getting the optimal asset class weights and the portfolio’s expected return and standard deviation.</a:t>
            </a:r>
          </a:p>
          <a:p>
            <a:pPr eaLnBrk="1" hangingPunct="1">
              <a:lnSpc>
                <a:spcPct val="90000"/>
              </a:lnSpc>
            </a:pPr>
            <a:r>
              <a:rPr lang="en-US" sz="2500" dirty="0">
                <a:latin typeface="Times New Roman" pitchFamily="18" charset="0"/>
              </a:rPr>
              <a:t>We can then plot these, to get the mean-variance efficient frontier.</a:t>
            </a:r>
          </a:p>
        </p:txBody>
      </p:sp>
    </p:spTree>
    <p:extLst>
      <p:ext uri="{BB962C8B-B14F-4D97-AF65-F5344CB8AC3E}">
        <p14:creationId xmlns:p14="http://schemas.microsoft.com/office/powerpoint/2010/main" val="2104787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685800" y="-381000"/>
            <a:ext cx="7772400" cy="1752600"/>
          </a:xfrm>
        </p:spPr>
        <p:txBody>
          <a:bodyPr/>
          <a:lstStyle/>
          <a:p>
            <a:pPr eaLnBrk="1" hangingPunct="1"/>
            <a:r>
              <a:rPr lang="en-US" sz="2800" b="1" dirty="0">
                <a:solidFill>
                  <a:schemeClr val="tx1"/>
                </a:solidFill>
                <a:latin typeface="Times New Roman" pitchFamily="18" charset="0"/>
              </a:rPr>
              <a:t>Simplification with two-fund separation</a:t>
            </a:r>
          </a:p>
        </p:txBody>
      </p:sp>
      <p:sp>
        <p:nvSpPr>
          <p:cNvPr id="30724" name="Rectangle 3"/>
          <p:cNvSpPr>
            <a:spLocks noGrp="1" noChangeArrowheads="1"/>
          </p:cNvSpPr>
          <p:nvPr>
            <p:ph type="body" idx="1"/>
          </p:nvPr>
        </p:nvSpPr>
        <p:spPr>
          <a:xfrm>
            <a:off x="685800" y="1524000"/>
            <a:ext cx="7772400" cy="4572000"/>
          </a:xfrm>
        </p:spPr>
        <p:txBody>
          <a:bodyPr/>
          <a:lstStyle/>
          <a:p>
            <a:pPr eaLnBrk="1" hangingPunct="1">
              <a:lnSpc>
                <a:spcPct val="90000"/>
              </a:lnSpc>
            </a:pPr>
            <a:r>
              <a:rPr lang="en-US" sz="2500" dirty="0">
                <a:latin typeface="Times New Roman" pitchFamily="18" charset="0"/>
              </a:rPr>
              <a:t>It turns out that any linear combination of portfolios on the efficient frontier is also an efficient portfolio, and all efficient portfolios can be obtained as a linear combination of any two efficient portfolios</a:t>
            </a:r>
          </a:p>
          <a:p>
            <a:pPr eaLnBrk="1" hangingPunct="1">
              <a:lnSpc>
                <a:spcPct val="90000"/>
              </a:lnSpc>
            </a:pPr>
            <a:endParaRPr lang="en-US" sz="2500" dirty="0">
              <a:latin typeface="Times New Roman" pitchFamily="18" charset="0"/>
            </a:endParaRPr>
          </a:p>
          <a:p>
            <a:pPr eaLnBrk="1" hangingPunct="1">
              <a:lnSpc>
                <a:spcPct val="90000"/>
              </a:lnSpc>
            </a:pPr>
            <a:r>
              <a:rPr lang="en-US" sz="2500" dirty="0">
                <a:latin typeface="Times New Roman" pitchFamily="18" charset="0"/>
              </a:rPr>
              <a:t>This is called “</a:t>
            </a:r>
            <a:r>
              <a:rPr lang="en-US" sz="2500" i="1" dirty="0">
                <a:latin typeface="Times New Roman" pitchFamily="18" charset="0"/>
              </a:rPr>
              <a:t>two-fund separation</a:t>
            </a:r>
            <a:r>
              <a:rPr lang="en-US" sz="2500" dirty="0">
                <a:latin typeface="Times New Roman" pitchFamily="18" charset="0"/>
              </a:rPr>
              <a:t>” and what it means is that to trace out the entire efficient frontier, we need only obtain two efficient portfolios, and then take linear combinations of those two portfolios to trace out the rest of the frontier</a:t>
            </a:r>
          </a:p>
          <a:p>
            <a:pPr eaLnBrk="1" hangingPunct="1">
              <a:lnSpc>
                <a:spcPct val="90000"/>
              </a:lnSpc>
            </a:pPr>
            <a:endParaRPr lang="en-US" sz="2500" dirty="0">
              <a:latin typeface="Times New Roman" pitchFamily="18" charset="0"/>
            </a:endParaRPr>
          </a:p>
          <a:p>
            <a:pPr eaLnBrk="1" hangingPunct="1">
              <a:lnSpc>
                <a:spcPct val="90000"/>
              </a:lnSpc>
            </a:pPr>
            <a:r>
              <a:rPr lang="en-US" sz="2500" dirty="0">
                <a:latin typeface="Times New Roman" pitchFamily="18" charset="0"/>
              </a:rPr>
              <a:t>See the three-asset example in the spreadsheet MV3.xlsx</a:t>
            </a:r>
          </a:p>
          <a:p>
            <a:pPr eaLnBrk="1" hangingPunct="1">
              <a:lnSpc>
                <a:spcPct val="90000"/>
              </a:lnSpc>
            </a:pPr>
            <a:endParaRPr lang="en-US" sz="2500" dirty="0">
              <a:latin typeface="Times New Roman" pitchFamily="18" charset="0"/>
            </a:endParaRPr>
          </a:p>
          <a:p>
            <a:pPr eaLnBrk="1" hangingPunct="1">
              <a:lnSpc>
                <a:spcPct val="90000"/>
              </a:lnSpc>
            </a:pPr>
            <a:r>
              <a:rPr lang="en-US" sz="2500" dirty="0">
                <a:latin typeface="Times New Roman" pitchFamily="18" charset="0"/>
              </a:rPr>
              <a:t>You can use this in your homework!</a:t>
            </a:r>
          </a:p>
        </p:txBody>
      </p:sp>
    </p:spTree>
    <p:extLst>
      <p:ext uri="{BB962C8B-B14F-4D97-AF65-F5344CB8AC3E}">
        <p14:creationId xmlns:p14="http://schemas.microsoft.com/office/powerpoint/2010/main" val="2192318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914400" y="301625"/>
            <a:ext cx="8077200" cy="1143000"/>
          </a:xfrm>
        </p:spPr>
        <p:txBody>
          <a:bodyPr/>
          <a:lstStyle/>
          <a:p>
            <a:pPr eaLnBrk="1" hangingPunct="1"/>
            <a:r>
              <a:rPr lang="en-US" sz="3200" dirty="0">
                <a:latin typeface="Times New Roman" pitchFamily="18" charset="0"/>
              </a:rPr>
              <a:t>In Practice: Where Do We get (1) Expected Return, (2) Expected Variance and (3) Correlation?</a:t>
            </a:r>
          </a:p>
        </p:txBody>
      </p:sp>
      <p:sp>
        <p:nvSpPr>
          <p:cNvPr id="32772" name="Rectangle 3"/>
          <p:cNvSpPr>
            <a:spLocks noGrp="1" noChangeArrowheads="1"/>
          </p:cNvSpPr>
          <p:nvPr>
            <p:ph type="body" idx="1"/>
          </p:nvPr>
        </p:nvSpPr>
        <p:spPr/>
        <p:txBody>
          <a:bodyPr/>
          <a:lstStyle/>
          <a:p>
            <a:pPr eaLnBrk="1" hangingPunct="1"/>
            <a:r>
              <a:rPr lang="en-US" dirty="0">
                <a:latin typeface="Times New Roman" pitchFamily="18" charset="0"/>
              </a:rPr>
              <a:t>Three critical inputs to mean-variance portfolio optimization.  Where do these come from? </a:t>
            </a:r>
          </a:p>
          <a:p>
            <a:pPr lvl="1" eaLnBrk="1" hangingPunct="1"/>
            <a:r>
              <a:rPr lang="en-US" dirty="0">
                <a:latin typeface="Times New Roman" pitchFamily="18" charset="0"/>
              </a:rPr>
              <a:t>Repeat of history?</a:t>
            </a:r>
          </a:p>
          <a:p>
            <a:pPr lvl="1" eaLnBrk="1" hangingPunct="1"/>
            <a:r>
              <a:rPr lang="en-US" dirty="0">
                <a:latin typeface="Times New Roman" pitchFamily="18" charset="0"/>
              </a:rPr>
              <a:t>Tempered repeat of history?</a:t>
            </a:r>
          </a:p>
          <a:p>
            <a:pPr lvl="1" eaLnBrk="1" hangingPunct="1"/>
            <a:r>
              <a:rPr lang="en-US" dirty="0">
                <a:latin typeface="Times New Roman" pitchFamily="18" charset="0"/>
              </a:rPr>
              <a:t>Other?</a:t>
            </a:r>
          </a:p>
          <a:p>
            <a:pPr lvl="1" eaLnBrk="1" hangingPunct="1"/>
            <a:endParaRPr lang="en-US" dirty="0">
              <a:latin typeface="Times New Roman" pitchFamily="18" charset="0"/>
            </a:endParaRPr>
          </a:p>
          <a:p>
            <a:pPr eaLnBrk="1" hangingPunct="1"/>
            <a:r>
              <a:rPr lang="en-US" dirty="0">
                <a:latin typeface="Times New Roman" pitchFamily="18" charset="0"/>
              </a:rPr>
              <a:t>What are the issues with each?</a:t>
            </a:r>
          </a:p>
        </p:txBody>
      </p:sp>
    </p:spTree>
    <p:extLst>
      <p:ext uri="{BB962C8B-B14F-4D97-AF65-F5344CB8AC3E}">
        <p14:creationId xmlns:p14="http://schemas.microsoft.com/office/powerpoint/2010/main" val="39414983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772">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277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0"/>
            <a:ext cx="8686800" cy="715962"/>
          </a:xfrm>
        </p:spPr>
        <p:txBody>
          <a:bodyPr>
            <a:normAutofit fontScale="90000"/>
          </a:bodyPr>
          <a:lstStyle/>
          <a:p>
            <a:r>
              <a:rPr lang="en-US" dirty="0"/>
              <a:t>Extensions and Relation to Homework</a:t>
            </a:r>
          </a:p>
        </p:txBody>
      </p:sp>
      <p:sp>
        <p:nvSpPr>
          <p:cNvPr id="5" name="Content Placeholder 2"/>
          <p:cNvSpPr txBox="1">
            <a:spLocks/>
          </p:cNvSpPr>
          <p:nvPr/>
        </p:nvSpPr>
        <p:spPr>
          <a:xfrm>
            <a:off x="-27878" y="1219200"/>
            <a:ext cx="9067800" cy="5410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Once you have solved for three risky assets, the approach can be generalized for n assets.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Other extensions: positive portfolio weights, different borrowing and lending rates, etc.</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Observe that with mean-variance analysis, we can use several approaches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Optimizing portfolio weights on historical returns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histret</a:t>
            </a:r>
            <a:r>
              <a:rPr kumimoji="0" lang="en-US" sz="2000" b="0" i="0" u="none" strike="noStrike" kern="1200" cap="none" spc="0" normalizeH="0" baseline="0" noProof="0" dirty="0">
                <a:ln>
                  <a:noFill/>
                </a:ln>
                <a:solidFill>
                  <a:prstClr val="black"/>
                </a:solidFill>
                <a:effectLst/>
                <a:uLnTx/>
                <a:uFillTx/>
                <a:latin typeface="Calibri"/>
                <a:ea typeface="+mn-ea"/>
                <a:cs typeface="+mn-cs"/>
              </a:rPr>
              <a:t> spreadsheet)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Taking only sample moments (means and covariance matrix) from historical returns and optimizing using portfolio mean and variance formulas (mv3 spreadsheet, sample python code and assignment 2)</a:t>
            </a:r>
          </a:p>
          <a:p>
            <a:pPr lvl="2" indent="-285750" fontAlgn="auto">
              <a:spcAft>
                <a:spcPts val="0"/>
              </a:spcAft>
              <a:buFont typeface="Arial" pitchFamily="34" charset="0"/>
              <a:buChar char="–"/>
              <a:defRPr/>
            </a:pPr>
            <a:r>
              <a:rPr lang="en-US" sz="1600" dirty="0">
                <a:solidFill>
                  <a:prstClr val="black"/>
                </a:solidFill>
                <a:latin typeface="Calibri"/>
              </a:rPr>
              <a:t>We can grind explicitly through the optimization problem for any desired level of return (big for loop)</a:t>
            </a:r>
          </a:p>
          <a:p>
            <a:pPr lvl="2" indent="-285750" fontAlgn="auto">
              <a:spcAft>
                <a:spcPts val="0"/>
              </a:spcAft>
              <a:buFont typeface="Arial" pitchFamily="34" charset="0"/>
              <a:buChar char="–"/>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We</a:t>
            </a:r>
            <a:r>
              <a:rPr kumimoji="0" lang="en-US" sz="1600" b="0" i="0" u="none" strike="noStrike" kern="1200" cap="none" spc="0" normalizeH="0" noProof="0" dirty="0">
                <a:ln>
                  <a:noFill/>
                </a:ln>
                <a:solidFill>
                  <a:prstClr val="black"/>
                </a:solidFill>
                <a:effectLst/>
                <a:uLnTx/>
                <a:uFillTx/>
                <a:latin typeface="Calibri"/>
                <a:ea typeface="+mn-ea"/>
                <a:cs typeface="+mn-cs"/>
              </a:rPr>
              <a:t> can use two-fund separation to find two efficient portfolios and trace out entire frontier.</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857250" marR="0" lvl="2"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305921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General Mean-variance Math (see appendix)</a:t>
            </a:r>
          </a:p>
        </p:txBody>
      </p:sp>
      <p:sp>
        <p:nvSpPr>
          <p:cNvPr id="2" name="Content Placeholder 1"/>
          <p:cNvSpPr>
            <a:spLocks noGrp="1"/>
          </p:cNvSpPr>
          <p:nvPr>
            <p:ph idx="1"/>
          </p:nvPr>
        </p:nvSpPr>
        <p:spPr>
          <a:xfrm>
            <a:off x="914400" y="1827213"/>
            <a:ext cx="8229599" cy="4114800"/>
          </a:xfrm>
        </p:spPr>
        <p:txBody>
          <a:bodyPr/>
          <a:lstStyle/>
          <a:p>
            <a:r>
              <a:rPr lang="en-CA" sz="2400" dirty="0"/>
              <a:t>General formulas can be developed when the number of asset classes becomes large…</a:t>
            </a:r>
          </a:p>
          <a:p>
            <a:endParaRPr lang="en-CA" sz="2400" dirty="0"/>
          </a:p>
          <a:p>
            <a:r>
              <a:rPr lang="en-CA" sz="2400" dirty="0" err="1"/>
              <a:t>Tradeoffs</a:t>
            </a:r>
            <a:r>
              <a:rPr lang="en-CA" sz="2400" dirty="0"/>
              <a:t>: How do problems/limitations become magnified as the number of assets grows?</a:t>
            </a:r>
          </a:p>
        </p:txBody>
      </p:sp>
    </p:spTree>
    <p:extLst>
      <p:ext uri="{BB962C8B-B14F-4D97-AF65-F5344CB8AC3E}">
        <p14:creationId xmlns:p14="http://schemas.microsoft.com/office/powerpoint/2010/main" val="42855557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Asset Allocation in Practice</a:t>
            </a:r>
          </a:p>
        </p:txBody>
      </p:sp>
      <p:sp>
        <p:nvSpPr>
          <p:cNvPr id="2" name="Content Placeholder 1"/>
          <p:cNvSpPr>
            <a:spLocks noGrp="1"/>
          </p:cNvSpPr>
          <p:nvPr>
            <p:ph idx="1"/>
          </p:nvPr>
        </p:nvSpPr>
        <p:spPr>
          <a:xfrm>
            <a:off x="457200" y="1827212"/>
            <a:ext cx="8226425" cy="4649787"/>
          </a:xfrm>
        </p:spPr>
        <p:txBody>
          <a:bodyPr/>
          <a:lstStyle/>
          <a:p>
            <a:r>
              <a:rPr lang="en-CA" sz="2400" dirty="0"/>
              <a:t>60/40, 70/30 “rules”</a:t>
            </a:r>
          </a:p>
          <a:p>
            <a:r>
              <a:rPr lang="en-CA" sz="2400" dirty="0"/>
              <a:t>Life-cycle portfolios, 100-age in stocks, etc.</a:t>
            </a:r>
          </a:p>
          <a:p>
            <a:r>
              <a:rPr lang="en-CA" sz="2400" dirty="0"/>
              <a:t>As implemented by institutional investors in recent times, from 3-12 asset classes</a:t>
            </a:r>
          </a:p>
          <a:p>
            <a:endParaRPr lang="en-CA" sz="2400" dirty="0"/>
          </a:p>
          <a:p>
            <a:r>
              <a:rPr lang="en-CA" sz="2400" dirty="0">
                <a:hlinkClick r:id="rId3"/>
              </a:rPr>
              <a:t>Forbes</a:t>
            </a:r>
            <a:r>
              <a:rPr lang="en-CA" sz="2400" dirty="0"/>
              <a:t> on Practical Asset Allocation</a:t>
            </a:r>
          </a:p>
          <a:p>
            <a:r>
              <a:rPr lang="en-CA" sz="2400" dirty="0">
                <a:hlinkClick r:id="rId4"/>
              </a:rPr>
              <a:t>Charles Schwab</a:t>
            </a:r>
            <a:endParaRPr lang="en-CA" sz="2400" dirty="0"/>
          </a:p>
          <a:p>
            <a:r>
              <a:rPr lang="en-CA" sz="2400" dirty="0">
                <a:hlinkClick r:id="rId5"/>
              </a:rPr>
              <a:t>TIAA</a:t>
            </a:r>
            <a:r>
              <a:rPr lang="en-CA" sz="2400" dirty="0"/>
              <a:t> life-cycle funds</a:t>
            </a:r>
          </a:p>
          <a:p>
            <a:r>
              <a:rPr lang="en-CA" sz="2400" dirty="0">
                <a:hlinkClick r:id="rId6"/>
              </a:rPr>
              <a:t>Couch potato</a:t>
            </a:r>
            <a:r>
              <a:rPr lang="en-CA" sz="2400" dirty="0"/>
              <a:t> portfolio</a:t>
            </a:r>
          </a:p>
          <a:p>
            <a:pPr marL="0" indent="0">
              <a:buNone/>
            </a:pPr>
            <a:endParaRPr lang="en-CA" dirty="0"/>
          </a:p>
        </p:txBody>
      </p:sp>
    </p:spTree>
    <p:extLst>
      <p:ext uri="{BB962C8B-B14F-4D97-AF65-F5344CB8AC3E}">
        <p14:creationId xmlns:p14="http://schemas.microsoft.com/office/powerpoint/2010/main" val="1348685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Strategic Asset Allocation as first step in bigger picture</a:t>
            </a:r>
          </a:p>
        </p:txBody>
      </p:sp>
      <p:sp>
        <p:nvSpPr>
          <p:cNvPr id="60420" name="Rectangle 3"/>
          <p:cNvSpPr>
            <a:spLocks noGrp="1" noChangeArrowheads="1"/>
          </p:cNvSpPr>
          <p:nvPr>
            <p:ph type="body" idx="1"/>
          </p:nvPr>
        </p:nvSpPr>
        <p:spPr/>
        <p:txBody>
          <a:bodyPr/>
          <a:lstStyle/>
          <a:p>
            <a:pPr marL="457200" indent="-457200" eaLnBrk="1" hangingPunct="1">
              <a:buFont typeface="+mj-lt"/>
              <a:buAutoNum type="arabicPeriod"/>
            </a:pPr>
            <a:r>
              <a:rPr lang="en-US" sz="2500" b="1" dirty="0">
                <a:latin typeface="Times New Roman" pitchFamily="18" charset="0"/>
              </a:rPr>
              <a:t>Strategic Asset Allocation </a:t>
            </a:r>
            <a:r>
              <a:rPr lang="en-US" sz="2500" dirty="0">
                <a:latin typeface="Times New Roman" pitchFamily="18" charset="0"/>
              </a:rPr>
              <a:t>– the decision of what portfolio weights to assign to each asset class</a:t>
            </a:r>
          </a:p>
          <a:p>
            <a:pPr marL="457200" indent="-457200" eaLnBrk="1" hangingPunct="1">
              <a:buFont typeface="+mj-lt"/>
              <a:buAutoNum type="arabicPeriod"/>
            </a:pPr>
            <a:r>
              <a:rPr lang="en-US" sz="2500" b="1" dirty="0">
                <a:latin typeface="Times New Roman" pitchFamily="18" charset="0"/>
              </a:rPr>
              <a:t>Tactical Asset Allocation </a:t>
            </a:r>
            <a:r>
              <a:rPr lang="en-US" sz="2500" dirty="0">
                <a:latin typeface="Times New Roman" pitchFamily="18" charset="0"/>
              </a:rPr>
              <a:t>– shifting weights in asset classes when you think returns will be low or high in that asset class (requires timing ability to succeed)</a:t>
            </a:r>
          </a:p>
          <a:p>
            <a:pPr marL="457200" indent="-457200" eaLnBrk="1" hangingPunct="1">
              <a:buFont typeface="+mj-lt"/>
              <a:buAutoNum type="arabicPeriod"/>
            </a:pPr>
            <a:r>
              <a:rPr lang="en-US" sz="2500" b="1" dirty="0">
                <a:latin typeface="Times New Roman" pitchFamily="18" charset="0"/>
              </a:rPr>
              <a:t>Active vs. Passive management </a:t>
            </a:r>
            <a:r>
              <a:rPr lang="en-US" sz="2500" dirty="0">
                <a:latin typeface="Times New Roman" pitchFamily="18" charset="0"/>
              </a:rPr>
              <a:t>of each asset class – performance relative to asset class benchmark</a:t>
            </a:r>
          </a:p>
          <a:p>
            <a:pPr eaLnBrk="1" hangingPunct="1"/>
            <a:endParaRPr lang="en-US" sz="2500" dirty="0">
              <a:latin typeface="Times New Roman" pitchFamily="18" charset="0"/>
            </a:endParaRPr>
          </a:p>
          <a:p>
            <a:pPr eaLnBrk="1" hangingPunct="1"/>
            <a:r>
              <a:rPr lang="en-US" sz="2500" dirty="0">
                <a:latin typeface="Times New Roman" pitchFamily="18" charset="0"/>
              </a:rPr>
              <a:t>Performance evaluation often tries to break down performance of a portfolio into these elements</a:t>
            </a:r>
          </a:p>
        </p:txBody>
      </p:sp>
    </p:spTree>
    <p:extLst>
      <p:ext uri="{BB962C8B-B14F-4D97-AF65-F5344CB8AC3E}">
        <p14:creationId xmlns:p14="http://schemas.microsoft.com/office/powerpoint/2010/main" val="21438205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Strategic Asset Allocation as first step in bigger picture</a:t>
            </a:r>
          </a:p>
        </p:txBody>
      </p:sp>
      <p:sp>
        <p:nvSpPr>
          <p:cNvPr id="2" name="Content Placeholder 1"/>
          <p:cNvSpPr>
            <a:spLocks noGrp="1"/>
          </p:cNvSpPr>
          <p:nvPr>
            <p:ph idx="1"/>
          </p:nvPr>
        </p:nvSpPr>
        <p:spPr>
          <a:xfrm>
            <a:off x="914400" y="1828800"/>
            <a:ext cx="1981200" cy="4495800"/>
          </a:xfrm>
        </p:spPr>
        <p:txBody>
          <a:bodyPr/>
          <a:lstStyle/>
          <a:p>
            <a:pPr marL="0" indent="0">
              <a:buNone/>
            </a:pPr>
            <a:r>
              <a:rPr lang="en-US" sz="1400" dirty="0"/>
              <a:t>Performance evaluation with SAA, TAA, and active management (Brinson et al. 1995, FAJ)</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676400"/>
            <a:ext cx="5527658" cy="47421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4111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Critiques of MPT</a:t>
            </a:r>
          </a:p>
        </p:txBody>
      </p:sp>
      <p:sp>
        <p:nvSpPr>
          <p:cNvPr id="60420" name="Rectangle 3"/>
          <p:cNvSpPr>
            <a:spLocks noGrp="1" noChangeArrowheads="1"/>
          </p:cNvSpPr>
          <p:nvPr>
            <p:ph type="body" idx="1"/>
          </p:nvPr>
        </p:nvSpPr>
        <p:spPr>
          <a:xfrm>
            <a:off x="533400" y="1827213"/>
            <a:ext cx="8610600" cy="4114800"/>
          </a:xfrm>
        </p:spPr>
        <p:txBody>
          <a:bodyPr/>
          <a:lstStyle/>
          <a:p>
            <a:pPr eaLnBrk="1" hangingPunct="1"/>
            <a:r>
              <a:rPr lang="en-US" sz="2500" dirty="0">
                <a:latin typeface="Times New Roman" pitchFamily="18" charset="0"/>
              </a:rPr>
              <a:t>The objective function: why minimize variance for given mean?</a:t>
            </a:r>
          </a:p>
          <a:p>
            <a:pPr eaLnBrk="1" hangingPunct="1"/>
            <a:endParaRPr lang="en-US" sz="1400" dirty="0">
              <a:latin typeface="Times New Roman" pitchFamily="18" charset="0"/>
            </a:endParaRPr>
          </a:p>
          <a:p>
            <a:pPr eaLnBrk="1" hangingPunct="1"/>
            <a:r>
              <a:rPr lang="en-US" sz="2500" dirty="0">
                <a:latin typeface="Times New Roman" pitchFamily="18" charset="0"/>
              </a:rPr>
              <a:t>CPPIB </a:t>
            </a:r>
            <a:r>
              <a:rPr lang="en-US" sz="2500" dirty="0">
                <a:latin typeface="Times New Roman" pitchFamily="18" charset="0"/>
                <a:hlinkClick r:id="rId3"/>
              </a:rPr>
              <a:t>statement of investment objectives </a:t>
            </a:r>
            <a:r>
              <a:rPr lang="en-US" sz="2500" dirty="0">
                <a:latin typeface="Times New Roman" pitchFamily="18" charset="0"/>
              </a:rPr>
              <a:t>(mandate):</a:t>
            </a:r>
          </a:p>
          <a:p>
            <a:pPr marL="0" indent="0" eaLnBrk="1" hangingPunct="1">
              <a:buNone/>
            </a:pPr>
            <a:r>
              <a:rPr lang="en-US" sz="2800" b="1" dirty="0"/>
              <a:t>“to invest in the best interests of Canada Pension Plan contributors and beneficiaries and to maximize investment returns without undue risk of loss”</a:t>
            </a:r>
          </a:p>
          <a:p>
            <a:pPr marL="0" indent="0" eaLnBrk="1" hangingPunct="1">
              <a:buNone/>
            </a:pPr>
            <a:r>
              <a:rPr lang="en-US" sz="2400" dirty="0">
                <a:latin typeface="Times New Roman" panose="02020603050405020304" pitchFamily="18" charset="0"/>
                <a:cs typeface="Times New Roman" panose="02020603050405020304" pitchFamily="18" charset="0"/>
              </a:rPr>
              <a:t>How does this differ from mean-variance objective function?</a:t>
            </a:r>
          </a:p>
          <a:p>
            <a:pPr marL="0" indent="0" eaLnBrk="1" hangingPunct="1">
              <a:buNone/>
            </a:pPr>
            <a:r>
              <a:rPr lang="en-US" sz="2400" dirty="0">
                <a:latin typeface="Times New Roman" panose="02020603050405020304" pitchFamily="18" charset="0"/>
                <a:cs typeface="Times New Roman" panose="02020603050405020304" pitchFamily="18" charset="0"/>
              </a:rPr>
              <a:t>How can we implement objective functions besides mean-variance? (e.g., utility of wealth and simulation)</a:t>
            </a:r>
          </a:p>
          <a:p>
            <a:pPr marL="0" indent="0" eaLnBrk="1" hangingPunct="1">
              <a:buNone/>
            </a:pPr>
            <a:endParaRPr lang="en-US" sz="2500" dirty="0">
              <a:latin typeface="Times New Roman" pitchFamily="18" charset="0"/>
            </a:endParaRPr>
          </a:p>
        </p:txBody>
      </p:sp>
    </p:spTree>
    <p:extLst>
      <p:ext uri="{BB962C8B-B14F-4D97-AF65-F5344CB8AC3E}">
        <p14:creationId xmlns:p14="http://schemas.microsoft.com/office/powerpoint/2010/main" val="3336392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Additional Critiques of MPT</a:t>
            </a:r>
          </a:p>
        </p:txBody>
      </p:sp>
      <p:sp>
        <p:nvSpPr>
          <p:cNvPr id="60420" name="Rectangle 3"/>
          <p:cNvSpPr>
            <a:spLocks noGrp="1" noChangeArrowheads="1"/>
          </p:cNvSpPr>
          <p:nvPr>
            <p:ph type="body" idx="1"/>
          </p:nvPr>
        </p:nvSpPr>
        <p:spPr>
          <a:xfrm>
            <a:off x="914400" y="1827213"/>
            <a:ext cx="8077199" cy="4114800"/>
          </a:xfrm>
        </p:spPr>
        <p:txBody>
          <a:bodyPr/>
          <a:lstStyle/>
          <a:p>
            <a:pPr eaLnBrk="1" hangingPunct="1"/>
            <a:r>
              <a:rPr lang="en-US" sz="2500" dirty="0">
                <a:latin typeface="Times New Roman" pitchFamily="18" charset="0"/>
              </a:rPr>
              <a:t>2) Proliferation of asset classes, difficulty of estimating parameters, and instability of parameters (even seemingly simple ones like </a:t>
            </a:r>
            <a:r>
              <a:rPr lang="en-US" sz="2500" dirty="0">
                <a:latin typeface="Times New Roman" pitchFamily="18" charset="0"/>
                <a:hlinkClick r:id="rId3"/>
              </a:rPr>
              <a:t>bond-stock correlation</a:t>
            </a:r>
            <a:r>
              <a:rPr lang="en-US" sz="2500" dirty="0">
                <a:latin typeface="Times New Roman" pitchFamily="18" charset="0"/>
              </a:rPr>
              <a:t>) but also volatilities and means, </a:t>
            </a:r>
          </a:p>
          <a:p>
            <a:pPr eaLnBrk="1" hangingPunct="1"/>
            <a:r>
              <a:rPr lang="en-US" sz="2500" dirty="0">
                <a:latin typeface="Times New Roman" pitchFamily="18" charset="0"/>
              </a:rPr>
              <a:t>For large N difficulty of estimating covariance matrix and sensitivity to small errors (too many parameters) </a:t>
            </a:r>
            <a:r>
              <a:rPr lang="en-US" sz="2500" dirty="0">
                <a:latin typeface="Times New Roman" pitchFamily="18" charset="0"/>
                <a:sym typeface="Wingdings" panose="05000000000000000000" pitchFamily="2" charset="2"/>
              </a:rPr>
              <a:t> robustness of “</a:t>
            </a:r>
            <a:r>
              <a:rPr lang="en-US" sz="2500" dirty="0">
                <a:latin typeface="Times New Roman" pitchFamily="18" charset="0"/>
                <a:sym typeface="Wingdings" panose="05000000000000000000" pitchFamily="2" charset="2"/>
                <a:hlinkClick r:id="rId4"/>
              </a:rPr>
              <a:t>1/N</a:t>
            </a:r>
            <a:r>
              <a:rPr lang="en-US" sz="2500" dirty="0">
                <a:latin typeface="Times New Roman" pitchFamily="18" charset="0"/>
                <a:sym typeface="Wingdings" panose="05000000000000000000" pitchFamily="2" charset="2"/>
              </a:rPr>
              <a:t>” investing strategies</a:t>
            </a:r>
          </a:p>
          <a:p>
            <a:pPr marL="0" indent="0" eaLnBrk="1" hangingPunct="1">
              <a:buNone/>
            </a:pPr>
            <a:endParaRPr lang="en-US" sz="2500" dirty="0">
              <a:latin typeface="Times New Roman" pitchFamily="18" charset="0"/>
            </a:endParaRPr>
          </a:p>
          <a:p>
            <a:pPr marL="0" indent="0" eaLnBrk="1" hangingPunct="1">
              <a:buNone/>
            </a:pPr>
            <a:endParaRPr lang="en-US" sz="2500" dirty="0">
              <a:latin typeface="Times New Roman" pitchFamily="18" charset="0"/>
            </a:endParaRPr>
          </a:p>
          <a:p>
            <a:pPr marL="0" indent="0" eaLnBrk="1" hangingPunct="1">
              <a:buNone/>
            </a:pPr>
            <a:endParaRPr lang="en-US" sz="2400" dirty="0">
              <a:latin typeface="Times New Roman" panose="02020603050405020304" pitchFamily="18" charset="0"/>
              <a:cs typeface="Times New Roman" panose="02020603050405020304" pitchFamily="18" charset="0"/>
            </a:endParaRPr>
          </a:p>
          <a:p>
            <a:pPr marL="0" indent="0" eaLnBrk="1" hangingPunct="1">
              <a:buNone/>
            </a:pPr>
            <a:endParaRPr lang="en-US" sz="2500" dirty="0">
              <a:latin typeface="Times New Roman" pitchFamily="18" charset="0"/>
            </a:endParaRPr>
          </a:p>
        </p:txBody>
      </p:sp>
    </p:spTree>
    <p:extLst>
      <p:ext uri="{BB962C8B-B14F-4D97-AF65-F5344CB8AC3E}">
        <p14:creationId xmlns:p14="http://schemas.microsoft.com/office/powerpoint/2010/main" val="37050541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1370012" y="301625"/>
            <a:ext cx="7747967" cy="1143000"/>
          </a:xfrm>
        </p:spPr>
        <p:txBody>
          <a:bodyPr/>
          <a:lstStyle/>
          <a:p>
            <a:pPr eaLnBrk="1" hangingPunct="1"/>
            <a:r>
              <a:rPr lang="en-US" sz="3000" b="1" dirty="0">
                <a:latin typeface="Times New Roman" pitchFamily="18" charset="0"/>
              </a:rPr>
              <a:t>Adding more realism to asset allocation… </a:t>
            </a:r>
          </a:p>
        </p:txBody>
      </p:sp>
      <p:sp>
        <p:nvSpPr>
          <p:cNvPr id="60420" name="Rectangle 3"/>
          <p:cNvSpPr>
            <a:spLocks noGrp="1" noChangeArrowheads="1"/>
          </p:cNvSpPr>
          <p:nvPr>
            <p:ph type="body" idx="1"/>
          </p:nvPr>
        </p:nvSpPr>
        <p:spPr>
          <a:xfrm>
            <a:off x="507380" y="1444625"/>
            <a:ext cx="8610600" cy="4114800"/>
          </a:xfrm>
        </p:spPr>
        <p:txBody>
          <a:bodyPr/>
          <a:lstStyle/>
          <a:p>
            <a:pPr eaLnBrk="1" hangingPunct="1"/>
            <a:r>
              <a:rPr lang="en-US" sz="2000" dirty="0">
                <a:latin typeface="Times New Roman" pitchFamily="18" charset="0"/>
              </a:rPr>
              <a:t>A branch of the finance literature that tries to put the asset allocation problem into greater context is the “lifecycle portfolio choice” literature.</a:t>
            </a:r>
          </a:p>
          <a:p>
            <a:pPr eaLnBrk="1" hangingPunct="1"/>
            <a:endParaRPr lang="en-US" sz="1400" dirty="0">
              <a:latin typeface="Times New Roman" pitchFamily="18" charset="0"/>
            </a:endParaRPr>
          </a:p>
          <a:p>
            <a:pPr eaLnBrk="1" hangingPunct="1"/>
            <a:r>
              <a:rPr lang="en-US" sz="2000" dirty="0">
                <a:latin typeface="Times New Roman" pitchFamily="18" charset="0"/>
              </a:rPr>
              <a:t>Consider an investor of a given age, with a time to retirement (known or random), and a time to death (known or random)</a:t>
            </a:r>
          </a:p>
          <a:p>
            <a:pPr lvl="1" eaLnBrk="1" hangingPunct="1"/>
            <a:r>
              <a:rPr lang="en-US" sz="1800" dirty="0">
                <a:latin typeface="Times New Roman" pitchFamily="18" charset="0"/>
              </a:rPr>
              <a:t>The investor has an income stream (known or random)</a:t>
            </a:r>
          </a:p>
          <a:p>
            <a:pPr lvl="1" eaLnBrk="1" hangingPunct="1"/>
            <a:r>
              <a:rPr lang="en-US" sz="1800" dirty="0">
                <a:latin typeface="Times New Roman" pitchFamily="18" charset="0"/>
              </a:rPr>
              <a:t>Some fraction allocated to a retirement account (set to a constant to simplify the problem, solve for optimal to make more realistic)</a:t>
            </a:r>
          </a:p>
          <a:p>
            <a:pPr lvl="1" eaLnBrk="1" hangingPunct="1"/>
            <a:r>
              <a:rPr lang="en-US" sz="1800" dirty="0">
                <a:latin typeface="Times New Roman" pitchFamily="18" charset="0"/>
              </a:rPr>
              <a:t>Allocates retirement account to different asset classes</a:t>
            </a:r>
          </a:p>
          <a:p>
            <a:pPr lvl="1" eaLnBrk="1" hangingPunct="1"/>
            <a:r>
              <a:rPr lang="en-US" sz="1800" dirty="0">
                <a:latin typeface="Times New Roman" pitchFamily="18" charset="0"/>
              </a:rPr>
              <a:t>A utility of wealth at retirement simplifies the problem, solving for consumption and investment through retirement to death makes it harder</a:t>
            </a:r>
          </a:p>
          <a:p>
            <a:pPr lvl="1" eaLnBrk="1" hangingPunct="1"/>
            <a:r>
              <a:rPr lang="en-US" sz="1800" dirty="0">
                <a:latin typeface="Times New Roman" pitchFamily="18" charset="0"/>
              </a:rPr>
              <a:t>Specify a utility function, need not be mean-variance</a:t>
            </a:r>
          </a:p>
          <a:p>
            <a:pPr lvl="1" eaLnBrk="1" hangingPunct="1"/>
            <a:r>
              <a:rPr lang="en-US" sz="1800" dirty="0">
                <a:latin typeface="Times New Roman" pitchFamily="18" charset="0"/>
              </a:rPr>
              <a:t>Allow for variation in strategic asset allocation based on time to retirement? Allow market timing strategies using predictor variables?  Both make the solution more complex but are doable.</a:t>
            </a:r>
          </a:p>
          <a:p>
            <a:pPr lvl="1" eaLnBrk="1" hangingPunct="1"/>
            <a:r>
              <a:rPr lang="en-US" sz="1800" dirty="0">
                <a:latin typeface="Times New Roman" pitchFamily="18" charset="0"/>
              </a:rPr>
              <a:t>If you allow randomness, can solve using simulation (drawing paths)</a:t>
            </a:r>
          </a:p>
          <a:p>
            <a:pPr lvl="1" eaLnBrk="1" hangingPunct="1"/>
            <a:r>
              <a:rPr lang="en-US" sz="1800" dirty="0">
                <a:latin typeface="Times New Roman" pitchFamily="18" charset="0"/>
              </a:rPr>
              <a:t>Could also just look at expected returns</a:t>
            </a:r>
          </a:p>
        </p:txBody>
      </p:sp>
    </p:spTree>
    <p:extLst>
      <p:ext uri="{BB962C8B-B14F-4D97-AF65-F5344CB8AC3E}">
        <p14:creationId xmlns:p14="http://schemas.microsoft.com/office/powerpoint/2010/main" val="1414061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Appendix: Mean-variance math</a:t>
            </a:r>
          </a:p>
        </p:txBody>
      </p:sp>
    </p:spTree>
    <p:extLst>
      <p:ext uri="{BB962C8B-B14F-4D97-AF65-F5344CB8AC3E}">
        <p14:creationId xmlns:p14="http://schemas.microsoft.com/office/powerpoint/2010/main" val="2511602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The Efficient Frontier</a:t>
            </a:r>
          </a:p>
        </p:txBody>
      </p:sp>
      <p:sp>
        <p:nvSpPr>
          <p:cNvPr id="5125" name="Line 5"/>
          <p:cNvSpPr>
            <a:spLocks noChangeShapeType="1"/>
          </p:cNvSpPr>
          <p:nvPr/>
        </p:nvSpPr>
        <p:spPr bwMode="auto">
          <a:xfrm>
            <a:off x="1905000" y="2286000"/>
            <a:ext cx="0" cy="29718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26" name="Line 6"/>
          <p:cNvSpPr>
            <a:spLocks noChangeShapeType="1"/>
          </p:cNvSpPr>
          <p:nvPr/>
        </p:nvSpPr>
        <p:spPr bwMode="auto">
          <a:xfrm>
            <a:off x="1752600" y="5105400"/>
            <a:ext cx="5257800" cy="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28" name="Rectangle 8"/>
          <p:cNvSpPr>
            <a:spLocks noChangeArrowheads="1"/>
          </p:cNvSpPr>
          <p:nvPr/>
        </p:nvSpPr>
        <p:spPr bwMode="auto">
          <a:xfrm>
            <a:off x="1219200" y="2133600"/>
            <a:ext cx="506413" cy="7620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4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p>
        </p:txBody>
      </p:sp>
      <p:sp>
        <p:nvSpPr>
          <p:cNvPr id="5129" name="Rectangle 9"/>
          <p:cNvSpPr>
            <a:spLocks noChangeArrowheads="1"/>
          </p:cNvSpPr>
          <p:nvPr/>
        </p:nvSpPr>
        <p:spPr bwMode="auto">
          <a:xfrm>
            <a:off x="6400800" y="5105400"/>
            <a:ext cx="520700" cy="7620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4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p>
        </p:txBody>
      </p:sp>
      <p:sp>
        <p:nvSpPr>
          <p:cNvPr id="5130" name="Freeform 10"/>
          <p:cNvSpPr>
            <a:spLocks/>
          </p:cNvSpPr>
          <p:nvPr/>
        </p:nvSpPr>
        <p:spPr bwMode="auto">
          <a:xfrm>
            <a:off x="3505200" y="2057400"/>
            <a:ext cx="2590800" cy="3048000"/>
          </a:xfrm>
          <a:custGeom>
            <a:avLst/>
            <a:gdLst/>
            <a:ahLst/>
            <a:cxnLst>
              <a:cxn ang="0">
                <a:pos x="1888" y="0"/>
              </a:cxn>
              <a:cxn ang="0">
                <a:pos x="16" y="624"/>
              </a:cxn>
              <a:cxn ang="0">
                <a:pos x="1792" y="1344"/>
              </a:cxn>
            </a:cxnLst>
            <a:rect l="0" t="0" r="r" b="b"/>
            <a:pathLst>
              <a:path w="1888" h="1344">
                <a:moveTo>
                  <a:pt x="1888" y="0"/>
                </a:moveTo>
                <a:cubicBezTo>
                  <a:pt x="960" y="200"/>
                  <a:pt x="32" y="400"/>
                  <a:pt x="16" y="624"/>
                </a:cubicBezTo>
                <a:cubicBezTo>
                  <a:pt x="0" y="848"/>
                  <a:pt x="1504" y="1224"/>
                  <a:pt x="1792" y="1344"/>
                </a:cubicBezTo>
              </a:path>
            </a:pathLst>
          </a:custGeom>
          <a:solidFill>
            <a:schemeClr val="hlink"/>
          </a:solid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1" name="Text Box 11"/>
          <p:cNvSpPr txBox="1">
            <a:spLocks noChangeArrowheads="1"/>
          </p:cNvSpPr>
          <p:nvPr/>
        </p:nvSpPr>
        <p:spPr bwMode="auto">
          <a:xfrm>
            <a:off x="6781800" y="2667000"/>
            <a:ext cx="2362200" cy="131127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All possible (</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 </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 pairs that an investor can attain by holding </a:t>
            </a:r>
            <a:r>
              <a:rPr kumimoji="0" lang="en-US" sz="2000" b="1"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risky</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 securities.</a:t>
            </a:r>
          </a:p>
        </p:txBody>
      </p:sp>
      <p:sp>
        <p:nvSpPr>
          <p:cNvPr id="5132" name="Text Box 12"/>
          <p:cNvSpPr txBox="1">
            <a:spLocks noChangeArrowheads="1"/>
          </p:cNvSpPr>
          <p:nvPr/>
        </p:nvSpPr>
        <p:spPr bwMode="auto">
          <a:xfrm>
            <a:off x="1371600" y="3886200"/>
            <a:ext cx="354013" cy="4572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r</a:t>
            </a:r>
            <a:r>
              <a:rPr kumimoji="0" lang="en-US" sz="1800" b="0" i="0" u="none" strike="noStrike" kern="1200" cap="none" spc="0" normalizeH="0" baseline="-25000" noProof="0">
                <a:ln>
                  <a:noFill/>
                </a:ln>
                <a:solidFill>
                  <a:srgbClr val="000000"/>
                </a:solidFill>
                <a:effectLst/>
                <a:uLnTx/>
                <a:uFillTx/>
                <a:latin typeface="Times New Roman" pitchFamily="18" charset="0"/>
                <a:ea typeface="+mn-ea"/>
                <a:cs typeface="Arial"/>
              </a:rPr>
              <a:t>f</a:t>
            </a: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3" name="Line 13"/>
          <p:cNvSpPr>
            <a:spLocks noChangeShapeType="1"/>
          </p:cNvSpPr>
          <p:nvPr/>
        </p:nvSpPr>
        <p:spPr bwMode="auto">
          <a:xfrm flipV="1">
            <a:off x="1905000" y="2133600"/>
            <a:ext cx="3505200" cy="19812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4" name="Line 14"/>
          <p:cNvSpPr>
            <a:spLocks noChangeShapeType="1"/>
          </p:cNvSpPr>
          <p:nvPr/>
        </p:nvSpPr>
        <p:spPr bwMode="auto">
          <a:xfrm>
            <a:off x="1905000" y="4114800"/>
            <a:ext cx="2590800" cy="9144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5" name="Text Box 15"/>
          <p:cNvSpPr txBox="1">
            <a:spLocks noChangeArrowheads="1"/>
          </p:cNvSpPr>
          <p:nvPr/>
        </p:nvSpPr>
        <p:spPr bwMode="auto">
          <a:xfrm>
            <a:off x="2209800" y="5867400"/>
            <a:ext cx="5334000" cy="70167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All possible (</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 </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 pairs that an investor can attain by holding </a:t>
            </a:r>
            <a:r>
              <a:rPr kumimoji="0" lang="en-US" sz="2000" b="1"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any</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 security lie in this cone.</a:t>
            </a: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 </a:t>
            </a:r>
          </a:p>
        </p:txBody>
      </p:sp>
      <p:sp>
        <p:nvSpPr>
          <p:cNvPr id="5136" name="Line 16"/>
          <p:cNvSpPr>
            <a:spLocks noChangeShapeType="1"/>
          </p:cNvSpPr>
          <p:nvPr/>
        </p:nvSpPr>
        <p:spPr bwMode="auto">
          <a:xfrm flipV="1">
            <a:off x="3200400" y="4343400"/>
            <a:ext cx="762000" cy="14478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7" name="Text Box 17"/>
          <p:cNvSpPr txBox="1">
            <a:spLocks noChangeArrowheads="1"/>
          </p:cNvSpPr>
          <p:nvPr/>
        </p:nvSpPr>
        <p:spPr bwMode="auto">
          <a:xfrm>
            <a:off x="1295400" y="1905000"/>
            <a:ext cx="2343150" cy="396875"/>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Efficient investments</a:t>
            </a:r>
          </a:p>
        </p:txBody>
      </p:sp>
      <p:sp>
        <p:nvSpPr>
          <p:cNvPr id="5138" name="Line 18"/>
          <p:cNvSpPr>
            <a:spLocks noChangeShapeType="1"/>
          </p:cNvSpPr>
          <p:nvPr/>
        </p:nvSpPr>
        <p:spPr bwMode="auto">
          <a:xfrm>
            <a:off x="2514600" y="2362200"/>
            <a:ext cx="533400" cy="10668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9" name="Line 19"/>
          <p:cNvSpPr>
            <a:spLocks noChangeShapeType="1"/>
          </p:cNvSpPr>
          <p:nvPr/>
        </p:nvSpPr>
        <p:spPr bwMode="auto">
          <a:xfrm flipH="1">
            <a:off x="5486400" y="3352800"/>
            <a:ext cx="1219200" cy="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Tree>
    <p:extLst>
      <p:ext uri="{BB962C8B-B14F-4D97-AF65-F5344CB8AC3E}">
        <p14:creationId xmlns:p14="http://schemas.microsoft.com/office/powerpoint/2010/main" val="11709890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sz="4000"/>
              <a:t>Calculating Means and the Covariance Matrix</a:t>
            </a:r>
          </a:p>
        </p:txBody>
      </p:sp>
      <p:sp>
        <p:nvSpPr>
          <p:cNvPr id="14339" name="Rectangle 3"/>
          <p:cNvSpPr>
            <a:spLocks noGrp="1" noChangeArrowheads="1"/>
          </p:cNvSpPr>
          <p:nvPr>
            <p:ph type="body" sz="half" idx="1"/>
          </p:nvPr>
        </p:nvSpPr>
        <p:spPr/>
        <p:txBody>
          <a:bodyPr/>
          <a:lstStyle/>
          <a:p>
            <a:r>
              <a:rPr lang="en-US" sz="2800"/>
              <a:t>Means</a:t>
            </a:r>
          </a:p>
          <a:p>
            <a:endParaRPr lang="en-US" sz="2800"/>
          </a:p>
          <a:p>
            <a:endParaRPr lang="en-US" sz="2800"/>
          </a:p>
          <a:p>
            <a:endParaRPr lang="en-US" sz="2800"/>
          </a:p>
          <a:p>
            <a:r>
              <a:rPr lang="en-US" sz="2800"/>
              <a:t>Covariances</a:t>
            </a:r>
          </a:p>
        </p:txBody>
      </p:sp>
      <p:graphicFrame>
        <p:nvGraphicFramePr>
          <p:cNvPr id="14342" name="Object 6"/>
          <p:cNvGraphicFramePr>
            <a:graphicFrameLocks noChangeAspect="1"/>
          </p:cNvGraphicFramePr>
          <p:nvPr/>
        </p:nvGraphicFramePr>
        <p:xfrm>
          <a:off x="2882900" y="1676400"/>
          <a:ext cx="3425825" cy="2514600"/>
        </p:xfrm>
        <a:graphic>
          <a:graphicData uri="http://schemas.openxmlformats.org/presentationml/2006/ole">
            <mc:AlternateContent xmlns:mc="http://schemas.openxmlformats.org/markup-compatibility/2006">
              <mc:Choice xmlns:v="urn:schemas-microsoft-com:vml" Requires="v">
                <p:oleObj spid="_x0000_s14382" name="Equation" r:id="rId3" imgW="1244520" imgH="914400" progId="Equation.3">
                  <p:embed/>
                </p:oleObj>
              </mc:Choice>
              <mc:Fallback>
                <p:oleObj name="Equation" r:id="rId3" imgW="1244520" imgH="914400" progId="Equation.3">
                  <p:embed/>
                  <p:pic>
                    <p:nvPicPr>
                      <p:cNvPr id="1434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2900" y="1676400"/>
                        <a:ext cx="3425825" cy="251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3" name="Object 7"/>
          <p:cNvGraphicFramePr>
            <a:graphicFrameLocks noChangeAspect="1"/>
          </p:cNvGraphicFramePr>
          <p:nvPr/>
        </p:nvGraphicFramePr>
        <p:xfrm>
          <a:off x="1447800" y="4648200"/>
          <a:ext cx="5715000" cy="1363663"/>
        </p:xfrm>
        <a:graphic>
          <a:graphicData uri="http://schemas.openxmlformats.org/presentationml/2006/ole">
            <mc:AlternateContent xmlns:mc="http://schemas.openxmlformats.org/markup-compatibility/2006">
              <mc:Choice xmlns:v="urn:schemas-microsoft-com:vml" Requires="v">
                <p:oleObj spid="_x0000_s14383" name="Equation" r:id="rId5" imgW="1650960" imgH="393480" progId="Equation.3">
                  <p:embed/>
                </p:oleObj>
              </mc:Choice>
              <mc:Fallback>
                <p:oleObj name="Equation" r:id="rId5" imgW="1650960" imgH="393480" progId="Equation.3">
                  <p:embed/>
                  <p:pic>
                    <p:nvPicPr>
                      <p:cNvPr id="14343"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4648200"/>
                        <a:ext cx="5715000" cy="1363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4" name="Text Box 8"/>
          <p:cNvSpPr txBox="1">
            <a:spLocks noChangeArrowheads="1"/>
          </p:cNvSpPr>
          <p:nvPr/>
        </p:nvSpPr>
        <p:spPr bwMode="auto">
          <a:xfrm>
            <a:off x="7239000" y="3657600"/>
            <a:ext cx="1039813" cy="4572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T rows</a:t>
            </a:r>
          </a:p>
        </p:txBody>
      </p:sp>
      <p:sp>
        <p:nvSpPr>
          <p:cNvPr id="14345" name="Line 9"/>
          <p:cNvSpPr>
            <a:spLocks noChangeShapeType="1"/>
          </p:cNvSpPr>
          <p:nvPr/>
        </p:nvSpPr>
        <p:spPr bwMode="auto">
          <a:xfrm flipH="1">
            <a:off x="4953000" y="3886200"/>
            <a:ext cx="2209800" cy="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14346" name="Line 10"/>
          <p:cNvSpPr>
            <a:spLocks noChangeShapeType="1"/>
          </p:cNvSpPr>
          <p:nvPr/>
        </p:nvSpPr>
        <p:spPr bwMode="auto">
          <a:xfrm flipH="1" flipV="1">
            <a:off x="6248400" y="3124200"/>
            <a:ext cx="990600" cy="7620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Tree>
    <p:extLst>
      <p:ext uri="{BB962C8B-B14F-4D97-AF65-F5344CB8AC3E}">
        <p14:creationId xmlns:p14="http://schemas.microsoft.com/office/powerpoint/2010/main" val="8284258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t>The Covariance Matrix</a:t>
            </a:r>
          </a:p>
        </p:txBody>
      </p:sp>
      <p:graphicFrame>
        <p:nvGraphicFramePr>
          <p:cNvPr id="15366" name="Object 6"/>
          <p:cNvGraphicFramePr>
            <a:graphicFrameLocks noGrp="1" noChangeAspect="1"/>
          </p:cNvGraphicFramePr>
          <p:nvPr>
            <p:ph sz="quarter" idx="3"/>
          </p:nvPr>
        </p:nvGraphicFramePr>
        <p:xfrm>
          <a:off x="1143000" y="2286000"/>
          <a:ext cx="6705600" cy="2224088"/>
        </p:xfrm>
        <a:graphic>
          <a:graphicData uri="http://schemas.openxmlformats.org/presentationml/2006/ole">
            <mc:AlternateContent xmlns:mc="http://schemas.openxmlformats.org/markup-compatibility/2006">
              <mc:Choice xmlns:v="urn:schemas-microsoft-com:vml" Requires="v">
                <p:oleObj spid="_x0000_s15384" name="Equation" r:id="rId3" imgW="2831760" imgH="939600" progId="Equation.3">
                  <p:embed/>
                </p:oleObj>
              </mc:Choice>
              <mc:Fallback>
                <p:oleObj name="Equation" r:id="rId3" imgW="2831760" imgH="939600" progId="Equation.3">
                  <p:embed/>
                  <p:pic>
                    <p:nvPicPr>
                      <p:cNvPr id="1536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286000"/>
                        <a:ext cx="6705600" cy="2224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233291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t>Calculating Portfolio Means and Returns</a:t>
            </a:r>
          </a:p>
        </p:txBody>
      </p:sp>
      <p:sp>
        <p:nvSpPr>
          <p:cNvPr id="10243" name="Rectangle 3"/>
          <p:cNvSpPr>
            <a:spLocks noGrp="1" noChangeArrowheads="1"/>
          </p:cNvSpPr>
          <p:nvPr>
            <p:ph type="body" sz="half" idx="1"/>
          </p:nvPr>
        </p:nvSpPr>
        <p:spPr>
          <a:xfrm>
            <a:off x="685800" y="1981200"/>
            <a:ext cx="8001000" cy="4114800"/>
          </a:xfrm>
        </p:spPr>
        <p:txBody>
          <a:bodyPr/>
          <a:lstStyle/>
          <a:p>
            <a:r>
              <a:rPr lang="en-US" sz="2800" dirty="0"/>
              <a:t>Given any set of portfolio weights (</a:t>
            </a:r>
            <a:r>
              <a:rPr lang="en-US" sz="2800" dirty="0">
                <a:sym typeface="Symbol" pitchFamily="18" charset="2"/>
              </a:rPr>
              <a:t>)</a:t>
            </a:r>
            <a:r>
              <a:rPr lang="en-US" sz="2800" dirty="0"/>
              <a:t> the portfolio mean and variance can be calculated:</a:t>
            </a:r>
          </a:p>
          <a:p>
            <a:pPr>
              <a:buFontTx/>
              <a:buNone/>
            </a:pPr>
            <a:endParaRPr lang="en-US" sz="2800" dirty="0"/>
          </a:p>
        </p:txBody>
      </p:sp>
      <p:graphicFrame>
        <p:nvGraphicFramePr>
          <p:cNvPr id="10244" name="Object 4"/>
          <p:cNvGraphicFramePr>
            <a:graphicFrameLocks noGrp="1" noChangeAspect="1"/>
          </p:cNvGraphicFramePr>
          <p:nvPr>
            <p:ph sz="quarter" idx="2"/>
            <p:extLst/>
          </p:nvPr>
        </p:nvGraphicFramePr>
        <p:xfrm>
          <a:off x="2743200" y="4191000"/>
          <a:ext cx="2895600" cy="1123194"/>
        </p:xfrm>
        <a:graphic>
          <a:graphicData uri="http://schemas.openxmlformats.org/presentationml/2006/ole">
            <mc:AlternateContent xmlns:mc="http://schemas.openxmlformats.org/markup-compatibility/2006">
              <mc:Choice xmlns:v="urn:schemas-microsoft-com:vml" Requires="v">
                <p:oleObj spid="_x0000_s16455" name="Equation" r:id="rId3" imgW="622080" imgH="241200" progId="Equation.3">
                  <p:embed/>
                </p:oleObj>
              </mc:Choice>
              <mc:Fallback>
                <p:oleObj name="Equation" r:id="rId3" imgW="622080" imgH="241200" progId="Equation.3">
                  <p:embed/>
                  <p:pic>
                    <p:nvPicPr>
                      <p:cNvPr id="1024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4191000"/>
                        <a:ext cx="2895600" cy="1123194"/>
                      </a:xfrm>
                      <a:prstGeom prst="rect">
                        <a:avLst/>
                      </a:prstGeom>
                      <a:noFill/>
                      <a:extLst/>
                    </p:spPr>
                  </p:pic>
                </p:oleObj>
              </mc:Fallback>
            </mc:AlternateContent>
          </a:graphicData>
        </a:graphic>
      </p:graphicFrame>
      <p:graphicFrame>
        <p:nvGraphicFramePr>
          <p:cNvPr id="10246" name="Object 6"/>
          <p:cNvGraphicFramePr>
            <a:graphicFrameLocks noGrp="1" noChangeAspect="1"/>
          </p:cNvGraphicFramePr>
          <p:nvPr>
            <p:ph sz="quarter" idx="3"/>
          </p:nvPr>
        </p:nvGraphicFramePr>
        <p:xfrm>
          <a:off x="1752600" y="5334000"/>
          <a:ext cx="4495800" cy="1123950"/>
        </p:xfrm>
        <a:graphic>
          <a:graphicData uri="http://schemas.openxmlformats.org/presentationml/2006/ole">
            <mc:AlternateContent xmlns:mc="http://schemas.openxmlformats.org/markup-compatibility/2006">
              <mc:Choice xmlns:v="urn:schemas-microsoft-com:vml" Requires="v">
                <p:oleObj spid="_x0000_s16456" name="Equation" r:id="rId5" imgW="965160" imgH="241200" progId="Equation.3">
                  <p:embed/>
                </p:oleObj>
              </mc:Choice>
              <mc:Fallback>
                <p:oleObj name="Equation" r:id="rId5" imgW="965160" imgH="241200" progId="Equation.3">
                  <p:embed/>
                  <p:pic>
                    <p:nvPicPr>
                      <p:cNvPr id="1024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5334000"/>
                        <a:ext cx="4495800" cy="112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8" name="Object 8"/>
          <p:cNvGraphicFramePr>
            <a:graphicFrameLocks noChangeAspect="1"/>
          </p:cNvGraphicFramePr>
          <p:nvPr>
            <p:extLst/>
          </p:nvPr>
        </p:nvGraphicFramePr>
        <p:xfrm>
          <a:off x="1981200" y="3276600"/>
          <a:ext cx="4991100" cy="954590"/>
        </p:xfrm>
        <a:graphic>
          <a:graphicData uri="http://schemas.openxmlformats.org/presentationml/2006/ole">
            <mc:AlternateContent xmlns:mc="http://schemas.openxmlformats.org/markup-compatibility/2006">
              <mc:Choice xmlns:v="urn:schemas-microsoft-com:vml" Requires="v">
                <p:oleObj spid="_x0000_s16457" name="Equation" r:id="rId7" imgW="1193760" imgH="228600" progId="Equation.3">
                  <p:embed/>
                </p:oleObj>
              </mc:Choice>
              <mc:Fallback>
                <p:oleObj name="Equation" r:id="rId7" imgW="1193760" imgH="228600" progId="Equation.3">
                  <p:embed/>
                  <p:pic>
                    <p:nvPicPr>
                      <p:cNvPr id="10248"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3276600"/>
                        <a:ext cx="4991100" cy="954590"/>
                      </a:xfrm>
                      <a:prstGeom prst="rect">
                        <a:avLst/>
                      </a:prstGeom>
                      <a:noFill/>
                      <a:extLst/>
                    </p:spPr>
                  </p:pic>
                </p:oleObj>
              </mc:Fallback>
            </mc:AlternateContent>
          </a:graphicData>
        </a:graphic>
      </p:graphicFrame>
    </p:spTree>
    <p:extLst>
      <p:ext uri="{BB962C8B-B14F-4D97-AF65-F5344CB8AC3E}">
        <p14:creationId xmlns:p14="http://schemas.microsoft.com/office/powerpoint/2010/main" val="15540780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Rectangle 6"/>
          <p:cNvSpPr>
            <a:spLocks noGrp="1" noChangeArrowheads="1"/>
          </p:cNvSpPr>
          <p:nvPr>
            <p:ph type="title"/>
          </p:nvPr>
        </p:nvSpPr>
        <p:spPr/>
        <p:txBody>
          <a:bodyPr/>
          <a:lstStyle/>
          <a:p>
            <a:r>
              <a:rPr lang="en-US" sz="4000"/>
              <a:t>A Formal Description of the Efficient Frontier</a:t>
            </a:r>
          </a:p>
        </p:txBody>
      </p:sp>
      <p:sp>
        <p:nvSpPr>
          <p:cNvPr id="19463" name="Rectangle 7"/>
          <p:cNvSpPr>
            <a:spLocks noGrp="1" noChangeArrowheads="1"/>
          </p:cNvSpPr>
          <p:nvPr>
            <p:ph type="body" sz="half" idx="1"/>
          </p:nvPr>
        </p:nvSpPr>
        <p:spPr>
          <a:xfrm>
            <a:off x="685800" y="1981200"/>
            <a:ext cx="8001000" cy="1219200"/>
          </a:xfrm>
        </p:spPr>
        <p:txBody>
          <a:bodyPr/>
          <a:lstStyle/>
          <a:p>
            <a:r>
              <a:rPr lang="en-US" sz="2800"/>
              <a:t>The portfolio on the efficient frontier with mean return E solves the following constrained optimization problem:</a:t>
            </a:r>
          </a:p>
        </p:txBody>
      </p:sp>
      <p:graphicFrame>
        <p:nvGraphicFramePr>
          <p:cNvPr id="19464" name="Object 8"/>
          <p:cNvGraphicFramePr>
            <a:graphicFrameLocks noGrp="1" noChangeAspect="1"/>
          </p:cNvGraphicFramePr>
          <p:nvPr>
            <p:ph sz="quarter" idx="2"/>
          </p:nvPr>
        </p:nvGraphicFramePr>
        <p:xfrm>
          <a:off x="3352800" y="3581400"/>
          <a:ext cx="1752600" cy="755650"/>
        </p:xfrm>
        <a:graphic>
          <a:graphicData uri="http://schemas.openxmlformats.org/presentationml/2006/ole">
            <mc:AlternateContent xmlns:mc="http://schemas.openxmlformats.org/markup-compatibility/2006">
              <mc:Choice xmlns:v="urn:schemas-microsoft-com:vml" Requires="v">
                <p:oleObj spid="_x0000_s17454" name="Equation" r:id="rId3" imgW="647640" imgH="279360" progId="Equation.3">
                  <p:embed/>
                </p:oleObj>
              </mc:Choice>
              <mc:Fallback>
                <p:oleObj name="Equation" r:id="rId3" imgW="647640" imgH="279360" progId="Equation.3">
                  <p:embed/>
                  <p:pic>
                    <p:nvPicPr>
                      <p:cNvPr id="1946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3581400"/>
                        <a:ext cx="1752600"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6" name="Text Box 10"/>
          <p:cNvSpPr txBox="1">
            <a:spLocks noChangeArrowheads="1"/>
          </p:cNvSpPr>
          <p:nvPr/>
        </p:nvSpPr>
        <p:spPr bwMode="auto">
          <a:xfrm>
            <a:off x="1828800" y="4419600"/>
            <a:ext cx="2073275" cy="45720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Subject to:</a:t>
            </a:r>
          </a:p>
        </p:txBody>
      </p:sp>
      <p:graphicFrame>
        <p:nvGraphicFramePr>
          <p:cNvPr id="19467" name="Object 11"/>
          <p:cNvGraphicFramePr>
            <a:graphicFrameLocks noGrp="1" noChangeAspect="1"/>
          </p:cNvGraphicFramePr>
          <p:nvPr>
            <p:ph sz="quarter" idx="3"/>
          </p:nvPr>
        </p:nvGraphicFramePr>
        <p:xfrm>
          <a:off x="3429000" y="5029200"/>
          <a:ext cx="1600200" cy="1236663"/>
        </p:xfrm>
        <a:graphic>
          <a:graphicData uri="http://schemas.openxmlformats.org/presentationml/2006/ole">
            <mc:AlternateContent xmlns:mc="http://schemas.openxmlformats.org/markup-compatibility/2006">
              <mc:Choice xmlns:v="urn:schemas-microsoft-com:vml" Requires="v">
                <p:oleObj spid="_x0000_s17455" name="Equation" r:id="rId5" imgW="558720" imgH="431640" progId="Equation.3">
                  <p:embed/>
                </p:oleObj>
              </mc:Choice>
              <mc:Fallback>
                <p:oleObj name="Equation" r:id="rId5" imgW="558720" imgH="431640" progId="Equation.3">
                  <p:embed/>
                  <p:pic>
                    <p:nvPicPr>
                      <p:cNvPr id="19467"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5029200"/>
                        <a:ext cx="1600200" cy="1236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954345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85800" y="304800"/>
            <a:ext cx="7772400" cy="1143000"/>
          </a:xfrm>
        </p:spPr>
        <p:txBody>
          <a:bodyPr/>
          <a:lstStyle/>
          <a:p>
            <a:r>
              <a:rPr lang="en-US" dirty="0"/>
              <a:t>Calculating Efficient Risky Portfolios Without Constraints</a:t>
            </a:r>
          </a:p>
        </p:txBody>
      </p:sp>
      <p:sp>
        <p:nvSpPr>
          <p:cNvPr id="11267" name="Rectangle 3"/>
          <p:cNvSpPr>
            <a:spLocks noGrp="1" noChangeArrowheads="1"/>
          </p:cNvSpPr>
          <p:nvPr>
            <p:ph type="body" sz="half" idx="1"/>
          </p:nvPr>
        </p:nvSpPr>
        <p:spPr>
          <a:xfrm>
            <a:off x="685800" y="1981200"/>
            <a:ext cx="7467600" cy="2133600"/>
          </a:xfrm>
        </p:spPr>
        <p:txBody>
          <a:bodyPr/>
          <a:lstStyle/>
          <a:p>
            <a:pPr>
              <a:lnSpc>
                <a:spcPct val="90000"/>
              </a:lnSpc>
            </a:pPr>
            <a:r>
              <a:rPr lang="en-US" sz="2800"/>
              <a:t>Any two efficient risky portfolios (mutual funds) can be combined to generate the entire efficient frontier.</a:t>
            </a:r>
          </a:p>
          <a:p>
            <a:pPr>
              <a:lnSpc>
                <a:spcPct val="90000"/>
              </a:lnSpc>
            </a:pPr>
            <a:r>
              <a:rPr lang="en-US" sz="2800"/>
              <a:t>Formulas for the minimum variance and tangency portfolios are given by:</a:t>
            </a:r>
          </a:p>
        </p:txBody>
      </p:sp>
      <p:graphicFrame>
        <p:nvGraphicFramePr>
          <p:cNvPr id="11268" name="Object 4"/>
          <p:cNvGraphicFramePr>
            <a:graphicFrameLocks noGrp="1" noChangeAspect="1"/>
          </p:cNvGraphicFramePr>
          <p:nvPr>
            <p:ph sz="half" idx="2"/>
          </p:nvPr>
        </p:nvGraphicFramePr>
        <p:xfrm>
          <a:off x="2895600" y="4114800"/>
          <a:ext cx="3505200" cy="2538413"/>
        </p:xfrm>
        <a:graphic>
          <a:graphicData uri="http://schemas.openxmlformats.org/presentationml/2006/ole">
            <mc:AlternateContent xmlns:mc="http://schemas.openxmlformats.org/markup-compatibility/2006">
              <mc:Choice xmlns:v="urn:schemas-microsoft-com:vml" Requires="v">
                <p:oleObj spid="_x0000_s18456" name="Equation" r:id="rId3" imgW="1333440" imgH="965160" progId="Equation.3">
                  <p:embed/>
                </p:oleObj>
              </mc:Choice>
              <mc:Fallback>
                <p:oleObj name="Equation" r:id="rId3" imgW="1333440" imgH="965160" progId="Equation.3">
                  <p:embed/>
                  <p:pic>
                    <p:nvPicPr>
                      <p:cNvPr id="1126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4114800"/>
                        <a:ext cx="3505200" cy="2538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351467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t>The Efficient Frontier</a:t>
            </a:r>
          </a:p>
        </p:txBody>
      </p:sp>
      <p:sp>
        <p:nvSpPr>
          <p:cNvPr id="26627" name="Line 3"/>
          <p:cNvSpPr>
            <a:spLocks noChangeShapeType="1"/>
          </p:cNvSpPr>
          <p:nvPr/>
        </p:nvSpPr>
        <p:spPr bwMode="auto">
          <a:xfrm>
            <a:off x="1905000" y="2286000"/>
            <a:ext cx="0" cy="29718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28" name="Line 4"/>
          <p:cNvSpPr>
            <a:spLocks noChangeShapeType="1"/>
          </p:cNvSpPr>
          <p:nvPr/>
        </p:nvSpPr>
        <p:spPr bwMode="auto">
          <a:xfrm>
            <a:off x="1752600" y="5105400"/>
            <a:ext cx="5257800" cy="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29" name="Rectangle 5"/>
          <p:cNvSpPr>
            <a:spLocks noChangeArrowheads="1"/>
          </p:cNvSpPr>
          <p:nvPr/>
        </p:nvSpPr>
        <p:spPr bwMode="auto">
          <a:xfrm>
            <a:off x="1219200" y="2133600"/>
            <a:ext cx="506413" cy="7620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4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p>
        </p:txBody>
      </p:sp>
      <p:sp>
        <p:nvSpPr>
          <p:cNvPr id="26630" name="Rectangle 6"/>
          <p:cNvSpPr>
            <a:spLocks noChangeArrowheads="1"/>
          </p:cNvSpPr>
          <p:nvPr/>
        </p:nvSpPr>
        <p:spPr bwMode="auto">
          <a:xfrm>
            <a:off x="6400800" y="5105400"/>
            <a:ext cx="520700" cy="7620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4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p>
        </p:txBody>
      </p:sp>
      <p:sp>
        <p:nvSpPr>
          <p:cNvPr id="26631" name="Freeform 7"/>
          <p:cNvSpPr>
            <a:spLocks/>
          </p:cNvSpPr>
          <p:nvPr/>
        </p:nvSpPr>
        <p:spPr bwMode="auto">
          <a:xfrm>
            <a:off x="3505200" y="2057400"/>
            <a:ext cx="2590800" cy="3048000"/>
          </a:xfrm>
          <a:custGeom>
            <a:avLst/>
            <a:gdLst/>
            <a:ahLst/>
            <a:cxnLst>
              <a:cxn ang="0">
                <a:pos x="1888" y="0"/>
              </a:cxn>
              <a:cxn ang="0">
                <a:pos x="16" y="624"/>
              </a:cxn>
              <a:cxn ang="0">
                <a:pos x="1792" y="1344"/>
              </a:cxn>
            </a:cxnLst>
            <a:rect l="0" t="0" r="r" b="b"/>
            <a:pathLst>
              <a:path w="1888" h="1344">
                <a:moveTo>
                  <a:pt x="1888" y="0"/>
                </a:moveTo>
                <a:cubicBezTo>
                  <a:pt x="960" y="200"/>
                  <a:pt x="32" y="400"/>
                  <a:pt x="16" y="624"/>
                </a:cubicBezTo>
                <a:cubicBezTo>
                  <a:pt x="0" y="848"/>
                  <a:pt x="1504" y="1224"/>
                  <a:pt x="1792" y="1344"/>
                </a:cubicBezTo>
              </a:path>
            </a:pathLst>
          </a:custGeom>
          <a:solidFill>
            <a:schemeClr val="hlink"/>
          </a:solid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33" name="Text Box 9"/>
          <p:cNvSpPr txBox="1">
            <a:spLocks noChangeArrowheads="1"/>
          </p:cNvSpPr>
          <p:nvPr/>
        </p:nvSpPr>
        <p:spPr bwMode="auto">
          <a:xfrm>
            <a:off x="1371600" y="3886200"/>
            <a:ext cx="354013" cy="4572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r</a:t>
            </a:r>
            <a:r>
              <a:rPr kumimoji="0" lang="en-US" sz="1800" b="0" i="0" u="none" strike="noStrike" kern="1200" cap="none" spc="0" normalizeH="0" baseline="-25000" noProof="0">
                <a:ln>
                  <a:noFill/>
                </a:ln>
                <a:solidFill>
                  <a:srgbClr val="000000"/>
                </a:solidFill>
                <a:effectLst/>
                <a:uLnTx/>
                <a:uFillTx/>
                <a:latin typeface="Times New Roman" pitchFamily="18" charset="0"/>
                <a:ea typeface="+mn-ea"/>
                <a:cs typeface="Arial"/>
              </a:rPr>
              <a:t>f</a:t>
            </a: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34" name="Line 10"/>
          <p:cNvSpPr>
            <a:spLocks noChangeShapeType="1"/>
          </p:cNvSpPr>
          <p:nvPr/>
        </p:nvSpPr>
        <p:spPr bwMode="auto">
          <a:xfrm flipV="1">
            <a:off x="1905000" y="2133600"/>
            <a:ext cx="3505200" cy="19812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35" name="Line 11"/>
          <p:cNvSpPr>
            <a:spLocks noChangeShapeType="1"/>
          </p:cNvSpPr>
          <p:nvPr/>
        </p:nvSpPr>
        <p:spPr bwMode="auto">
          <a:xfrm>
            <a:off x="1905000" y="4114800"/>
            <a:ext cx="2590800" cy="9144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41" name="Text Box 17"/>
          <p:cNvSpPr txBox="1">
            <a:spLocks noChangeArrowheads="1"/>
          </p:cNvSpPr>
          <p:nvPr/>
        </p:nvSpPr>
        <p:spPr bwMode="auto">
          <a:xfrm>
            <a:off x="2286000" y="1828800"/>
            <a:ext cx="2525713" cy="4572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Tangency portfolio</a:t>
            </a:r>
          </a:p>
        </p:txBody>
      </p:sp>
      <p:sp>
        <p:nvSpPr>
          <p:cNvPr id="26642" name="Line 18"/>
          <p:cNvSpPr>
            <a:spLocks noChangeShapeType="1"/>
          </p:cNvSpPr>
          <p:nvPr/>
        </p:nvSpPr>
        <p:spPr bwMode="auto">
          <a:xfrm>
            <a:off x="3581400" y="2362200"/>
            <a:ext cx="457200" cy="5334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43" name="Text Box 19"/>
          <p:cNvSpPr txBox="1">
            <a:spLocks noChangeArrowheads="1"/>
          </p:cNvSpPr>
          <p:nvPr/>
        </p:nvSpPr>
        <p:spPr bwMode="auto">
          <a:xfrm>
            <a:off x="1752600" y="5257800"/>
            <a:ext cx="3649663" cy="4572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Minimum variance portfolio</a:t>
            </a:r>
          </a:p>
        </p:txBody>
      </p:sp>
      <p:sp>
        <p:nvSpPr>
          <p:cNvPr id="26644" name="Line 20"/>
          <p:cNvSpPr>
            <a:spLocks noChangeShapeType="1"/>
          </p:cNvSpPr>
          <p:nvPr/>
        </p:nvSpPr>
        <p:spPr bwMode="auto">
          <a:xfrm flipV="1">
            <a:off x="2667000" y="3429000"/>
            <a:ext cx="838200" cy="17526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45" name="Text Box 21"/>
          <p:cNvSpPr txBox="1">
            <a:spLocks noChangeArrowheads="1"/>
          </p:cNvSpPr>
          <p:nvPr/>
        </p:nvSpPr>
        <p:spPr bwMode="auto">
          <a:xfrm>
            <a:off x="6324600" y="2438400"/>
            <a:ext cx="2606675" cy="228282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All efficient risky portfolios are combinations of the minimum variance and tangency portfolio</a:t>
            </a:r>
          </a:p>
        </p:txBody>
      </p:sp>
      <p:sp>
        <p:nvSpPr>
          <p:cNvPr id="26646" name="Line 22"/>
          <p:cNvSpPr>
            <a:spLocks noChangeShapeType="1"/>
          </p:cNvSpPr>
          <p:nvPr/>
        </p:nvSpPr>
        <p:spPr bwMode="auto">
          <a:xfrm flipH="1" flipV="1">
            <a:off x="5257800" y="2362200"/>
            <a:ext cx="990600" cy="12192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Tree>
    <p:extLst>
      <p:ext uri="{BB962C8B-B14F-4D97-AF65-F5344CB8AC3E}">
        <p14:creationId xmlns:p14="http://schemas.microsoft.com/office/powerpoint/2010/main" val="7090973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sz="4000"/>
              <a:t>Efficient Portfolios with Constraints</a:t>
            </a:r>
          </a:p>
        </p:txBody>
      </p:sp>
      <p:sp>
        <p:nvSpPr>
          <p:cNvPr id="27651" name="Rectangle 3"/>
          <p:cNvSpPr>
            <a:spLocks noGrp="1" noChangeArrowheads="1"/>
          </p:cNvSpPr>
          <p:nvPr>
            <p:ph type="body" idx="1"/>
          </p:nvPr>
        </p:nvSpPr>
        <p:spPr/>
        <p:txBody>
          <a:bodyPr/>
          <a:lstStyle/>
          <a:p>
            <a:r>
              <a:rPr lang="en-US"/>
              <a:t>In general, the efficient set will contain short positions in some assets.</a:t>
            </a:r>
          </a:p>
          <a:p>
            <a:r>
              <a:rPr lang="en-US"/>
              <a:t>In many applications, no short-sale constraints may be enforced.</a:t>
            </a:r>
          </a:p>
          <a:p>
            <a:r>
              <a:rPr lang="en-US"/>
              <a:t>To find efficient portfolios in this case a numerical solution technique is required.</a:t>
            </a:r>
          </a:p>
          <a:p>
            <a:endParaRPr lang="en-US"/>
          </a:p>
        </p:txBody>
      </p:sp>
    </p:spTree>
    <p:extLst>
      <p:ext uri="{BB962C8B-B14F-4D97-AF65-F5344CB8AC3E}">
        <p14:creationId xmlns:p14="http://schemas.microsoft.com/office/powerpoint/2010/main" val="15211979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sz="4000"/>
              <a:t>Efficient Portfolios with Short Sales Constraints</a:t>
            </a:r>
          </a:p>
        </p:txBody>
      </p:sp>
      <p:sp>
        <p:nvSpPr>
          <p:cNvPr id="28676" name="Rectangle 4"/>
          <p:cNvSpPr>
            <a:spLocks noChangeArrowheads="1"/>
          </p:cNvSpPr>
          <p:nvPr/>
        </p:nvSpPr>
        <p:spPr bwMode="auto">
          <a:xfrm>
            <a:off x="685800" y="1981200"/>
            <a:ext cx="8001000" cy="1447800"/>
          </a:xfrm>
          <a:prstGeom prst="rect">
            <a:avLst/>
          </a:prstGeom>
          <a:noFill/>
          <a:ln w="9525">
            <a:noFill/>
            <a:miter lim="800000"/>
            <a:headEnd/>
            <a:tailEnd/>
          </a:ln>
          <a:effectLst/>
        </p:spPr>
        <p:txBody>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800" b="0" i="0" u="none" strike="noStrike" kern="1200" cap="none" spc="0" normalizeH="0" baseline="0" noProof="0">
                <a:ln>
                  <a:noFill/>
                </a:ln>
                <a:solidFill>
                  <a:srgbClr val="000000"/>
                </a:solidFill>
                <a:effectLst/>
                <a:uLnTx/>
                <a:uFillTx/>
                <a:latin typeface="Times New Roman" pitchFamily="18" charset="0"/>
                <a:ea typeface="+mn-ea"/>
                <a:cs typeface="Arial"/>
              </a:rPr>
              <a:t>The portfolio on the efficient frontier with mean return E solves the following constrained optimization problem:</a:t>
            </a:r>
          </a:p>
        </p:txBody>
      </p:sp>
      <p:graphicFrame>
        <p:nvGraphicFramePr>
          <p:cNvPr id="28677" name="Object 5"/>
          <p:cNvGraphicFramePr>
            <a:graphicFrameLocks noChangeAspect="1"/>
          </p:cNvGraphicFramePr>
          <p:nvPr/>
        </p:nvGraphicFramePr>
        <p:xfrm>
          <a:off x="3352800" y="3581400"/>
          <a:ext cx="1752600" cy="755650"/>
        </p:xfrm>
        <a:graphic>
          <a:graphicData uri="http://schemas.openxmlformats.org/presentationml/2006/ole">
            <mc:AlternateContent xmlns:mc="http://schemas.openxmlformats.org/markup-compatibility/2006">
              <mc:Choice xmlns:v="urn:schemas-microsoft-com:vml" Requires="v">
                <p:oleObj spid="_x0000_s19502" name="Equation" r:id="rId3" imgW="647640" imgH="279360" progId="Equation.3">
                  <p:embed/>
                </p:oleObj>
              </mc:Choice>
              <mc:Fallback>
                <p:oleObj name="Equation" r:id="rId3" imgW="647640" imgH="279360" progId="Equation.3">
                  <p:embed/>
                  <p:pic>
                    <p:nvPicPr>
                      <p:cNvPr id="2867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3581400"/>
                        <a:ext cx="1752600"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78" name="Text Box 6"/>
          <p:cNvSpPr txBox="1">
            <a:spLocks noChangeArrowheads="1"/>
          </p:cNvSpPr>
          <p:nvPr/>
        </p:nvSpPr>
        <p:spPr bwMode="auto">
          <a:xfrm>
            <a:off x="1828800" y="4419600"/>
            <a:ext cx="2073275" cy="45720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Subject to:</a:t>
            </a:r>
          </a:p>
        </p:txBody>
      </p:sp>
      <p:graphicFrame>
        <p:nvGraphicFramePr>
          <p:cNvPr id="28679" name="Object 7"/>
          <p:cNvGraphicFramePr>
            <a:graphicFrameLocks noChangeAspect="1"/>
          </p:cNvGraphicFramePr>
          <p:nvPr/>
        </p:nvGraphicFramePr>
        <p:xfrm>
          <a:off x="3429000" y="4719638"/>
          <a:ext cx="1600200" cy="1855787"/>
        </p:xfrm>
        <a:graphic>
          <a:graphicData uri="http://schemas.openxmlformats.org/presentationml/2006/ole">
            <mc:AlternateContent xmlns:mc="http://schemas.openxmlformats.org/markup-compatibility/2006">
              <mc:Choice xmlns:v="urn:schemas-microsoft-com:vml" Requires="v">
                <p:oleObj spid="_x0000_s19503" name="Equation" r:id="rId5" imgW="558720" imgH="647640" progId="Equation.3">
                  <p:embed/>
                </p:oleObj>
              </mc:Choice>
              <mc:Fallback>
                <p:oleObj name="Equation" r:id="rId5" imgW="558720" imgH="647640" progId="Equation.3">
                  <p:embed/>
                  <p:pic>
                    <p:nvPicPr>
                      <p:cNvPr id="2867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4719638"/>
                        <a:ext cx="1600200" cy="1855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33826684"/>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Eclipse">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3110</TotalTime>
  <Words>2910</Words>
  <Application>Microsoft Office PowerPoint</Application>
  <PresentationFormat>On-screen Show (4:3)</PresentationFormat>
  <Paragraphs>375</Paragraphs>
  <Slides>44</Slides>
  <Notes>29</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2</vt:i4>
      </vt:variant>
      <vt:variant>
        <vt:lpstr>Slide Titles</vt:lpstr>
      </vt:variant>
      <vt:variant>
        <vt:i4>44</vt:i4>
      </vt:variant>
    </vt:vector>
  </HeadingPairs>
  <TitlesOfParts>
    <vt:vector size="56" baseType="lpstr">
      <vt:lpstr>Arial</vt:lpstr>
      <vt:lpstr>Calibri</vt:lpstr>
      <vt:lpstr>Cambria Math</vt:lpstr>
      <vt:lpstr>Symbol</vt:lpstr>
      <vt:lpstr>Times New Roman</vt:lpstr>
      <vt:lpstr>Verdana</vt:lpstr>
      <vt:lpstr>Wingdings</vt:lpstr>
      <vt:lpstr>Custom Design</vt:lpstr>
      <vt:lpstr>Eclipse</vt:lpstr>
      <vt:lpstr>Office Theme</vt:lpstr>
      <vt:lpstr>Equation</vt:lpstr>
      <vt:lpstr>Chart</vt:lpstr>
      <vt:lpstr>Asset Allocation </vt:lpstr>
      <vt:lpstr>Outline</vt:lpstr>
      <vt:lpstr>Data and Assignment 2</vt:lpstr>
      <vt:lpstr>Data: A First Analysis</vt:lpstr>
      <vt:lpstr>Real vs Nominal</vt:lpstr>
      <vt:lpstr>Asset Allocation Theory: Mean-Variance Approach</vt:lpstr>
      <vt:lpstr>Investment Vehicles / Asset Classes  </vt:lpstr>
      <vt:lpstr>The “Modern Portfolio Theory” Recipe</vt:lpstr>
      <vt:lpstr> Required Formulas</vt:lpstr>
      <vt:lpstr> Portfolio Mean Returns</vt:lpstr>
      <vt:lpstr> Portfolio Variances</vt:lpstr>
      <vt:lpstr> Two Asset Example</vt:lpstr>
      <vt:lpstr>Example - Portfolios</vt:lpstr>
      <vt:lpstr>Diversification</vt:lpstr>
      <vt:lpstr>“Efficient” Portfolio and “Efficient Frontier”</vt:lpstr>
      <vt:lpstr>The Efficient Frontier in the Example</vt:lpstr>
      <vt:lpstr>Sharpe Ratio</vt:lpstr>
      <vt:lpstr>Adding a risk-free asset</vt:lpstr>
      <vt:lpstr>Combining risky asset and risk-free</vt:lpstr>
      <vt:lpstr>Efficient Frontier with Riskless Asset</vt:lpstr>
      <vt:lpstr>General Statement of Mean-Variance Objective Function with Two Assets</vt:lpstr>
      <vt:lpstr>Constructing the Mean-Variance Efficient Frontier: Three assets</vt:lpstr>
      <vt:lpstr>Constructing the Mean-Variance Efficient Frontier: Three assets</vt:lpstr>
      <vt:lpstr>Three assets: Any desired portfolio return</vt:lpstr>
      <vt:lpstr>Simplification with two-fund separation</vt:lpstr>
      <vt:lpstr>In Practice: Where Do We get (1) Expected Return, (2) Expected Variance and (3) Correlation?</vt:lpstr>
      <vt:lpstr>Extensions and Relation to Homework</vt:lpstr>
      <vt:lpstr>General Mean-variance Math (see appendix)</vt:lpstr>
      <vt:lpstr>Asset Allocation in Practice</vt:lpstr>
      <vt:lpstr>Strategic Asset Allocation as first step in bigger picture</vt:lpstr>
      <vt:lpstr>Strategic Asset Allocation as first step in bigger picture</vt:lpstr>
      <vt:lpstr>Critiques of MPT</vt:lpstr>
      <vt:lpstr>Additional Critiques of MPT</vt:lpstr>
      <vt:lpstr>Adding more realism to asset allocation… </vt:lpstr>
      <vt:lpstr>Appendix: Mean-variance math</vt:lpstr>
      <vt:lpstr>The Efficient Frontier</vt:lpstr>
      <vt:lpstr>Calculating Means and the Covariance Matrix</vt:lpstr>
      <vt:lpstr>The Covariance Matrix</vt:lpstr>
      <vt:lpstr>Calculating Portfolio Means and Returns</vt:lpstr>
      <vt:lpstr>A Formal Description of the Efficient Frontier</vt:lpstr>
      <vt:lpstr>Calculating Efficient Risky Portfolios Without Constraints</vt:lpstr>
      <vt:lpstr>The Efficient Frontier</vt:lpstr>
      <vt:lpstr>Efficient Portfolios with Constraints</vt:lpstr>
      <vt:lpstr>Efficient Portfolios with Short Sales Constraints</vt:lpstr>
    </vt:vector>
  </TitlesOfParts>
  <Company>Commerce UBC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Adlai Fisher</dc:creator>
  <cp:lastModifiedBy>Fisher, Adlai</cp:lastModifiedBy>
  <cp:revision>189</cp:revision>
  <cp:lastPrinted>2021-06-17T19:34:15Z</cp:lastPrinted>
  <dcterms:created xsi:type="dcterms:W3CDTF">2003-01-06T15:33:27Z</dcterms:created>
  <dcterms:modified xsi:type="dcterms:W3CDTF">2025-03-11T14:20:26Z</dcterms:modified>
</cp:coreProperties>
</file>