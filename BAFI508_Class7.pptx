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4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  <p:sldMasterId id="2147483652" r:id="rId2"/>
    <p:sldMasterId id="2147483783" r:id="rId3"/>
    <p:sldMasterId id="2147483795" r:id="rId4"/>
    <p:sldMasterId id="2147483810" r:id="rId5"/>
  </p:sldMasterIdLst>
  <p:notesMasterIdLst>
    <p:notesMasterId r:id="rId20"/>
  </p:notesMasterIdLst>
  <p:handoutMasterIdLst>
    <p:handoutMasterId r:id="rId21"/>
  </p:handoutMasterIdLst>
  <p:sldIdLst>
    <p:sldId id="360" r:id="rId6"/>
    <p:sldId id="469" r:id="rId7"/>
    <p:sldId id="479" r:id="rId8"/>
    <p:sldId id="424" r:id="rId9"/>
    <p:sldId id="483" r:id="rId10"/>
    <p:sldId id="478" r:id="rId11"/>
    <p:sldId id="492" r:id="rId12"/>
    <p:sldId id="491" r:id="rId13"/>
    <p:sldId id="481" r:id="rId14"/>
    <p:sldId id="482" r:id="rId15"/>
    <p:sldId id="484" r:id="rId16"/>
    <p:sldId id="486" r:id="rId17"/>
    <p:sldId id="489" r:id="rId18"/>
    <p:sldId id="490" r:id="rId19"/>
  </p:sldIdLst>
  <p:sldSz cx="9144000" cy="6858000" type="screen4x3"/>
  <p:notesSz cx="7023100" cy="93091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32" userDrawn="1">
          <p15:clr>
            <a:srgbClr val="A4A3A4"/>
          </p15:clr>
        </p15:guide>
        <p15:guide id="2" pos="2212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9" autoAdjust="0"/>
    <p:restoredTop sz="94634" autoAdjust="0"/>
  </p:normalViewPr>
  <p:slideViewPr>
    <p:cSldViewPr>
      <p:cViewPr varScale="1">
        <p:scale>
          <a:sx n="60" d="100"/>
          <a:sy n="60" d="100"/>
        </p:scale>
        <p:origin x="1464" y="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12341"/>
    </p:cViewPr>
  </p:sorterViewPr>
  <p:notesViewPr>
    <p:cSldViewPr>
      <p:cViewPr varScale="1">
        <p:scale>
          <a:sx n="36" d="100"/>
          <a:sy n="36" d="100"/>
        </p:scale>
        <p:origin x="-1476" y="-84"/>
      </p:cViewPr>
      <p:guideLst>
        <p:guide orient="horz" pos="2932"/>
        <p:guide pos="2212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" Type="http://schemas.openxmlformats.org/officeDocument/2006/relationships/slideMaster" Target="slideMasters/slideMaster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3343" cy="4654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24" tIns="46662" rIns="93324" bIns="46662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8132" y="0"/>
            <a:ext cx="3043343" cy="4654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24" tIns="46662" rIns="93324" bIns="46662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93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42029"/>
            <a:ext cx="3043343" cy="4654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24" tIns="46662" rIns="93324" bIns="46662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93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8132" y="8842029"/>
            <a:ext cx="3043343" cy="4654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24" tIns="46662" rIns="93324" bIns="46662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0A4C62E0-18C7-4D23-B410-4E9B29B2771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42266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3343" cy="4654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24" tIns="46662" rIns="93324" bIns="46662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8132" y="0"/>
            <a:ext cx="3043343" cy="4654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24" tIns="46662" rIns="93324" bIns="46662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6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4275" y="698500"/>
            <a:ext cx="4654550" cy="34909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2310" y="4421823"/>
            <a:ext cx="5618480" cy="41890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24" tIns="46662" rIns="93324" bIns="4666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42029"/>
            <a:ext cx="3043343" cy="4654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24" tIns="46662" rIns="93324" bIns="46662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8132" y="8842029"/>
            <a:ext cx="3043343" cy="4654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24" tIns="46662" rIns="93324" bIns="46662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75AD670F-EEE4-4643-B99A-F7C5550EF60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63161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758255" indent="-291636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166546" indent="-233309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633164" indent="-233309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99782" indent="-233309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66401" indent="-2333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3033019" indent="-2333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99637" indent="-2333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966256" indent="-233309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4E187B77-373F-4821-8163-D6883C49DA06}" type="slidenum">
              <a:rPr lang="en-US" smtClean="0">
                <a:latin typeface="Arial" charset="0"/>
              </a:rPr>
              <a:pPr eaLnBrk="1" hangingPunct="1"/>
              <a:t>1</a:t>
            </a:fld>
            <a:endParaRPr lang="en-US">
              <a:latin typeface="Arial" charset="0"/>
            </a:endParaRPr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95D7A2D-9085-4351-8FC5-83A3A719D7B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198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7856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00922C-A417-476D-9B3C-8B4196C7586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1199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05D9D9-EE7F-4543-AB66-3F1DFD9571C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4621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1EDA56-4DEF-4D65-BE6E-1572598CCA1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7614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4B9AFE-E56C-49E8-A944-FCDC7E7BB63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3661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838A06-030F-4B24-A54A-A906CA3E1AA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358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CDF1AF-B7E0-4B48-B1A4-13DEF0A055D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7931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21908C-9AD0-4D26-BF73-D883910CB44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634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A7DE90-684E-41A8-9571-6CF6F374268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74073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FCB6DE-A44F-4C48-B01C-E1B18EC6157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0183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1005DC-5D55-4265-A123-04676CC7600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1209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10350" y="381000"/>
            <a:ext cx="2076450" cy="57451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381000"/>
            <a:ext cx="6076950" cy="57451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4EF797-BE74-40B7-A394-58CB629C4BA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95437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-3222625" y="304800"/>
            <a:ext cx="11909425" cy="4724400"/>
            <a:chOff x="-2030" y="192"/>
            <a:chExt cx="7502" cy="2976"/>
          </a:xfrm>
        </p:grpSpPr>
        <p:sp>
          <p:nvSpPr>
            <p:cNvPr id="5" name="Line 3"/>
            <p:cNvSpPr>
              <a:spLocks noChangeShapeType="1"/>
            </p:cNvSpPr>
            <p:nvPr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6" name="AutoShape 4"/>
            <p:cNvSpPr>
              <a:spLocks noChangeArrowheads="1"/>
            </p:cNvSpPr>
            <p:nvPr/>
          </p:nvSpPr>
          <p:spPr bwMode="auto">
            <a:xfrm>
              <a:off x="-1584" y="864"/>
              <a:ext cx="2304" cy="2304"/>
            </a:xfrm>
            <a:custGeom>
              <a:avLst/>
              <a:gdLst>
                <a:gd name="G0" fmla="+- 12083 0 0"/>
                <a:gd name="G1" fmla="+- -32000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44083" y="2368"/>
                </a:cxn>
                <a:cxn ang="0">
                  <a:pos x="64000" y="32000"/>
                </a:cxn>
                <a:cxn ang="0">
                  <a:pos x="44083" y="61631"/>
                </a:cxn>
                <a:cxn ang="0">
                  <a:pos x="44083" y="61631"/>
                </a:cxn>
                <a:cxn ang="0">
                  <a:pos x="44082" y="61631"/>
                </a:cxn>
                <a:cxn ang="0">
                  <a:pos x="44083" y="61632"/>
                </a:cxn>
                <a:cxn ang="0">
                  <a:pos x="44083" y="2368"/>
                </a:cxn>
                <a:cxn ang="0">
                  <a:pos x="44082" y="2368"/>
                </a:cxn>
                <a:cxn ang="0">
                  <a:pos x="44083" y="2368"/>
                </a:cxn>
              </a:cxnLst>
              <a:rect l="T13" t="T15" r="T17" b="T19"/>
              <a:pathLst>
                <a:path w="64000" h="64000">
                  <a:moveTo>
                    <a:pt x="44083" y="2368"/>
                  </a:moveTo>
                  <a:cubicBezTo>
                    <a:pt x="56127" y="7280"/>
                    <a:pt x="64000" y="18993"/>
                    <a:pt x="64000" y="32000"/>
                  </a:cubicBezTo>
                  <a:cubicBezTo>
                    <a:pt x="64000" y="45006"/>
                    <a:pt x="56127" y="56719"/>
                    <a:pt x="44083" y="61631"/>
                  </a:cubicBezTo>
                  <a:cubicBezTo>
                    <a:pt x="44082" y="61631"/>
                    <a:pt x="44082" y="61631"/>
                    <a:pt x="44082" y="61631"/>
                  </a:cubicBezTo>
                  <a:lnTo>
                    <a:pt x="44083" y="61632"/>
                  </a:lnTo>
                  <a:lnTo>
                    <a:pt x="44083" y="2368"/>
                  </a:lnTo>
                  <a:lnTo>
                    <a:pt x="44082" y="2368"/>
                  </a:lnTo>
                  <a:cubicBezTo>
                    <a:pt x="44082" y="2368"/>
                    <a:pt x="44082" y="2368"/>
                    <a:pt x="44083" y="2368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0" dirty="0"/>
            </a:p>
          </p:txBody>
        </p:sp>
        <p:sp>
          <p:nvSpPr>
            <p:cNvPr id="7" name="AutoShape 5"/>
            <p:cNvSpPr>
              <a:spLocks noChangeArrowheads="1"/>
            </p:cNvSpPr>
            <p:nvPr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latin typeface="Arial" charset="0"/>
              </a:endParaRPr>
            </a:p>
          </p:txBody>
        </p:sp>
      </p:grpSp>
      <p:sp>
        <p:nvSpPr>
          <p:cNvPr id="229382" name="Rectangle 6"/>
          <p:cNvSpPr>
            <a:spLocks noGrp="1" noChangeArrowheads="1"/>
          </p:cNvSpPr>
          <p:nvPr>
            <p:ph type="ctrTitle"/>
          </p:nvPr>
        </p:nvSpPr>
        <p:spPr>
          <a:xfrm>
            <a:off x="1443038" y="985838"/>
            <a:ext cx="7239000" cy="1444625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9383" name="Rectangle 7"/>
          <p:cNvSpPr>
            <a:spLocks noGrp="1" noChangeArrowheads="1"/>
          </p:cNvSpPr>
          <p:nvPr>
            <p:ph type="subTitle" idx="1"/>
          </p:nvPr>
        </p:nvSpPr>
        <p:spPr>
          <a:xfrm>
            <a:off x="1443038" y="3427413"/>
            <a:ext cx="72390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05AEEC-73E6-411C-AA98-3DDC2916B12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4735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BE8A0A-EE35-4DF5-AFAF-A698601D8D9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86110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3E7A17-1D39-49F4-B474-963C20B1A9E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86297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0013" y="1827213"/>
            <a:ext cx="3579812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02225" y="1827213"/>
            <a:ext cx="35814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0E63F7-40EB-41E4-A711-0041EFAF01A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6665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A262BE-238D-40AB-871C-1C92CD35293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53036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54427D-8FE6-42E8-91A1-1C8012C4B87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52778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C95824-7CFA-458E-924D-9B5C50FA354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84191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695EF6-6B49-44B8-BD05-2CAC3D105D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347472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91DFEA-A30A-49FD-9949-4290970265F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11380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3780B6-30FD-46FE-9E23-CCC1752C6FC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465943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6413" y="301625"/>
            <a:ext cx="1827212" cy="56403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0013" y="301625"/>
            <a:ext cx="5334000" cy="56403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97D353-EF69-40C9-B526-58E78279C1D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954221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0013" y="301625"/>
            <a:ext cx="7313612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370013" y="1827213"/>
            <a:ext cx="3579812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5102225" y="1827213"/>
            <a:ext cx="35814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5102225" y="3960813"/>
            <a:ext cx="35814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54E393-D6FA-41B5-A562-24BDACF19FE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42501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0013" y="301625"/>
            <a:ext cx="7313612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370013" y="1827213"/>
            <a:ext cx="7313612" cy="4114800"/>
          </a:xfrm>
        </p:spPr>
        <p:txBody>
          <a:bodyPr/>
          <a:lstStyle/>
          <a:p>
            <a:pPr lvl="0"/>
            <a:endParaRPr lang="en-US" noProof="0" dirty="0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D90852-DBB6-4ABE-BE71-C281E665425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47795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0013" y="301625"/>
            <a:ext cx="7313612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1370013" y="1827213"/>
            <a:ext cx="7313612" cy="4114800"/>
          </a:xfrm>
        </p:spPr>
        <p:txBody>
          <a:bodyPr/>
          <a:lstStyle/>
          <a:p>
            <a:pPr lvl="0"/>
            <a:endParaRPr lang="en-US" noProof="0" dirty="0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D582F5-EC73-484C-AB33-F9ADA9F738A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826125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52B0A6-A688-491F-AAFE-C3E0FFDA2316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3/18/2025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318D12-8758-4994-8356-D41168B68D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873588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52B0A6-A688-491F-AAFE-C3E0FFDA2316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3/18/2025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318D12-8758-4994-8356-D41168B68D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927060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52B0A6-A688-491F-AAFE-C3E0FFDA2316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3/18/2025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318D12-8758-4994-8356-D41168B68D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092307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52B0A6-A688-491F-AAFE-C3E0FFDA2316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3/18/2025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318D12-8758-4994-8356-D41168B68D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10942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52B0A6-A688-491F-AAFE-C3E0FFDA2316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3/18/2025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318D12-8758-4994-8356-D41168B68D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397750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52B0A6-A688-491F-AAFE-C3E0FFDA2316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3/18/2025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318D12-8758-4994-8356-D41168B68D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846081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52B0A6-A688-491F-AAFE-C3E0FFDA2316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3/18/2025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318D12-8758-4994-8356-D41168B68D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788049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52B0A6-A688-491F-AAFE-C3E0FFDA2316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3/18/2025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318D12-8758-4994-8356-D41168B68D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735265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52B0A6-A688-491F-AAFE-C3E0FFDA2316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3/18/2025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318D12-8758-4994-8356-D41168B68D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207554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52B0A6-A688-491F-AAFE-C3E0FFDA2316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3/18/2025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318D12-8758-4994-8356-D41168B68D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201512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52B0A6-A688-491F-AAFE-C3E0FFDA2316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3/18/2025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318D12-8758-4994-8356-D41168B68D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7655664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-3222625" y="304800"/>
            <a:ext cx="11909425" cy="4724400"/>
            <a:chOff x="-2030" y="192"/>
            <a:chExt cx="7502" cy="2976"/>
          </a:xfrm>
        </p:grpSpPr>
        <p:sp>
          <p:nvSpPr>
            <p:cNvPr id="5" name="Line 3"/>
            <p:cNvSpPr>
              <a:spLocks noChangeShapeType="1"/>
            </p:cNvSpPr>
            <p:nvPr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Arial"/>
              </a:endParaRPr>
            </a:p>
          </p:txBody>
        </p:sp>
        <p:sp>
          <p:nvSpPr>
            <p:cNvPr id="6" name="AutoShape 4"/>
            <p:cNvSpPr>
              <a:spLocks noChangeArrowheads="1"/>
            </p:cNvSpPr>
            <p:nvPr/>
          </p:nvSpPr>
          <p:spPr bwMode="auto">
            <a:xfrm>
              <a:off x="-1584" y="864"/>
              <a:ext cx="2304" cy="2304"/>
            </a:xfrm>
            <a:custGeom>
              <a:avLst/>
              <a:gdLst>
                <a:gd name="G0" fmla="+- 12083 0 0"/>
                <a:gd name="G1" fmla="+- -32000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44083" y="2368"/>
                </a:cxn>
                <a:cxn ang="0">
                  <a:pos x="64000" y="32000"/>
                </a:cxn>
                <a:cxn ang="0">
                  <a:pos x="44083" y="61631"/>
                </a:cxn>
                <a:cxn ang="0">
                  <a:pos x="44083" y="61631"/>
                </a:cxn>
                <a:cxn ang="0">
                  <a:pos x="44082" y="61631"/>
                </a:cxn>
                <a:cxn ang="0">
                  <a:pos x="44083" y="61632"/>
                </a:cxn>
                <a:cxn ang="0">
                  <a:pos x="44083" y="2368"/>
                </a:cxn>
                <a:cxn ang="0">
                  <a:pos x="44082" y="2368"/>
                </a:cxn>
                <a:cxn ang="0">
                  <a:pos x="44083" y="2368"/>
                </a:cxn>
              </a:cxnLst>
              <a:rect l="T13" t="T15" r="T17" b="T19"/>
              <a:pathLst>
                <a:path w="64000" h="64000">
                  <a:moveTo>
                    <a:pt x="44083" y="2368"/>
                  </a:moveTo>
                  <a:cubicBezTo>
                    <a:pt x="56127" y="7280"/>
                    <a:pt x="64000" y="18993"/>
                    <a:pt x="64000" y="32000"/>
                  </a:cubicBezTo>
                  <a:cubicBezTo>
                    <a:pt x="64000" y="45006"/>
                    <a:pt x="56127" y="56719"/>
                    <a:pt x="44083" y="61631"/>
                  </a:cubicBezTo>
                  <a:cubicBezTo>
                    <a:pt x="44082" y="61631"/>
                    <a:pt x="44082" y="61631"/>
                    <a:pt x="44082" y="61631"/>
                  </a:cubicBezTo>
                  <a:lnTo>
                    <a:pt x="44083" y="61632"/>
                  </a:lnTo>
                  <a:lnTo>
                    <a:pt x="44083" y="2368"/>
                  </a:lnTo>
                  <a:lnTo>
                    <a:pt x="44082" y="2368"/>
                  </a:lnTo>
                  <a:cubicBezTo>
                    <a:pt x="44082" y="2368"/>
                    <a:pt x="44082" y="2368"/>
                    <a:pt x="44083" y="2368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Arial"/>
              </a:endParaRPr>
            </a:p>
          </p:txBody>
        </p:sp>
        <p:sp>
          <p:nvSpPr>
            <p:cNvPr id="7" name="AutoShape 5"/>
            <p:cNvSpPr>
              <a:spLocks noChangeArrowheads="1"/>
            </p:cNvSpPr>
            <p:nvPr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G0" fmla="+- 18994 0 0"/>
                <a:gd name="G1" fmla="+- -30013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994" y="6246"/>
                </a:cxn>
                <a:cxn ang="0">
                  <a:pos x="64000" y="32000"/>
                </a:cxn>
                <a:cxn ang="0">
                  <a:pos x="50994" y="57753"/>
                </a:cxn>
                <a:cxn ang="0">
                  <a:pos x="50994" y="57753"/>
                </a:cxn>
                <a:cxn ang="0">
                  <a:pos x="50993" y="57753"/>
                </a:cxn>
                <a:cxn ang="0">
                  <a:pos x="50994" y="57754"/>
                </a:cxn>
                <a:cxn ang="0">
                  <a:pos x="50994" y="6246"/>
                </a:cxn>
                <a:cxn ang="0">
                  <a:pos x="50993" y="6246"/>
                </a:cxn>
                <a:cxn ang="0">
                  <a:pos x="50994" y="6246"/>
                </a:cxn>
              </a:cxnLst>
              <a:rect l="T13" t="T15" r="T17" b="T19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/>
              </a:endParaRPr>
            </a:p>
          </p:txBody>
        </p:sp>
      </p:grpSp>
      <p:sp>
        <p:nvSpPr>
          <p:cNvPr id="229382" name="Rectangle 6"/>
          <p:cNvSpPr>
            <a:spLocks noGrp="1" noChangeArrowheads="1"/>
          </p:cNvSpPr>
          <p:nvPr>
            <p:ph type="ctrTitle"/>
          </p:nvPr>
        </p:nvSpPr>
        <p:spPr>
          <a:xfrm>
            <a:off x="1443038" y="985838"/>
            <a:ext cx="7239000" cy="1444625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9383" name="Rectangle 7"/>
          <p:cNvSpPr>
            <a:spLocks noGrp="1" noChangeArrowheads="1"/>
          </p:cNvSpPr>
          <p:nvPr>
            <p:ph type="subTitle" idx="1"/>
          </p:nvPr>
        </p:nvSpPr>
        <p:spPr>
          <a:xfrm>
            <a:off x="1443038" y="3427413"/>
            <a:ext cx="72390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Arial"/>
            </a:endParaRPr>
          </a:p>
        </p:txBody>
      </p:sp>
      <p:sp>
        <p:nvSpPr>
          <p:cNvPr id="9" name="Rectangle 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Arial"/>
            </a:endParaRPr>
          </a:p>
        </p:txBody>
      </p:sp>
      <p:sp>
        <p:nvSpPr>
          <p:cNvPr id="10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405AEEC-73E6-411C-AA98-3DDC2916B129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7437805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Arial"/>
            </a:endParaRPr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Arial"/>
            </a:endParaRP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FBE8A0A-EE35-4DF5-AFAF-A698601D8D96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7967427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Arial"/>
            </a:endParaRPr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Arial"/>
            </a:endParaRP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B3E7A17-1D39-49F4-B474-963C20B1A9E1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0259160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0013" y="1827213"/>
            <a:ext cx="3579812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02225" y="1827213"/>
            <a:ext cx="35814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Arial"/>
            </a:endParaRPr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Arial"/>
            </a:endParaRPr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20E63F7-40EB-41E4-A711-0041EFAF01A5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1552036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Arial"/>
            </a:endParaRPr>
          </a:p>
        </p:txBody>
      </p:sp>
      <p:sp>
        <p:nvSpPr>
          <p:cNvPr id="8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Arial"/>
            </a:endParaRPr>
          </a:p>
        </p:txBody>
      </p:sp>
      <p:sp>
        <p:nvSpPr>
          <p:cNvPr id="9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6A262BE-238D-40AB-871C-1C92CD352937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3554441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Arial"/>
            </a:endParaRPr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Arial"/>
            </a:endParaRP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354427D-8FE6-42E8-91A1-1C8012C4B878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8944967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Arial"/>
            </a:endParaRPr>
          </a:p>
        </p:txBody>
      </p:sp>
      <p:sp>
        <p:nvSpPr>
          <p:cNvPr id="3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Arial"/>
            </a:endParaRP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5C95824-7CFA-458E-924D-9B5C50FA354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0015352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Arial"/>
            </a:endParaRPr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Arial"/>
            </a:endParaRPr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E695EF6-6B49-44B8-BD05-2CAC3D105DB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4227040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Arial"/>
            </a:endParaRPr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Arial"/>
            </a:endParaRPr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591DFEA-A30A-49FD-9949-4290970265F9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0912709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Arial"/>
            </a:endParaRPr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Arial"/>
            </a:endParaRP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D3780B6-30FD-46FE-9E23-CCC1752C6FCF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1665835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6413" y="301625"/>
            <a:ext cx="1827212" cy="56403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0013" y="301625"/>
            <a:ext cx="5334000" cy="56403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Arial"/>
            </a:endParaRPr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Arial"/>
            </a:endParaRP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397D353-EF69-40C9-B526-58E78279C1D1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8584400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0013" y="301625"/>
            <a:ext cx="7313612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370013" y="1827213"/>
            <a:ext cx="3579812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5102225" y="1827213"/>
            <a:ext cx="35814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5102225" y="3960813"/>
            <a:ext cx="35814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Arial"/>
            </a:endParaRPr>
          </a:p>
        </p:txBody>
      </p:sp>
      <p:sp>
        <p:nvSpPr>
          <p:cNvPr id="7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Arial"/>
            </a:endParaRPr>
          </a:p>
        </p:txBody>
      </p:sp>
      <p:sp>
        <p:nvSpPr>
          <p:cNvPr id="8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654E393-D6FA-41B5-A562-24BDACF19FE6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9295043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0013" y="301625"/>
            <a:ext cx="7313612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370013" y="1827213"/>
            <a:ext cx="7313612" cy="4114800"/>
          </a:xfrm>
        </p:spPr>
        <p:txBody>
          <a:bodyPr/>
          <a:lstStyle/>
          <a:p>
            <a:pPr lvl="0"/>
            <a:endParaRPr lang="en-US" noProof="0" dirty="0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Arial"/>
            </a:endParaRPr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Arial"/>
            </a:endParaRP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CD90852-DBB6-4ABE-BE71-C281E6654258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8015782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chart" preserve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0013" y="301625"/>
            <a:ext cx="7313612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1370013" y="1827213"/>
            <a:ext cx="7313612" cy="4114800"/>
          </a:xfrm>
        </p:spPr>
        <p:txBody>
          <a:bodyPr/>
          <a:lstStyle/>
          <a:p>
            <a:pPr lvl="0"/>
            <a:endParaRPr lang="en-US" noProof="0" dirty="0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Arial"/>
            </a:endParaRPr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Arial"/>
            </a:endParaRP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8D582F5-EC73-484C-AB33-F9ADA9F738AD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1482893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623954-8EFA-4AFD-BA5F-5B0887686A43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343628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6FC7350-4CB5-4EE5-B57F-431B87D60413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3000881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7359358-D4FE-4DE7-A841-61DEAF4006CC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680181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0AB7E90-6BD7-49F3-BEE4-D0356AA0536A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502655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/>
              <a:cs typeface="+mn-cs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/>
              <a:cs typeface="+mn-cs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93F9774-B582-490C-8C0D-B21C6832618D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350146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A304538-1F64-4863-83D5-0797144A40D3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326396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/>
              <a:cs typeface="+mn-cs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/>
              <a:cs typeface="+mn-cs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377CBF5-A1B1-4DF0-BAAE-6F91C88C3C46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550350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923E2D0-3904-477B-A9BE-1E8AE394CD4E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6409517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A375D66-1900-4785-90CD-467AA927C88E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935976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B8399BC-9178-4825-8930-3A91C17633E5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776408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19D3AF0-EC29-400F-B2C4-531BEAB0AE0A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302074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1D6993F-2258-424F-A958-5A2D6223B6E6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7951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49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5" Type="http://schemas.openxmlformats.org/officeDocument/2006/relationships/theme" Target="../theme/theme4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slideLayout" Target="../slideLayouts/slideLayout50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8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62.xml"/><Relationship Id="rId2" Type="http://schemas.openxmlformats.org/officeDocument/2006/relationships/slideLayout" Target="../slideLayouts/slideLayout52.xml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61.xml"/><Relationship Id="rId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381000"/>
            <a:ext cx="8229600" cy="11430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765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+mn-lt"/>
              </a:defRPr>
            </a:lvl1pPr>
          </a:lstStyle>
          <a:p>
            <a:pPr>
              <a:defRPr/>
            </a:pPr>
            <a:fld id="{841ECCDC-96A6-466B-B5D2-D6BCF59D246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7655" name="Line 7"/>
          <p:cNvSpPr>
            <a:spLocks noChangeShapeType="1"/>
          </p:cNvSpPr>
          <p:nvPr userDrawn="1"/>
        </p:nvSpPr>
        <p:spPr bwMode="auto">
          <a:xfrm>
            <a:off x="609600" y="1371600"/>
            <a:ext cx="8077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2"/>
          <p:cNvGrpSpPr>
            <a:grpSpLocks/>
          </p:cNvGrpSpPr>
          <p:nvPr/>
        </p:nvGrpSpPr>
        <p:grpSpPr bwMode="auto">
          <a:xfrm>
            <a:off x="-3238500" y="0"/>
            <a:ext cx="11925300" cy="3810000"/>
            <a:chOff x="-2040" y="0"/>
            <a:chExt cx="7512" cy="2400"/>
          </a:xfrm>
        </p:grpSpPr>
        <p:sp>
          <p:nvSpPr>
            <p:cNvPr id="228355" name="AutoShape 3"/>
            <p:cNvSpPr>
              <a:spLocks noChangeArrowheads="1"/>
            </p:cNvSpPr>
            <p:nvPr/>
          </p:nvSpPr>
          <p:spPr bwMode="auto">
            <a:xfrm>
              <a:off x="-2040" y="432"/>
              <a:ext cx="2592" cy="1968"/>
            </a:xfrm>
            <a:custGeom>
              <a:avLst/>
              <a:gdLst>
                <a:gd name="G0" fmla="+- 18296 0 0"/>
                <a:gd name="G1" fmla="+- -30880 0 0"/>
                <a:gd name="G2" fmla="+- 31512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296" y="5746"/>
                </a:cxn>
                <a:cxn ang="0">
                  <a:pos x="64000" y="32000"/>
                </a:cxn>
                <a:cxn ang="0">
                  <a:pos x="50296" y="58253"/>
                </a:cxn>
                <a:cxn ang="0">
                  <a:pos x="50296" y="58253"/>
                </a:cxn>
                <a:cxn ang="0">
                  <a:pos x="50295" y="58253"/>
                </a:cxn>
                <a:cxn ang="0">
                  <a:pos x="50296" y="58254"/>
                </a:cxn>
                <a:cxn ang="0">
                  <a:pos x="50296" y="5746"/>
                </a:cxn>
                <a:cxn ang="0">
                  <a:pos x="50295" y="5746"/>
                </a:cxn>
                <a:cxn ang="0">
                  <a:pos x="50296" y="5746"/>
                </a:cxn>
              </a:cxnLst>
              <a:rect l="T13" t="T15" r="T17" b="T19"/>
              <a:pathLst>
                <a:path w="64000" h="64000">
                  <a:moveTo>
                    <a:pt x="50296" y="5746"/>
                  </a:moveTo>
                  <a:cubicBezTo>
                    <a:pt x="58882" y="11730"/>
                    <a:pt x="64000" y="21534"/>
                    <a:pt x="64000" y="32000"/>
                  </a:cubicBezTo>
                  <a:cubicBezTo>
                    <a:pt x="64000" y="42465"/>
                    <a:pt x="58882" y="52269"/>
                    <a:pt x="50296" y="58253"/>
                  </a:cubicBezTo>
                  <a:cubicBezTo>
                    <a:pt x="50296" y="58253"/>
                    <a:pt x="50296" y="58253"/>
                    <a:pt x="50295" y="58253"/>
                  </a:cubicBezTo>
                  <a:lnTo>
                    <a:pt x="50296" y="58254"/>
                  </a:lnTo>
                  <a:lnTo>
                    <a:pt x="50296" y="5746"/>
                  </a:lnTo>
                  <a:lnTo>
                    <a:pt x="50295" y="5746"/>
                  </a:lnTo>
                  <a:cubicBezTo>
                    <a:pt x="50296" y="5746"/>
                    <a:pt x="50296" y="5746"/>
                    <a:pt x="50296" y="5746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0" dirty="0"/>
            </a:p>
          </p:txBody>
        </p:sp>
        <p:sp>
          <p:nvSpPr>
            <p:cNvPr id="228356" name="AutoShape 4"/>
            <p:cNvSpPr>
              <a:spLocks noChangeArrowheads="1"/>
            </p:cNvSpPr>
            <p:nvPr/>
          </p:nvSpPr>
          <p:spPr bwMode="auto">
            <a:xfrm>
              <a:off x="-1528" y="0"/>
              <a:ext cx="1949" cy="1987"/>
            </a:xfrm>
            <a:custGeom>
              <a:avLst/>
              <a:gdLst>
                <a:gd name="G0" fmla="+- 18077 0 0"/>
                <a:gd name="G1" fmla="+- -30880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077" y="5595"/>
                </a:cxn>
                <a:cxn ang="0">
                  <a:pos x="64000" y="32000"/>
                </a:cxn>
                <a:cxn ang="0">
                  <a:pos x="50077" y="58404"/>
                </a:cxn>
                <a:cxn ang="0">
                  <a:pos x="50077" y="58404"/>
                </a:cxn>
                <a:cxn ang="0">
                  <a:pos x="50076" y="58404"/>
                </a:cxn>
                <a:cxn ang="0">
                  <a:pos x="50077" y="58405"/>
                </a:cxn>
                <a:cxn ang="0">
                  <a:pos x="50077" y="5595"/>
                </a:cxn>
                <a:cxn ang="0">
                  <a:pos x="50076" y="5595"/>
                </a:cxn>
                <a:cxn ang="0">
                  <a:pos x="50077" y="5595"/>
                </a:cxn>
              </a:cxnLst>
              <a:rect l="T13" t="T15" r="T17" b="T19"/>
              <a:pathLst>
                <a:path w="64000" h="64000">
                  <a:moveTo>
                    <a:pt x="50077" y="5595"/>
                  </a:moveTo>
                  <a:cubicBezTo>
                    <a:pt x="58790" y="11560"/>
                    <a:pt x="64000" y="21440"/>
                    <a:pt x="64000" y="32000"/>
                  </a:cubicBezTo>
                  <a:cubicBezTo>
                    <a:pt x="64000" y="42559"/>
                    <a:pt x="58790" y="52439"/>
                    <a:pt x="50077" y="58404"/>
                  </a:cubicBezTo>
                  <a:cubicBezTo>
                    <a:pt x="50077" y="58404"/>
                    <a:pt x="50077" y="58404"/>
                    <a:pt x="50076" y="58404"/>
                  </a:cubicBezTo>
                  <a:lnTo>
                    <a:pt x="50077" y="58405"/>
                  </a:lnTo>
                  <a:lnTo>
                    <a:pt x="50077" y="5595"/>
                  </a:lnTo>
                  <a:lnTo>
                    <a:pt x="50076" y="5595"/>
                  </a:lnTo>
                  <a:cubicBezTo>
                    <a:pt x="50077" y="5595"/>
                    <a:pt x="50077" y="5595"/>
                    <a:pt x="50077" y="5595"/>
                  </a:cubicBezTo>
                  <a:close/>
                </a:path>
              </a:pathLst>
            </a:custGeom>
            <a:solidFill>
              <a:schemeClr val="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latin typeface="Arial" charset="0"/>
              </a:endParaRPr>
            </a:p>
          </p:txBody>
        </p:sp>
        <p:sp>
          <p:nvSpPr>
            <p:cNvPr id="228357" name="Line 5"/>
            <p:cNvSpPr>
              <a:spLocks noChangeShapeType="1"/>
            </p:cNvSpPr>
            <p:nvPr/>
          </p:nvSpPr>
          <p:spPr bwMode="auto">
            <a:xfrm>
              <a:off x="864" y="960"/>
              <a:ext cx="46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099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1370013" y="301625"/>
            <a:ext cx="7313612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100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70013" y="1827213"/>
            <a:ext cx="7313612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8360" name="Rectangle 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8361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8362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+mn-lt"/>
              </a:defRPr>
            </a:lvl1pPr>
          </a:lstStyle>
          <a:p>
            <a:pPr>
              <a:defRPr/>
            </a:pPr>
            <a:fld id="{A6AF8879-9647-4193-B88F-B0D6F438621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68" r:id="rId2"/>
    <p:sldLayoutId id="2147483769" r:id="rId3"/>
    <p:sldLayoutId id="2147483770" r:id="rId4"/>
    <p:sldLayoutId id="2147483771" r:id="rId5"/>
    <p:sldLayoutId id="2147483772" r:id="rId6"/>
    <p:sldLayoutId id="2147483773" r:id="rId7"/>
    <p:sldLayoutId id="2147483774" r:id="rId8"/>
    <p:sldLayoutId id="2147483775" r:id="rId9"/>
    <p:sldLayoutId id="2147483776" r:id="rId10"/>
    <p:sldLayoutId id="2147483777" r:id="rId11"/>
    <p:sldLayoutId id="2147483778" r:id="rId12"/>
    <p:sldLayoutId id="2147483779" r:id="rId13"/>
    <p:sldLayoutId id="2147483780" r:id="rId14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¡"/>
        <a:defRPr sz="29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25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¡"/>
        <a:defRPr sz="22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19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2" charset="2"/>
        <a:buChar char="¡"/>
        <a:defRPr sz="19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2" charset="2"/>
        <a:buChar char="¡"/>
        <a:defRPr sz="19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2" charset="2"/>
        <a:buChar char="¡"/>
        <a:defRPr sz="19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2" charset="2"/>
        <a:buChar char="¡"/>
        <a:defRPr sz="19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2" charset="2"/>
        <a:buChar char="¡"/>
        <a:defRPr sz="19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52B0A6-A688-491F-AAFE-C3E0FFDA2316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3/18/2025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318D12-8758-4994-8356-D41168B68D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1585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785" r:id="rId2"/>
    <p:sldLayoutId id="2147483786" r:id="rId3"/>
    <p:sldLayoutId id="2147483787" r:id="rId4"/>
    <p:sldLayoutId id="2147483788" r:id="rId5"/>
    <p:sldLayoutId id="2147483789" r:id="rId6"/>
    <p:sldLayoutId id="2147483790" r:id="rId7"/>
    <p:sldLayoutId id="2147483791" r:id="rId8"/>
    <p:sldLayoutId id="2147483792" r:id="rId9"/>
    <p:sldLayoutId id="2147483793" r:id="rId10"/>
    <p:sldLayoutId id="2147483794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2"/>
          <p:cNvGrpSpPr>
            <a:grpSpLocks/>
          </p:cNvGrpSpPr>
          <p:nvPr/>
        </p:nvGrpSpPr>
        <p:grpSpPr bwMode="auto">
          <a:xfrm>
            <a:off x="-3238500" y="0"/>
            <a:ext cx="11925300" cy="3810000"/>
            <a:chOff x="-2040" y="0"/>
            <a:chExt cx="7512" cy="2400"/>
          </a:xfrm>
        </p:grpSpPr>
        <p:sp>
          <p:nvSpPr>
            <p:cNvPr id="228355" name="AutoShape 3"/>
            <p:cNvSpPr>
              <a:spLocks noChangeArrowheads="1"/>
            </p:cNvSpPr>
            <p:nvPr/>
          </p:nvSpPr>
          <p:spPr bwMode="auto">
            <a:xfrm>
              <a:off x="-2040" y="432"/>
              <a:ext cx="2592" cy="1968"/>
            </a:xfrm>
            <a:custGeom>
              <a:avLst/>
              <a:gdLst>
                <a:gd name="G0" fmla="+- 18296 0 0"/>
                <a:gd name="G1" fmla="+- -30880 0 0"/>
                <a:gd name="G2" fmla="+- 31512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296" y="5746"/>
                </a:cxn>
                <a:cxn ang="0">
                  <a:pos x="64000" y="32000"/>
                </a:cxn>
                <a:cxn ang="0">
                  <a:pos x="50296" y="58253"/>
                </a:cxn>
                <a:cxn ang="0">
                  <a:pos x="50296" y="58253"/>
                </a:cxn>
                <a:cxn ang="0">
                  <a:pos x="50295" y="58253"/>
                </a:cxn>
                <a:cxn ang="0">
                  <a:pos x="50296" y="58254"/>
                </a:cxn>
                <a:cxn ang="0">
                  <a:pos x="50296" y="5746"/>
                </a:cxn>
                <a:cxn ang="0">
                  <a:pos x="50295" y="5746"/>
                </a:cxn>
                <a:cxn ang="0">
                  <a:pos x="50296" y="5746"/>
                </a:cxn>
              </a:cxnLst>
              <a:rect l="T13" t="T15" r="T17" b="T19"/>
              <a:pathLst>
                <a:path w="64000" h="64000">
                  <a:moveTo>
                    <a:pt x="50296" y="5746"/>
                  </a:moveTo>
                  <a:cubicBezTo>
                    <a:pt x="58882" y="11730"/>
                    <a:pt x="64000" y="21534"/>
                    <a:pt x="64000" y="32000"/>
                  </a:cubicBezTo>
                  <a:cubicBezTo>
                    <a:pt x="64000" y="42465"/>
                    <a:pt x="58882" y="52269"/>
                    <a:pt x="50296" y="58253"/>
                  </a:cubicBezTo>
                  <a:cubicBezTo>
                    <a:pt x="50296" y="58253"/>
                    <a:pt x="50296" y="58253"/>
                    <a:pt x="50295" y="58253"/>
                  </a:cubicBezTo>
                  <a:lnTo>
                    <a:pt x="50296" y="58254"/>
                  </a:lnTo>
                  <a:lnTo>
                    <a:pt x="50296" y="5746"/>
                  </a:lnTo>
                  <a:lnTo>
                    <a:pt x="50295" y="5746"/>
                  </a:lnTo>
                  <a:cubicBezTo>
                    <a:pt x="50296" y="5746"/>
                    <a:pt x="50296" y="5746"/>
                    <a:pt x="50296" y="5746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Arial"/>
              </a:endParaRPr>
            </a:p>
          </p:txBody>
        </p:sp>
        <p:sp>
          <p:nvSpPr>
            <p:cNvPr id="228356" name="AutoShape 4"/>
            <p:cNvSpPr>
              <a:spLocks noChangeArrowheads="1"/>
            </p:cNvSpPr>
            <p:nvPr/>
          </p:nvSpPr>
          <p:spPr bwMode="auto">
            <a:xfrm>
              <a:off x="-1528" y="0"/>
              <a:ext cx="1949" cy="1987"/>
            </a:xfrm>
            <a:custGeom>
              <a:avLst/>
              <a:gdLst>
                <a:gd name="G0" fmla="+- 18077 0 0"/>
                <a:gd name="G1" fmla="+- -30880 0 0"/>
                <a:gd name="G2" fmla="+- 32000 0 0"/>
                <a:gd name="T0" fmla="*/ 32000 32000  1"/>
                <a:gd name="T1" fmla="*/ G0 G0  1"/>
                <a:gd name="T2" fmla="+- 0 T0 T1"/>
                <a:gd name="T3" fmla="sqrt T2"/>
                <a:gd name="G3" fmla="*/ 32000 T3 32000"/>
                <a:gd name="T4" fmla="*/ 32000 32000  1"/>
                <a:gd name="T5" fmla="*/ G1 G1  1"/>
                <a:gd name="T6" fmla="+- 0 T4 T5"/>
                <a:gd name="T7" fmla="sqrt T6"/>
                <a:gd name="G4" fmla="*/ 32000 T7 32000"/>
                <a:gd name="T8" fmla="*/ 32000 32000  1"/>
                <a:gd name="T9" fmla="*/ G2 G2  1"/>
                <a:gd name="T10" fmla="+- 0 T8 T9"/>
                <a:gd name="T11" fmla="sqrt T10"/>
                <a:gd name="G5" fmla="*/ 32000 T11 32000"/>
                <a:gd name="G6" fmla="+- 0 0 G3"/>
                <a:gd name="G7" fmla="+- 0 0 G4"/>
                <a:gd name="G8" fmla="+- 0 0 G5"/>
                <a:gd name="G9" fmla="+- 0 G4 G0"/>
                <a:gd name="G10" fmla="?: G9 G4 G0"/>
                <a:gd name="G11" fmla="?: G9 G1 G6"/>
                <a:gd name="G12" fmla="+- 0 G5 G0"/>
                <a:gd name="G13" fmla="?: G12 G5 G0"/>
                <a:gd name="G14" fmla="?: G12 G2 G3"/>
                <a:gd name="G15" fmla="+- G11 0 1"/>
                <a:gd name="G16" fmla="+- G14 1 0"/>
                <a:gd name="G17" fmla="+- 0 G14 G3"/>
                <a:gd name="G18" fmla="?: G17 G8 G13"/>
                <a:gd name="G19" fmla="?: G17 G0 G13"/>
                <a:gd name="G20" fmla="?: G17 G3 G16"/>
                <a:gd name="G21" fmla="+- 0 G6 G11"/>
                <a:gd name="G22" fmla="?: G21 G7 G10"/>
                <a:gd name="G23" fmla="?: G21 G0 G10"/>
                <a:gd name="G24" fmla="?: G21 G6 G15"/>
                <a:gd name="G25" fmla="min G10 G13"/>
                <a:gd name="G26" fmla="max G8 G7"/>
                <a:gd name="G27" fmla="max G26 G0"/>
                <a:gd name="T12" fmla="+- 0 G27 -32000"/>
                <a:gd name="T13" fmla="*/ T12 w 64000"/>
                <a:gd name="T14" fmla="+- 0 G11 -32000"/>
                <a:gd name="T15" fmla="*/ G11 h 64000"/>
                <a:gd name="T16" fmla="+- 0 G25 -32000"/>
                <a:gd name="T17" fmla="*/ T16 w 64000"/>
                <a:gd name="T18" fmla="+- 0 G14 -32000"/>
                <a:gd name="T19" fmla="*/ G14 h 64000"/>
              </a:gdLst>
              <a:ahLst/>
              <a:cxnLst>
                <a:cxn ang="0">
                  <a:pos x="50077" y="5595"/>
                </a:cxn>
                <a:cxn ang="0">
                  <a:pos x="64000" y="32000"/>
                </a:cxn>
                <a:cxn ang="0">
                  <a:pos x="50077" y="58404"/>
                </a:cxn>
                <a:cxn ang="0">
                  <a:pos x="50077" y="58404"/>
                </a:cxn>
                <a:cxn ang="0">
                  <a:pos x="50076" y="58404"/>
                </a:cxn>
                <a:cxn ang="0">
                  <a:pos x="50077" y="58405"/>
                </a:cxn>
                <a:cxn ang="0">
                  <a:pos x="50077" y="5595"/>
                </a:cxn>
                <a:cxn ang="0">
                  <a:pos x="50076" y="5595"/>
                </a:cxn>
                <a:cxn ang="0">
                  <a:pos x="50077" y="5595"/>
                </a:cxn>
              </a:cxnLst>
              <a:rect l="T13" t="T15" r="T17" b="T19"/>
              <a:pathLst>
                <a:path w="64000" h="64000">
                  <a:moveTo>
                    <a:pt x="50077" y="5595"/>
                  </a:moveTo>
                  <a:cubicBezTo>
                    <a:pt x="58790" y="11560"/>
                    <a:pt x="64000" y="21440"/>
                    <a:pt x="64000" y="32000"/>
                  </a:cubicBezTo>
                  <a:cubicBezTo>
                    <a:pt x="64000" y="42559"/>
                    <a:pt x="58790" y="52439"/>
                    <a:pt x="50077" y="58404"/>
                  </a:cubicBezTo>
                  <a:cubicBezTo>
                    <a:pt x="50077" y="58404"/>
                    <a:pt x="50077" y="58404"/>
                    <a:pt x="50076" y="58404"/>
                  </a:cubicBezTo>
                  <a:lnTo>
                    <a:pt x="50077" y="58405"/>
                  </a:lnTo>
                  <a:lnTo>
                    <a:pt x="50077" y="5595"/>
                  </a:lnTo>
                  <a:lnTo>
                    <a:pt x="50076" y="5595"/>
                  </a:lnTo>
                  <a:cubicBezTo>
                    <a:pt x="50077" y="5595"/>
                    <a:pt x="50077" y="5595"/>
                    <a:pt x="50077" y="5595"/>
                  </a:cubicBezTo>
                  <a:close/>
                </a:path>
              </a:pathLst>
            </a:custGeom>
            <a:solidFill>
              <a:schemeClr val="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/>
              </a:endParaRPr>
            </a:p>
          </p:txBody>
        </p:sp>
        <p:sp>
          <p:nvSpPr>
            <p:cNvPr id="228357" name="Line 5"/>
            <p:cNvSpPr>
              <a:spLocks noChangeShapeType="1"/>
            </p:cNvSpPr>
            <p:nvPr/>
          </p:nvSpPr>
          <p:spPr bwMode="auto">
            <a:xfrm>
              <a:off x="864" y="960"/>
              <a:ext cx="46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Arial"/>
              </a:endParaRPr>
            </a:p>
          </p:txBody>
        </p:sp>
      </p:grpSp>
      <p:sp>
        <p:nvSpPr>
          <p:cNvPr id="4099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1370013" y="301625"/>
            <a:ext cx="7313612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100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70013" y="1827213"/>
            <a:ext cx="7313612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8360" name="Rectangle 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Arial"/>
            </a:endParaRPr>
          </a:p>
        </p:txBody>
      </p:sp>
      <p:sp>
        <p:nvSpPr>
          <p:cNvPr id="228361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Arial"/>
            </a:endParaRPr>
          </a:p>
        </p:txBody>
      </p:sp>
      <p:sp>
        <p:nvSpPr>
          <p:cNvPr id="228362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+mn-lt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6AF8879-9647-4193-B88F-B0D6F438621F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4040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6" r:id="rId1"/>
    <p:sldLayoutId id="2147483797" r:id="rId2"/>
    <p:sldLayoutId id="2147483798" r:id="rId3"/>
    <p:sldLayoutId id="2147483799" r:id="rId4"/>
    <p:sldLayoutId id="2147483800" r:id="rId5"/>
    <p:sldLayoutId id="2147483801" r:id="rId6"/>
    <p:sldLayoutId id="2147483802" r:id="rId7"/>
    <p:sldLayoutId id="2147483803" r:id="rId8"/>
    <p:sldLayoutId id="2147483804" r:id="rId9"/>
    <p:sldLayoutId id="2147483805" r:id="rId10"/>
    <p:sldLayoutId id="2147483806" r:id="rId11"/>
    <p:sldLayoutId id="2147483807" r:id="rId12"/>
    <p:sldLayoutId id="2147483808" r:id="rId13"/>
    <p:sldLayoutId id="2147483809" r:id="rId14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¡"/>
        <a:defRPr sz="29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25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¡"/>
        <a:defRPr sz="22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19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2" charset="2"/>
        <a:buChar char="¡"/>
        <a:defRPr sz="19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2" charset="2"/>
        <a:buChar char="¡"/>
        <a:defRPr sz="19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2" charset="2"/>
        <a:buChar char="¡"/>
        <a:defRPr sz="19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2" charset="2"/>
        <a:buChar char="¡"/>
        <a:defRPr sz="19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2" charset="2"/>
        <a:buChar char="¡"/>
        <a:defRPr sz="19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Arial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Arial" charset="0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6A4E7FF-644F-4A76-85A3-30DBA228FF98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5511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818" r:id="rId8"/>
    <p:sldLayoutId id="2147483819" r:id="rId9"/>
    <p:sldLayoutId id="2147483820" r:id="rId10"/>
    <p:sldLayoutId id="2147483821" r:id="rId11"/>
    <p:sldLayoutId id="2147483822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mba.tuck.dartmouth.edu/pages/faculty/ken.french/data_library.html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443038" y="1148555"/>
            <a:ext cx="7239000" cy="1058863"/>
          </a:xfrm>
        </p:spPr>
        <p:txBody>
          <a:bodyPr/>
          <a:lstStyle/>
          <a:p>
            <a:pPr eaLnBrk="1" hangingPunct="1"/>
            <a:r>
              <a:rPr lang="en-US" sz="3200" b="1" dirty="0">
                <a:latin typeface="Times New Roman" pitchFamily="18" charset="0"/>
              </a:rPr>
              <a:t>Class 7: CAPM, Factor Models, and Cross-Sectional Trading Strategies</a:t>
            </a:r>
          </a:p>
        </p:txBody>
      </p:sp>
      <p:sp>
        <p:nvSpPr>
          <p:cNvPr id="6147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US" dirty="0">
              <a:latin typeface="Times New Roman" pitchFamily="18" charset="0"/>
            </a:endParaRPr>
          </a:p>
          <a:p>
            <a:pPr eaLnBrk="1" hangingPunct="1"/>
            <a:r>
              <a:rPr lang="en-US" dirty="0">
                <a:latin typeface="Times New Roman" pitchFamily="18" charset="0"/>
              </a:rPr>
              <a:t>Data-driven Investments</a:t>
            </a:r>
          </a:p>
          <a:p>
            <a:pPr eaLnBrk="1" hangingPunct="1"/>
            <a:r>
              <a:rPr lang="en-US" dirty="0">
                <a:latin typeface="Times New Roman" pitchFamily="18" charset="0"/>
              </a:rPr>
              <a:t>Adlai Fisher</a:t>
            </a:r>
          </a:p>
          <a:p>
            <a:pPr eaLnBrk="1" hangingPunct="1"/>
            <a:endParaRPr lang="en-US" dirty="0"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" y="0"/>
            <a:ext cx="8686800" cy="715962"/>
          </a:xfrm>
        </p:spPr>
        <p:txBody>
          <a:bodyPr>
            <a:normAutofit fontScale="90000"/>
          </a:bodyPr>
          <a:lstStyle/>
          <a:p>
            <a:r>
              <a:rPr lang="en-US" dirty="0"/>
              <a:t>Course Update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68" y="990600"/>
            <a:ext cx="9067800" cy="5916148"/>
          </a:xfrm>
        </p:spPr>
        <p:txBody>
          <a:bodyPr>
            <a:normAutofit/>
          </a:bodyPr>
          <a:lstStyle/>
          <a:p>
            <a:r>
              <a:rPr lang="en-US" sz="2400" dirty="0"/>
              <a:t>First two major parts of course are complete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Stock returns, portfolio formation, and properties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Asset allocation</a:t>
            </a:r>
          </a:p>
          <a:p>
            <a:pPr marL="914400" lvl="1" indent="-457200">
              <a:buFont typeface="+mj-lt"/>
              <a:buAutoNum type="arabicPeriod"/>
            </a:pPr>
            <a:endParaRPr lang="en-US" sz="2000" dirty="0"/>
          </a:p>
          <a:p>
            <a:pPr marL="514350" indent="-457200"/>
            <a:r>
              <a:rPr lang="en-US" sz="2400" dirty="0"/>
              <a:t>Today we begin final part of course</a:t>
            </a:r>
          </a:p>
          <a:p>
            <a:pPr marL="914400" lvl="1" indent="-457200"/>
            <a:r>
              <a:rPr lang="en-US" sz="2000" dirty="0"/>
              <a:t>Factor models (including CAPM), cross-sectional trading strategies, and performance evaluation</a:t>
            </a:r>
          </a:p>
          <a:p>
            <a:pPr marL="914400" lvl="1" indent="-457200"/>
            <a:endParaRPr lang="en-US" sz="2000" dirty="0"/>
          </a:p>
          <a:p>
            <a:pPr marL="514350" indent="-457200"/>
            <a:r>
              <a:rPr lang="en-US" sz="2400" dirty="0"/>
              <a:t>Project proposals next Tuesday</a:t>
            </a:r>
          </a:p>
          <a:p>
            <a:pPr marL="914400" lvl="1" indent="-457200"/>
            <a:r>
              <a:rPr lang="en-US" sz="2000" dirty="0"/>
              <a:t>Two pages written plus 5-7 minute presentation in class</a:t>
            </a:r>
          </a:p>
          <a:p>
            <a:pPr marL="914400" lvl="1" indent="-457200"/>
            <a:r>
              <a:rPr lang="en-US" sz="2000" dirty="0"/>
              <a:t>Need groups signed up! (6 people max)</a:t>
            </a:r>
          </a:p>
          <a:p>
            <a:pPr marL="914400" lvl="1" indent="-457200"/>
            <a:endParaRPr lang="en-US" sz="2000" dirty="0"/>
          </a:p>
          <a:p>
            <a:pPr marL="514350" indent="-457200"/>
            <a:r>
              <a:rPr lang="en-US" sz="2400" dirty="0"/>
              <a:t>Final project memoranda (after proposal feedback) due end of final exam period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2265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" y="0"/>
            <a:ext cx="8686800" cy="715962"/>
          </a:xfrm>
        </p:spPr>
        <p:txBody>
          <a:bodyPr>
            <a:normAutofit fontScale="90000"/>
          </a:bodyPr>
          <a:lstStyle/>
          <a:p>
            <a:r>
              <a:rPr lang="en-US" dirty="0"/>
              <a:t>Project Proposals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68" y="751700"/>
            <a:ext cx="9067800" cy="61550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1) Background readings</a:t>
            </a:r>
          </a:p>
          <a:p>
            <a:pPr marL="685800" lvl="1"/>
            <a:r>
              <a:rPr lang="en-US" sz="2000" dirty="0"/>
              <a:t>FF92, FF93, HXZ 2020</a:t>
            </a:r>
          </a:p>
          <a:p>
            <a:pPr marL="685800" lvl="1"/>
            <a:r>
              <a:rPr lang="en-US" sz="2000" dirty="0"/>
              <a:t>Additional readings depending on topic (our recommendation plus self-research)</a:t>
            </a:r>
          </a:p>
          <a:p>
            <a:pPr marL="685800" lvl="1"/>
            <a:endParaRPr lang="en-US" sz="2000" dirty="0"/>
          </a:p>
          <a:p>
            <a:pPr marL="0" indent="0">
              <a:buNone/>
            </a:pPr>
            <a:r>
              <a:rPr lang="en-US" sz="2000" dirty="0"/>
              <a:t>2) Sample code, portstrat.zip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3) Data, from WRDS</a:t>
            </a:r>
          </a:p>
          <a:p>
            <a:pPr marL="685800" lvl="1"/>
            <a:r>
              <a:rPr lang="en-US" sz="2000" dirty="0"/>
              <a:t>CRSP and </a:t>
            </a:r>
            <a:r>
              <a:rPr lang="en-US" sz="2000" dirty="0" err="1"/>
              <a:t>Compustat</a:t>
            </a:r>
            <a:endParaRPr lang="en-US" sz="2000" dirty="0"/>
          </a:p>
          <a:p>
            <a:pPr marL="685800" lvl="1"/>
            <a:endParaRPr lang="en-US" sz="2000" dirty="0"/>
          </a:p>
          <a:p>
            <a:pPr marL="685800" lvl="1"/>
            <a:endParaRPr lang="en-US" sz="2000" dirty="0"/>
          </a:p>
          <a:p>
            <a:pPr marL="285750"/>
            <a:r>
              <a:rPr lang="en-US" sz="2000" dirty="0"/>
              <a:t>Three major components to projects</a:t>
            </a:r>
          </a:p>
          <a:p>
            <a:pPr marL="685800" lvl="1"/>
            <a:r>
              <a:rPr lang="en-US" sz="2000" dirty="0"/>
              <a:t>Reading the literature and background research</a:t>
            </a:r>
          </a:p>
          <a:p>
            <a:pPr marL="685800" lvl="1"/>
            <a:r>
              <a:rPr lang="en-US" sz="2000" dirty="0"/>
              <a:t>Portfolio formation, ideas and coding</a:t>
            </a:r>
          </a:p>
          <a:p>
            <a:pPr marL="685800" lvl="1"/>
            <a:r>
              <a:rPr lang="en-US" sz="2000" dirty="0"/>
              <a:t>Performance evaluation and interpretation of results</a:t>
            </a:r>
          </a:p>
          <a:p>
            <a:endParaRPr lang="en-US" sz="20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91362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" y="0"/>
            <a:ext cx="8686800" cy="715962"/>
          </a:xfrm>
        </p:spPr>
        <p:txBody>
          <a:bodyPr>
            <a:normAutofit fontScale="90000"/>
          </a:bodyPr>
          <a:lstStyle/>
          <a:p>
            <a:r>
              <a:rPr lang="en-US" dirty="0"/>
              <a:t>Outline for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68" y="715962"/>
            <a:ext cx="9067800" cy="6190786"/>
          </a:xfrm>
        </p:spPr>
        <p:txBody>
          <a:bodyPr>
            <a:normAutofit lnSpcReduction="10000"/>
          </a:bodyPr>
          <a:lstStyle/>
          <a:p>
            <a:pPr marL="457200" indent="-457200">
              <a:buAutoNum type="arabicParenR"/>
            </a:pPr>
            <a:r>
              <a:rPr lang="en-US" sz="2400" dirty="0"/>
              <a:t>What is a cross-sectional trading strategy? </a:t>
            </a:r>
          </a:p>
          <a:p>
            <a:pPr marL="857250" lvl="1" indent="-457200"/>
            <a:r>
              <a:rPr lang="en-US" sz="2400" dirty="0"/>
              <a:t>sample code to build from scratch set up for </a:t>
            </a:r>
            <a:r>
              <a:rPr lang="en-US" sz="2400" dirty="0" err="1"/>
              <a:t>CAPX:Assets</a:t>
            </a:r>
            <a:endParaRPr lang="en-US" sz="2400" dirty="0"/>
          </a:p>
          <a:p>
            <a:pPr marL="857250" lvl="1" indent="-457200"/>
            <a:r>
              <a:rPr lang="en-US" sz="2400" dirty="0"/>
              <a:t>Other examples in homework description, Ken French data library, HXZ paper, e.g., momentum, low-</a:t>
            </a:r>
            <a:r>
              <a:rPr lang="en-US" sz="2400" dirty="0" err="1"/>
              <a:t>vol</a:t>
            </a:r>
            <a:r>
              <a:rPr lang="en-US" sz="2400" dirty="0"/>
              <a:t>, etc.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2) CAPM, Factor Models, and Performance Evaluation</a:t>
            </a:r>
          </a:p>
          <a:p>
            <a:r>
              <a:rPr lang="en-US" sz="2400" dirty="0"/>
              <a:t>How MPT leads to the CAPM</a:t>
            </a:r>
          </a:p>
          <a:p>
            <a:r>
              <a:rPr lang="en-US" sz="2400" dirty="0"/>
              <a:t>Empirical shortcomings of CAPM leading to more general factor models</a:t>
            </a:r>
          </a:p>
          <a:p>
            <a:r>
              <a:rPr lang="en-US" sz="2400" dirty="0"/>
              <a:t>Empirical factors and macro factors</a:t>
            </a:r>
          </a:p>
          <a:p>
            <a:r>
              <a:rPr lang="en-US" sz="2400" dirty="0"/>
              <a:t>Performance evaluation: alpha and beta(s) </a:t>
            </a:r>
          </a:p>
          <a:p>
            <a:r>
              <a:rPr lang="en-US" sz="2400" dirty="0"/>
              <a:t>Ken French’s website and some commonly used factors </a:t>
            </a:r>
          </a:p>
          <a:p>
            <a:r>
              <a:rPr lang="en-US" sz="2400" dirty="0"/>
              <a:t>Building your own cross-sectional trading strategies using CRSP and </a:t>
            </a:r>
            <a:r>
              <a:rPr lang="en-US" sz="2400" dirty="0" err="1"/>
              <a:t>Compustat</a:t>
            </a:r>
            <a:r>
              <a:rPr lang="en-US" sz="2400" dirty="0"/>
              <a:t> data and python (sample code)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81636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" y="0"/>
            <a:ext cx="8686800" cy="715962"/>
          </a:xfrm>
        </p:spPr>
        <p:txBody>
          <a:bodyPr>
            <a:normAutofit/>
          </a:bodyPr>
          <a:lstStyle/>
          <a:p>
            <a:r>
              <a:rPr lang="en-US" sz="3600" dirty="0"/>
              <a:t>What is a Cross-Sectional Trading Strategy?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68" y="715962"/>
            <a:ext cx="9067800" cy="619078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dirty="0"/>
              <a:t>Algorithm for an annual</a:t>
            </a:r>
          </a:p>
          <a:p>
            <a:pPr marL="457200" indent="-457200">
              <a:buAutoNum type="arabicParenR"/>
            </a:pPr>
            <a:r>
              <a:rPr lang="en-US" sz="2400" dirty="0"/>
              <a:t>Define variable of interest, must be observable at firm level</a:t>
            </a:r>
          </a:p>
          <a:p>
            <a:pPr marL="857250" lvl="1" indent="-457200"/>
            <a:r>
              <a:rPr lang="en-US" sz="2000" dirty="0"/>
              <a:t>Example 1: sample code, CAPX/assets</a:t>
            </a:r>
          </a:p>
          <a:p>
            <a:pPr marL="857250" lvl="1" indent="-457200"/>
            <a:r>
              <a:rPr lang="en-US" sz="2000" dirty="0"/>
              <a:t>Example 2: momentum, past 12 months returns</a:t>
            </a:r>
          </a:p>
          <a:p>
            <a:pPr marL="400050" lvl="1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400" dirty="0"/>
              <a:t>2) Loop over: months or years (monthly or annual strategy)</a:t>
            </a:r>
          </a:p>
          <a:p>
            <a:r>
              <a:rPr lang="en-US" sz="2400" dirty="0"/>
              <a:t>Get variable of interest for all firms in sample </a:t>
            </a:r>
          </a:p>
          <a:p>
            <a:pPr lvl="1"/>
            <a:r>
              <a:rPr lang="en-US" sz="2000" dirty="0"/>
              <a:t>Annual strategy: on June 30, to ensure availability of accounting data</a:t>
            </a:r>
          </a:p>
          <a:p>
            <a:pPr lvl="1"/>
            <a:r>
              <a:rPr lang="en-US" sz="2000" dirty="0"/>
              <a:t>Monthly strategy: at end of month</a:t>
            </a:r>
          </a:p>
          <a:p>
            <a:pPr marL="400050"/>
            <a:r>
              <a:rPr lang="en-US" sz="2400" dirty="0"/>
              <a:t>Sort all firms by variable and create bins (deciles, quintiles, terciles)</a:t>
            </a:r>
          </a:p>
          <a:p>
            <a:pPr marL="400050"/>
            <a:r>
              <a:rPr lang="en-US" sz="2400" dirty="0"/>
              <a:t>Make a portfolio out of all firms in bin, hold for month or year</a:t>
            </a:r>
          </a:p>
          <a:p>
            <a:pPr marL="400050"/>
            <a:r>
              <a:rPr lang="en-US" sz="2400" dirty="0"/>
              <a:t>Calculate returns each month and record</a:t>
            </a:r>
          </a:p>
          <a:p>
            <a:pPr marL="400050"/>
            <a:r>
              <a:rPr lang="en-US" sz="2400" dirty="0"/>
              <a:t>Repeat</a:t>
            </a:r>
          </a:p>
          <a:p>
            <a:pPr marL="400050"/>
            <a:endParaRPr lang="en-US" sz="2400" dirty="0"/>
          </a:p>
          <a:p>
            <a:pPr marL="57150" indent="0">
              <a:buNone/>
            </a:pPr>
            <a:r>
              <a:rPr lang="en-US" sz="2400" dirty="0"/>
              <a:t>3) End with sample of T months by number of bins with returns recorded in each bin</a:t>
            </a:r>
          </a:p>
          <a:p>
            <a:pPr marL="857250" lvl="1" indent="-457200"/>
            <a:endParaRPr lang="en-US" sz="2000" dirty="0"/>
          </a:p>
          <a:p>
            <a:pPr marL="857250" lvl="1" indent="-457200"/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2464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301625"/>
            <a:ext cx="7769225" cy="765175"/>
          </a:xfrm>
        </p:spPr>
        <p:txBody>
          <a:bodyPr/>
          <a:lstStyle/>
          <a:p>
            <a:pPr eaLnBrk="1" hangingPunct="1"/>
            <a:r>
              <a:rPr lang="en-US" sz="3000" b="1" dirty="0">
                <a:latin typeface="Times New Roman" pitchFamily="18" charset="0"/>
              </a:rPr>
              <a:t>Class Example</a:t>
            </a:r>
          </a:p>
        </p:txBody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676400"/>
            <a:ext cx="8001000" cy="3657600"/>
          </a:xfrm>
        </p:spPr>
        <p:txBody>
          <a:bodyPr/>
          <a:lstStyle/>
          <a:p>
            <a:pPr lvl="1" eaLnBrk="1" hangingPunct="1">
              <a:buClrTx/>
              <a:buSzPct val="100000"/>
              <a:buFont typeface="Arial" panose="020B0604020202020204" pitchFamily="34" charset="0"/>
              <a:buChar char="•"/>
            </a:pPr>
            <a:endParaRPr lang="en-US" sz="2400" dirty="0">
              <a:latin typeface="Times New Roman" pitchFamily="18" charset="0"/>
            </a:endParaRPr>
          </a:p>
          <a:p>
            <a:pPr lvl="1" eaLnBrk="1" hangingPunct="1"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itchFamily="18" charset="0"/>
              </a:rPr>
              <a:t>Resource: </a:t>
            </a:r>
            <a:r>
              <a:rPr lang="en-US" sz="2400" dirty="0">
                <a:latin typeface="Times New Roman" pitchFamily="18" charset="0"/>
                <a:hlinkClick r:id="rId3"/>
              </a:rPr>
              <a:t>Ken French’s website</a:t>
            </a:r>
            <a:endParaRPr lang="en-US" sz="2400" dirty="0">
              <a:latin typeface="Times New Roman" pitchFamily="18" charset="0"/>
            </a:endParaRPr>
          </a:p>
          <a:p>
            <a:pPr lvl="1" eaLnBrk="1" hangingPunct="1">
              <a:buClrTx/>
              <a:buSzPct val="100000"/>
              <a:buFont typeface="Arial" panose="020B0604020202020204" pitchFamily="34" charset="0"/>
              <a:buChar char="•"/>
            </a:pPr>
            <a:endParaRPr lang="en-US" sz="2400" dirty="0">
              <a:latin typeface="Times New Roman" pitchFamily="18" charset="0"/>
            </a:endParaRPr>
          </a:p>
          <a:p>
            <a:pPr lvl="1" eaLnBrk="1" hangingPunct="1"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itchFamily="18" charset="0"/>
              </a:rPr>
              <a:t>In class: momentum</a:t>
            </a:r>
          </a:p>
          <a:p>
            <a:pPr marL="457200" lvl="1" indent="0" eaLnBrk="1" hangingPunct="1">
              <a:buClrTx/>
              <a:buSzPct val="100000"/>
              <a:buNone/>
            </a:pPr>
            <a:endParaRPr lang="en-US" sz="2400" dirty="0">
              <a:latin typeface="Times New Roman" pitchFamily="18" charset="0"/>
            </a:endParaRPr>
          </a:p>
          <a:p>
            <a:pPr lvl="1" eaLnBrk="1" hangingPunct="1"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itchFamily="18" charset="0"/>
              </a:rPr>
              <a:t>Projects: choose any univariate sort you like, build from scratch, extend in some way</a:t>
            </a:r>
          </a:p>
        </p:txBody>
      </p:sp>
    </p:spTree>
    <p:extLst>
      <p:ext uri="{BB962C8B-B14F-4D97-AF65-F5344CB8AC3E}">
        <p14:creationId xmlns:p14="http://schemas.microsoft.com/office/powerpoint/2010/main" val="35765466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0"/>
            <a:ext cx="8686800" cy="609600"/>
          </a:xfrm>
        </p:spPr>
        <p:txBody>
          <a:bodyPr>
            <a:normAutofit fontScale="90000"/>
          </a:bodyPr>
          <a:lstStyle/>
          <a:p>
            <a:r>
              <a:rPr lang="en-US" dirty="0"/>
              <a:t>Return to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487" y="1600200"/>
            <a:ext cx="8142113" cy="21336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800" dirty="0"/>
          </a:p>
          <a:p>
            <a:r>
              <a:rPr lang="en-US" sz="2800" dirty="0"/>
              <a:t>Factor models including CAPM</a:t>
            </a:r>
          </a:p>
          <a:p>
            <a:r>
              <a:rPr lang="en-US" sz="2800" dirty="0"/>
              <a:t>Performance evaluation</a:t>
            </a:r>
          </a:p>
          <a:p>
            <a:r>
              <a:rPr lang="en-US" sz="2800" dirty="0"/>
              <a:t>Cross-sectional trading strategies.</a:t>
            </a:r>
          </a:p>
          <a:p>
            <a:pPr marL="457200" indent="-457200">
              <a:buFont typeface="+mj-lt"/>
              <a:buAutoNum type="arabicPeriod"/>
            </a:pPr>
            <a:endParaRPr lang="en-US" sz="1900" dirty="0"/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93006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" y="0"/>
            <a:ext cx="8686800" cy="715962"/>
          </a:xfrm>
        </p:spPr>
        <p:txBody>
          <a:bodyPr>
            <a:normAutofit/>
          </a:bodyPr>
          <a:lstStyle/>
          <a:p>
            <a:r>
              <a:rPr lang="en-US" sz="3600" dirty="0"/>
              <a:t>Why Portfolios?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68" y="715962"/>
            <a:ext cx="9067800" cy="61907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Alternatives and discussion of pros-cons</a:t>
            </a:r>
          </a:p>
          <a:p>
            <a:r>
              <a:rPr lang="en-US" sz="2400" dirty="0"/>
              <a:t>Linear regression on characteristics</a:t>
            </a:r>
          </a:p>
          <a:p>
            <a:r>
              <a:rPr lang="en-US" sz="2400" dirty="0"/>
              <a:t>Portfolio sorts on characteristics (our projects)</a:t>
            </a:r>
          </a:p>
          <a:p>
            <a:r>
              <a:rPr lang="en-US" sz="2400" dirty="0"/>
              <a:t>ML approach</a:t>
            </a:r>
          </a:p>
          <a:p>
            <a:endParaRPr lang="en-US" sz="2400" dirty="0"/>
          </a:p>
          <a:p>
            <a:endParaRPr lang="en-US" sz="2400" dirty="0"/>
          </a:p>
          <a:p>
            <a:pPr marL="0" indent="0">
              <a:buNone/>
            </a:pPr>
            <a:r>
              <a:rPr lang="en-US" sz="2400" dirty="0"/>
              <a:t>Other types of quant strategies</a:t>
            </a:r>
          </a:p>
          <a:p>
            <a:r>
              <a:rPr lang="en-US" sz="2400" dirty="0"/>
              <a:t>High-frequency (arb)</a:t>
            </a:r>
          </a:p>
          <a:p>
            <a:r>
              <a:rPr lang="en-US" sz="2400" dirty="0"/>
              <a:t>Time-series</a:t>
            </a:r>
          </a:p>
          <a:p>
            <a:pPr marL="857250" lvl="1" indent="-457200"/>
            <a:endParaRPr lang="en-US" sz="2000" dirty="0"/>
          </a:p>
          <a:p>
            <a:pPr marL="857250" lvl="1" indent="-457200"/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77840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368" y="228600"/>
            <a:ext cx="8686800" cy="715962"/>
          </a:xfrm>
        </p:spPr>
        <p:txBody>
          <a:bodyPr>
            <a:normAutofit fontScale="90000"/>
          </a:bodyPr>
          <a:lstStyle/>
          <a:p>
            <a:r>
              <a:rPr lang="en-US" dirty="0"/>
              <a:t>Group Final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68" y="1219200"/>
            <a:ext cx="9067800" cy="5687548"/>
          </a:xfrm>
        </p:spPr>
        <p:txBody>
          <a:bodyPr>
            <a:normAutofit/>
          </a:bodyPr>
          <a:lstStyle/>
          <a:p>
            <a:r>
              <a:rPr lang="en-US" sz="2000" dirty="0"/>
              <a:t>Consider your group to be a team working on a cross-sectional investment strategy for a quantitative investment manager.  Your objective is to study a known cross-sectional quantitative investment strategy (see Ken French’s website), </a:t>
            </a:r>
            <a:r>
              <a:rPr lang="en-US" sz="2000" u="sng" dirty="0"/>
              <a:t>including modifications or robustness tests of that investment strategy, or a different strategy of your own choosing.</a:t>
            </a:r>
          </a:p>
          <a:p>
            <a:pPr lvl="1"/>
            <a:r>
              <a:rPr lang="en-US" sz="2000" dirty="0"/>
              <a:t>The analysis will include a description of your motivation, prior related literature, methods, and results including at least consideration of the properties of the investment strategy </a:t>
            </a:r>
            <a:r>
              <a:rPr lang="en-US" sz="2000" dirty="0" err="1"/>
              <a:t>retuns</a:t>
            </a:r>
            <a:r>
              <a:rPr lang="en-US" sz="2000" dirty="0"/>
              <a:t> (mean, variance, skewness, kurtosis) and performance analysis (alphas and betas) </a:t>
            </a:r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89047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0"/>
            <a:ext cx="8686800" cy="609600"/>
          </a:xfrm>
        </p:spPr>
        <p:txBody>
          <a:bodyPr>
            <a:normAutofit fontScale="90000"/>
          </a:bodyPr>
          <a:lstStyle/>
          <a:p>
            <a:r>
              <a:rPr lang="en-US" dirty="0"/>
              <a:t>Basic Project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85800"/>
            <a:ext cx="9144000" cy="6172200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/>
              <a:t>Study a known strategy, read the literature, build portfolios from scratch, carry out appropriate analysis including performance analysis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/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Propose some interesting modification:  </a:t>
            </a:r>
          </a:p>
          <a:p>
            <a:pPr marL="857250" lvl="1" indent="-457200"/>
            <a:r>
              <a:rPr lang="en-US" sz="2400" dirty="0"/>
              <a:t>Is momentum stronger in small firms than large firms (double sort)?</a:t>
            </a:r>
          </a:p>
          <a:p>
            <a:pPr marL="857250" lvl="1" indent="-457200"/>
            <a:r>
              <a:rPr lang="en-US" sz="2400" dirty="0"/>
              <a:t>Is a certain anomaly stronger within or across industries? In which industries?</a:t>
            </a:r>
          </a:p>
          <a:p>
            <a:pPr marL="857250" lvl="1" indent="-457200"/>
            <a:endParaRPr lang="en-US" sz="1900" dirty="0"/>
          </a:p>
          <a:p>
            <a:pPr marL="0" indent="0">
              <a:buNone/>
            </a:pPr>
            <a:endParaRPr lang="en-US" sz="1900" dirty="0"/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9782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0"/>
            <a:ext cx="8686800" cy="609600"/>
          </a:xfrm>
        </p:spPr>
        <p:txBody>
          <a:bodyPr>
            <a:normAutofit fontScale="90000"/>
          </a:bodyPr>
          <a:lstStyle/>
          <a:p>
            <a:r>
              <a:rPr lang="en-US" dirty="0"/>
              <a:t>Comments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85800"/>
            <a:ext cx="9144000" cy="6172200"/>
          </a:xfrm>
        </p:spPr>
        <p:txBody>
          <a:bodyPr>
            <a:normAutofit/>
          </a:bodyPr>
          <a:lstStyle/>
          <a:p>
            <a:r>
              <a:rPr lang="en-US" sz="2800" dirty="0"/>
              <a:t>Simplest projects to start with: an annual accounting ratio</a:t>
            </a:r>
          </a:p>
          <a:p>
            <a:pPr lvl="1"/>
            <a:r>
              <a:rPr lang="en-US" sz="2400" dirty="0"/>
              <a:t>Very simple change to sample code to get started</a:t>
            </a:r>
          </a:p>
          <a:p>
            <a:pPr lvl="1"/>
            <a:r>
              <a:rPr lang="en-US" sz="2400" dirty="0"/>
              <a:t>Replace CAPX/Assets with P/E, or P/D, or EBIT/Assets</a:t>
            </a:r>
          </a:p>
          <a:p>
            <a:pPr lvl="1"/>
            <a:endParaRPr lang="en-US" sz="2400" dirty="0"/>
          </a:p>
          <a:p>
            <a:r>
              <a:rPr lang="en-US" sz="2800" dirty="0"/>
              <a:t>A little more coding to get started</a:t>
            </a:r>
          </a:p>
          <a:p>
            <a:pPr lvl="1"/>
            <a:r>
              <a:rPr lang="en-US" sz="2400" dirty="0"/>
              <a:t>Something requiring computations of past data</a:t>
            </a:r>
          </a:p>
          <a:p>
            <a:pPr lvl="1"/>
            <a:r>
              <a:rPr lang="en-US" sz="2400" dirty="0"/>
              <a:t>Momentum (past twelve months returns)</a:t>
            </a:r>
          </a:p>
          <a:p>
            <a:pPr lvl="1"/>
            <a:r>
              <a:rPr lang="en-US" sz="2400" dirty="0"/>
              <a:t>Beta (need to run a regression for each firm)</a:t>
            </a:r>
          </a:p>
          <a:p>
            <a:pPr lvl="1"/>
            <a:r>
              <a:rPr lang="en-US" sz="2400" dirty="0"/>
              <a:t>Vol (need to calculate sum of squared returns for each firm)</a:t>
            </a:r>
          </a:p>
          <a:p>
            <a:pPr lvl="1"/>
            <a:endParaRPr lang="en-US" sz="2400" dirty="0"/>
          </a:p>
          <a:p>
            <a:r>
              <a:rPr lang="en-US" sz="2800" dirty="0"/>
              <a:t>Choose level of difficulty as you see appropriate.  Can still do an A level project choosing something that has a simpler starting point.</a:t>
            </a:r>
          </a:p>
          <a:p>
            <a:pPr marL="457200" indent="-457200">
              <a:buFont typeface="+mj-lt"/>
              <a:buAutoNum type="arabicPeriod"/>
            </a:pPr>
            <a:endParaRPr lang="en-US" sz="1900" dirty="0"/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83080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0"/>
            <a:ext cx="8686800" cy="609600"/>
          </a:xfrm>
        </p:spPr>
        <p:txBody>
          <a:bodyPr>
            <a:normAutofit fontScale="90000"/>
          </a:bodyPr>
          <a:lstStyle/>
          <a:p>
            <a:r>
              <a:rPr lang="en-US" dirty="0"/>
              <a:t>Comments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85800"/>
            <a:ext cx="9144000" cy="6172200"/>
          </a:xfrm>
        </p:spPr>
        <p:txBody>
          <a:bodyPr>
            <a:normAutofit/>
          </a:bodyPr>
          <a:lstStyle/>
          <a:p>
            <a:r>
              <a:rPr lang="en-US" sz="2800" dirty="0"/>
              <a:t>Data: CRSP and </a:t>
            </a:r>
            <a:r>
              <a:rPr lang="en-US" sz="2800" dirty="0" err="1"/>
              <a:t>Compustat</a:t>
            </a:r>
            <a:r>
              <a:rPr lang="en-US" sz="2800" dirty="0"/>
              <a:t> on WRDS.  Instructions for class account login given in Canvas announcement.</a:t>
            </a:r>
          </a:p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endParaRPr lang="en-US" sz="1900" dirty="0"/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61784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-14654" y="234166"/>
            <a:ext cx="8991600" cy="439718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</a:rPr>
              <a:t>Performance Evaluation Exercise 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(practice, for next class)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4209" y="930275"/>
            <a:ext cx="8763000" cy="5791200"/>
          </a:xfrm>
        </p:spPr>
        <p:txBody>
          <a:bodyPr/>
          <a:lstStyle/>
          <a:p>
            <a:endParaRPr lang="en-US" sz="2800" dirty="0"/>
          </a:p>
          <a:p>
            <a:r>
              <a:rPr lang="en-US" sz="2000" dirty="0"/>
              <a:t>Using the momentum portfolios from Ken French’s website from class, or another of your choosing:</a:t>
            </a:r>
          </a:p>
          <a:p>
            <a:pPr lvl="1"/>
            <a:r>
              <a:rPr lang="en-US" sz="1600" dirty="0"/>
              <a:t>Operating profitability (OP)</a:t>
            </a:r>
          </a:p>
          <a:p>
            <a:pPr lvl="1"/>
            <a:r>
              <a:rPr lang="en-US" sz="1600" dirty="0"/>
              <a:t>Investment (Inv)</a:t>
            </a:r>
          </a:p>
          <a:p>
            <a:pPr lvl="1"/>
            <a:r>
              <a:rPr lang="en-US" sz="1600" dirty="0"/>
              <a:t>Market beta</a:t>
            </a:r>
          </a:p>
          <a:p>
            <a:pPr lvl="1"/>
            <a:r>
              <a:rPr lang="en-US" sz="1600" dirty="0"/>
              <a:t>Variance and/or residual variance</a:t>
            </a:r>
          </a:p>
          <a:p>
            <a:pPr marL="457200" lvl="1" indent="0">
              <a:buNone/>
            </a:pPr>
            <a:endParaRPr lang="en-US" sz="1600" dirty="0"/>
          </a:p>
          <a:p>
            <a:pPr lvl="1"/>
            <a:endParaRPr lang="en-US" sz="1600" dirty="0"/>
          </a:p>
          <a:p>
            <a:r>
              <a:rPr lang="en-US" sz="2000" dirty="0"/>
              <a:t>Download the following data:</a:t>
            </a:r>
          </a:p>
          <a:p>
            <a:pPr lvl="1"/>
            <a:r>
              <a:rPr lang="en-US" sz="1600" dirty="0"/>
              <a:t>The decile or quintile portfolio data for your strategy from Ken French’s website</a:t>
            </a:r>
          </a:p>
          <a:p>
            <a:pPr lvl="1"/>
            <a:r>
              <a:rPr lang="en-US" sz="1600" dirty="0"/>
              <a:t>The data Fama-French 3 factors</a:t>
            </a:r>
          </a:p>
          <a:p>
            <a:pPr lvl="1"/>
            <a:r>
              <a:rPr lang="en-US" sz="1600" dirty="0"/>
              <a:t>We will do all analysis with monthly data</a:t>
            </a:r>
          </a:p>
          <a:p>
            <a:pPr lvl="1"/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6FC7350-4CB5-4EE5-B57F-431B87D60413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0469858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42852"/>
            <a:ext cx="8991600" cy="439718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</a:rPr>
              <a:t>Performance Evaluation Exercise: Part 2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685800"/>
            <a:ext cx="8763000" cy="5791200"/>
          </a:xfrm>
        </p:spPr>
        <p:txBody>
          <a:bodyPr/>
          <a:lstStyle/>
          <a:p>
            <a:endParaRPr lang="en-US" sz="2800" dirty="0"/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For the portfolios in your strategy, and the corresponding long-short portfolio, evaluate each of the following: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US" sz="1600" dirty="0"/>
              <a:t>The average returns of each portfolio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US" sz="1600" dirty="0"/>
              <a:t>Run CAPM regressions for each portfolio (quintile or decile)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US" sz="1600" dirty="0"/>
              <a:t>Run FF 3-factor regressions for each portfolio (quintile or decile)</a:t>
            </a:r>
          </a:p>
          <a:p>
            <a:pPr marL="800100" lvl="1" indent="-342900">
              <a:buFont typeface="+mj-lt"/>
              <a:buAutoNum type="alphaLcPeriod"/>
            </a:pPr>
            <a:endParaRPr lang="en-US" sz="1600" dirty="0"/>
          </a:p>
          <a:p>
            <a:pPr marL="400050">
              <a:buFont typeface="+mj-lt"/>
              <a:buAutoNum type="arabicPeriod"/>
            </a:pPr>
            <a:r>
              <a:rPr lang="en-US" sz="2000" dirty="0"/>
              <a:t>Think about how you would format these results for presentation and how you would discuss these results.  What are the key results and what do they mean? </a:t>
            </a:r>
          </a:p>
          <a:p>
            <a:pPr marL="400050">
              <a:buFont typeface="+mj-lt"/>
              <a:buAutoNum type="arabicPeriod"/>
            </a:pPr>
            <a:endParaRPr lang="en-US" sz="2000" dirty="0"/>
          </a:p>
          <a:p>
            <a:pPr marL="400050"/>
            <a:r>
              <a:rPr lang="en-US" sz="2000" dirty="0"/>
              <a:t>Your projects require this kind of analysis, with portfolios that you form from scratch!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6FC7350-4CB5-4EE5-B57F-431B87D60413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6382150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Custom Design">
  <a:themeElements>
    <a:clrScheme name="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Eclipse">
  <a:themeElements>
    <a:clrScheme name="Eclipse 1">
      <a:dk1>
        <a:srgbClr val="000000"/>
      </a:dk1>
      <a:lt1>
        <a:srgbClr val="FFFFFF"/>
      </a:lt1>
      <a:dk2>
        <a:srgbClr val="006666"/>
      </a:dk2>
      <a:lt2>
        <a:srgbClr val="5F5F5F"/>
      </a:lt2>
      <a:accent1>
        <a:srgbClr val="33CCCC"/>
      </a:accent1>
      <a:accent2>
        <a:srgbClr val="99CCCC"/>
      </a:accent2>
      <a:accent3>
        <a:srgbClr val="FFFFFF"/>
      </a:accent3>
      <a:accent4>
        <a:srgbClr val="000000"/>
      </a:accent4>
      <a:accent5>
        <a:srgbClr val="ADE2E2"/>
      </a:accent5>
      <a:accent6>
        <a:srgbClr val="8AB9B9"/>
      </a:accent6>
      <a:hlink>
        <a:srgbClr val="006666"/>
      </a:hlink>
      <a:folHlink>
        <a:srgbClr val="B2B2B2"/>
      </a:folHlink>
    </a:clrScheme>
    <a:fontScheme name="Eclipse">
      <a:majorFont>
        <a:latin typeface="Arial"/>
        <a:ea typeface=""/>
        <a:cs typeface="Arial"/>
      </a:majorFont>
      <a:minorFont>
        <a:latin typeface="Verdana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clipse 1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33CCCC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AB9B9"/>
        </a:accent6>
        <a:hlink>
          <a:srgbClr val="0066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2">
        <a:dk1>
          <a:srgbClr val="000000"/>
        </a:dk1>
        <a:lt1>
          <a:srgbClr val="FFFFFF"/>
        </a:lt1>
        <a:dk2>
          <a:srgbClr val="333366"/>
        </a:dk2>
        <a:lt2>
          <a:srgbClr val="5F5F5F"/>
        </a:lt2>
        <a:accent1>
          <a:srgbClr val="CC99FF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E2CAFF"/>
        </a:accent5>
        <a:accent6>
          <a:srgbClr val="8AB9B9"/>
        </a:accent6>
        <a:hlink>
          <a:srgbClr val="666699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3">
        <a:dk1>
          <a:srgbClr val="000000"/>
        </a:dk1>
        <a:lt1>
          <a:srgbClr val="FFFFFF"/>
        </a:lt1>
        <a:dk2>
          <a:srgbClr val="0000CC"/>
        </a:dk2>
        <a:lt2>
          <a:srgbClr val="434343"/>
        </a:lt2>
        <a:accent1>
          <a:srgbClr val="99CC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E7B900"/>
        </a:accent6>
        <a:hlink>
          <a:srgbClr val="FF00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4">
        <a:dk1>
          <a:srgbClr val="000000"/>
        </a:dk1>
        <a:lt1>
          <a:srgbClr val="64AAAE"/>
        </a:lt1>
        <a:dk2>
          <a:srgbClr val="FFFFCC"/>
        </a:dk2>
        <a:lt2>
          <a:srgbClr val="5F5F5F"/>
        </a:lt2>
        <a:accent1>
          <a:srgbClr val="B4B1DB"/>
        </a:accent1>
        <a:accent2>
          <a:srgbClr val="61C1D7"/>
        </a:accent2>
        <a:accent3>
          <a:srgbClr val="B8D2D3"/>
        </a:accent3>
        <a:accent4>
          <a:srgbClr val="000000"/>
        </a:accent4>
        <a:accent5>
          <a:srgbClr val="D6D5EA"/>
        </a:accent5>
        <a:accent6>
          <a:srgbClr val="57AFC3"/>
        </a:accent6>
        <a:hlink>
          <a:srgbClr val="257177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5">
        <a:dk1>
          <a:srgbClr val="5F5F5F"/>
        </a:dk1>
        <a:lt1>
          <a:srgbClr val="F8F8F8"/>
        </a:lt1>
        <a:dk2>
          <a:srgbClr val="2A285A"/>
        </a:dk2>
        <a:lt2>
          <a:srgbClr val="FFFFFF"/>
        </a:lt2>
        <a:accent1>
          <a:srgbClr val="999966"/>
        </a:accent1>
        <a:accent2>
          <a:srgbClr val="8C8B9D"/>
        </a:accent2>
        <a:accent3>
          <a:srgbClr val="ACACB5"/>
        </a:accent3>
        <a:accent4>
          <a:srgbClr val="D4D4D4"/>
        </a:accent4>
        <a:accent5>
          <a:srgbClr val="CACAB8"/>
        </a:accent5>
        <a:accent6>
          <a:srgbClr val="7E7D8E"/>
        </a:accent6>
        <a:hlink>
          <a:srgbClr val="465174"/>
        </a:hlink>
        <a:folHlink>
          <a:srgbClr val="C0C0C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6">
        <a:dk1>
          <a:srgbClr val="434343"/>
        </a:dk1>
        <a:lt1>
          <a:srgbClr val="FFFFFF"/>
        </a:lt1>
        <a:dk2>
          <a:srgbClr val="360404"/>
        </a:dk2>
        <a:lt2>
          <a:srgbClr val="FFFFFF"/>
        </a:lt2>
        <a:accent1>
          <a:srgbClr val="669900"/>
        </a:accent1>
        <a:accent2>
          <a:srgbClr val="CC6600"/>
        </a:accent2>
        <a:accent3>
          <a:srgbClr val="AEAAAA"/>
        </a:accent3>
        <a:accent4>
          <a:srgbClr val="DADADA"/>
        </a:accent4>
        <a:accent5>
          <a:srgbClr val="B8CAAA"/>
        </a:accent5>
        <a:accent6>
          <a:srgbClr val="B95C00"/>
        </a:accent6>
        <a:hlink>
          <a:srgbClr val="CC33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7">
        <a:dk1>
          <a:srgbClr val="434343"/>
        </a:dk1>
        <a:lt1>
          <a:srgbClr val="FFFFFF"/>
        </a:lt1>
        <a:dk2>
          <a:srgbClr val="000000"/>
        </a:dk2>
        <a:lt2>
          <a:srgbClr val="8285FE"/>
        </a:lt2>
        <a:accent1>
          <a:srgbClr val="669900"/>
        </a:accent1>
        <a:accent2>
          <a:srgbClr val="9900FF"/>
        </a:accent2>
        <a:accent3>
          <a:srgbClr val="AAAAAA"/>
        </a:accent3>
        <a:accent4>
          <a:srgbClr val="DADADA"/>
        </a:accent4>
        <a:accent5>
          <a:srgbClr val="B8CAAA"/>
        </a:accent5>
        <a:accent6>
          <a:srgbClr val="8A00E7"/>
        </a:accent6>
        <a:hlink>
          <a:srgbClr val="6600CC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8">
        <a:dk1>
          <a:srgbClr val="434343"/>
        </a:dk1>
        <a:lt1>
          <a:srgbClr val="FFFFFF"/>
        </a:lt1>
        <a:dk2>
          <a:srgbClr val="000000"/>
        </a:dk2>
        <a:lt2>
          <a:srgbClr val="0066FF"/>
        </a:lt2>
        <a:accent1>
          <a:srgbClr val="339966"/>
        </a:accent1>
        <a:accent2>
          <a:srgbClr val="FFCC00"/>
        </a:accent2>
        <a:accent3>
          <a:srgbClr val="AAAAAA"/>
        </a:accent3>
        <a:accent4>
          <a:srgbClr val="DADADA"/>
        </a:accent4>
        <a:accent5>
          <a:srgbClr val="ADCAB8"/>
        </a:accent5>
        <a:accent6>
          <a:srgbClr val="E7B900"/>
        </a:accent6>
        <a:hlink>
          <a:srgbClr val="CC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9">
        <a:dk1>
          <a:srgbClr val="333300"/>
        </a:dk1>
        <a:lt1>
          <a:srgbClr val="FFFFFF"/>
        </a:lt1>
        <a:dk2>
          <a:srgbClr val="669900"/>
        </a:dk2>
        <a:lt2>
          <a:srgbClr val="FFFFCC"/>
        </a:lt2>
        <a:accent1>
          <a:srgbClr val="CCCC00"/>
        </a:accent1>
        <a:accent2>
          <a:srgbClr val="99CC00"/>
        </a:accent2>
        <a:accent3>
          <a:srgbClr val="B8CAAA"/>
        </a:accent3>
        <a:accent4>
          <a:srgbClr val="DADADA"/>
        </a:accent4>
        <a:accent5>
          <a:srgbClr val="E2E2AA"/>
        </a:accent5>
        <a:accent6>
          <a:srgbClr val="8AB900"/>
        </a:accent6>
        <a:hlink>
          <a:srgbClr val="336600"/>
        </a:hlink>
        <a:folHlink>
          <a:srgbClr val="FFFF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10">
        <a:dk1>
          <a:srgbClr val="333333"/>
        </a:dk1>
        <a:lt1>
          <a:srgbClr val="FFFFCC"/>
        </a:lt1>
        <a:dk2>
          <a:srgbClr val="660000"/>
        </a:dk2>
        <a:lt2>
          <a:srgbClr val="CCCCCC"/>
        </a:lt2>
        <a:accent1>
          <a:srgbClr val="FF6600"/>
        </a:accent1>
        <a:accent2>
          <a:srgbClr val="CC3300"/>
        </a:accent2>
        <a:accent3>
          <a:srgbClr val="B8AAAA"/>
        </a:accent3>
        <a:accent4>
          <a:srgbClr val="DADAAE"/>
        </a:accent4>
        <a:accent5>
          <a:srgbClr val="FFB8AA"/>
        </a:accent5>
        <a:accent6>
          <a:srgbClr val="B92D00"/>
        </a:accent6>
        <a:hlink>
          <a:srgbClr val="9900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_Eclipse">
  <a:themeElements>
    <a:clrScheme name="Eclipse 1">
      <a:dk1>
        <a:srgbClr val="000000"/>
      </a:dk1>
      <a:lt1>
        <a:srgbClr val="FFFFFF"/>
      </a:lt1>
      <a:dk2>
        <a:srgbClr val="006666"/>
      </a:dk2>
      <a:lt2>
        <a:srgbClr val="5F5F5F"/>
      </a:lt2>
      <a:accent1>
        <a:srgbClr val="33CCCC"/>
      </a:accent1>
      <a:accent2>
        <a:srgbClr val="99CCCC"/>
      </a:accent2>
      <a:accent3>
        <a:srgbClr val="FFFFFF"/>
      </a:accent3>
      <a:accent4>
        <a:srgbClr val="000000"/>
      </a:accent4>
      <a:accent5>
        <a:srgbClr val="ADE2E2"/>
      </a:accent5>
      <a:accent6>
        <a:srgbClr val="8AB9B9"/>
      </a:accent6>
      <a:hlink>
        <a:srgbClr val="006666"/>
      </a:hlink>
      <a:folHlink>
        <a:srgbClr val="B2B2B2"/>
      </a:folHlink>
    </a:clrScheme>
    <a:fontScheme name="Eclipse">
      <a:majorFont>
        <a:latin typeface="Arial"/>
        <a:ea typeface=""/>
        <a:cs typeface="Arial"/>
      </a:majorFont>
      <a:minorFont>
        <a:latin typeface="Verdana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clipse 1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33CCCC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AB9B9"/>
        </a:accent6>
        <a:hlink>
          <a:srgbClr val="0066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2">
        <a:dk1>
          <a:srgbClr val="000000"/>
        </a:dk1>
        <a:lt1>
          <a:srgbClr val="FFFFFF"/>
        </a:lt1>
        <a:dk2>
          <a:srgbClr val="333366"/>
        </a:dk2>
        <a:lt2>
          <a:srgbClr val="5F5F5F"/>
        </a:lt2>
        <a:accent1>
          <a:srgbClr val="CC99FF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E2CAFF"/>
        </a:accent5>
        <a:accent6>
          <a:srgbClr val="8AB9B9"/>
        </a:accent6>
        <a:hlink>
          <a:srgbClr val="666699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3">
        <a:dk1>
          <a:srgbClr val="000000"/>
        </a:dk1>
        <a:lt1>
          <a:srgbClr val="FFFFFF"/>
        </a:lt1>
        <a:dk2>
          <a:srgbClr val="0000CC"/>
        </a:dk2>
        <a:lt2>
          <a:srgbClr val="434343"/>
        </a:lt2>
        <a:accent1>
          <a:srgbClr val="99CC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E7B900"/>
        </a:accent6>
        <a:hlink>
          <a:srgbClr val="FF00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4">
        <a:dk1>
          <a:srgbClr val="000000"/>
        </a:dk1>
        <a:lt1>
          <a:srgbClr val="64AAAE"/>
        </a:lt1>
        <a:dk2>
          <a:srgbClr val="FFFFCC"/>
        </a:dk2>
        <a:lt2>
          <a:srgbClr val="5F5F5F"/>
        </a:lt2>
        <a:accent1>
          <a:srgbClr val="B4B1DB"/>
        </a:accent1>
        <a:accent2>
          <a:srgbClr val="61C1D7"/>
        </a:accent2>
        <a:accent3>
          <a:srgbClr val="B8D2D3"/>
        </a:accent3>
        <a:accent4>
          <a:srgbClr val="000000"/>
        </a:accent4>
        <a:accent5>
          <a:srgbClr val="D6D5EA"/>
        </a:accent5>
        <a:accent6>
          <a:srgbClr val="57AFC3"/>
        </a:accent6>
        <a:hlink>
          <a:srgbClr val="257177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5">
        <a:dk1>
          <a:srgbClr val="5F5F5F"/>
        </a:dk1>
        <a:lt1>
          <a:srgbClr val="F8F8F8"/>
        </a:lt1>
        <a:dk2>
          <a:srgbClr val="2A285A"/>
        </a:dk2>
        <a:lt2>
          <a:srgbClr val="FFFFFF"/>
        </a:lt2>
        <a:accent1>
          <a:srgbClr val="999966"/>
        </a:accent1>
        <a:accent2>
          <a:srgbClr val="8C8B9D"/>
        </a:accent2>
        <a:accent3>
          <a:srgbClr val="ACACB5"/>
        </a:accent3>
        <a:accent4>
          <a:srgbClr val="D4D4D4"/>
        </a:accent4>
        <a:accent5>
          <a:srgbClr val="CACAB8"/>
        </a:accent5>
        <a:accent6>
          <a:srgbClr val="7E7D8E"/>
        </a:accent6>
        <a:hlink>
          <a:srgbClr val="465174"/>
        </a:hlink>
        <a:folHlink>
          <a:srgbClr val="C0C0C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6">
        <a:dk1>
          <a:srgbClr val="434343"/>
        </a:dk1>
        <a:lt1>
          <a:srgbClr val="FFFFFF"/>
        </a:lt1>
        <a:dk2>
          <a:srgbClr val="360404"/>
        </a:dk2>
        <a:lt2>
          <a:srgbClr val="FFFFFF"/>
        </a:lt2>
        <a:accent1>
          <a:srgbClr val="669900"/>
        </a:accent1>
        <a:accent2>
          <a:srgbClr val="CC6600"/>
        </a:accent2>
        <a:accent3>
          <a:srgbClr val="AEAAAA"/>
        </a:accent3>
        <a:accent4>
          <a:srgbClr val="DADADA"/>
        </a:accent4>
        <a:accent5>
          <a:srgbClr val="B8CAAA"/>
        </a:accent5>
        <a:accent6>
          <a:srgbClr val="B95C00"/>
        </a:accent6>
        <a:hlink>
          <a:srgbClr val="CC33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7">
        <a:dk1>
          <a:srgbClr val="434343"/>
        </a:dk1>
        <a:lt1>
          <a:srgbClr val="FFFFFF"/>
        </a:lt1>
        <a:dk2>
          <a:srgbClr val="000000"/>
        </a:dk2>
        <a:lt2>
          <a:srgbClr val="8285FE"/>
        </a:lt2>
        <a:accent1>
          <a:srgbClr val="669900"/>
        </a:accent1>
        <a:accent2>
          <a:srgbClr val="9900FF"/>
        </a:accent2>
        <a:accent3>
          <a:srgbClr val="AAAAAA"/>
        </a:accent3>
        <a:accent4>
          <a:srgbClr val="DADADA"/>
        </a:accent4>
        <a:accent5>
          <a:srgbClr val="B8CAAA"/>
        </a:accent5>
        <a:accent6>
          <a:srgbClr val="8A00E7"/>
        </a:accent6>
        <a:hlink>
          <a:srgbClr val="6600CC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8">
        <a:dk1>
          <a:srgbClr val="434343"/>
        </a:dk1>
        <a:lt1>
          <a:srgbClr val="FFFFFF"/>
        </a:lt1>
        <a:dk2>
          <a:srgbClr val="000000"/>
        </a:dk2>
        <a:lt2>
          <a:srgbClr val="0066FF"/>
        </a:lt2>
        <a:accent1>
          <a:srgbClr val="339966"/>
        </a:accent1>
        <a:accent2>
          <a:srgbClr val="FFCC00"/>
        </a:accent2>
        <a:accent3>
          <a:srgbClr val="AAAAAA"/>
        </a:accent3>
        <a:accent4>
          <a:srgbClr val="DADADA"/>
        </a:accent4>
        <a:accent5>
          <a:srgbClr val="ADCAB8"/>
        </a:accent5>
        <a:accent6>
          <a:srgbClr val="E7B900"/>
        </a:accent6>
        <a:hlink>
          <a:srgbClr val="CC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9">
        <a:dk1>
          <a:srgbClr val="333300"/>
        </a:dk1>
        <a:lt1>
          <a:srgbClr val="FFFFFF"/>
        </a:lt1>
        <a:dk2>
          <a:srgbClr val="669900"/>
        </a:dk2>
        <a:lt2>
          <a:srgbClr val="FFFFCC"/>
        </a:lt2>
        <a:accent1>
          <a:srgbClr val="CCCC00"/>
        </a:accent1>
        <a:accent2>
          <a:srgbClr val="99CC00"/>
        </a:accent2>
        <a:accent3>
          <a:srgbClr val="B8CAAA"/>
        </a:accent3>
        <a:accent4>
          <a:srgbClr val="DADADA"/>
        </a:accent4>
        <a:accent5>
          <a:srgbClr val="E2E2AA"/>
        </a:accent5>
        <a:accent6>
          <a:srgbClr val="8AB900"/>
        </a:accent6>
        <a:hlink>
          <a:srgbClr val="336600"/>
        </a:hlink>
        <a:folHlink>
          <a:srgbClr val="FFFF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10">
        <a:dk1>
          <a:srgbClr val="333333"/>
        </a:dk1>
        <a:lt1>
          <a:srgbClr val="FFFFCC"/>
        </a:lt1>
        <a:dk2>
          <a:srgbClr val="660000"/>
        </a:dk2>
        <a:lt2>
          <a:srgbClr val="CCCCCC"/>
        </a:lt2>
        <a:accent1>
          <a:srgbClr val="FF6600"/>
        </a:accent1>
        <a:accent2>
          <a:srgbClr val="CC3300"/>
        </a:accent2>
        <a:accent3>
          <a:srgbClr val="B8AAAA"/>
        </a:accent3>
        <a:accent4>
          <a:srgbClr val="DADAAE"/>
        </a:accent4>
        <a:accent5>
          <a:srgbClr val="FFB8AA"/>
        </a:accent5>
        <a:accent6>
          <a:srgbClr val="B92D00"/>
        </a:accent6>
        <a:hlink>
          <a:srgbClr val="9900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1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342900" marR="0" indent="-342900" algn="ctr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tabLst/>
          <a:defRPr kumimoji="0" lang="zh-CN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342900" marR="0" indent="-342900" algn="ctr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tabLst/>
          <a:defRPr kumimoji="0" lang="zh-CN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3420</TotalTime>
  <Words>944</Words>
  <Application>Microsoft Office PowerPoint</Application>
  <PresentationFormat>On-screen Show (4:3)</PresentationFormat>
  <Paragraphs>181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14</vt:i4>
      </vt:variant>
    </vt:vector>
  </HeadingPairs>
  <TitlesOfParts>
    <vt:vector size="25" baseType="lpstr">
      <vt:lpstr>宋体</vt:lpstr>
      <vt:lpstr>Arial</vt:lpstr>
      <vt:lpstr>Calibri</vt:lpstr>
      <vt:lpstr>Times New Roman</vt:lpstr>
      <vt:lpstr>Verdana</vt:lpstr>
      <vt:lpstr>Wingdings</vt:lpstr>
      <vt:lpstr>Custom Design</vt:lpstr>
      <vt:lpstr>Eclipse</vt:lpstr>
      <vt:lpstr>Office Theme</vt:lpstr>
      <vt:lpstr>1_Eclipse</vt:lpstr>
      <vt:lpstr>1_默认设计模板</vt:lpstr>
      <vt:lpstr>Class 7: CAPM, Factor Models, and Cross-Sectional Trading Strategies</vt:lpstr>
      <vt:lpstr>Course Update</vt:lpstr>
      <vt:lpstr>Project Proposals</vt:lpstr>
      <vt:lpstr>Outline for Today</vt:lpstr>
      <vt:lpstr>What is a Cross-Sectional Trading Strategy?</vt:lpstr>
      <vt:lpstr>Class Example</vt:lpstr>
      <vt:lpstr>Return to Concepts</vt:lpstr>
      <vt:lpstr>Why Portfolios?</vt:lpstr>
      <vt:lpstr>Group Final Project</vt:lpstr>
      <vt:lpstr>Basic Project Idea</vt:lpstr>
      <vt:lpstr>Comments</vt:lpstr>
      <vt:lpstr>Comments</vt:lpstr>
      <vt:lpstr>Performance Evaluation Exercise  (practice, for next class)</vt:lpstr>
      <vt:lpstr>Performance Evaluation Exercise: Part 2</vt:lpstr>
    </vt:vector>
  </TitlesOfParts>
  <Company>Commerce UBC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Adlai Fisher</dc:creator>
  <cp:lastModifiedBy>Fisher, Adlai</cp:lastModifiedBy>
  <cp:revision>224</cp:revision>
  <cp:lastPrinted>2021-06-17T19:34:15Z</cp:lastPrinted>
  <dcterms:created xsi:type="dcterms:W3CDTF">2003-01-06T15:33:27Z</dcterms:created>
  <dcterms:modified xsi:type="dcterms:W3CDTF">2025-03-18T14:04:01Z</dcterms:modified>
</cp:coreProperties>
</file>