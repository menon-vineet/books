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2" r:id="rId2"/>
    <p:sldMasterId id="2147483783" r:id="rId3"/>
  </p:sldMasterIdLst>
  <p:notesMasterIdLst>
    <p:notesMasterId r:id="rId49"/>
  </p:notesMasterIdLst>
  <p:handoutMasterIdLst>
    <p:handoutMasterId r:id="rId50"/>
  </p:handoutMasterIdLst>
  <p:sldIdLst>
    <p:sldId id="360" r:id="rId4"/>
    <p:sldId id="478" r:id="rId5"/>
    <p:sldId id="479" r:id="rId6"/>
    <p:sldId id="424" r:id="rId7"/>
    <p:sldId id="425" r:id="rId8"/>
    <p:sldId id="426" r:id="rId9"/>
    <p:sldId id="473" r:id="rId10"/>
    <p:sldId id="458" r:id="rId11"/>
    <p:sldId id="459" r:id="rId12"/>
    <p:sldId id="464" r:id="rId13"/>
    <p:sldId id="480" r:id="rId14"/>
    <p:sldId id="430" r:id="rId15"/>
    <p:sldId id="431" r:id="rId16"/>
    <p:sldId id="432" r:id="rId17"/>
    <p:sldId id="433" r:id="rId18"/>
    <p:sldId id="434" r:id="rId19"/>
    <p:sldId id="436" r:id="rId20"/>
    <p:sldId id="475" r:id="rId21"/>
    <p:sldId id="437" r:id="rId22"/>
    <p:sldId id="438" r:id="rId23"/>
    <p:sldId id="439" r:id="rId24"/>
    <p:sldId id="440" r:id="rId25"/>
    <p:sldId id="441" r:id="rId26"/>
    <p:sldId id="476" r:id="rId27"/>
    <p:sldId id="477" r:id="rId28"/>
    <p:sldId id="481" r:id="rId29"/>
    <p:sldId id="482" r:id="rId30"/>
    <p:sldId id="483" r:id="rId31"/>
    <p:sldId id="484" r:id="rId32"/>
    <p:sldId id="485" r:id="rId33"/>
    <p:sldId id="486" r:id="rId34"/>
    <p:sldId id="487" r:id="rId35"/>
    <p:sldId id="488" r:id="rId36"/>
    <p:sldId id="489" r:id="rId37"/>
    <p:sldId id="490" r:id="rId38"/>
    <p:sldId id="447" r:id="rId39"/>
    <p:sldId id="448" r:id="rId40"/>
    <p:sldId id="449" r:id="rId41"/>
    <p:sldId id="450" r:id="rId42"/>
    <p:sldId id="451" r:id="rId43"/>
    <p:sldId id="452" r:id="rId44"/>
    <p:sldId id="453" r:id="rId45"/>
    <p:sldId id="454" r:id="rId46"/>
    <p:sldId id="455" r:id="rId47"/>
    <p:sldId id="456" r:id="rId48"/>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34" autoAdjust="0"/>
  </p:normalViewPr>
  <p:slideViewPr>
    <p:cSldViewPr>
      <p:cViewPr varScale="1">
        <p:scale>
          <a:sx n="60" d="100"/>
          <a:sy n="60" d="100"/>
        </p:scale>
        <p:origin x="1464" y="42"/>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2341"/>
    </p:cViewPr>
  </p:sorterViewPr>
  <p:notesViewPr>
    <p:cSldViewPr>
      <p:cViewPr varScale="1">
        <p:scale>
          <a:sx n="36" d="100"/>
          <a:sy n="36" d="100"/>
        </p:scale>
        <p:origin x="-1476" y="-8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5357806785484375E-2"/>
          <c:y val="4.1719321015061997E-2"/>
          <c:w val="0.84722919907104099"/>
          <c:h val="0.8354848710154561"/>
        </c:manualLayout>
      </c:layout>
      <c:scatterChart>
        <c:scatterStyle val="smoothMarker"/>
        <c:varyColors val="0"/>
        <c:ser>
          <c:idx val="0"/>
          <c:order val="0"/>
          <c:xVal>
            <c:numRef>
              <c:f>'2-asset'!$D$10:$D$20</c:f>
              <c:numCache>
                <c:formatCode>General</c:formatCode>
                <c:ptCount val="11"/>
                <c:pt idx="0">
                  <c:v>0.1</c:v>
                </c:pt>
                <c:pt idx="1">
                  <c:v>9.5577193932443946E-2</c:v>
                </c:pt>
                <c:pt idx="2">
                  <c:v>9.3487967140161957E-2</c:v>
                </c:pt>
                <c:pt idx="3">
                  <c:v>9.3888231424390997E-2</c:v>
                </c:pt>
                <c:pt idx="4">
                  <c:v>9.6747092979582602E-2</c:v>
                </c:pt>
                <c:pt idx="5">
                  <c:v>0.10185774393731682</c:v>
                </c:pt>
                <c:pt idx="6">
                  <c:v>0.10890362712049585</c:v>
                </c:pt>
                <c:pt idx="7">
                  <c:v>0.11753722814495839</c:v>
                </c:pt>
                <c:pt idx="8">
                  <c:v>0.12743625857659191</c:v>
                </c:pt>
                <c:pt idx="9">
                  <c:v>0.13832931721077782</c:v>
                </c:pt>
                <c:pt idx="10">
                  <c:v>0.15</c:v>
                </c:pt>
              </c:numCache>
            </c:numRef>
          </c:xVal>
          <c:yVal>
            <c:numRef>
              <c:f>'2-asset'!$C$10:$C$20</c:f>
              <c:numCache>
                <c:formatCode>General</c:formatCode>
                <c:ptCount val="11"/>
                <c:pt idx="0">
                  <c:v>0.04</c:v>
                </c:pt>
                <c:pt idx="1">
                  <c:v>4.4000000000000004E-2</c:v>
                </c:pt>
                <c:pt idx="2">
                  <c:v>4.8000000000000001E-2</c:v>
                </c:pt>
                <c:pt idx="3">
                  <c:v>5.2000000000000005E-2</c:v>
                </c:pt>
                <c:pt idx="4">
                  <c:v>5.6000000000000001E-2</c:v>
                </c:pt>
                <c:pt idx="5">
                  <c:v>0.06</c:v>
                </c:pt>
                <c:pt idx="6">
                  <c:v>6.4000000000000001E-2</c:v>
                </c:pt>
                <c:pt idx="7">
                  <c:v>6.7999999999999991E-2</c:v>
                </c:pt>
                <c:pt idx="8">
                  <c:v>7.2000000000000008E-2</c:v>
                </c:pt>
                <c:pt idx="9">
                  <c:v>7.5999999999999998E-2</c:v>
                </c:pt>
                <c:pt idx="10">
                  <c:v>7.9999999999999988E-2</c:v>
                </c:pt>
              </c:numCache>
            </c:numRef>
          </c:yVal>
          <c:smooth val="1"/>
          <c:extLst>
            <c:ext xmlns:c16="http://schemas.microsoft.com/office/drawing/2014/chart" uri="{C3380CC4-5D6E-409C-BE32-E72D297353CC}">
              <c16:uniqueId val="{00000000-2819-4F7F-8A61-93380F9DC314}"/>
            </c:ext>
          </c:extLst>
        </c:ser>
        <c:dLbls>
          <c:showLegendKey val="0"/>
          <c:showVal val="0"/>
          <c:showCatName val="0"/>
          <c:showSerName val="0"/>
          <c:showPercent val="0"/>
          <c:showBubbleSize val="0"/>
        </c:dLbls>
        <c:axId val="74022272"/>
        <c:axId val="80969728"/>
      </c:scatterChart>
      <c:valAx>
        <c:axId val="74022272"/>
        <c:scaling>
          <c:orientation val="minMax"/>
        </c:scaling>
        <c:delete val="0"/>
        <c:axPos val="b"/>
        <c:numFmt formatCode="General" sourceLinked="1"/>
        <c:majorTickMark val="out"/>
        <c:minorTickMark val="none"/>
        <c:tickLblPos val="nextTo"/>
        <c:txPr>
          <a:bodyPr rot="0" vert="horz"/>
          <a:lstStyle/>
          <a:p>
            <a:pPr>
              <a:defRPr sz="1600" b="0" i="0" u="none" strike="noStrike" baseline="0">
                <a:solidFill>
                  <a:srgbClr val="000000"/>
                </a:solidFill>
                <a:latin typeface="Calibri"/>
                <a:ea typeface="Calibri"/>
                <a:cs typeface="Calibri"/>
              </a:defRPr>
            </a:pPr>
            <a:endParaRPr lang="en-US"/>
          </a:p>
        </c:txPr>
        <c:crossAx val="80969728"/>
        <c:crosses val="autoZero"/>
        <c:crossBetween val="midCat"/>
      </c:valAx>
      <c:valAx>
        <c:axId val="80969728"/>
        <c:scaling>
          <c:orientation val="minMax"/>
        </c:scaling>
        <c:delete val="0"/>
        <c:axPos val="l"/>
        <c:majorGridlines/>
        <c:numFmt formatCode="General" sourceLinked="1"/>
        <c:majorTickMark val="out"/>
        <c:minorTickMark val="none"/>
        <c:tickLblPos val="nextTo"/>
        <c:txPr>
          <a:bodyPr/>
          <a:lstStyle/>
          <a:p>
            <a:pPr>
              <a:defRPr sz="1600" baseline="0"/>
            </a:pPr>
            <a:endParaRPr lang="en-US"/>
          </a:p>
        </c:txPr>
        <c:crossAx val="74022272"/>
        <c:crosses val="autoZero"/>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5357806785484375E-2"/>
          <c:y val="4.1719321015061997E-2"/>
          <c:w val="0.84722919907104099"/>
          <c:h val="0.8354848710154561"/>
        </c:manualLayout>
      </c:layout>
      <c:scatterChart>
        <c:scatterStyle val="smoothMarker"/>
        <c:varyColors val="0"/>
        <c:ser>
          <c:idx val="0"/>
          <c:order val="0"/>
          <c:xVal>
            <c:numRef>
              <c:f>'2-asset'!$D$10:$D$20</c:f>
              <c:numCache>
                <c:formatCode>General</c:formatCode>
                <c:ptCount val="11"/>
                <c:pt idx="0">
                  <c:v>0.1</c:v>
                </c:pt>
                <c:pt idx="1">
                  <c:v>9.5577193932443946E-2</c:v>
                </c:pt>
                <c:pt idx="2">
                  <c:v>9.3487967140161957E-2</c:v>
                </c:pt>
                <c:pt idx="3">
                  <c:v>9.3888231424390997E-2</c:v>
                </c:pt>
                <c:pt idx="4">
                  <c:v>9.6747092979582602E-2</c:v>
                </c:pt>
                <c:pt idx="5">
                  <c:v>0.10185774393731682</c:v>
                </c:pt>
                <c:pt idx="6">
                  <c:v>0.10890362712049585</c:v>
                </c:pt>
                <c:pt idx="7">
                  <c:v>0.11753722814495839</c:v>
                </c:pt>
                <c:pt idx="8">
                  <c:v>0.12743625857659191</c:v>
                </c:pt>
                <c:pt idx="9">
                  <c:v>0.13832931721077782</c:v>
                </c:pt>
                <c:pt idx="10">
                  <c:v>0.15</c:v>
                </c:pt>
              </c:numCache>
            </c:numRef>
          </c:xVal>
          <c:yVal>
            <c:numRef>
              <c:f>'2-asset'!$C$10:$C$20</c:f>
              <c:numCache>
                <c:formatCode>General</c:formatCode>
                <c:ptCount val="11"/>
                <c:pt idx="0">
                  <c:v>0.04</c:v>
                </c:pt>
                <c:pt idx="1">
                  <c:v>4.4000000000000004E-2</c:v>
                </c:pt>
                <c:pt idx="2">
                  <c:v>4.8000000000000001E-2</c:v>
                </c:pt>
                <c:pt idx="3">
                  <c:v>5.2000000000000005E-2</c:v>
                </c:pt>
                <c:pt idx="4">
                  <c:v>5.6000000000000001E-2</c:v>
                </c:pt>
                <c:pt idx="5">
                  <c:v>0.06</c:v>
                </c:pt>
                <c:pt idx="6">
                  <c:v>6.4000000000000001E-2</c:v>
                </c:pt>
                <c:pt idx="7">
                  <c:v>6.7999999999999991E-2</c:v>
                </c:pt>
                <c:pt idx="8">
                  <c:v>7.2000000000000008E-2</c:v>
                </c:pt>
                <c:pt idx="9">
                  <c:v>7.5999999999999998E-2</c:v>
                </c:pt>
                <c:pt idx="10">
                  <c:v>7.9999999999999988E-2</c:v>
                </c:pt>
              </c:numCache>
            </c:numRef>
          </c:yVal>
          <c:smooth val="1"/>
          <c:extLst>
            <c:ext xmlns:c16="http://schemas.microsoft.com/office/drawing/2014/chart" uri="{C3380CC4-5D6E-409C-BE32-E72D297353CC}">
              <c16:uniqueId val="{00000000-2819-4F7F-8A61-93380F9DC314}"/>
            </c:ext>
          </c:extLst>
        </c:ser>
        <c:dLbls>
          <c:showLegendKey val="0"/>
          <c:showVal val="0"/>
          <c:showCatName val="0"/>
          <c:showSerName val="0"/>
          <c:showPercent val="0"/>
          <c:showBubbleSize val="0"/>
        </c:dLbls>
        <c:axId val="74022272"/>
        <c:axId val="80969728"/>
      </c:scatterChart>
      <c:valAx>
        <c:axId val="74022272"/>
        <c:scaling>
          <c:orientation val="minMax"/>
        </c:scaling>
        <c:delete val="0"/>
        <c:axPos val="b"/>
        <c:numFmt formatCode="General" sourceLinked="1"/>
        <c:majorTickMark val="out"/>
        <c:minorTickMark val="none"/>
        <c:tickLblPos val="nextTo"/>
        <c:txPr>
          <a:bodyPr rot="0" vert="horz"/>
          <a:lstStyle/>
          <a:p>
            <a:pPr>
              <a:defRPr sz="1600" b="0" i="0" u="none" strike="noStrike" baseline="0">
                <a:solidFill>
                  <a:srgbClr val="000000"/>
                </a:solidFill>
                <a:latin typeface="Calibri"/>
                <a:ea typeface="Calibri"/>
                <a:cs typeface="Calibri"/>
              </a:defRPr>
            </a:pPr>
            <a:endParaRPr lang="en-US"/>
          </a:p>
        </c:txPr>
        <c:crossAx val="80969728"/>
        <c:crosses val="autoZero"/>
        <c:crossBetween val="midCat"/>
      </c:valAx>
      <c:valAx>
        <c:axId val="80969728"/>
        <c:scaling>
          <c:orientation val="minMax"/>
        </c:scaling>
        <c:delete val="0"/>
        <c:axPos val="l"/>
        <c:majorGridlines/>
        <c:numFmt formatCode="General" sourceLinked="1"/>
        <c:majorTickMark val="out"/>
        <c:minorTickMark val="none"/>
        <c:tickLblPos val="nextTo"/>
        <c:txPr>
          <a:bodyPr/>
          <a:lstStyle/>
          <a:p>
            <a:pPr>
              <a:defRPr sz="1600" baseline="0"/>
            </a:pPr>
            <a:endParaRPr lang="en-US"/>
          </a:p>
        </c:txPr>
        <c:crossAx val="74022272"/>
        <c:crosses val="autoZero"/>
        <c:crossBetween val="midCat"/>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p:cNvSpPr>
            <a:spLocks noGrp="1" noChangeArrowheads="1"/>
          </p:cNvSpPr>
          <p:nvPr>
            <p:ph type="dt" sz="quarter"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59396" name="Rectangle 4"/>
          <p:cNvSpPr>
            <a:spLocks noGrp="1" noChangeArrowheads="1"/>
          </p:cNvSpPr>
          <p:nvPr>
            <p:ph type="ftr" sz="quarter" idx="2"/>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9397" name="Rectangle 5"/>
          <p:cNvSpPr>
            <a:spLocks noGrp="1" noChangeArrowheads="1"/>
          </p:cNvSpPr>
          <p:nvPr>
            <p:ph type="sldNum" sz="quarter" idx="3"/>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0A4C62E0-18C7-4D23-B410-4E9B29B27715}" type="slidenum">
              <a:rPr lang="en-US"/>
              <a:pPr>
                <a:defRPr/>
              </a:pPr>
              <a:t>‹#›</a:t>
            </a:fld>
            <a:endParaRPr lang="en-US" dirty="0"/>
          </a:p>
        </p:txBody>
      </p:sp>
    </p:spTree>
    <p:extLst>
      <p:ext uri="{BB962C8B-B14F-4D97-AF65-F5344CB8AC3E}">
        <p14:creationId xmlns:p14="http://schemas.microsoft.com/office/powerpoint/2010/main" val="3124226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71684"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2310" y="4421823"/>
            <a:ext cx="5618480"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75AD670F-EEE4-4643-B99A-F7C5550EF606}" type="slidenum">
              <a:rPr lang="en-US"/>
              <a:pPr>
                <a:defRPr/>
              </a:pPr>
              <a:t>‹#›</a:t>
            </a:fld>
            <a:endParaRPr lang="en-US" dirty="0"/>
          </a:p>
        </p:txBody>
      </p:sp>
    </p:spTree>
    <p:extLst>
      <p:ext uri="{BB962C8B-B14F-4D97-AF65-F5344CB8AC3E}">
        <p14:creationId xmlns:p14="http://schemas.microsoft.com/office/powerpoint/2010/main" val="30163161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58255" indent="-291636" eaLnBrk="0" hangingPunct="0">
              <a:defRPr>
                <a:solidFill>
                  <a:schemeClr val="tx1"/>
                </a:solidFill>
                <a:latin typeface="Times New Roman" pitchFamily="18" charset="0"/>
              </a:defRPr>
            </a:lvl2pPr>
            <a:lvl3pPr marL="1166546" indent="-233309" eaLnBrk="0" hangingPunct="0">
              <a:defRPr>
                <a:solidFill>
                  <a:schemeClr val="tx1"/>
                </a:solidFill>
                <a:latin typeface="Times New Roman" pitchFamily="18" charset="0"/>
              </a:defRPr>
            </a:lvl3pPr>
            <a:lvl4pPr marL="1633164" indent="-233309" eaLnBrk="0" hangingPunct="0">
              <a:defRPr>
                <a:solidFill>
                  <a:schemeClr val="tx1"/>
                </a:solidFill>
                <a:latin typeface="Times New Roman" pitchFamily="18" charset="0"/>
              </a:defRPr>
            </a:lvl4pPr>
            <a:lvl5pPr marL="2099782" indent="-233309" eaLnBrk="0" hangingPunct="0">
              <a:defRPr>
                <a:solidFill>
                  <a:schemeClr val="tx1"/>
                </a:solidFill>
                <a:latin typeface="Times New Roman" pitchFamily="18" charset="0"/>
              </a:defRPr>
            </a:lvl5pPr>
            <a:lvl6pPr marL="2566401" indent="-233309" eaLnBrk="0" fontAlgn="base" hangingPunct="0">
              <a:spcBef>
                <a:spcPct val="0"/>
              </a:spcBef>
              <a:spcAft>
                <a:spcPct val="0"/>
              </a:spcAft>
              <a:defRPr>
                <a:solidFill>
                  <a:schemeClr val="tx1"/>
                </a:solidFill>
                <a:latin typeface="Times New Roman" pitchFamily="18" charset="0"/>
              </a:defRPr>
            </a:lvl6pPr>
            <a:lvl7pPr marL="3033019" indent="-233309" eaLnBrk="0" fontAlgn="base" hangingPunct="0">
              <a:spcBef>
                <a:spcPct val="0"/>
              </a:spcBef>
              <a:spcAft>
                <a:spcPct val="0"/>
              </a:spcAft>
              <a:defRPr>
                <a:solidFill>
                  <a:schemeClr val="tx1"/>
                </a:solidFill>
                <a:latin typeface="Times New Roman" pitchFamily="18" charset="0"/>
              </a:defRPr>
            </a:lvl7pPr>
            <a:lvl8pPr marL="3499637" indent="-233309" eaLnBrk="0" fontAlgn="base" hangingPunct="0">
              <a:spcBef>
                <a:spcPct val="0"/>
              </a:spcBef>
              <a:spcAft>
                <a:spcPct val="0"/>
              </a:spcAft>
              <a:defRPr>
                <a:solidFill>
                  <a:schemeClr val="tx1"/>
                </a:solidFill>
                <a:latin typeface="Times New Roman" pitchFamily="18" charset="0"/>
              </a:defRPr>
            </a:lvl8pPr>
            <a:lvl9pPr marL="3966256" indent="-233309" eaLnBrk="0" fontAlgn="base" hangingPunct="0">
              <a:spcBef>
                <a:spcPct val="0"/>
              </a:spcBef>
              <a:spcAft>
                <a:spcPct val="0"/>
              </a:spcAft>
              <a:defRPr>
                <a:solidFill>
                  <a:schemeClr val="tx1"/>
                </a:solidFill>
                <a:latin typeface="Times New Roman" pitchFamily="18" charset="0"/>
              </a:defRPr>
            </a:lvl9pPr>
          </a:lstStyle>
          <a:p>
            <a:pPr eaLnBrk="1" hangingPunct="1"/>
            <a:fld id="{4E187B77-373F-4821-8163-D6883C49DA06}" type="slidenum">
              <a:rPr lang="en-US" smtClean="0">
                <a:latin typeface="Arial" charset="0"/>
              </a:rPr>
              <a:pPr eaLnBrk="1" hangingPunct="1"/>
              <a:t>1</a:t>
            </a:fld>
            <a:endParaRPr lang="en-US">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4</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8763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5</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74253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812816B7-AE3F-47FA-8219-33E3B8AED3D2}" type="slidenum">
              <a:rPr lang="en-US">
                <a:solidFill>
                  <a:srgbClr val="000000"/>
                </a:solidFill>
                <a:latin typeface="Arial" charset="0"/>
              </a:rPr>
              <a:pPr defTabSz="933237" eaLnBrk="1" hangingPunct="1">
                <a:defRPr/>
              </a:pPr>
              <a:t>6</a:t>
            </a:fld>
            <a:endParaRPr lang="en-US">
              <a:solidFill>
                <a:srgbClr val="000000"/>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75010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5523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8</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857901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9</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85554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AD38A8B5-9276-4D43-96CB-9CC6C8958560}" type="slidenum">
              <a:rPr lang="en-US">
                <a:solidFill>
                  <a:srgbClr val="000000"/>
                </a:solidFill>
                <a:latin typeface="Arial" charset="0"/>
              </a:rPr>
              <a:pPr defTabSz="933237" eaLnBrk="1" hangingPunct="1">
                <a:defRPr/>
              </a:pPr>
              <a:t>10</a:t>
            </a:fld>
            <a:endParaRPr lang="en-US">
              <a:solidFill>
                <a:srgbClr val="000000"/>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530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06046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5BF3DD76-1C3F-41BC-89BC-15FBCFA1C911}" type="slidenum">
              <a:rPr lang="en-US">
                <a:solidFill>
                  <a:srgbClr val="000000"/>
                </a:solidFill>
                <a:latin typeface="Arial" charset="0"/>
              </a:rPr>
              <a:pPr defTabSz="933237" eaLnBrk="1" hangingPunct="1">
                <a:defRPr/>
              </a:pPr>
              <a:t>12</a:t>
            </a:fld>
            <a:endParaRPr lang="en-US">
              <a:solidFill>
                <a:srgbClr val="000000"/>
              </a:solidFill>
              <a:latin typeface="Arial"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7393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4672C66F-0EF6-4683-AE5E-E4F40C2B6646}" type="slidenum">
              <a:rPr lang="en-US">
                <a:solidFill>
                  <a:srgbClr val="000000"/>
                </a:solidFill>
                <a:latin typeface="Arial" charset="0"/>
              </a:rPr>
              <a:pPr defTabSz="933237" eaLnBrk="1" hangingPunct="1">
                <a:defRPr/>
              </a:pPr>
              <a:t>13</a:t>
            </a:fld>
            <a:endParaRPr lang="en-US">
              <a:solidFill>
                <a:srgbClr val="000000"/>
              </a:solidFill>
              <a:latin typeface="Arial"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24648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24F3B53D-C98B-4BF1-97B8-5E7D305A4BEB}" type="slidenum">
              <a:rPr lang="en-US">
                <a:solidFill>
                  <a:srgbClr val="000000"/>
                </a:solidFill>
                <a:latin typeface="Arial" charset="0"/>
              </a:rPr>
              <a:pPr defTabSz="933237" eaLnBrk="1" hangingPunct="1">
                <a:defRPr/>
              </a:pPr>
              <a:t>14</a:t>
            </a:fld>
            <a:endParaRPr lang="en-US">
              <a:solidFill>
                <a:srgbClr val="000000"/>
              </a:solidFill>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650937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69ABC51D-5761-4FC0-9797-7E3332498EB8}" type="slidenum">
              <a:rPr lang="en-US">
                <a:solidFill>
                  <a:srgbClr val="000000"/>
                </a:solidFill>
                <a:latin typeface="Arial" charset="0"/>
              </a:rPr>
              <a:pPr defTabSz="933237" eaLnBrk="1" hangingPunct="1">
                <a:defRPr/>
              </a:pPr>
              <a:t>15</a:t>
            </a:fld>
            <a:endParaRPr lang="en-US">
              <a:solidFill>
                <a:srgbClr val="000000"/>
              </a:solidFill>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83461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69ABC51D-5761-4FC0-9797-7E3332498EB8}" type="slidenum">
              <a:rPr lang="en-US">
                <a:solidFill>
                  <a:srgbClr val="000000"/>
                </a:solidFill>
                <a:latin typeface="Arial" charset="0"/>
              </a:rPr>
              <a:pPr defTabSz="933237" eaLnBrk="1" hangingPunct="1">
                <a:defRPr/>
              </a:pPr>
              <a:t>16</a:t>
            </a:fld>
            <a:endParaRPr lang="en-US">
              <a:solidFill>
                <a:srgbClr val="000000"/>
              </a:solidFill>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939059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19</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402101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20</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04945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21</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05500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22</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31300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23</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965816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086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55140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66932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AD38A8B5-9276-4D43-96CB-9CC6C895856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85417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367781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11795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451708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94036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035988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766028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85078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555040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defTabSz="933237" eaLnBrk="1" hangingPunct="1">
              <a:defRPr/>
            </a:pPr>
            <a:fld id="{795D7A2D-9085-4351-8FC5-83A3A719D7B0}" type="slidenum">
              <a:rPr lang="en-US">
                <a:solidFill>
                  <a:srgbClr val="000000"/>
                </a:solidFill>
                <a:latin typeface="Arial" charset="0"/>
              </a:rPr>
              <a:pPr defTabSz="933237" eaLnBrk="1" hangingPunct="1">
                <a:defRPr/>
              </a:pPr>
              <a:t>36</a:t>
            </a:fld>
            <a:endParaRPr lang="en-US">
              <a:solidFill>
                <a:srgbClr val="000000"/>
              </a:solidFill>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50127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00922C-A417-476D-9B3C-8B4196C7586B}" type="slidenum">
              <a:rPr lang="en-US"/>
              <a:pPr>
                <a:defRPr/>
              </a:pPr>
              <a:t>‹#›</a:t>
            </a:fld>
            <a:endParaRPr lang="en-US" dirty="0"/>
          </a:p>
        </p:txBody>
      </p:sp>
    </p:spTree>
    <p:extLst>
      <p:ext uri="{BB962C8B-B14F-4D97-AF65-F5344CB8AC3E}">
        <p14:creationId xmlns:p14="http://schemas.microsoft.com/office/powerpoint/2010/main" val="87119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05D9D9-EE7F-4543-AB66-3F1DFD9571CF}" type="slidenum">
              <a:rPr lang="en-US"/>
              <a:pPr>
                <a:defRPr/>
              </a:pPr>
              <a:t>‹#›</a:t>
            </a:fld>
            <a:endParaRPr lang="en-US" dirty="0"/>
          </a:p>
        </p:txBody>
      </p:sp>
    </p:spTree>
    <p:extLst>
      <p:ext uri="{BB962C8B-B14F-4D97-AF65-F5344CB8AC3E}">
        <p14:creationId xmlns:p14="http://schemas.microsoft.com/office/powerpoint/2010/main" val="192462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1EDA56-4DEF-4D65-BE6E-1572598CCA17}" type="slidenum">
              <a:rPr lang="en-US"/>
              <a:pPr>
                <a:defRPr/>
              </a:pPr>
              <a:t>‹#›</a:t>
            </a:fld>
            <a:endParaRPr lang="en-US" dirty="0"/>
          </a:p>
        </p:txBody>
      </p:sp>
    </p:spTree>
    <p:extLst>
      <p:ext uri="{BB962C8B-B14F-4D97-AF65-F5344CB8AC3E}">
        <p14:creationId xmlns:p14="http://schemas.microsoft.com/office/powerpoint/2010/main" val="199761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04B9AFE-E56C-49E8-A944-FCDC7E7BB63A}" type="slidenum">
              <a:rPr lang="en-US"/>
              <a:pPr>
                <a:defRPr/>
              </a:pPr>
              <a:t>‹#›</a:t>
            </a:fld>
            <a:endParaRPr lang="en-US" dirty="0"/>
          </a:p>
        </p:txBody>
      </p:sp>
    </p:spTree>
    <p:extLst>
      <p:ext uri="{BB962C8B-B14F-4D97-AF65-F5344CB8AC3E}">
        <p14:creationId xmlns:p14="http://schemas.microsoft.com/office/powerpoint/2010/main" val="263366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838A06-030F-4B24-A54A-A906CA3E1AA3}" type="slidenum">
              <a:rPr lang="en-US"/>
              <a:pPr>
                <a:defRPr/>
              </a:pPr>
              <a:t>‹#›</a:t>
            </a:fld>
            <a:endParaRPr lang="en-US" dirty="0"/>
          </a:p>
        </p:txBody>
      </p:sp>
    </p:spTree>
    <p:extLst>
      <p:ext uri="{BB962C8B-B14F-4D97-AF65-F5344CB8AC3E}">
        <p14:creationId xmlns:p14="http://schemas.microsoft.com/office/powerpoint/2010/main" val="1387358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9CDF1AF-B7E0-4B48-B1A4-13DEF0A055DE}" type="slidenum">
              <a:rPr lang="en-US"/>
              <a:pPr>
                <a:defRPr/>
              </a:pPr>
              <a:t>‹#›</a:t>
            </a:fld>
            <a:endParaRPr lang="en-US" dirty="0"/>
          </a:p>
        </p:txBody>
      </p:sp>
    </p:spTree>
    <p:extLst>
      <p:ext uri="{BB962C8B-B14F-4D97-AF65-F5344CB8AC3E}">
        <p14:creationId xmlns:p14="http://schemas.microsoft.com/office/powerpoint/2010/main" val="3187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F21908C-9AD0-4D26-BF73-D883910CB44E}" type="slidenum">
              <a:rPr lang="en-US"/>
              <a:pPr>
                <a:defRPr/>
              </a:pPr>
              <a:t>‹#›</a:t>
            </a:fld>
            <a:endParaRPr lang="en-US" dirty="0"/>
          </a:p>
        </p:txBody>
      </p:sp>
    </p:spTree>
    <p:extLst>
      <p:ext uri="{BB962C8B-B14F-4D97-AF65-F5344CB8AC3E}">
        <p14:creationId xmlns:p14="http://schemas.microsoft.com/office/powerpoint/2010/main" val="34763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A7DE90-684E-41A8-9571-6CF6F374268A}" type="slidenum">
              <a:rPr lang="en-US"/>
              <a:pPr>
                <a:defRPr/>
              </a:pPr>
              <a:t>‹#›</a:t>
            </a:fld>
            <a:endParaRPr lang="en-US" dirty="0"/>
          </a:p>
        </p:txBody>
      </p:sp>
    </p:spTree>
    <p:extLst>
      <p:ext uri="{BB962C8B-B14F-4D97-AF65-F5344CB8AC3E}">
        <p14:creationId xmlns:p14="http://schemas.microsoft.com/office/powerpoint/2010/main" val="997407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DFCB6DE-A44F-4C48-B01C-E1B18EC6157F}" type="slidenum">
              <a:rPr lang="en-US"/>
              <a:pPr>
                <a:defRPr/>
              </a:pPr>
              <a:t>‹#›</a:t>
            </a:fld>
            <a:endParaRPr lang="en-US" dirty="0"/>
          </a:p>
        </p:txBody>
      </p:sp>
    </p:spTree>
    <p:extLst>
      <p:ext uri="{BB962C8B-B14F-4D97-AF65-F5344CB8AC3E}">
        <p14:creationId xmlns:p14="http://schemas.microsoft.com/office/powerpoint/2010/main" val="264018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1005DC-5D55-4265-A123-04676CC76002}" type="slidenum">
              <a:rPr lang="en-US"/>
              <a:pPr>
                <a:defRPr/>
              </a:pPr>
              <a:t>‹#›</a:t>
            </a:fld>
            <a:endParaRPr lang="en-US" dirty="0"/>
          </a:p>
        </p:txBody>
      </p:sp>
    </p:spTree>
    <p:extLst>
      <p:ext uri="{BB962C8B-B14F-4D97-AF65-F5344CB8AC3E}">
        <p14:creationId xmlns:p14="http://schemas.microsoft.com/office/powerpoint/2010/main" val="3791209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5745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81000"/>
            <a:ext cx="6076950"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A4EF797-BE74-40B7-A394-58CB629C4BA9}" type="slidenum">
              <a:rPr lang="en-US"/>
              <a:pPr>
                <a:defRPr/>
              </a:pPr>
              <a:t>‹#›</a:t>
            </a:fld>
            <a:endParaRPr lang="en-US" dirty="0"/>
          </a:p>
        </p:txBody>
      </p:sp>
    </p:spTree>
    <p:extLst>
      <p:ext uri="{BB962C8B-B14F-4D97-AF65-F5344CB8AC3E}">
        <p14:creationId xmlns:p14="http://schemas.microsoft.com/office/powerpoint/2010/main" val="669543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222625" y="304800"/>
            <a:ext cx="11909425"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headEnd/>
              <a:tailEnd/>
            </a:ln>
            <a:effectLst/>
          </p:spPr>
          <p:txBody>
            <a:bodyPr/>
            <a:lstStyle/>
            <a:p>
              <a:pPr>
                <a:defRPr/>
              </a:pPr>
              <a:endParaRPr lang="en-US" dirty="0"/>
            </a:p>
          </p:txBody>
        </p:sp>
        <p:sp>
          <p:nvSpPr>
            <p:cNvPr id="6" name="AutoShape 4"/>
            <p:cNvSpPr>
              <a:spLocks noChangeArrowheads="1"/>
            </p:cNvSpPr>
            <p:nvPr/>
          </p:nvSpPr>
          <p:spPr bwMode="auto">
            <a:xfrm>
              <a:off x="-1584" y="864"/>
              <a:ext cx="2304" cy="2304"/>
            </a:xfrm>
            <a:custGeom>
              <a:avLst/>
              <a:gdLst>
                <a:gd name="G0" fmla="+- 12083 0 0"/>
                <a:gd name="G1" fmla="+- -3200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44083" y="2368"/>
                </a:cxn>
                <a:cxn ang="0">
                  <a:pos x="64000" y="32000"/>
                </a:cxn>
                <a:cxn ang="0">
                  <a:pos x="44083" y="61631"/>
                </a:cxn>
                <a:cxn ang="0">
                  <a:pos x="44083" y="61631"/>
                </a:cxn>
                <a:cxn ang="0">
                  <a:pos x="44082" y="61631"/>
                </a:cxn>
                <a:cxn ang="0">
                  <a:pos x="44083" y="61632"/>
                </a:cxn>
                <a:cxn ang="0">
                  <a:pos x="44083" y="2368"/>
                </a:cxn>
                <a:cxn ang="0">
                  <a:pos x="44082" y="2368"/>
                </a:cxn>
                <a:cxn ang="0">
                  <a:pos x="44083" y="2368"/>
                </a:cxn>
              </a:cxnLst>
              <a:rect l="T13" t="T15" r="T17" b="T19"/>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w="9525">
              <a:noFill/>
              <a:miter lim="800000"/>
              <a:headEnd/>
              <a:tailEnd/>
            </a:ln>
          </p:spPr>
          <p:txBody>
            <a:bodyPr/>
            <a:lstStyle/>
            <a:p>
              <a:pPr>
                <a:defRPr/>
              </a:pPr>
              <a:endParaRPr lang="en-US" sz="2400" dirty="0"/>
            </a:p>
          </p:txBody>
        </p:sp>
        <p:sp>
          <p:nvSpPr>
            <p:cNvPr id="7" name="AutoShape 5"/>
            <p:cNvSpPr>
              <a:spLocks noChangeArrowheads="1"/>
            </p:cNvSpPr>
            <p:nvPr/>
          </p:nvSpPr>
          <p:spPr bwMode="auto">
            <a:xfrm>
              <a:off x="-2030" y="192"/>
              <a:ext cx="2544" cy="2544"/>
            </a:xfrm>
            <a:custGeom>
              <a:avLst/>
              <a:gdLst>
                <a:gd name="G0" fmla="+- 18994 0 0"/>
                <a:gd name="G1" fmla="+- -30013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994" y="6246"/>
                </a:cxn>
                <a:cxn ang="0">
                  <a:pos x="64000" y="32000"/>
                </a:cxn>
                <a:cxn ang="0">
                  <a:pos x="50994" y="57753"/>
                </a:cxn>
                <a:cxn ang="0">
                  <a:pos x="50994" y="57753"/>
                </a:cxn>
                <a:cxn ang="0">
                  <a:pos x="50993" y="57753"/>
                </a:cxn>
                <a:cxn ang="0">
                  <a:pos x="50994" y="57754"/>
                </a:cxn>
                <a:cxn ang="0">
                  <a:pos x="50994" y="6246"/>
                </a:cxn>
                <a:cxn ang="0">
                  <a:pos x="50993" y="6246"/>
                </a:cxn>
                <a:cxn ang="0">
                  <a:pos x="50994" y="6246"/>
                </a:cxn>
              </a:cxnLst>
              <a:rect l="T13" t="T15" r="T17" b="T19"/>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grpSp>
      <p:sp>
        <p:nvSpPr>
          <p:cNvPr id="229382"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22938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en-US"/>
              <a:t>Click to edit Master subtitle style</a:t>
            </a:r>
          </a:p>
        </p:txBody>
      </p:sp>
      <p:sp>
        <p:nvSpPr>
          <p:cNvPr id="8" name="Rectangle 8"/>
          <p:cNvSpPr>
            <a:spLocks noGrp="1" noChangeArrowheads="1"/>
          </p:cNvSpPr>
          <p:nvPr>
            <p:ph type="dt" sz="half" idx="10"/>
          </p:nvPr>
        </p:nvSpPr>
        <p:spPr/>
        <p:txBody>
          <a:bodyPr/>
          <a:lstStyle>
            <a:lvl1pPr>
              <a:defRPr/>
            </a:lvl1pPr>
          </a:lstStyle>
          <a:p>
            <a:pPr>
              <a:defRPr/>
            </a:pPr>
            <a:endParaRPr lang="en-US"/>
          </a:p>
        </p:txBody>
      </p:sp>
      <p:sp>
        <p:nvSpPr>
          <p:cNvPr id="9" name="Rectangle 9"/>
          <p:cNvSpPr>
            <a:spLocks noGrp="1" noChangeArrowheads="1"/>
          </p:cNvSpPr>
          <p:nvPr>
            <p:ph type="ftr" sz="quarter" idx="11"/>
          </p:nvPr>
        </p:nvSpPr>
        <p:spPr/>
        <p:txBody>
          <a:bodyPr/>
          <a:lstStyle>
            <a:lvl1pPr>
              <a:defRPr/>
            </a:lvl1pPr>
          </a:lstStyle>
          <a:p>
            <a:pPr>
              <a:defRPr/>
            </a:pPr>
            <a:endParaRPr lang="en-US"/>
          </a:p>
        </p:txBody>
      </p:sp>
      <p:sp>
        <p:nvSpPr>
          <p:cNvPr id="10" name="Rectangle 10"/>
          <p:cNvSpPr>
            <a:spLocks noGrp="1" noChangeArrowheads="1"/>
          </p:cNvSpPr>
          <p:nvPr>
            <p:ph type="sldNum" sz="quarter" idx="12"/>
          </p:nvPr>
        </p:nvSpPr>
        <p:spPr/>
        <p:txBody>
          <a:bodyPr/>
          <a:lstStyle>
            <a:lvl1pPr>
              <a:defRPr/>
            </a:lvl1pPr>
          </a:lstStyle>
          <a:p>
            <a:pPr>
              <a:defRPr/>
            </a:pPr>
            <a:fld id="{6405AEEC-73E6-411C-AA98-3DDC2916B129}" type="slidenum">
              <a:rPr lang="en-US"/>
              <a:pPr>
                <a:defRPr/>
              </a:pPr>
              <a:t>‹#›</a:t>
            </a:fld>
            <a:endParaRPr lang="en-US" dirty="0"/>
          </a:p>
        </p:txBody>
      </p:sp>
    </p:spTree>
    <p:extLst>
      <p:ext uri="{BB962C8B-B14F-4D97-AF65-F5344CB8AC3E}">
        <p14:creationId xmlns:p14="http://schemas.microsoft.com/office/powerpoint/2010/main" val="12547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5FBE8A0A-EE35-4DF5-AFAF-A698601D8D96}" type="slidenum">
              <a:rPr lang="en-US"/>
              <a:pPr>
                <a:defRPr/>
              </a:pPr>
              <a:t>‹#›</a:t>
            </a:fld>
            <a:endParaRPr lang="en-US" dirty="0"/>
          </a:p>
        </p:txBody>
      </p:sp>
    </p:spTree>
    <p:extLst>
      <p:ext uri="{BB962C8B-B14F-4D97-AF65-F5344CB8AC3E}">
        <p14:creationId xmlns:p14="http://schemas.microsoft.com/office/powerpoint/2010/main" val="3688611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B3E7A17-1D39-49F4-B474-963C20B1A9E1}" type="slidenum">
              <a:rPr lang="en-US"/>
              <a:pPr>
                <a:defRPr/>
              </a:pPr>
              <a:t>‹#›</a:t>
            </a:fld>
            <a:endParaRPr lang="en-US" dirty="0"/>
          </a:p>
        </p:txBody>
      </p:sp>
    </p:spTree>
    <p:extLst>
      <p:ext uri="{BB962C8B-B14F-4D97-AF65-F5344CB8AC3E}">
        <p14:creationId xmlns:p14="http://schemas.microsoft.com/office/powerpoint/2010/main" val="3018629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20E63F7-40EB-41E4-A711-0041EFAF01A5}" type="slidenum">
              <a:rPr lang="en-US"/>
              <a:pPr>
                <a:defRPr/>
              </a:pPr>
              <a:t>‹#›</a:t>
            </a:fld>
            <a:endParaRPr lang="en-US" dirty="0"/>
          </a:p>
        </p:txBody>
      </p:sp>
    </p:spTree>
    <p:extLst>
      <p:ext uri="{BB962C8B-B14F-4D97-AF65-F5344CB8AC3E}">
        <p14:creationId xmlns:p14="http://schemas.microsoft.com/office/powerpoint/2010/main" val="3208666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a:defRPr/>
            </a:pPr>
            <a:endParaRPr lang="en-US"/>
          </a:p>
        </p:txBody>
      </p:sp>
      <p:sp>
        <p:nvSpPr>
          <p:cNvPr id="8" name="Rectangle 9"/>
          <p:cNvSpPr>
            <a:spLocks noGrp="1" noChangeArrowheads="1"/>
          </p:cNvSpPr>
          <p:nvPr>
            <p:ph type="ftr" sz="quarter" idx="11"/>
          </p:nvPr>
        </p:nvSpPr>
        <p:spPr>
          <a:ln/>
        </p:spPr>
        <p:txBody>
          <a:bodyPr/>
          <a:lstStyle>
            <a:lvl1pPr>
              <a:defRPr/>
            </a:lvl1pPr>
          </a:lstStyle>
          <a:p>
            <a:pPr>
              <a:defRPr/>
            </a:pPr>
            <a:endParaRPr lang="en-US"/>
          </a:p>
        </p:txBody>
      </p:sp>
      <p:sp>
        <p:nvSpPr>
          <p:cNvPr id="9" name="Rectangle 10"/>
          <p:cNvSpPr>
            <a:spLocks noGrp="1" noChangeArrowheads="1"/>
          </p:cNvSpPr>
          <p:nvPr>
            <p:ph type="sldNum" sz="quarter" idx="12"/>
          </p:nvPr>
        </p:nvSpPr>
        <p:spPr>
          <a:ln/>
        </p:spPr>
        <p:txBody>
          <a:bodyPr/>
          <a:lstStyle>
            <a:lvl1pPr>
              <a:defRPr/>
            </a:lvl1pPr>
          </a:lstStyle>
          <a:p>
            <a:pPr>
              <a:defRPr/>
            </a:pPr>
            <a:fld id="{F6A262BE-238D-40AB-871C-1C92CD352937}" type="slidenum">
              <a:rPr lang="en-US"/>
              <a:pPr>
                <a:defRPr/>
              </a:pPr>
              <a:t>‹#›</a:t>
            </a:fld>
            <a:endParaRPr lang="en-US" dirty="0"/>
          </a:p>
        </p:txBody>
      </p:sp>
    </p:spTree>
    <p:extLst>
      <p:ext uri="{BB962C8B-B14F-4D97-AF65-F5344CB8AC3E}">
        <p14:creationId xmlns:p14="http://schemas.microsoft.com/office/powerpoint/2010/main" val="2395303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a:defRPr/>
            </a:pPr>
            <a:endParaRPr lang="en-US"/>
          </a:p>
        </p:txBody>
      </p:sp>
      <p:sp>
        <p:nvSpPr>
          <p:cNvPr id="4" name="Rectangle 9"/>
          <p:cNvSpPr>
            <a:spLocks noGrp="1" noChangeArrowheads="1"/>
          </p:cNvSpPr>
          <p:nvPr>
            <p:ph type="ftr" sz="quarter" idx="11"/>
          </p:nvPr>
        </p:nvSpPr>
        <p:spPr>
          <a:ln/>
        </p:spPr>
        <p:txBody>
          <a:bodyPr/>
          <a:lstStyle>
            <a:lvl1pPr>
              <a:defRPr/>
            </a:lvl1pPr>
          </a:lstStyle>
          <a:p>
            <a:pPr>
              <a:defRPr/>
            </a:pPr>
            <a:endParaRPr lang="en-US"/>
          </a:p>
        </p:txBody>
      </p:sp>
      <p:sp>
        <p:nvSpPr>
          <p:cNvPr id="5" name="Rectangle 10"/>
          <p:cNvSpPr>
            <a:spLocks noGrp="1" noChangeArrowheads="1"/>
          </p:cNvSpPr>
          <p:nvPr>
            <p:ph type="sldNum" sz="quarter" idx="12"/>
          </p:nvPr>
        </p:nvSpPr>
        <p:spPr>
          <a:ln/>
        </p:spPr>
        <p:txBody>
          <a:bodyPr/>
          <a:lstStyle>
            <a:lvl1pPr>
              <a:defRPr/>
            </a:lvl1pPr>
          </a:lstStyle>
          <a:p>
            <a:pPr>
              <a:defRPr/>
            </a:pPr>
            <a:fld id="{7354427D-8FE6-42E8-91A1-1C8012C4B878}" type="slidenum">
              <a:rPr lang="en-US"/>
              <a:pPr>
                <a:defRPr/>
              </a:pPr>
              <a:t>‹#›</a:t>
            </a:fld>
            <a:endParaRPr lang="en-US" dirty="0"/>
          </a:p>
        </p:txBody>
      </p:sp>
    </p:spTree>
    <p:extLst>
      <p:ext uri="{BB962C8B-B14F-4D97-AF65-F5344CB8AC3E}">
        <p14:creationId xmlns:p14="http://schemas.microsoft.com/office/powerpoint/2010/main" val="615277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p>
        </p:txBody>
      </p:sp>
      <p:sp>
        <p:nvSpPr>
          <p:cNvPr id="3" name="Rectangle 9"/>
          <p:cNvSpPr>
            <a:spLocks noGrp="1" noChangeArrowheads="1"/>
          </p:cNvSpPr>
          <p:nvPr>
            <p:ph type="ftr" sz="quarter" idx="11"/>
          </p:nvPr>
        </p:nvSpPr>
        <p:spPr>
          <a:ln/>
        </p:spPr>
        <p:txBody>
          <a:bodyPr/>
          <a:lstStyle>
            <a:lvl1pPr>
              <a:defRPr/>
            </a:lvl1pPr>
          </a:lstStyle>
          <a:p>
            <a:pPr>
              <a:defRPr/>
            </a:pPr>
            <a:endParaRPr lang="en-US"/>
          </a:p>
        </p:txBody>
      </p:sp>
      <p:sp>
        <p:nvSpPr>
          <p:cNvPr id="4" name="Rectangle 10"/>
          <p:cNvSpPr>
            <a:spLocks noGrp="1" noChangeArrowheads="1"/>
          </p:cNvSpPr>
          <p:nvPr>
            <p:ph type="sldNum" sz="quarter" idx="12"/>
          </p:nvPr>
        </p:nvSpPr>
        <p:spPr>
          <a:ln/>
        </p:spPr>
        <p:txBody>
          <a:bodyPr/>
          <a:lstStyle>
            <a:lvl1pPr>
              <a:defRPr/>
            </a:lvl1pPr>
          </a:lstStyle>
          <a:p>
            <a:pPr>
              <a:defRPr/>
            </a:pPr>
            <a:fld id="{E5C95824-7CFA-458E-924D-9B5C50FA354A}" type="slidenum">
              <a:rPr lang="en-US"/>
              <a:pPr>
                <a:defRPr/>
              </a:pPr>
              <a:t>‹#›</a:t>
            </a:fld>
            <a:endParaRPr lang="en-US" dirty="0"/>
          </a:p>
        </p:txBody>
      </p:sp>
    </p:spTree>
    <p:extLst>
      <p:ext uri="{BB962C8B-B14F-4D97-AF65-F5344CB8AC3E}">
        <p14:creationId xmlns:p14="http://schemas.microsoft.com/office/powerpoint/2010/main" val="2028419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4E695EF6-6B49-44B8-BD05-2CAC3D105DBA}" type="slidenum">
              <a:rPr lang="en-US"/>
              <a:pPr>
                <a:defRPr/>
              </a:pPr>
              <a:t>‹#›</a:t>
            </a:fld>
            <a:endParaRPr lang="en-US" dirty="0"/>
          </a:p>
        </p:txBody>
      </p:sp>
    </p:spTree>
    <p:extLst>
      <p:ext uri="{BB962C8B-B14F-4D97-AF65-F5344CB8AC3E}">
        <p14:creationId xmlns:p14="http://schemas.microsoft.com/office/powerpoint/2010/main" val="2463474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591DFEA-A30A-49FD-9949-4290970265F9}" type="slidenum">
              <a:rPr lang="en-US"/>
              <a:pPr>
                <a:defRPr/>
              </a:pPr>
              <a:t>‹#›</a:t>
            </a:fld>
            <a:endParaRPr lang="en-US" dirty="0"/>
          </a:p>
        </p:txBody>
      </p:sp>
    </p:spTree>
    <p:extLst>
      <p:ext uri="{BB962C8B-B14F-4D97-AF65-F5344CB8AC3E}">
        <p14:creationId xmlns:p14="http://schemas.microsoft.com/office/powerpoint/2010/main" val="1009113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8D3780B6-30FD-46FE-9E23-CCC1752C6FCF}" type="slidenum">
              <a:rPr lang="en-US"/>
              <a:pPr>
                <a:defRPr/>
              </a:pPr>
              <a:t>‹#›</a:t>
            </a:fld>
            <a:endParaRPr lang="en-US" dirty="0"/>
          </a:p>
        </p:txBody>
      </p:sp>
    </p:spTree>
    <p:extLst>
      <p:ext uri="{BB962C8B-B14F-4D97-AF65-F5344CB8AC3E}">
        <p14:creationId xmlns:p14="http://schemas.microsoft.com/office/powerpoint/2010/main" val="1214659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397D353-EF69-40C9-B526-58E78279C1D1}" type="slidenum">
              <a:rPr lang="en-US"/>
              <a:pPr>
                <a:defRPr/>
              </a:pPr>
              <a:t>‹#›</a:t>
            </a:fld>
            <a:endParaRPr lang="en-US" dirty="0"/>
          </a:p>
        </p:txBody>
      </p:sp>
    </p:spTree>
    <p:extLst>
      <p:ext uri="{BB962C8B-B14F-4D97-AF65-F5344CB8AC3E}">
        <p14:creationId xmlns:p14="http://schemas.microsoft.com/office/powerpoint/2010/main" val="4995422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02225" y="18272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02225" y="39608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pPr>
              <a:defRPr/>
            </a:pPr>
            <a:endParaRPr lang="en-US"/>
          </a:p>
        </p:txBody>
      </p:sp>
      <p:sp>
        <p:nvSpPr>
          <p:cNvPr id="7" name="Rectangle 9"/>
          <p:cNvSpPr>
            <a:spLocks noGrp="1" noChangeArrowheads="1"/>
          </p:cNvSpPr>
          <p:nvPr>
            <p:ph type="ftr" sz="quarter" idx="11"/>
          </p:nvPr>
        </p:nvSpPr>
        <p:spPr>
          <a:ln/>
        </p:spPr>
        <p:txBody>
          <a:bodyPr/>
          <a:lstStyle>
            <a:lvl1pPr>
              <a:defRPr/>
            </a:lvl1pPr>
          </a:lstStyle>
          <a:p>
            <a:pPr>
              <a:defRPr/>
            </a:pPr>
            <a:endParaRPr lang="en-US"/>
          </a:p>
        </p:txBody>
      </p:sp>
      <p:sp>
        <p:nvSpPr>
          <p:cNvPr id="8" name="Rectangle 10"/>
          <p:cNvSpPr>
            <a:spLocks noGrp="1" noChangeArrowheads="1"/>
          </p:cNvSpPr>
          <p:nvPr>
            <p:ph type="sldNum" sz="quarter" idx="12"/>
          </p:nvPr>
        </p:nvSpPr>
        <p:spPr>
          <a:ln/>
        </p:spPr>
        <p:txBody>
          <a:bodyPr/>
          <a:lstStyle>
            <a:lvl1pPr>
              <a:defRPr/>
            </a:lvl1pPr>
          </a:lstStyle>
          <a:p>
            <a:pPr>
              <a:defRPr/>
            </a:pPr>
            <a:fld id="{1654E393-D6FA-41B5-A562-24BDACF19FE6}" type="slidenum">
              <a:rPr lang="en-US"/>
              <a:pPr>
                <a:defRPr/>
              </a:pPr>
              <a:t>‹#›</a:t>
            </a:fld>
            <a:endParaRPr lang="en-US" dirty="0"/>
          </a:p>
        </p:txBody>
      </p:sp>
    </p:spTree>
    <p:extLst>
      <p:ext uri="{BB962C8B-B14F-4D97-AF65-F5344CB8AC3E}">
        <p14:creationId xmlns:p14="http://schemas.microsoft.com/office/powerpoint/2010/main" val="444250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able Placeholder 2"/>
          <p:cNvSpPr>
            <a:spLocks noGrp="1"/>
          </p:cNvSpPr>
          <p:nvPr>
            <p:ph type="tbl"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3CD90852-DBB6-4ABE-BE71-C281E6654258}" type="slidenum">
              <a:rPr lang="en-US"/>
              <a:pPr>
                <a:defRPr/>
              </a:pPr>
              <a:t>‹#›</a:t>
            </a:fld>
            <a:endParaRPr lang="en-US" dirty="0"/>
          </a:p>
        </p:txBody>
      </p:sp>
    </p:spTree>
    <p:extLst>
      <p:ext uri="{BB962C8B-B14F-4D97-AF65-F5344CB8AC3E}">
        <p14:creationId xmlns:p14="http://schemas.microsoft.com/office/powerpoint/2010/main" val="2434779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Chart Placeholder 2"/>
          <p:cNvSpPr>
            <a:spLocks noGrp="1"/>
          </p:cNvSpPr>
          <p:nvPr>
            <p:ph type="chart"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98D582F5-EC73-484C-AB33-F9ADA9F738AD}" type="slidenum">
              <a:rPr lang="en-US"/>
              <a:pPr>
                <a:defRPr/>
              </a:pPr>
              <a:t>‹#›</a:t>
            </a:fld>
            <a:endParaRPr lang="en-US" dirty="0"/>
          </a:p>
        </p:txBody>
      </p:sp>
    </p:spTree>
    <p:extLst>
      <p:ext uri="{BB962C8B-B14F-4D97-AF65-F5344CB8AC3E}">
        <p14:creationId xmlns:p14="http://schemas.microsoft.com/office/powerpoint/2010/main" val="36582612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85CE0-996E-4ADC-B25C-01121271739E}"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42849220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987358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99270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109230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8109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3977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84608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78804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73526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42075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20151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655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81000" y="381000"/>
            <a:ext cx="8229600" cy="1143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841ECCDC-96A6-466B-B5D2-D6BCF59D2469}" type="slidenum">
              <a:rPr lang="en-US"/>
              <a:pPr>
                <a:defRPr/>
              </a:pPr>
              <a:t>‹#›</a:t>
            </a:fld>
            <a:endParaRPr lang="en-US" dirty="0"/>
          </a:p>
        </p:txBody>
      </p:sp>
      <p:sp>
        <p:nvSpPr>
          <p:cNvPr id="27655" name="Line 7"/>
          <p:cNvSpPr>
            <a:spLocks noChangeShapeType="1"/>
          </p:cNvSpPr>
          <p:nvPr userDrawn="1"/>
        </p:nvSpPr>
        <p:spPr bwMode="auto">
          <a:xfrm>
            <a:off x="609600" y="1371600"/>
            <a:ext cx="8077200" cy="0"/>
          </a:xfrm>
          <a:prstGeom prst="line">
            <a:avLst/>
          </a:prstGeom>
          <a:noFill/>
          <a:ln w="28575">
            <a:solidFill>
              <a:schemeClr val="tx1"/>
            </a:solidFill>
            <a:round/>
            <a:headEnd/>
            <a:tailEnd/>
          </a:ln>
          <a:effectLst/>
        </p:spPr>
        <p:txBody>
          <a:body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3238500" y="0"/>
            <a:ext cx="11925300" cy="3810000"/>
            <a:chOff x="-2040" y="0"/>
            <a:chExt cx="7512" cy="2400"/>
          </a:xfrm>
        </p:grpSpPr>
        <p:sp>
          <p:nvSpPr>
            <p:cNvPr id="228355" name="AutoShape 3"/>
            <p:cNvSpPr>
              <a:spLocks noChangeArrowheads="1"/>
            </p:cNvSpPr>
            <p:nvPr/>
          </p:nvSpPr>
          <p:spPr bwMode="auto">
            <a:xfrm>
              <a:off x="-2040" y="432"/>
              <a:ext cx="2592" cy="1968"/>
            </a:xfrm>
            <a:custGeom>
              <a:avLst/>
              <a:gdLst>
                <a:gd name="G0" fmla="+- 18296 0 0"/>
                <a:gd name="G1" fmla="+- -30880 0 0"/>
                <a:gd name="G2" fmla="+- 31512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296" y="5746"/>
                </a:cxn>
                <a:cxn ang="0">
                  <a:pos x="64000" y="32000"/>
                </a:cxn>
                <a:cxn ang="0">
                  <a:pos x="50296" y="58253"/>
                </a:cxn>
                <a:cxn ang="0">
                  <a:pos x="50296" y="58253"/>
                </a:cxn>
                <a:cxn ang="0">
                  <a:pos x="50295" y="58253"/>
                </a:cxn>
                <a:cxn ang="0">
                  <a:pos x="50296" y="58254"/>
                </a:cxn>
                <a:cxn ang="0">
                  <a:pos x="50296" y="5746"/>
                </a:cxn>
                <a:cxn ang="0">
                  <a:pos x="50295" y="5746"/>
                </a:cxn>
                <a:cxn ang="0">
                  <a:pos x="50296" y="5746"/>
                </a:cxn>
              </a:cxnLst>
              <a:rect l="T13" t="T15" r="T17" b="T19"/>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w="9525">
              <a:noFill/>
              <a:miter lim="800000"/>
              <a:headEnd/>
              <a:tailEnd/>
            </a:ln>
          </p:spPr>
          <p:txBody>
            <a:bodyPr/>
            <a:lstStyle/>
            <a:p>
              <a:pPr>
                <a:defRPr/>
              </a:pPr>
              <a:endParaRPr lang="en-US" sz="2400" dirty="0"/>
            </a:p>
          </p:txBody>
        </p:sp>
        <p:sp>
          <p:nvSpPr>
            <p:cNvPr id="228356" name="AutoShape 4"/>
            <p:cNvSpPr>
              <a:spLocks noChangeArrowheads="1"/>
            </p:cNvSpPr>
            <p:nvPr/>
          </p:nvSpPr>
          <p:spPr bwMode="auto">
            <a:xfrm>
              <a:off x="-1528" y="0"/>
              <a:ext cx="1949" cy="1987"/>
            </a:xfrm>
            <a:custGeom>
              <a:avLst/>
              <a:gdLst>
                <a:gd name="G0" fmla="+- 18077 0 0"/>
                <a:gd name="G1" fmla="+- -3088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077" y="5595"/>
                </a:cxn>
                <a:cxn ang="0">
                  <a:pos x="64000" y="32000"/>
                </a:cxn>
                <a:cxn ang="0">
                  <a:pos x="50077" y="58404"/>
                </a:cxn>
                <a:cxn ang="0">
                  <a:pos x="50077" y="58404"/>
                </a:cxn>
                <a:cxn ang="0">
                  <a:pos x="50076" y="58404"/>
                </a:cxn>
                <a:cxn ang="0">
                  <a:pos x="50077" y="58405"/>
                </a:cxn>
                <a:cxn ang="0">
                  <a:pos x="50077" y="5595"/>
                </a:cxn>
                <a:cxn ang="0">
                  <a:pos x="50076" y="5595"/>
                </a:cxn>
                <a:cxn ang="0">
                  <a:pos x="50077" y="5595"/>
                </a:cxn>
              </a:cxnLst>
              <a:rect l="T13" t="T15" r="T17" b="T19"/>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sp>
          <p:nvSpPr>
            <p:cNvPr id="228357" name="Line 5"/>
            <p:cNvSpPr>
              <a:spLocks noChangeShapeType="1"/>
            </p:cNvSpPr>
            <p:nvPr/>
          </p:nvSpPr>
          <p:spPr bwMode="auto">
            <a:xfrm>
              <a:off x="864" y="960"/>
              <a:ext cx="4608" cy="0"/>
            </a:xfrm>
            <a:prstGeom prst="line">
              <a:avLst/>
            </a:prstGeom>
            <a:noFill/>
            <a:ln w="12700">
              <a:solidFill>
                <a:schemeClr val="tx1"/>
              </a:solidFill>
              <a:round/>
              <a:headEnd/>
              <a:tailEnd/>
            </a:ln>
            <a:effectLst/>
          </p:spPr>
          <p:txBody>
            <a:bodyPr/>
            <a:lstStyle/>
            <a:p>
              <a:pPr>
                <a:defRPr/>
              </a:pPr>
              <a:endParaRPr lang="en-US" dirty="0"/>
            </a:p>
          </p:txBody>
        </p:sp>
      </p:grpSp>
      <p:sp>
        <p:nvSpPr>
          <p:cNvPr id="4099" name="Rectangle 6"/>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7"/>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836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n-lt"/>
              </a:defRPr>
            </a:lvl1pPr>
          </a:lstStyle>
          <a:p>
            <a:pPr>
              <a:defRPr/>
            </a:pPr>
            <a:endParaRPr lang="en-US"/>
          </a:p>
        </p:txBody>
      </p:sp>
      <p:sp>
        <p:nvSpPr>
          <p:cNvPr id="22836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n-lt"/>
              </a:defRPr>
            </a:lvl1pPr>
          </a:lstStyle>
          <a:p>
            <a:pPr>
              <a:defRPr/>
            </a:pPr>
            <a:endParaRPr lang="en-US"/>
          </a:p>
        </p:txBody>
      </p:sp>
      <p:sp>
        <p:nvSpPr>
          <p:cNvPr id="22836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n-lt"/>
              </a:defRPr>
            </a:lvl1pPr>
          </a:lstStyle>
          <a:p>
            <a:pPr>
              <a:defRPr/>
            </a:pPr>
            <a:fld id="{A6AF8879-9647-4193-B88F-B0D6F43862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1"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95" r:id="rId15"/>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01585622"/>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emf"/><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chart" Target="../charts/chart1.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http://www.forbes.com/sites/greatspeculations/2015/04/23/two-rules-of-asset-allocation-to-follow-at-any-age/#43538ff6f7ed"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hyperlink" Target="http://www.moneysense.ca/save/investing/couch-potato-portfolio-how-to-set-it-up/" TargetMode="External"/><Relationship Id="rId5" Type="http://schemas.openxmlformats.org/officeDocument/2006/relationships/hyperlink" Target="https://www.tiaa.org/public/offer/products/mutual-funds/lifecycle-funds" TargetMode="External"/><Relationship Id="rId4" Type="http://schemas.openxmlformats.org/officeDocument/2006/relationships/hyperlink" Target="http://www.schwab.com/public/schwab/investing/retirement_and_planning/retirement_income/portfolio_allocation"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www.cppib.com/content/dam/cppib/Who%20We%20Are/Governance/Policies/2015/Investment%20Statement%20-%20Investment%20Portfolio%202015.pdf"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http://www.rba.gov.au/publications/bulletin/2014/sep/pdf/bu-0914-8.pdf"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hyperlink" Target="http://faculty.london.edu/avmiguel/DeMiguel-Garlappi-Uppal-RFS.pdf" TargetMode="External"/><Relationship Id="rId4" Type="http://schemas.openxmlformats.org/officeDocument/2006/relationships/hyperlink" Target="https://www.wsj.com/articles/stocks-and-bonds-are-falling-in-lockstep-at-pace-unseen-in-decades-11651551170?page=1"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chart" Target="../charts/chart2.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3" Type="http://schemas.openxmlformats.org/officeDocument/2006/relationships/hyperlink" Target="https://mba.tuck.dartmouth.edu/pages/faculty/ken.french/data_library.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vmlDrawing" Target="../drawings/vmlDrawing7.vml"/><Relationship Id="rId5" Type="http://schemas.openxmlformats.org/officeDocument/2006/relationships/image" Target="../media/image9.wmf"/><Relationship Id="rId4"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3" Type="http://schemas.openxmlformats.org/officeDocument/2006/relationships/hyperlink" Target="http://www.cppib.com/content/dam/cppib/Our%20Performance/Financial%20results/CPPIB%20F2016%20Annual%20Report%20-%20ENGLISH%20(May%2019,%202016).pdf" TargetMode="Externa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hyperlink" Target="https://www.msci.com/resources/pdfs/Foundations_of_Factor_Investing.pdf" TargetMode="External"/><Relationship Id="rId5" Type="http://schemas.openxmlformats.org/officeDocument/2006/relationships/hyperlink" Target="https://www.msci.com/resources/pdfs/Deploying_Multi_Factor_Index_Allocations_in_Institutional_Portfolios.pdf" TargetMode="External"/><Relationship Id="rId4" Type="http://schemas.openxmlformats.org/officeDocument/2006/relationships/hyperlink" Target="https://www.scribd.com/document/249862100/blk-risk-factor-investing-revealed-pdf"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3.xml"/><Relationship Id="rId1" Type="http://schemas.openxmlformats.org/officeDocument/2006/relationships/vmlDrawing" Target="../drawings/vmlDrawing8.vml"/><Relationship Id="rId6" Type="http://schemas.openxmlformats.org/officeDocument/2006/relationships/image" Target="../media/image11.wmf"/><Relationship Id="rId5" Type="http://schemas.openxmlformats.org/officeDocument/2006/relationships/oleObject" Target="../embeddings/oleObject11.bin"/><Relationship Id="rId4" Type="http://schemas.openxmlformats.org/officeDocument/2006/relationships/image" Target="../media/image10.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3.xml"/><Relationship Id="rId1" Type="http://schemas.openxmlformats.org/officeDocument/2006/relationships/vmlDrawing" Target="../drawings/vmlDrawing9.vml"/><Relationship Id="rId4" Type="http://schemas.openxmlformats.org/officeDocument/2006/relationships/image" Target="../media/image12.wmf"/></Relationships>
</file>

<file path=ppt/slides/_rels/slide4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3.xml"/><Relationship Id="rId1" Type="http://schemas.openxmlformats.org/officeDocument/2006/relationships/vmlDrawing" Target="../drawings/vmlDrawing10.vml"/><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3.xml"/><Relationship Id="rId1" Type="http://schemas.openxmlformats.org/officeDocument/2006/relationships/vmlDrawing" Target="../drawings/vmlDrawing11.vml"/><Relationship Id="rId6" Type="http://schemas.openxmlformats.org/officeDocument/2006/relationships/image" Target="../media/image17.wmf"/><Relationship Id="rId5" Type="http://schemas.openxmlformats.org/officeDocument/2006/relationships/oleObject" Target="../embeddings/oleObject17.bin"/><Relationship Id="rId4" Type="http://schemas.openxmlformats.org/officeDocument/2006/relationships/image" Target="../media/image16.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6.xml"/><Relationship Id="rId1" Type="http://schemas.openxmlformats.org/officeDocument/2006/relationships/vmlDrawing" Target="../drawings/vmlDrawing12.vml"/><Relationship Id="rId4" Type="http://schemas.openxmlformats.org/officeDocument/2006/relationships/image" Target="../media/image18.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image" Target="../media/image19.wmf"/><Relationship Id="rId5" Type="http://schemas.openxmlformats.org/officeDocument/2006/relationships/oleObject" Target="../embeddings/oleObject20.bin"/><Relationship Id="rId4" Type="http://schemas.openxmlformats.org/officeDocument/2006/relationships/image" Target="../media/image1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447800" y="838200"/>
            <a:ext cx="7239000" cy="1058863"/>
          </a:xfrm>
        </p:spPr>
        <p:txBody>
          <a:bodyPr/>
          <a:lstStyle/>
          <a:p>
            <a:pPr eaLnBrk="1" hangingPunct="1"/>
            <a:r>
              <a:rPr lang="en-US" sz="3600" b="1" dirty="0">
                <a:latin typeface="Times New Roman" pitchFamily="18" charset="0"/>
              </a:rPr>
              <a:t>Asset Allocation, CAPM, Factor Models </a:t>
            </a:r>
          </a:p>
        </p:txBody>
      </p:sp>
      <p:sp>
        <p:nvSpPr>
          <p:cNvPr id="6147" name="Rectangle 5"/>
          <p:cNvSpPr>
            <a:spLocks noGrp="1" noChangeArrowheads="1"/>
          </p:cNvSpPr>
          <p:nvPr>
            <p:ph type="subTitle" idx="1"/>
          </p:nvPr>
        </p:nvSpPr>
        <p:spPr/>
        <p:txBody>
          <a:bodyPr/>
          <a:lstStyle/>
          <a:p>
            <a:pPr eaLnBrk="1" hangingPunct="1"/>
            <a:endParaRPr lang="en-US" dirty="0">
              <a:latin typeface="Times New Roman" pitchFamily="18" charset="0"/>
            </a:endParaRPr>
          </a:p>
          <a:p>
            <a:pPr eaLnBrk="1" hangingPunct="1"/>
            <a:r>
              <a:rPr lang="en-US" dirty="0">
                <a:latin typeface="Times New Roman" pitchFamily="18" charset="0"/>
              </a:rPr>
              <a:t>BAFI 508: Data-Driven Investments</a:t>
            </a:r>
          </a:p>
          <a:p>
            <a:pPr eaLnBrk="1" hangingPunct="1"/>
            <a:r>
              <a:rPr lang="en-US" dirty="0">
                <a:latin typeface="Times New Roman" pitchFamily="18" charset="0"/>
              </a:rPr>
              <a:t>Class 6</a:t>
            </a:r>
          </a:p>
          <a:p>
            <a:pPr eaLnBrk="1" hangingPunct="1"/>
            <a:r>
              <a:rPr lang="en-US" dirty="0">
                <a:latin typeface="Times New Roman" pitchFamily="18" charset="0"/>
              </a:rPr>
              <a:t>Adlai Fisher</a:t>
            </a:r>
          </a:p>
          <a:p>
            <a:pPr eaLnBrk="1" hangingPunct="1"/>
            <a:endParaRPr lang="en-US"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Course Update</a:t>
            </a:r>
          </a:p>
        </p:txBody>
      </p:sp>
      <p:sp>
        <p:nvSpPr>
          <p:cNvPr id="3" name="Content Placeholder 2"/>
          <p:cNvSpPr>
            <a:spLocks noGrp="1"/>
          </p:cNvSpPr>
          <p:nvPr>
            <p:ph idx="1"/>
          </p:nvPr>
        </p:nvSpPr>
        <p:spPr>
          <a:xfrm>
            <a:off x="14868" y="751700"/>
            <a:ext cx="9067800" cy="6155048"/>
          </a:xfrm>
        </p:spPr>
        <p:txBody>
          <a:bodyPr>
            <a:normAutofit/>
          </a:bodyPr>
          <a:lstStyle/>
          <a:p>
            <a:r>
              <a:rPr lang="en-US" sz="2000" dirty="0"/>
              <a:t>The asset allocation </a:t>
            </a:r>
            <a:r>
              <a:rPr lang="en-US" sz="2000" dirty="0" err="1"/>
              <a:t>homeworks</a:t>
            </a:r>
            <a:r>
              <a:rPr lang="en-US" sz="2000" dirty="0"/>
              <a:t> are due Sunday midnight</a:t>
            </a:r>
          </a:p>
          <a:p>
            <a:pPr lvl="1"/>
            <a:r>
              <a:rPr lang="en-US" sz="2000" dirty="0"/>
              <a:t>Further discussion today. </a:t>
            </a:r>
          </a:p>
          <a:p>
            <a:endParaRPr lang="en-US" sz="2000" dirty="0"/>
          </a:p>
          <a:p>
            <a:r>
              <a:rPr lang="en-US" sz="2000" dirty="0"/>
              <a:t>Today, finish asset allocation, second big topic in the course.  </a:t>
            </a:r>
          </a:p>
          <a:p>
            <a:pPr lvl="1"/>
            <a:r>
              <a:rPr lang="en-US" sz="2000" dirty="0"/>
              <a:t>Leads to the Capital Asset Pricing Model (CAPM), a big finance theory</a:t>
            </a:r>
          </a:p>
          <a:p>
            <a:pPr lvl="1"/>
            <a:r>
              <a:rPr lang="en-US" sz="2000" dirty="0"/>
              <a:t>Leads to implementation of general factor models and cross-sectional portfolio strategies, which is the third and final major course topic.  </a:t>
            </a:r>
          </a:p>
          <a:p>
            <a:pPr lvl="1"/>
            <a:r>
              <a:rPr lang="en-US" sz="2000" dirty="0"/>
              <a:t>We introduce this new topic today, and get into big data empirical implementation next week.</a:t>
            </a:r>
          </a:p>
          <a:p>
            <a:endParaRPr lang="en-US" sz="2000" dirty="0"/>
          </a:p>
          <a:p>
            <a:r>
              <a:rPr lang="en-US" sz="2000" dirty="0"/>
              <a:t>Over weekend, signup for final project groups.  Groups of six.</a:t>
            </a:r>
          </a:p>
          <a:p>
            <a:pPr lvl="1"/>
            <a:r>
              <a:rPr lang="en-US" sz="2000" dirty="0"/>
              <a:t>Diversity of projects, should be a good way to get a broad exposure to many different aspects of data and empirical facts</a:t>
            </a:r>
          </a:p>
          <a:p>
            <a:pPr lvl="1"/>
            <a:r>
              <a:rPr lang="en-US" sz="2000" dirty="0"/>
              <a:t>We will also post sample code and readings over weekend to generate final project topics, and continue next week.</a:t>
            </a:r>
          </a:p>
          <a:p>
            <a:pPr marL="0" indent="0">
              <a:buNone/>
            </a:pPr>
            <a:endParaRPr lang="en-US" sz="2000" dirty="0"/>
          </a:p>
          <a:p>
            <a:pPr marL="0" indent="0">
              <a:buNone/>
            </a:pPr>
            <a:endParaRPr lang="en-US" sz="2000" dirty="0"/>
          </a:p>
          <a:p>
            <a:pPr marL="0" indent="0">
              <a:buNone/>
            </a:pPr>
            <a:endParaRPr lang="en-US" sz="2000" dirty="0"/>
          </a:p>
          <a:p>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4798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Outline for Today</a:t>
            </a:r>
          </a:p>
        </p:txBody>
      </p:sp>
      <p:sp>
        <p:nvSpPr>
          <p:cNvPr id="3" name="Content Placeholder 2"/>
          <p:cNvSpPr>
            <a:spLocks noGrp="1"/>
          </p:cNvSpPr>
          <p:nvPr>
            <p:ph idx="1"/>
          </p:nvPr>
        </p:nvSpPr>
        <p:spPr>
          <a:xfrm>
            <a:off x="14868" y="751700"/>
            <a:ext cx="9067800" cy="6155048"/>
          </a:xfrm>
        </p:spPr>
        <p:txBody>
          <a:bodyPr>
            <a:normAutofit lnSpcReduction="10000"/>
          </a:bodyPr>
          <a:lstStyle/>
          <a:p>
            <a:pPr marL="457200" indent="-457200">
              <a:buFont typeface="+mj-lt"/>
              <a:buAutoNum type="arabicPeriod"/>
            </a:pPr>
            <a:r>
              <a:rPr lang="en-US" sz="2000" dirty="0"/>
              <a:t>Finish asset allocation</a:t>
            </a:r>
            <a:endParaRPr lang="en-US" sz="1600" dirty="0"/>
          </a:p>
          <a:p>
            <a:pPr marL="685800" lvl="1"/>
            <a:r>
              <a:rPr lang="en-US" sz="2000" dirty="0"/>
              <a:t>Further develop / emphasize key concepts</a:t>
            </a:r>
          </a:p>
          <a:p>
            <a:pPr marL="1085850" lvl="2"/>
            <a:r>
              <a:rPr lang="en-US" sz="2000" dirty="0"/>
              <a:t>Role of risk-free asset</a:t>
            </a:r>
          </a:p>
          <a:p>
            <a:pPr marL="1085850" lvl="2"/>
            <a:r>
              <a:rPr lang="en-US" sz="2000" dirty="0"/>
              <a:t>Excess returns, and relation to total return</a:t>
            </a:r>
          </a:p>
          <a:p>
            <a:pPr marL="1085850" lvl="2"/>
            <a:r>
              <a:rPr lang="en-US" sz="2000" dirty="0"/>
              <a:t>Two fund separation</a:t>
            </a:r>
            <a:endParaRPr lang="en-US" sz="800" dirty="0"/>
          </a:p>
          <a:p>
            <a:pPr marL="685800" lvl="1"/>
            <a:r>
              <a:rPr lang="en-US" sz="2000" dirty="0"/>
              <a:t>Some finer points</a:t>
            </a:r>
          </a:p>
          <a:p>
            <a:pPr marL="1085850" lvl="2"/>
            <a:r>
              <a:rPr lang="en-US" sz="2000" dirty="0"/>
              <a:t>Different ways of solving</a:t>
            </a:r>
          </a:p>
          <a:p>
            <a:pPr marL="1085850" lvl="2"/>
            <a:r>
              <a:rPr lang="en-US" sz="2000" dirty="0"/>
              <a:t>Portfolio constraints (e.g., short sales)</a:t>
            </a:r>
          </a:p>
          <a:p>
            <a:pPr marL="1085850" lvl="2"/>
            <a:r>
              <a:rPr lang="en-US" sz="2000" dirty="0"/>
              <a:t>Other objective functions</a:t>
            </a:r>
          </a:p>
          <a:p>
            <a:pPr marL="685800" lvl="1"/>
            <a:r>
              <a:rPr lang="en-US" sz="2000" dirty="0"/>
              <a:t>MPT leads to the CAPM! (big finance theory)</a:t>
            </a:r>
          </a:p>
          <a:p>
            <a:pPr marL="685800" lvl="1"/>
            <a:r>
              <a:rPr lang="en-US" sz="2000" dirty="0"/>
              <a:t>Critiques of MPT leading to more general factor models</a:t>
            </a:r>
          </a:p>
          <a:p>
            <a:pPr marL="0" indent="0">
              <a:buNone/>
            </a:pPr>
            <a:endParaRPr lang="en-US" sz="2000" dirty="0"/>
          </a:p>
          <a:p>
            <a:pPr marL="457200" indent="-457200">
              <a:buFont typeface="+mj-lt"/>
              <a:buAutoNum type="arabicPeriod" startAt="2"/>
            </a:pPr>
            <a:r>
              <a:rPr lang="en-US" sz="2000" dirty="0"/>
              <a:t>Begin to introduce general factor models</a:t>
            </a:r>
          </a:p>
          <a:p>
            <a:pPr lvl="1"/>
            <a:r>
              <a:rPr lang="en-US" sz="2000" dirty="0"/>
              <a:t>Empirical factors and macro factors, </a:t>
            </a:r>
          </a:p>
          <a:p>
            <a:pPr lvl="1"/>
            <a:r>
              <a:rPr lang="en-US" sz="2000" dirty="0"/>
              <a:t>Ken French’s website as starting place; next week and for your project you will be constructing your own cross-sectional trading strategies using CRSP and </a:t>
            </a:r>
            <a:r>
              <a:rPr lang="en-US" sz="2000" dirty="0" err="1"/>
              <a:t>Compustat</a:t>
            </a:r>
            <a:r>
              <a:rPr lang="en-US" sz="2000" dirty="0"/>
              <a:t> data and python</a:t>
            </a:r>
          </a:p>
          <a:p>
            <a:pPr lvl="1"/>
            <a:r>
              <a:rPr lang="en-US" sz="2000" dirty="0"/>
              <a:t>The idea of performance evaluation (alpha and beta(s))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2082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Mean Returns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mean returns are linear in portfolio weights </a:t>
                </a:r>
                <a:r>
                  <a:rPr lang="en-US" sz="2400" dirty="0" err="1">
                    <a:latin typeface="Times New Roman" pitchFamily="18" charset="0"/>
                  </a:rPr>
                  <a:t>w_i</a:t>
                </a:r>
                <a:r>
                  <a:rPr lang="en-US" sz="2400" dirty="0">
                    <a:latin typeface="Times New Roman" pitchFamily="18" charset="0"/>
                  </a:rPr>
                  <a:t> and the mean returns on individual assets </a:t>
                </a:r>
                <a:r>
                  <a:rPr lang="en-US" sz="2400" dirty="0" err="1">
                    <a:latin typeface="Times New Roman" pitchFamily="18" charset="0"/>
                  </a:rPr>
                  <a:t>i</a:t>
                </a:r>
                <a:endParaRPr lang="en-US" sz="2400" dirty="0">
                  <a:latin typeface="Times New Roman" pitchFamily="18" charset="0"/>
                </a:endParaRPr>
              </a:p>
              <a:p>
                <a:pPr marL="622300" lvl="1" indent="-222250" eaLnBrk="1" hangingPunct="1"/>
                <a:r>
                  <a:rPr lang="en-US" sz="2000" dirty="0">
                    <a:latin typeface="Times New Roman" pitchFamily="18" charset="0"/>
                  </a:rPr>
                  <a:t>In expectations: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e>
                      </m:nary>
                    </m:oMath>
                  </m:oMathPara>
                </a14:m>
                <a:endParaRPr lang="en-US" sz="2000" dirty="0">
                  <a:latin typeface="Times New Roman" pitchFamily="18" charset="0"/>
                </a:endParaRPr>
              </a:p>
              <a:p>
                <a:pPr lvl="1" eaLnBrk="1" hangingPunct="1"/>
                <a:r>
                  <a:rPr lang="en-US" sz="2000" dirty="0">
                    <a:latin typeface="Times New Roman" pitchFamily="18" charset="0"/>
                  </a:rPr>
                  <a:t>True of sample means as well</a:t>
                </a:r>
              </a:p>
              <a:p>
                <a:pPr marL="457200" lvl="1" indent="0" eaLnBrk="1" hangingPunct="1">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𝑖</m:t>
                              </m:r>
                            </m:sub>
                          </m:sSub>
                        </m:e>
                      </m:nary>
                    </m:oMath>
                  </m:oMathPara>
                </a14:m>
                <a:endParaRPr lang="en-US" sz="2000" dirty="0">
                  <a:latin typeface="Times New Roman" pitchFamily="18" charset="0"/>
                </a:endParaRPr>
              </a:p>
              <a:p>
                <a:pPr lvl="1" eaLnBrk="1" hangingPunct="1"/>
                <a:r>
                  <a:rPr lang="en-US" sz="2000" dirty="0">
                    <a:latin typeface="Times New Roman" pitchFamily="18" charset="0"/>
                  </a:rPr>
                  <a:t>Remember that portfolio weights have to add up to one:</a:t>
                </a:r>
              </a:p>
              <a:p>
                <a:pPr marL="457200" lvl="1" indent="0" eaLnBrk="1" hangingPunct="1">
                  <a:buNone/>
                </a:pPr>
                <a14:m>
                  <m:oMathPara xmlns:m="http://schemas.openxmlformats.org/officeDocument/2006/math">
                    <m:oMathParaPr>
                      <m:jc m:val="centerGroup"/>
                    </m:oMathParaPr>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338281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Variances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variances build on the rule that Var(X+Y)=Var(X)+Var(Y)+2cov(X,Y)</a:t>
                </a:r>
              </a:p>
              <a:p>
                <a:pPr marL="622300" lvl="1" indent="-222250" eaLnBrk="1" hangingPunct="1"/>
                <a:r>
                  <a:rPr lang="en-US" sz="2000" dirty="0">
                    <a:latin typeface="Times New Roman" pitchFamily="18" charset="0"/>
                  </a:rPr>
                  <a:t>In population or sample moments: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+2</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𝐶𝑜𝑣</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𝑗</m:t>
                                      </m:r>
                                    </m:sub>
                                  </m:sSub>
                                </m:e>
                              </m:d>
                            </m:e>
                          </m:nary>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1346347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Two Asset Example</a:t>
            </a:r>
          </a:p>
        </p:txBody>
      </p:sp>
      <p:sp>
        <p:nvSpPr>
          <p:cNvPr id="21508" name="Rectangle 3"/>
          <p:cNvSpPr>
            <a:spLocks noGrp="1" noChangeArrowheads="1"/>
          </p:cNvSpPr>
          <p:nvPr>
            <p:ph type="body" idx="1"/>
          </p:nvPr>
        </p:nvSpPr>
        <p:spPr>
          <a:xfrm>
            <a:off x="1143000" y="1600200"/>
            <a:ext cx="7313612" cy="4114800"/>
          </a:xfrm>
        </p:spPr>
        <p:txBody>
          <a:bodyPr/>
          <a:lstStyle/>
          <a:p>
            <a:pPr marL="222250" indent="-222250" eaLnBrk="1" hangingPunct="1"/>
            <a:r>
              <a:rPr lang="en-US" sz="2000" dirty="0">
                <a:latin typeface="Times New Roman" pitchFamily="18" charset="0"/>
              </a:rPr>
              <a:t>  Find combinations of assets that</a:t>
            </a:r>
          </a:p>
          <a:p>
            <a:pPr lvl="1" eaLnBrk="1" hangingPunct="1"/>
            <a:r>
              <a:rPr lang="en-US" sz="2000" dirty="0">
                <a:latin typeface="Times New Roman" pitchFamily="18" charset="0"/>
              </a:rPr>
              <a:t>Minimize risk for a given expected return, or</a:t>
            </a:r>
          </a:p>
          <a:p>
            <a:pPr lvl="1" eaLnBrk="1" hangingPunct="1"/>
            <a:r>
              <a:rPr lang="en-US" sz="2000" dirty="0">
                <a:latin typeface="Times New Roman" pitchFamily="18" charset="0"/>
              </a:rPr>
              <a:t>Maximize expected return for a given volatility</a:t>
            </a:r>
          </a:p>
          <a:p>
            <a:pPr marL="222250" indent="-222250" eaLnBrk="1" hangingPunct="1"/>
            <a:r>
              <a:rPr lang="en-US" sz="2000" dirty="0">
                <a:latin typeface="Times New Roman" pitchFamily="18" charset="0"/>
              </a:rPr>
              <a:t>  </a:t>
            </a:r>
            <a:r>
              <a:rPr lang="en-US" sz="2000" dirty="0">
                <a:solidFill>
                  <a:srgbClr val="00B050"/>
                </a:solidFill>
                <a:latin typeface="Times New Roman" pitchFamily="18" charset="0"/>
                <a:cs typeface="Times New Roman" pitchFamily="18" charset="0"/>
              </a:rPr>
              <a:t>In class</a:t>
            </a:r>
            <a:r>
              <a:rPr lang="en-US" sz="2000" dirty="0">
                <a:latin typeface="Times New Roman" pitchFamily="18" charset="0"/>
              </a:rPr>
              <a:t>: </a:t>
            </a:r>
            <a:r>
              <a:rPr lang="en-US" sz="2000" dirty="0">
                <a:solidFill>
                  <a:srgbClr val="00B050"/>
                </a:solidFill>
                <a:latin typeface="Times New Roman" pitchFamily="18" charset="0"/>
              </a:rPr>
              <a:t>Assume two asset classes as shown below. Vary weights by 10% and calculate expected returns and volatility of the 11 portfolios. </a:t>
            </a:r>
          </a:p>
          <a:p>
            <a:pPr lvl="1" eaLnBrk="1" hangingPunct="1"/>
            <a:r>
              <a:rPr lang="en-US" sz="2000" dirty="0">
                <a:latin typeface="Times New Roman" pitchFamily="18" charset="0"/>
              </a:rPr>
              <a:t>Stock: E(r) = .08,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S</a:t>
            </a:r>
            <a:r>
              <a:rPr lang="en-US" sz="2000" dirty="0">
                <a:latin typeface="Times New Roman" pitchFamily="18" charset="0"/>
                <a:cs typeface="Times New Roman" pitchFamily="18" charset="0"/>
              </a:rPr>
              <a:t> = .15</a:t>
            </a:r>
          </a:p>
          <a:p>
            <a:pPr lvl="1" eaLnBrk="1" hangingPunct="1"/>
            <a:r>
              <a:rPr lang="en-US" sz="2000" dirty="0">
                <a:latin typeface="Times New Roman" pitchFamily="18" charset="0"/>
                <a:cs typeface="Times New Roman" pitchFamily="18" charset="0"/>
              </a:rPr>
              <a:t>Bonds: E(r) = .04,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B</a:t>
            </a:r>
            <a:r>
              <a:rPr lang="en-US" sz="2000" dirty="0">
                <a:latin typeface="Times New Roman" pitchFamily="18" charset="0"/>
                <a:cs typeface="Times New Roman" pitchFamily="18" charset="0"/>
              </a:rPr>
              <a:t> = .10</a:t>
            </a:r>
          </a:p>
          <a:p>
            <a:pPr lvl="1" eaLnBrk="1" hangingPunct="1"/>
            <a:r>
              <a:rPr lang="en-US" sz="2000" dirty="0">
                <a:latin typeface="Times New Roman" pitchFamily="18" charset="0"/>
                <a:cs typeface="Times New Roman" pitchFamily="18" charset="0"/>
              </a:rPr>
              <a:t>Correlation: </a:t>
            </a:r>
            <a:r>
              <a:rPr lang="en-US" sz="2000" dirty="0" err="1">
                <a:latin typeface="Times New Roman" pitchFamily="18" charset="0"/>
                <a:cs typeface="Times New Roman" pitchFamily="18" charset="0"/>
              </a:rPr>
              <a:t>ρ</a:t>
            </a:r>
            <a:r>
              <a:rPr lang="en-US" sz="2000" baseline="-25000" dirty="0" err="1">
                <a:latin typeface="Times New Roman" pitchFamily="18" charset="0"/>
                <a:cs typeface="Times New Roman" pitchFamily="18" charset="0"/>
              </a:rPr>
              <a:t>S,B</a:t>
            </a:r>
            <a:r>
              <a:rPr lang="en-US" sz="2000" dirty="0">
                <a:latin typeface="Times New Roman" pitchFamily="18" charset="0"/>
                <a:cs typeface="Times New Roman" pitchFamily="18" charset="0"/>
              </a:rPr>
              <a:t> = .30</a:t>
            </a:r>
          </a:p>
          <a:p>
            <a:pPr eaLnBrk="1" hangingPunct="1"/>
            <a:endParaRPr lang="en-US" sz="2000" dirty="0">
              <a:latin typeface="Times New Roman" pitchFamily="18" charset="0"/>
              <a:cs typeface="Times New Roman" pitchFamily="18" charset="0"/>
            </a:endParaRPr>
          </a:p>
          <a:p>
            <a:pPr eaLnBrk="1" hangingPunct="1"/>
            <a:r>
              <a:rPr lang="en-US" sz="2000" dirty="0">
                <a:latin typeface="Times New Roman" pitchFamily="18" charset="0"/>
                <a:cs typeface="Times New Roman" pitchFamily="18" charset="0"/>
              </a:rPr>
              <a:t>Remember E[</a:t>
            </a:r>
            <a:r>
              <a:rPr lang="en-US" sz="2000" dirty="0" err="1">
                <a:latin typeface="Times New Roman" pitchFamily="18" charset="0"/>
                <a:cs typeface="Times New Roman" pitchFamily="18" charset="0"/>
              </a:rPr>
              <a:t>Rp</a:t>
            </a:r>
            <a:r>
              <a:rPr lang="en-US" sz="2000" dirty="0">
                <a:latin typeface="Times New Roman" pitchFamily="18" charset="0"/>
                <a:cs typeface="Times New Roman" pitchFamily="18" charset="0"/>
              </a:rPr>
              <a:t>]=w1E[R1]+w2E[R2]</a:t>
            </a:r>
          </a:p>
          <a:p>
            <a:pPr eaLnBrk="1" hangingPunct="1"/>
            <a:r>
              <a:rPr lang="en-US" sz="2000" dirty="0">
                <a:latin typeface="Times New Roman" pitchFamily="18" charset="0"/>
                <a:cs typeface="Times New Roman" pitchFamily="18" charset="0"/>
              </a:rPr>
              <a:t>And Var(</a:t>
            </a:r>
            <a:r>
              <a:rPr lang="en-US" sz="2000" dirty="0" err="1">
                <a:latin typeface="Times New Roman" pitchFamily="18" charset="0"/>
                <a:cs typeface="Times New Roman" pitchFamily="18" charset="0"/>
              </a:rPr>
              <a:t>Rp</a:t>
            </a:r>
            <a:r>
              <a:rPr lang="en-US" sz="2000" dirty="0">
                <a:latin typeface="Times New Roman" pitchFamily="18" charset="0"/>
                <a:cs typeface="Times New Roman" pitchFamily="18" charset="0"/>
              </a:rPr>
              <a:t>) = (w1^2)*Var(R1) + (w2^2)*Var(R2) + 2*w1 * w2 * </a:t>
            </a:r>
            <a:r>
              <a:rPr lang="en-US" sz="2000" dirty="0" err="1">
                <a:latin typeface="Times New Roman" pitchFamily="18" charset="0"/>
                <a:cs typeface="Times New Roman" pitchFamily="18" charset="0"/>
              </a:rPr>
              <a:t>Cov</a:t>
            </a:r>
            <a:r>
              <a:rPr lang="en-US" sz="2000" dirty="0">
                <a:latin typeface="Times New Roman" pitchFamily="18" charset="0"/>
                <a:cs typeface="Times New Roman" pitchFamily="18" charset="0"/>
              </a:rPr>
              <a:t>(R1,R2)</a:t>
            </a:r>
            <a:endParaRPr lang="en-US" sz="2000" dirty="0">
              <a:latin typeface="Times New Roman" pitchFamily="18" charset="0"/>
            </a:endParaRPr>
          </a:p>
        </p:txBody>
      </p:sp>
      <p:sp>
        <p:nvSpPr>
          <p:cNvPr id="4" name="TextBox 3"/>
          <p:cNvSpPr txBox="1"/>
          <p:nvPr/>
        </p:nvSpPr>
        <p:spPr>
          <a:xfrm>
            <a:off x="6172200" y="3918260"/>
            <a:ext cx="2857500" cy="830997"/>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600" b="0" i="0" u="none" strike="noStrike" kern="1200" cap="none" spc="0" normalizeH="0" baseline="0" noProof="0" dirty="0">
                <a:ln>
                  <a:noFill/>
                </a:ln>
                <a:solidFill>
                  <a:srgbClr val="000000"/>
                </a:solidFill>
                <a:effectLst/>
                <a:uLnTx/>
                <a:uFillTx/>
                <a:cs typeface="Arial"/>
              </a:rPr>
              <a:t>Note that these inputs could be estimated from our spreadsheet </a:t>
            </a:r>
            <a:r>
              <a:rPr kumimoji="0" lang="en-CA" sz="1600" b="0" i="0" u="none" strike="noStrike" kern="1200" cap="none" spc="0" normalizeH="0" baseline="0" noProof="0" dirty="0" err="1">
                <a:ln>
                  <a:noFill/>
                </a:ln>
                <a:solidFill>
                  <a:srgbClr val="000000"/>
                </a:solidFill>
                <a:effectLst/>
                <a:uLnTx/>
                <a:uFillTx/>
                <a:cs typeface="Arial"/>
              </a:rPr>
              <a:t>histretSP</a:t>
            </a:r>
            <a:r>
              <a:rPr lang="en-CA" sz="1600" dirty="0">
                <a:solidFill>
                  <a:srgbClr val="000000"/>
                </a:solidFill>
                <a:cs typeface="Arial"/>
              </a:rPr>
              <a:t>!</a:t>
            </a:r>
            <a:r>
              <a:rPr kumimoji="0" lang="en-CA" sz="1600" b="0" i="0" u="none" strike="noStrike" kern="1200" cap="none" spc="0" normalizeH="0" baseline="0" noProof="0" dirty="0">
                <a:ln>
                  <a:noFill/>
                </a:ln>
                <a:solidFill>
                  <a:srgbClr val="000000"/>
                </a:solidFill>
                <a:effectLst/>
                <a:uLnTx/>
                <a:uFillTx/>
                <a:cs typeface="Arial"/>
              </a:rPr>
              <a:t> </a:t>
            </a:r>
          </a:p>
        </p:txBody>
      </p:sp>
      <p:sp>
        <p:nvSpPr>
          <p:cNvPr id="5" name="Left Arrow 4"/>
          <p:cNvSpPr/>
          <p:nvPr/>
        </p:nvSpPr>
        <p:spPr>
          <a:xfrm>
            <a:off x="5257800" y="4058403"/>
            <a:ext cx="762000" cy="261206"/>
          </a:xfrm>
          <a:prstGeom prst="lef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Verdana"/>
              <a:ea typeface="+mn-ea"/>
              <a:cs typeface="Arial"/>
            </a:endParaRPr>
          </a:p>
        </p:txBody>
      </p:sp>
    </p:spTree>
    <p:extLst>
      <p:ext uri="{BB962C8B-B14F-4D97-AF65-F5344CB8AC3E}">
        <p14:creationId xmlns:p14="http://schemas.microsoft.com/office/powerpoint/2010/main" val="50399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The Efficient Frontier in the Example</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3578"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graphicFrame>
        <p:nvGraphicFramePr>
          <p:cNvPr id="2051" name="Object 6"/>
          <p:cNvGraphicFramePr>
            <a:graphicFrameLocks noGrp="1" noChangeAspect="1"/>
          </p:cNvGraphicFramePr>
          <p:nvPr>
            <p:ph sz="half" idx="2"/>
            <p:extLst/>
          </p:nvPr>
        </p:nvGraphicFramePr>
        <p:xfrm>
          <a:off x="1512888" y="2035175"/>
          <a:ext cx="7170737" cy="3805238"/>
        </p:xfrm>
        <a:graphic>
          <a:graphicData uri="http://schemas.openxmlformats.org/presentationml/2006/ole">
            <mc:AlternateContent xmlns:mc="http://schemas.openxmlformats.org/markup-compatibility/2006">
              <mc:Choice xmlns:v="urn:schemas-microsoft-com:vml" Requires="v">
                <p:oleObj spid="_x0000_s23579" name="Chart" r:id="rId6" imgW="5114860" imgH="2438520" progId="Excel.Chart.8">
                  <p:embed/>
                </p:oleObj>
              </mc:Choice>
              <mc:Fallback>
                <p:oleObj name="Chart" r:id="rId6" imgW="5114860" imgH="2438520" progId="Excel.Chart.8">
                  <p:embed/>
                  <p:pic>
                    <p:nvPicPr>
                      <p:cNvPr id="205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888" y="2035175"/>
                        <a:ext cx="7170737"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1676400" y="6022757"/>
            <a:ext cx="6353630" cy="646331"/>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The efficient frontier includes only points on the curve above the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“minimum variance portfolio” (MVP)</a:t>
            </a:r>
          </a:p>
        </p:txBody>
      </p:sp>
      <p:cxnSp>
        <p:nvCxnSpPr>
          <p:cNvPr id="4" name="Straight Arrow Connector 3"/>
          <p:cNvCxnSpPr/>
          <p:nvPr/>
        </p:nvCxnSpPr>
        <p:spPr>
          <a:xfrm>
            <a:off x="3641847" y="3200400"/>
            <a:ext cx="609600" cy="45720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01359" y="2971800"/>
            <a:ext cx="684803" cy="369332"/>
          </a:xfrm>
          <a:prstGeom prst="rect">
            <a:avLst/>
          </a:prstGeom>
          <a:noFill/>
          <a:ln>
            <a:solidFill>
              <a:schemeClr val="tx1"/>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MVP</a:t>
            </a:r>
          </a:p>
        </p:txBody>
      </p:sp>
    </p:spTree>
    <p:extLst>
      <p:ext uri="{BB962C8B-B14F-4D97-AF65-F5344CB8AC3E}">
        <p14:creationId xmlns:p14="http://schemas.microsoft.com/office/powerpoint/2010/main" val="2386192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Sharpe Ratio</a:t>
            </a:r>
          </a:p>
        </p:txBody>
      </p:sp>
      <mc:AlternateContent xmlns:mc="http://schemas.openxmlformats.org/markup-compatibility/2006" xmlns:a14="http://schemas.microsoft.com/office/drawing/2010/main">
        <mc:Choice Requires="a14">
          <p:sp>
            <p:nvSpPr>
              <p:cNvPr id="23556" name="Rectangle 3"/>
              <p:cNvSpPr>
                <a:spLocks noGrp="1" noChangeArrowheads="1"/>
              </p:cNvSpPr>
              <p:nvPr>
                <p:ph type="body" idx="1"/>
              </p:nvPr>
            </p:nvSpPr>
            <p:spPr>
              <a:xfrm>
                <a:off x="1066800" y="1827213"/>
                <a:ext cx="8001000"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Definition: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𝐸</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num>
                      <m:den>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𝑝</m:t>
                            </m:r>
                          </m:sub>
                        </m:sSub>
                      </m:den>
                    </m:f>
                  </m:oMath>
                </a14:m>
                <a:endParaRPr lang="en-US" sz="2400" dirty="0">
                  <a:latin typeface="Times New Roman" pitchFamily="18" charset="0"/>
                </a:endParaRPr>
              </a:p>
              <a:p>
                <a:pPr marL="222250" indent="-222250" eaLnBrk="1" hangingPunct="1"/>
                <a:r>
                  <a:rPr lang="en-US" sz="2400" dirty="0">
                    <a:latin typeface="Times New Roman" pitchFamily="18" charset="0"/>
                  </a:rPr>
                  <a:t>A measure of performance, expected excess return divided by standard deviation</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The Maximal Sharpe Ratio Portfolio (MSRP) is special because it is the portfolio among all possibilities that gives us the highest Sharpe ratio</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This measure of performance is especially useful for an entire portfolio</a:t>
                </a:r>
              </a:p>
              <a:p>
                <a:pPr marL="0" indent="0" eaLnBrk="1" hangingPunct="1">
                  <a:buNone/>
                </a:pPr>
                <a:endParaRPr lang="en-US" dirty="0">
                  <a:latin typeface="Times New Roman" pitchFamily="18" charset="0"/>
                </a:endParaRPr>
              </a:p>
            </p:txBody>
          </p:sp>
        </mc:Choice>
        <mc:Fallback xmlns="">
          <p:sp>
            <p:nvSpPr>
              <p:cNvPr id="23556" name="Rectangle 3"/>
              <p:cNvSpPr>
                <a:spLocks noGrp="1" noRot="1" noChangeAspect="1" noMove="1" noResize="1" noEditPoints="1" noAdjustHandles="1" noChangeArrowheads="1" noChangeShapeType="1" noTextEdit="1"/>
              </p:cNvSpPr>
              <p:nvPr>
                <p:ph type="body" idx="1"/>
              </p:nvPr>
            </p:nvSpPr>
            <p:spPr>
              <a:xfrm>
                <a:off x="1066800" y="1827213"/>
                <a:ext cx="8001000" cy="4114800"/>
              </a:xfrm>
              <a:blipFill>
                <a:blip r:embed="rId3"/>
                <a:stretch>
                  <a:fillRect l="-685" r="-1219" b="-10222"/>
                </a:stretch>
              </a:blipFill>
            </p:spPr>
            <p:txBody>
              <a:bodyPr/>
              <a:lstStyle/>
              <a:p>
                <a:r>
                  <a:rPr lang="en-US">
                    <a:noFill/>
                  </a:rPr>
                  <a:t> </a:t>
                </a:r>
              </a:p>
            </p:txBody>
          </p:sp>
        </mc:Fallback>
      </mc:AlternateContent>
    </p:spTree>
    <p:extLst>
      <p:ext uri="{BB962C8B-B14F-4D97-AF65-F5344CB8AC3E}">
        <p14:creationId xmlns:p14="http://schemas.microsoft.com/office/powerpoint/2010/main" val="84426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3" end="3"/>
                                            </p:txEl>
                                          </p:spTgt>
                                        </p:tgtEl>
                                        <p:attrNameLst>
                                          <p:attrName>style.visibility</p:attrName>
                                        </p:attrNameLst>
                                      </p:cBhvr>
                                      <p:to>
                                        <p:strVal val="visible"/>
                                      </p:to>
                                    </p:set>
                                    <p:anim calcmode="lin" valueType="num">
                                      <p:cBhvr additive="base">
                                        <p:cTn id="7"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5" end="5"/>
                                            </p:txEl>
                                          </p:spTgt>
                                        </p:tgtEl>
                                        <p:attrNameLst>
                                          <p:attrName>style.visibility</p:attrName>
                                        </p:attrNameLst>
                                      </p:cBhvr>
                                      <p:to>
                                        <p:strVal val="visible"/>
                                      </p:to>
                                    </p:set>
                                    <p:anim calcmode="lin" valueType="num">
                                      <p:cBhvr additive="base">
                                        <p:cTn id="13"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Adding a risk-free asset</a:t>
            </a:r>
          </a:p>
        </p:txBody>
      </p:sp>
      <p:sp>
        <p:nvSpPr>
          <p:cNvPr id="23556" name="Rectangle 3"/>
          <p:cNvSpPr>
            <a:spLocks noGrp="1" noChangeArrowheads="1"/>
          </p:cNvSpPr>
          <p:nvPr>
            <p:ph type="body" idx="1"/>
          </p:nvPr>
        </p:nvSpPr>
        <p:spPr>
          <a:xfrm>
            <a:off x="1219200" y="1676400"/>
            <a:ext cx="7313612" cy="4573587"/>
          </a:xfrm>
        </p:spPr>
        <p:txBody>
          <a:bodyPr/>
          <a:lstStyle/>
          <a:p>
            <a:pPr marL="222250" indent="-222250" eaLnBrk="1" hangingPunct="1"/>
            <a:r>
              <a:rPr lang="en-US" sz="2400" dirty="0">
                <a:latin typeface="Times New Roman" pitchFamily="18" charset="0"/>
              </a:rPr>
              <a:t> If we add a risk-free asset to any risky asset efficient frontier, we end up improving the efficient frontier</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The new efficient frontier is a line, linear combinations of risk-free asset with a single portfolio, the Maximal Sharpe Ratio Portfolio</a:t>
            </a:r>
          </a:p>
          <a:p>
            <a:pPr marL="622300" lvl="1" indent="-222250" eaLnBrk="1" hangingPunct="1"/>
            <a:r>
              <a:rPr lang="en-US" sz="2400" dirty="0">
                <a:latin typeface="Times New Roman" pitchFamily="18" charset="0"/>
              </a:rPr>
              <a:t>See next slide…</a:t>
            </a:r>
          </a:p>
        </p:txBody>
      </p:sp>
    </p:spTree>
    <p:extLst>
      <p:ext uri="{BB962C8B-B14F-4D97-AF65-F5344CB8AC3E}">
        <p14:creationId xmlns:p14="http://schemas.microsoft.com/office/powerpoint/2010/main" val="70853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3" end="3"/>
                                            </p:txEl>
                                          </p:spTgt>
                                        </p:tgtEl>
                                        <p:attrNameLst>
                                          <p:attrName>style.visibility</p:attrName>
                                        </p:attrNameLst>
                                      </p:cBhvr>
                                      <p:to>
                                        <p:strVal val="visible"/>
                                      </p:to>
                                    </p:set>
                                    <p:anim calcmode="lin" valueType="num">
                                      <p:cBhvr additive="base">
                                        <p:cTn id="7"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Combining risky asset and risk-free</a:t>
            </a:r>
          </a:p>
        </p:txBody>
      </p:sp>
      <p:sp>
        <p:nvSpPr>
          <p:cNvPr id="23556" name="Rectangle 3"/>
          <p:cNvSpPr>
            <a:spLocks noGrp="1" noChangeArrowheads="1"/>
          </p:cNvSpPr>
          <p:nvPr>
            <p:ph type="body" idx="1"/>
          </p:nvPr>
        </p:nvSpPr>
        <p:spPr>
          <a:xfrm>
            <a:off x="1219200" y="1676400"/>
            <a:ext cx="7313612" cy="4573587"/>
          </a:xfrm>
        </p:spPr>
        <p:txBody>
          <a:bodyPr/>
          <a:lstStyle/>
          <a:p>
            <a:pPr marL="222250" indent="-222250" eaLnBrk="1" hangingPunct="1"/>
            <a:r>
              <a:rPr lang="en-US" dirty="0">
                <a:latin typeface="Times New Roman" pitchFamily="18" charset="0"/>
              </a:rPr>
              <a:t>Using our formulas (assume excess returns, so risk-free excess is by def zero always)</a:t>
            </a:r>
          </a:p>
          <a:p>
            <a:pPr marL="0" indent="0" eaLnBrk="1" hangingPunct="1">
              <a:buNone/>
            </a:pPr>
            <a:r>
              <a:rPr lang="en-US" dirty="0">
                <a:latin typeface="Times New Roman" pitchFamily="18" charset="0"/>
              </a:rPr>
              <a:t>E[w1*r1+w2*0]=w_1*E(r1)</a:t>
            </a:r>
          </a:p>
          <a:p>
            <a:pPr marL="0" indent="0" eaLnBrk="1" hangingPunct="1">
              <a:buNone/>
            </a:pPr>
            <a:endParaRPr lang="en-US" dirty="0">
              <a:latin typeface="Times New Roman" pitchFamily="18" charset="0"/>
            </a:endParaRPr>
          </a:p>
          <a:p>
            <a:pPr marL="0" indent="0" eaLnBrk="1" hangingPunct="1">
              <a:buNone/>
            </a:pPr>
            <a:r>
              <a:rPr lang="en-US" dirty="0">
                <a:latin typeface="Times New Roman" pitchFamily="18" charset="0"/>
              </a:rPr>
              <a:t>Var[w1*r1+w2*0]=w1^2*Var(r1)</a:t>
            </a:r>
          </a:p>
          <a:p>
            <a:pPr marL="0" indent="0" eaLnBrk="1" hangingPunct="1">
              <a:buNone/>
            </a:pPr>
            <a:r>
              <a:rPr lang="en-US" dirty="0">
                <a:latin typeface="Times New Roman" pitchFamily="18" charset="0"/>
              </a:rPr>
              <a:t>Therefore </a:t>
            </a:r>
            <a:r>
              <a:rPr lang="en-US" dirty="0" err="1">
                <a:latin typeface="Times New Roman" pitchFamily="18" charset="0"/>
              </a:rPr>
              <a:t>s.d.</a:t>
            </a:r>
            <a:r>
              <a:rPr lang="en-US" dirty="0">
                <a:latin typeface="Times New Roman" pitchFamily="18" charset="0"/>
              </a:rPr>
              <a:t>[w1*r1+w2*0]=w1*sigma1</a:t>
            </a:r>
          </a:p>
          <a:p>
            <a:pPr marL="0" indent="0" eaLnBrk="1" hangingPunct="1">
              <a:buNone/>
            </a:pPr>
            <a:endParaRPr lang="en-US" dirty="0">
              <a:latin typeface="Times New Roman" pitchFamily="18" charset="0"/>
            </a:endParaRPr>
          </a:p>
          <a:p>
            <a:pPr marL="0" indent="0" eaLnBrk="1" hangingPunct="1">
              <a:buNone/>
            </a:pPr>
            <a:r>
              <a:rPr lang="en-US" dirty="0">
                <a:latin typeface="Times New Roman" pitchFamily="18" charset="0"/>
              </a:rPr>
              <a:t>Both mean and standard deviation are linear in w, varying w traces a line in mean-</a:t>
            </a:r>
            <a:r>
              <a:rPr lang="en-US" dirty="0" err="1">
                <a:latin typeface="Times New Roman" pitchFamily="18" charset="0"/>
              </a:rPr>
              <a:t>sd</a:t>
            </a:r>
            <a:r>
              <a:rPr lang="en-US" dirty="0">
                <a:latin typeface="Times New Roman" pitchFamily="18" charset="0"/>
              </a:rPr>
              <a:t> graph.</a:t>
            </a:r>
          </a:p>
        </p:txBody>
      </p:sp>
    </p:spTree>
    <p:extLst>
      <p:ext uri="{BB962C8B-B14F-4D97-AF65-F5344CB8AC3E}">
        <p14:creationId xmlns:p14="http://schemas.microsoft.com/office/powerpoint/2010/main" val="282832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Efficient Frontier with Riskless Asset</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5610"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sp>
        <p:nvSpPr>
          <p:cNvPr id="2" name="TextBox 1"/>
          <p:cNvSpPr txBox="1"/>
          <p:nvPr/>
        </p:nvSpPr>
        <p:spPr>
          <a:xfrm>
            <a:off x="266700" y="5371623"/>
            <a:ext cx="8610600" cy="1477328"/>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With a riskless asset, the new “efficient frontier” is the black arrow.</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Single contact with risky frontier is MSRP, or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All M-V investors hold combination of riskless asset and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Tangency portfolio is “market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Leads to CAPM</a:t>
            </a:r>
          </a:p>
        </p:txBody>
      </p:sp>
      <p:cxnSp>
        <p:nvCxnSpPr>
          <p:cNvPr id="5" name="Straight Arrow Connector 4"/>
          <p:cNvCxnSpPr>
            <a:cxnSpLocks/>
          </p:cNvCxnSpPr>
          <p:nvPr/>
        </p:nvCxnSpPr>
        <p:spPr>
          <a:xfrm flipV="1">
            <a:off x="1447800" y="1676400"/>
            <a:ext cx="5791200" cy="3198884"/>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048000" y="1815683"/>
            <a:ext cx="1804725" cy="369332"/>
          </a:xfrm>
          <a:prstGeom prst="rect">
            <a:avLst/>
          </a:prstGeom>
          <a:solidFill>
            <a:schemeClr val="accent1">
              <a:lumMod val="20000"/>
              <a:lumOff val="80000"/>
            </a:schemeClr>
          </a:solidFill>
          <a:ln w="19050">
            <a:solidFill>
              <a:schemeClr val="accent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MSRP / tangency</a:t>
            </a:r>
          </a:p>
        </p:txBody>
      </p:sp>
      <p:cxnSp>
        <p:nvCxnSpPr>
          <p:cNvPr id="16" name="Straight Arrow Connector 15"/>
          <p:cNvCxnSpPr/>
          <p:nvPr/>
        </p:nvCxnSpPr>
        <p:spPr>
          <a:xfrm>
            <a:off x="4707797" y="2285326"/>
            <a:ext cx="638043" cy="3397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Chart 9">
            <a:extLst>
              <a:ext uri="{FF2B5EF4-FFF2-40B4-BE49-F238E27FC236}">
                <a16:creationId xmlns:a16="http://schemas.microsoft.com/office/drawing/2014/main" id="{00000000-0008-0000-0000-000006040000}"/>
              </a:ext>
            </a:extLst>
          </p:cNvPr>
          <p:cNvGraphicFramePr>
            <a:graphicFrameLocks/>
          </p:cNvGraphicFramePr>
          <p:nvPr>
            <p:extLst/>
          </p:nvPr>
        </p:nvGraphicFramePr>
        <p:xfrm>
          <a:off x="762000" y="1506179"/>
          <a:ext cx="7313612" cy="38062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10135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p:txBody>
          <a:bodyPr/>
          <a:lstStyle/>
          <a:p>
            <a:pPr eaLnBrk="1" hangingPunct="1"/>
            <a:r>
              <a:rPr lang="en-US" sz="2700" b="1" dirty="0">
                <a:latin typeface="Times New Roman" pitchFamily="18" charset="0"/>
              </a:rPr>
              <a:t>General Statement of Mean-Variance Objective Function with Two Assets</a:t>
            </a:r>
          </a:p>
        </p:txBody>
      </p:sp>
      <mc:AlternateContent xmlns:mc="http://schemas.openxmlformats.org/markup-compatibility/2006" xmlns:a14="http://schemas.microsoft.com/office/drawing/2010/main">
        <mc:Choice Requires="a14">
          <p:sp>
            <p:nvSpPr>
              <p:cNvPr id="1032" name="Rectangle 3"/>
              <p:cNvSpPr>
                <a:spLocks noGrp="1" noChangeArrowheads="1"/>
              </p:cNvSpPr>
              <p:nvPr>
                <p:ph type="body" sz="half" idx="1"/>
              </p:nvPr>
            </p:nvSpPr>
            <p:spPr>
              <a:xfrm>
                <a:off x="914400" y="1600200"/>
                <a:ext cx="7848600" cy="4530725"/>
              </a:xfrm>
            </p:spPr>
            <p:txBody>
              <a:bodyPr/>
              <a:lstStyle/>
              <a:p>
                <a:pPr eaLnBrk="1" hangingPunct="1">
                  <a:lnSpc>
                    <a:spcPct val="80000"/>
                  </a:lnSpc>
                </a:pPr>
                <a:r>
                  <a:rPr lang="en-US" sz="2100" dirty="0">
                    <a:latin typeface="Times New Roman" pitchFamily="18" charset="0"/>
                  </a:rPr>
                  <a:t>Solve the equation</a:t>
                </a:r>
              </a:p>
              <a:p>
                <a:pPr marL="0" indent="0" eaLnBrk="1" hangingPunct="1">
                  <a:lnSpc>
                    <a:spcPct val="80000"/>
                  </a:lnSpc>
                  <a:buNone/>
                </a:pPr>
                <a:r>
                  <a:rPr lang="en-US" sz="2100" dirty="0">
                    <a:latin typeface="Times New Roman" pitchFamily="18" charset="0"/>
                  </a:rPr>
                  <a:t> </a:t>
                </a:r>
              </a:p>
              <a:p>
                <a:pPr marL="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𝑀𝑖𝑛</m:t>
                          </m:r>
                        </m:e>
                        <m:sub>
                          <m:r>
                            <a:rPr lang="en-US" sz="2400" b="0" i="1" smtClean="0">
                              <a:latin typeface="Cambria Math" panose="02040503050406030204" pitchFamily="18" charset="0"/>
                            </a:rPr>
                            <m:t>𝑤</m:t>
                          </m:r>
                        </m:sub>
                      </m:sSub>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𝑝</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2</m:t>
                          </m:r>
                        </m:sub>
                        <m:sup>
                          <m:r>
                            <a:rPr lang="en-US" sz="2400" i="1">
                              <a:latin typeface="Cambria Math" panose="02040503050406030204" pitchFamily="18" charset="0"/>
                            </a:rPr>
                            <m:t>2</m:t>
                          </m:r>
                        </m:sup>
                      </m:sSubSup>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12</m:t>
                          </m:r>
                        </m:sub>
                      </m:sSub>
                    </m:oMath>
                  </m:oMathPara>
                </a14:m>
                <a:endParaRPr lang="en-US" sz="2400" dirty="0">
                  <a:latin typeface="Times New Roman" pitchFamily="18" charset="0"/>
                </a:endParaRPr>
              </a:p>
              <a:p>
                <a:pPr marL="0" indent="0" eaLnBrk="1" hangingPunct="1">
                  <a:lnSpc>
                    <a:spcPct val="80000"/>
                  </a:lnSpc>
                  <a:buNone/>
                </a:pPr>
                <a:endParaRPr lang="en-US" sz="2400" dirty="0">
                  <a:latin typeface="Times New Roman" pitchFamily="18" charset="0"/>
                </a:endParaRPr>
              </a:p>
              <a:p>
                <a:pPr eaLnBrk="1" hangingPunct="1">
                  <a:lnSpc>
                    <a:spcPct val="80000"/>
                  </a:lnSpc>
                </a:pPr>
                <a:r>
                  <a:rPr lang="en-US" sz="2100" dirty="0">
                    <a:latin typeface="Times New Roman" pitchFamily="18" charset="0"/>
                  </a:rPr>
                  <a:t>Subject to </a:t>
                </a:r>
                <a14:m>
                  <m:oMath xmlns:m="http://schemas.openxmlformats.org/officeDocument/2006/math">
                    <m:sSub>
                      <m:sSubPr>
                        <m:ctrlPr>
                          <a:rPr lang="en-US" sz="210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1</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1</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2</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2</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endParaRPr lang="en-US" sz="2100" dirty="0">
                  <a:latin typeface="Times New Roman" pitchFamily="18" charset="0"/>
                </a:endParaRPr>
              </a:p>
              <a:p>
                <a:pPr eaLnBrk="1" hangingPunct="1">
                  <a:lnSpc>
                    <a:spcPct val="80000"/>
                  </a:lnSpc>
                </a:pPr>
                <a:r>
                  <a:rPr lang="en-US" sz="2100" dirty="0">
                    <a:latin typeface="Times New Roman" pitchFamily="18" charset="0"/>
                  </a:rPr>
                  <a:t>The variance of return to asset class j is </a:t>
                </a:r>
                <a:r>
                  <a:rPr lang="en-US" sz="2100" dirty="0" err="1">
                    <a:latin typeface="Symbol" pitchFamily="18" charset="2"/>
                  </a:rPr>
                  <a:t>s</a:t>
                </a:r>
                <a:r>
                  <a:rPr lang="en-US" sz="2100" baseline="-25000" dirty="0" err="1">
                    <a:latin typeface="Times New Roman" pitchFamily="18" charset="0"/>
                  </a:rPr>
                  <a:t>j</a:t>
                </a:r>
                <a:endParaRPr lang="en-US" sz="2100" baseline="-25000" dirty="0">
                  <a:latin typeface="Times New Roman" pitchFamily="18" charset="0"/>
                </a:endParaRPr>
              </a:p>
              <a:p>
                <a:pPr eaLnBrk="1" hangingPunct="1">
                  <a:lnSpc>
                    <a:spcPct val="80000"/>
                  </a:lnSpc>
                </a:pPr>
                <a:r>
                  <a:rPr lang="en-US" sz="2100" dirty="0" err="1">
                    <a:latin typeface="Times New Roman" pitchFamily="18" charset="0"/>
                  </a:rPr>
                  <a:t>w</a:t>
                </a:r>
                <a:r>
                  <a:rPr lang="en-US" sz="2100" baseline="-25000" dirty="0" err="1">
                    <a:latin typeface="Times New Roman" pitchFamily="18" charset="0"/>
                  </a:rPr>
                  <a:t>i</a:t>
                </a:r>
                <a:r>
                  <a:rPr lang="en-US" sz="2100" dirty="0">
                    <a:latin typeface="Times New Roman" pitchFamily="18" charset="0"/>
                  </a:rPr>
                  <a:t> is the  weighting in asset class </a:t>
                </a:r>
                <a:r>
                  <a:rPr lang="en-US" sz="2100" dirty="0" err="1">
                    <a:latin typeface="Times New Roman" pitchFamily="18" charset="0"/>
                  </a:rPr>
                  <a:t>i</a:t>
                </a:r>
                <a:r>
                  <a:rPr lang="en-US" sz="2100" dirty="0">
                    <a:latin typeface="Times New Roman" pitchFamily="18" charset="0"/>
                  </a:rPr>
                  <a:t>  </a:t>
                </a:r>
              </a:p>
              <a:p>
                <a:pPr eaLnBrk="1" hangingPunct="1">
                  <a:lnSpc>
                    <a:spcPct val="80000"/>
                  </a:lnSpc>
                </a:pPr>
                <a:r>
                  <a:rPr lang="en-US" sz="2100" dirty="0">
                    <a:latin typeface="Times New Roman" pitchFamily="18" charset="0"/>
                  </a:rPr>
                  <a:t>The expected return on asset class j is E(</a:t>
                </a:r>
                <a:r>
                  <a:rPr lang="en-US" sz="2100" dirty="0" err="1">
                    <a:latin typeface="Times New Roman" pitchFamily="18" charset="0"/>
                  </a:rPr>
                  <a:t>r</a:t>
                </a:r>
                <a:r>
                  <a:rPr lang="en-US" sz="2100" baseline="-25000" dirty="0" err="1">
                    <a:latin typeface="Times New Roman" pitchFamily="18" charset="0"/>
                  </a:rPr>
                  <a:t>j</a:t>
                </a:r>
                <a:r>
                  <a:rPr lang="en-US" sz="2100" dirty="0">
                    <a:latin typeface="Times New Roman" pitchFamily="18" charset="0"/>
                  </a:rPr>
                  <a:t>) </a:t>
                </a:r>
              </a:p>
              <a:p>
                <a:pPr eaLnBrk="1" hangingPunct="1">
                  <a:lnSpc>
                    <a:spcPct val="80000"/>
                  </a:lnSpc>
                </a:pPr>
                <a:r>
                  <a:rPr lang="en-US" sz="2100" dirty="0">
                    <a:latin typeface="Times New Roman" pitchFamily="18" charset="0"/>
                  </a:rPr>
                  <a:t>The desired expected return is </a:t>
                </a:r>
                <a14:m>
                  <m:oMath xmlns:m="http://schemas.openxmlformats.org/officeDocument/2006/math">
                    <m:sSub>
                      <m:sSubPr>
                        <m:ctrlPr>
                          <a:rPr lang="en-US" sz="2100" i="1" smtClean="0">
                            <a:latin typeface="Cambria Math" panose="02040503050406030204" pitchFamily="18" charset="0"/>
                          </a:rPr>
                        </m:ctrlPr>
                      </m:sSubPr>
                      <m:e>
                        <m:acc>
                          <m:accPr>
                            <m:chr m:val="̅"/>
                            <m:ctrlPr>
                              <a:rPr lang="en-US" sz="210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covariance of returns is </a:t>
                </a:r>
                <a:r>
                  <a:rPr lang="en-US" sz="2100" dirty="0" err="1">
                    <a:latin typeface="Symbol" pitchFamily="18" charset="2"/>
                  </a:rPr>
                  <a:t>s</a:t>
                </a:r>
                <a:r>
                  <a:rPr lang="en-US" sz="2100" baseline="-25000" dirty="0" err="1">
                    <a:latin typeface="Times New Roman" pitchFamily="18" charset="0"/>
                  </a:rPr>
                  <a:t>ij</a:t>
                </a:r>
                <a:endParaRPr lang="en-US" sz="2100" baseline="-25000" dirty="0">
                  <a:latin typeface="Times New Roman" pitchFamily="18" charset="0"/>
                </a:endParaRPr>
              </a:p>
              <a:p>
                <a:pPr eaLnBrk="1" hangingPunct="1">
                  <a:lnSpc>
                    <a:spcPct val="80000"/>
                  </a:lnSpc>
                </a:pPr>
                <a:r>
                  <a:rPr lang="en-US" sz="2100" dirty="0">
                    <a:latin typeface="Times New Roman" pitchFamily="18" charset="0"/>
                  </a:rPr>
                  <a:t>The variance of the portfolio return is </a:t>
                </a:r>
                <a14:m>
                  <m:oMath xmlns:m="http://schemas.openxmlformats.org/officeDocument/2006/math">
                    <m:sSubSup>
                      <m:sSubSupPr>
                        <m:ctrlPr>
                          <a:rPr lang="en-US" sz="2100" i="1" smtClean="0">
                            <a:latin typeface="Cambria Math" panose="02040503050406030204" pitchFamily="18" charset="0"/>
                          </a:rPr>
                        </m:ctrlPr>
                      </m:sSubSupPr>
                      <m:e>
                        <m:r>
                          <a:rPr lang="en-US" sz="2100" i="1" smtClean="0">
                            <a:latin typeface="Cambria Math" panose="02040503050406030204" pitchFamily="18" charset="0"/>
                            <a:ea typeface="Cambria Math" panose="02040503050406030204" pitchFamily="18" charset="0"/>
                          </a:rPr>
                          <m:t>𝜎</m:t>
                        </m:r>
                      </m:e>
                      <m:sub>
                        <m:r>
                          <a:rPr lang="en-US" sz="2100" b="0" i="1" smtClean="0">
                            <a:latin typeface="Cambria Math" panose="02040503050406030204" pitchFamily="18" charset="0"/>
                          </a:rPr>
                          <m:t>𝑝</m:t>
                        </m:r>
                      </m:sub>
                      <m:sup>
                        <m:r>
                          <a:rPr lang="en-US" sz="2100" b="0" i="1" smtClean="0">
                            <a:latin typeface="Cambria Math" panose="02040503050406030204" pitchFamily="18" charset="0"/>
                          </a:rPr>
                          <m:t>2</m:t>
                        </m:r>
                      </m:sup>
                    </m:sSubSup>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portfolio weights satisfy w1+w2=1 or equivalently w2=1-w1</a:t>
                </a:r>
              </a:p>
              <a:p>
                <a:pPr eaLnBrk="1" hangingPunct="1">
                  <a:lnSpc>
                    <a:spcPct val="80000"/>
                  </a:lnSpc>
                </a:pPr>
                <a:endParaRPr lang="en-US" sz="2100" dirty="0">
                  <a:latin typeface="Times New Roman" pitchFamily="18" charset="0"/>
                </a:endParaRPr>
              </a:p>
            </p:txBody>
          </p:sp>
        </mc:Choice>
        <mc:Fallback xmlns="">
          <p:sp>
            <p:nvSpPr>
              <p:cNvPr id="1032" name="Rectangle 3"/>
              <p:cNvSpPr>
                <a:spLocks noGrp="1" noRot="1" noChangeAspect="1" noMove="1" noResize="1" noEditPoints="1" noAdjustHandles="1" noChangeArrowheads="1" noChangeShapeType="1" noTextEdit="1"/>
              </p:cNvSpPr>
              <p:nvPr>
                <p:ph type="body" sz="half" idx="1"/>
              </p:nvPr>
            </p:nvSpPr>
            <p:spPr>
              <a:xfrm>
                <a:off x="914400" y="1600200"/>
                <a:ext cx="7848600" cy="4530725"/>
              </a:xfrm>
              <a:blipFill>
                <a:blip r:embed="rId3"/>
                <a:stretch>
                  <a:fillRect l="-233" t="-2288"/>
                </a:stretch>
              </a:blipFill>
            </p:spPr>
            <p:txBody>
              <a:bodyPr/>
              <a:lstStyle/>
              <a:p>
                <a:r>
                  <a:rPr lang="en-US">
                    <a:noFill/>
                  </a:rPr>
                  <a:t> </a:t>
                </a:r>
              </a:p>
            </p:txBody>
          </p:sp>
        </mc:Fallback>
      </mc:AlternateContent>
    </p:spTree>
    <p:extLst>
      <p:ext uri="{BB962C8B-B14F-4D97-AF65-F5344CB8AC3E}">
        <p14:creationId xmlns:p14="http://schemas.microsoft.com/office/powerpoint/2010/main" val="55282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28600"/>
            <a:ext cx="7772400" cy="1143000"/>
          </a:xfrm>
        </p:spPr>
        <p:txBody>
          <a:bodyPr/>
          <a:lstStyle/>
          <a:p>
            <a:pPr eaLnBrk="1" hangingPunct="1"/>
            <a:r>
              <a:rPr lang="en-US" sz="2800" b="1" dirty="0">
                <a:latin typeface="Times New Roman" pitchFamily="18" charset="0"/>
              </a:rPr>
              <a:t>Constructing the Mean-Variance Efficient Frontier: </a:t>
            </a:r>
            <a:r>
              <a:rPr lang="en-US" sz="2800" b="1" i="1" dirty="0">
                <a:latin typeface="Times New Roman" pitchFamily="18" charset="0"/>
              </a:rPr>
              <a:t>Three assets</a:t>
            </a:r>
          </a:p>
        </p:txBody>
      </p:sp>
      <p:sp>
        <p:nvSpPr>
          <p:cNvPr id="28676" name="Rectangle 3"/>
          <p:cNvSpPr>
            <a:spLocks noGrp="1" noChangeArrowheads="1"/>
          </p:cNvSpPr>
          <p:nvPr>
            <p:ph type="body" idx="1"/>
          </p:nvPr>
        </p:nvSpPr>
        <p:spPr>
          <a:xfrm>
            <a:off x="685800" y="1752600"/>
            <a:ext cx="8153400" cy="4343400"/>
          </a:xfrm>
        </p:spPr>
        <p:txBody>
          <a:bodyPr/>
          <a:lstStyle/>
          <a:p>
            <a:pPr eaLnBrk="1" hangingPunct="1"/>
            <a:r>
              <a:rPr lang="en-US" sz="2400" dirty="0">
                <a:latin typeface="Times New Roman" pitchFamily="18" charset="0"/>
              </a:rPr>
              <a:t>Suppose the client allows three risky asset classes:  </a:t>
            </a:r>
          </a:p>
          <a:p>
            <a:pPr eaLnBrk="1" hangingPunct="1">
              <a:buFont typeface="Wingdings" pitchFamily="2" charset="2"/>
              <a:buNone/>
            </a:pPr>
            <a:r>
              <a:rPr lang="en-US" sz="2400" dirty="0">
                <a:latin typeface="Times New Roman" pitchFamily="18" charset="0"/>
              </a:rPr>
              <a:t>		(1) government bonds (2) stocks and (3) corporate bonds.</a:t>
            </a:r>
          </a:p>
          <a:p>
            <a:pPr eaLnBrk="1" hangingPunct="1">
              <a:buFont typeface="Wingdings" pitchFamily="2" charset="2"/>
              <a:buNone/>
            </a:pPr>
            <a:r>
              <a:rPr lang="en-US" sz="2400" dirty="0">
                <a:solidFill>
                  <a:srgbClr val="00B050"/>
                </a:solidFill>
                <a:latin typeface="Times New Roman" pitchFamily="18" charset="0"/>
              </a:rPr>
              <a:t>In class:  How would you develop the M-V frontier?</a:t>
            </a:r>
          </a:p>
          <a:p>
            <a:pPr eaLnBrk="1" hangingPunct="1">
              <a:buClr>
                <a:schemeClr val="tx1"/>
              </a:buClr>
            </a:pPr>
            <a:r>
              <a:rPr lang="en-US" sz="2400" dirty="0">
                <a:latin typeface="Times New Roman" pitchFamily="18" charset="0"/>
              </a:rPr>
              <a:t>To construct the M-V efficient frontier, first find the </a:t>
            </a:r>
            <a:r>
              <a:rPr lang="en-US" sz="2400" i="1" dirty="0">
                <a:latin typeface="Times New Roman" pitchFamily="18" charset="0"/>
              </a:rPr>
              <a:t>minimum variance portfolio (MVP)</a:t>
            </a:r>
            <a:r>
              <a:rPr lang="en-US" sz="2400" dirty="0">
                <a:latin typeface="Times New Roman" pitchFamily="18" charset="0"/>
              </a:rPr>
              <a:t>.  </a:t>
            </a:r>
          </a:p>
          <a:p>
            <a:pPr eaLnBrk="1" hangingPunct="1">
              <a:buClr>
                <a:schemeClr val="tx1"/>
              </a:buClr>
            </a:pPr>
            <a:r>
              <a:rPr lang="en-US" sz="2400" dirty="0">
                <a:latin typeface="Times New Roman" pitchFamily="18" charset="0"/>
              </a:rPr>
              <a:t>This is the mix that is as far to the left in the M-V graph as possible, regardless of expected return.</a:t>
            </a:r>
          </a:p>
          <a:p>
            <a:pPr eaLnBrk="1" hangingPunct="1">
              <a:buClr>
                <a:schemeClr val="tx1"/>
              </a:buClr>
            </a:pPr>
            <a:r>
              <a:rPr lang="en-US" sz="2400" dirty="0">
                <a:latin typeface="Times New Roman" pitchFamily="18" charset="0"/>
              </a:rPr>
              <a:t>This comes from choosing the weights, </a:t>
            </a:r>
            <a:r>
              <a:rPr lang="en-US" sz="2400" i="1" dirty="0">
                <a:latin typeface="Times New Roman" pitchFamily="18" charset="0"/>
              </a:rPr>
              <a:t>w</a:t>
            </a:r>
            <a:r>
              <a:rPr lang="en-US" sz="2400" i="1" baseline="-25000" dirty="0">
                <a:latin typeface="Times New Roman" pitchFamily="18" charset="0"/>
              </a:rPr>
              <a:t>1 </a:t>
            </a:r>
            <a:r>
              <a:rPr lang="en-US" sz="2400" i="1" dirty="0">
                <a:latin typeface="Times New Roman" pitchFamily="18" charset="0"/>
              </a:rPr>
              <a:t> </a:t>
            </a:r>
            <a:r>
              <a:rPr lang="en-US" sz="2400" dirty="0">
                <a:latin typeface="Times New Roman" pitchFamily="18" charset="0"/>
              </a:rPr>
              <a:t>on government bonds, </a:t>
            </a:r>
            <a:r>
              <a:rPr lang="en-US" sz="2400" i="1" dirty="0">
                <a:latin typeface="Times New Roman" pitchFamily="18" charset="0"/>
              </a:rPr>
              <a:t>w</a:t>
            </a:r>
            <a:r>
              <a:rPr lang="en-US" sz="2400" i="1" baseline="-25000" dirty="0">
                <a:latin typeface="Times New Roman" pitchFamily="18" charset="0"/>
              </a:rPr>
              <a:t>2 </a:t>
            </a:r>
            <a:r>
              <a:rPr lang="en-US" sz="2400" dirty="0">
                <a:latin typeface="Times New Roman" pitchFamily="18" charset="0"/>
              </a:rPr>
              <a:t>on stocks and </a:t>
            </a:r>
            <a:r>
              <a:rPr lang="en-US" sz="2400" i="1" dirty="0">
                <a:latin typeface="Times New Roman" pitchFamily="18" charset="0"/>
              </a:rPr>
              <a:t>w</a:t>
            </a:r>
            <a:r>
              <a:rPr lang="en-US" sz="2400" i="1" baseline="-25000" dirty="0">
                <a:latin typeface="Times New Roman" pitchFamily="18" charset="0"/>
              </a:rPr>
              <a:t>3</a:t>
            </a:r>
            <a:r>
              <a:rPr lang="en-US" sz="2400" i="1" dirty="0">
                <a:latin typeface="Times New Roman" pitchFamily="18" charset="0"/>
              </a:rPr>
              <a:t> (</a:t>
            </a:r>
            <a:r>
              <a:rPr lang="en-US" sz="2400" i="1" baseline="-25000" dirty="0">
                <a:latin typeface="Times New Roman" pitchFamily="18" charset="0"/>
              </a:rPr>
              <a:t> </a:t>
            </a:r>
            <a:r>
              <a:rPr lang="en-US" sz="2400" dirty="0">
                <a:latin typeface="Times New Roman" pitchFamily="18" charset="0"/>
              </a:rPr>
              <a:t>= 1 </a:t>
            </a:r>
            <a:r>
              <a:rPr lang="en-US" sz="2400" i="1" dirty="0">
                <a:latin typeface="Times New Roman" pitchFamily="18" charset="0"/>
              </a:rPr>
              <a:t>-</a:t>
            </a:r>
            <a:r>
              <a:rPr lang="en-US" sz="2400" dirty="0">
                <a:latin typeface="Times New Roman" pitchFamily="18" charset="0"/>
              </a:rPr>
              <a:t> </a:t>
            </a:r>
            <a:r>
              <a:rPr lang="en-US" sz="2400" i="1" dirty="0">
                <a:latin typeface="Times New Roman" pitchFamily="18" charset="0"/>
              </a:rPr>
              <a:t>w</a:t>
            </a:r>
            <a:r>
              <a:rPr lang="en-US" sz="2400" i="1" baseline="-25000" dirty="0">
                <a:latin typeface="Times New Roman" pitchFamily="18" charset="0"/>
              </a:rPr>
              <a:t>1 </a:t>
            </a:r>
            <a:r>
              <a:rPr lang="en-US" sz="2400" i="1" dirty="0">
                <a:latin typeface="Times New Roman" pitchFamily="18" charset="0"/>
              </a:rPr>
              <a:t>- w</a:t>
            </a:r>
            <a:r>
              <a:rPr lang="en-US" sz="2400" baseline="-25000" dirty="0">
                <a:latin typeface="Times New Roman" pitchFamily="18" charset="0"/>
              </a:rPr>
              <a:t>2 </a:t>
            </a:r>
            <a:r>
              <a:rPr lang="en-US" sz="2400" dirty="0">
                <a:latin typeface="Times New Roman" pitchFamily="18" charset="0"/>
              </a:rPr>
              <a:t>) in corporate bonds, to minimize the portfolio return variance (in Excel can use solver)</a:t>
            </a:r>
          </a:p>
        </p:txBody>
      </p:sp>
    </p:spTree>
    <p:extLst>
      <p:ext uri="{BB962C8B-B14F-4D97-AF65-F5344CB8AC3E}">
        <p14:creationId xmlns:p14="http://schemas.microsoft.com/office/powerpoint/2010/main" val="153099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sz="2800" b="1">
                <a:solidFill>
                  <a:schemeClr val="tx1"/>
                </a:solidFill>
                <a:latin typeface="Times New Roman" pitchFamily="18" charset="0"/>
              </a:rPr>
              <a:t>Constructing the Mean-Variance Efficient Frontier: Three assets</a:t>
            </a:r>
          </a:p>
        </p:txBody>
      </p:sp>
      <p:sp>
        <p:nvSpPr>
          <p:cNvPr id="29700" name="Rectangle 3"/>
          <p:cNvSpPr>
            <a:spLocks noGrp="1" noChangeArrowheads="1"/>
          </p:cNvSpPr>
          <p:nvPr>
            <p:ph type="body" idx="1"/>
          </p:nvPr>
        </p:nvSpPr>
        <p:spPr/>
        <p:txBody>
          <a:bodyPr/>
          <a:lstStyle/>
          <a:p>
            <a:pPr eaLnBrk="1" hangingPunct="1"/>
            <a:r>
              <a:rPr lang="en-US" sz="2500" dirty="0">
                <a:latin typeface="Times New Roman" pitchFamily="18" charset="0"/>
              </a:rPr>
              <a:t>The portfolio variance is:</a:t>
            </a:r>
          </a:p>
          <a:p>
            <a:pPr eaLnBrk="1" hangingPunct="1">
              <a:buFont typeface="Wingdings" pitchFamily="2" charset="2"/>
              <a:buNone/>
            </a:pPr>
            <a:r>
              <a:rPr lang="en-US" sz="2500"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1</a:t>
            </a:r>
            <a:r>
              <a:rPr lang="en-US" sz="2500" baseline="30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2</a:t>
            </a:r>
            <a:r>
              <a:rPr lang="en-US" sz="2500" baseline="30000" dirty="0">
                <a:latin typeface="Times New Roman" pitchFamily="18" charset="0"/>
              </a:rPr>
              <a:t>2</a:t>
            </a:r>
            <a:r>
              <a:rPr lang="en-US" sz="2500" dirty="0">
                <a:latin typeface="Times New Roman" pitchFamily="18" charset="0"/>
              </a:rPr>
              <a:t> + (1-w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3</a:t>
            </a:r>
            <a:r>
              <a:rPr lang="en-US" sz="2500" baseline="30000" dirty="0">
                <a:latin typeface="Times New Roman" pitchFamily="18" charset="0"/>
              </a:rPr>
              <a:t>2</a:t>
            </a:r>
            <a:r>
              <a:rPr lang="en-US" sz="2500" dirty="0">
                <a:latin typeface="Times New Roman" pitchFamily="18" charset="0"/>
              </a:rPr>
              <a:t> +2w</a:t>
            </a:r>
            <a:r>
              <a:rPr lang="en-US" sz="2500" baseline="-25000" dirty="0">
                <a:latin typeface="Times New Roman" pitchFamily="18" charset="0"/>
              </a:rPr>
              <a:t>1w2</a:t>
            </a:r>
            <a:r>
              <a:rPr lang="en-US" sz="2500" dirty="0">
                <a:latin typeface="Symbol" pitchFamily="18" charset="2"/>
              </a:rPr>
              <a:t>s</a:t>
            </a:r>
            <a:r>
              <a:rPr lang="en-US" sz="2500" baseline="-25000" dirty="0">
                <a:latin typeface="Times New Roman" pitchFamily="18" charset="0"/>
              </a:rPr>
              <a:t>1,2</a:t>
            </a:r>
            <a:r>
              <a:rPr lang="en-US" sz="2500" dirty="0">
                <a:latin typeface="Times New Roman" pitchFamily="18" charset="0"/>
              </a:rPr>
              <a:t> +2w</a:t>
            </a:r>
            <a:r>
              <a:rPr lang="en-US" sz="2500" baseline="-25000" dirty="0">
                <a:latin typeface="Times New Roman" pitchFamily="18" charset="0"/>
              </a:rPr>
              <a:t>1</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1,3</a:t>
            </a:r>
            <a:r>
              <a:rPr lang="en-US" sz="2500" dirty="0">
                <a:latin typeface="Times New Roman" pitchFamily="18" charset="0"/>
              </a:rPr>
              <a:t> + 2w</a:t>
            </a:r>
            <a:r>
              <a:rPr lang="en-US" sz="2500" baseline="-25000" dirty="0">
                <a:latin typeface="Times New Roman" pitchFamily="18" charset="0"/>
              </a:rPr>
              <a:t>2</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2,3</a:t>
            </a:r>
          </a:p>
          <a:p>
            <a:pPr eaLnBrk="1" hangingPunct="1"/>
            <a:endParaRPr lang="en-US" sz="2500" baseline="-25000" dirty="0">
              <a:latin typeface="Times New Roman" pitchFamily="18" charset="0"/>
            </a:endParaRPr>
          </a:p>
          <a:p>
            <a:pPr eaLnBrk="1" hangingPunct="1"/>
            <a:r>
              <a:rPr lang="en-US" sz="2500" dirty="0">
                <a:latin typeface="Times New Roman" pitchFamily="18" charset="0"/>
              </a:rPr>
              <a:t>Where </a:t>
            </a:r>
            <a:r>
              <a:rPr lang="en-US" sz="2500" dirty="0" err="1">
                <a:latin typeface="Symbol" pitchFamily="18" charset="2"/>
              </a:rPr>
              <a:t>s</a:t>
            </a:r>
            <a:r>
              <a:rPr lang="en-US" sz="2500" baseline="-25000" dirty="0" err="1">
                <a:latin typeface="Times New Roman" pitchFamily="18" charset="0"/>
              </a:rPr>
              <a:t>i,j</a:t>
            </a:r>
            <a:r>
              <a:rPr lang="en-US" sz="2500" dirty="0">
                <a:latin typeface="Times New Roman" pitchFamily="18" charset="0"/>
              </a:rPr>
              <a:t> is the covariance of the returns of asset classes </a:t>
            </a:r>
            <a:r>
              <a:rPr lang="en-US" sz="2500" dirty="0" err="1">
                <a:latin typeface="Times New Roman" pitchFamily="18" charset="0"/>
              </a:rPr>
              <a:t>i</a:t>
            </a:r>
            <a:r>
              <a:rPr lang="en-US" sz="2500" dirty="0">
                <a:latin typeface="Times New Roman" pitchFamily="18" charset="0"/>
              </a:rPr>
              <a:t> and j and </a:t>
            </a:r>
            <a:r>
              <a:rPr lang="en-US" sz="2500" dirty="0" err="1">
                <a:latin typeface="Symbol" pitchFamily="18" charset="2"/>
              </a:rPr>
              <a:t>s</a:t>
            </a:r>
            <a:r>
              <a:rPr lang="en-US" sz="2500" baseline="-25000" dirty="0" err="1">
                <a:latin typeface="Times New Roman" pitchFamily="18" charset="0"/>
              </a:rPr>
              <a:t>j</a:t>
            </a:r>
            <a:r>
              <a:rPr lang="en-US" sz="2500" dirty="0">
                <a:latin typeface="Times New Roman" pitchFamily="18" charset="0"/>
              </a:rPr>
              <a:t> is the standard deviation of returns of asset j</a:t>
            </a:r>
          </a:p>
        </p:txBody>
      </p:sp>
    </p:spTree>
    <p:extLst>
      <p:ext uri="{BB962C8B-B14F-4D97-AF65-F5344CB8AC3E}">
        <p14:creationId xmlns:p14="http://schemas.microsoft.com/office/powerpoint/2010/main" val="778844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dirty="0">
                <a:solidFill>
                  <a:schemeClr val="tx1"/>
                </a:solidFill>
                <a:latin typeface="Times New Roman" pitchFamily="18" charset="0"/>
              </a:rPr>
              <a:t>Three assets: Any desired portfolio return</a:t>
            </a:r>
          </a:p>
        </p:txBody>
      </p:sp>
      <p:sp>
        <p:nvSpPr>
          <p:cNvPr id="30724"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500" dirty="0">
                <a:latin typeface="Times New Roman" pitchFamily="18" charset="0"/>
              </a:rPr>
              <a:t>We solve a </a:t>
            </a:r>
            <a:r>
              <a:rPr lang="en-US" sz="2500" i="1" dirty="0">
                <a:latin typeface="Times New Roman" pitchFamily="18" charset="0"/>
              </a:rPr>
              <a:t>constrained minimization</a:t>
            </a:r>
            <a:r>
              <a:rPr lang="en-US" sz="2500" dirty="0">
                <a:latin typeface="Times New Roman" pitchFamily="18" charset="0"/>
              </a:rPr>
              <a:t>.</a:t>
            </a:r>
          </a:p>
          <a:p>
            <a:pPr eaLnBrk="1" hangingPunct="1">
              <a:lnSpc>
                <a:spcPct val="90000"/>
              </a:lnSpc>
            </a:pPr>
            <a:r>
              <a:rPr lang="en-US" sz="2500" dirty="0">
                <a:latin typeface="Times New Roman" pitchFamily="18" charset="0"/>
              </a:rPr>
              <a:t>We choose  </a:t>
            </a:r>
            <a:r>
              <a:rPr lang="en-US" sz="2500" i="1" dirty="0">
                <a:latin typeface="Times New Roman" pitchFamily="18" charset="0"/>
              </a:rPr>
              <a:t>w</a:t>
            </a:r>
            <a:r>
              <a:rPr lang="en-US" sz="2500" i="1" baseline="-25000" dirty="0">
                <a:latin typeface="Times New Roman" pitchFamily="18" charset="0"/>
              </a:rPr>
              <a:t>1 </a:t>
            </a:r>
            <a:r>
              <a:rPr lang="en-US" sz="2500" dirty="0">
                <a:latin typeface="Times New Roman" pitchFamily="18" charset="0"/>
              </a:rPr>
              <a:t>and </a:t>
            </a:r>
            <a:r>
              <a:rPr lang="en-US" sz="2500" i="1" dirty="0">
                <a:latin typeface="Times New Roman" pitchFamily="18" charset="0"/>
              </a:rPr>
              <a:t>w</a:t>
            </a:r>
            <a:r>
              <a:rPr lang="en-US" sz="2500" i="1" baseline="-25000" dirty="0">
                <a:latin typeface="Times New Roman" pitchFamily="18" charset="0"/>
              </a:rPr>
              <a:t>2</a:t>
            </a:r>
            <a:r>
              <a:rPr lang="en-US" sz="2500" i="1" dirty="0">
                <a:latin typeface="Times New Roman" pitchFamily="18" charset="0"/>
              </a:rPr>
              <a:t> </a:t>
            </a:r>
            <a:r>
              <a:rPr lang="en-US" sz="2500" dirty="0">
                <a:latin typeface="Times New Roman" pitchFamily="18" charset="0"/>
              </a:rPr>
              <a:t>to minimize</a:t>
            </a:r>
            <a:r>
              <a:rPr lang="en-US" sz="2500" i="1"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i="1" dirty="0">
                <a:latin typeface="Times New Roman" pitchFamily="18" charset="0"/>
              </a:rPr>
              <a:t> subject</a:t>
            </a:r>
            <a:r>
              <a:rPr lang="en-US" sz="2500" dirty="0">
                <a:latin typeface="Times New Roman" pitchFamily="18" charset="0"/>
              </a:rPr>
              <a:t> </a:t>
            </a:r>
            <a:r>
              <a:rPr lang="en-US" sz="2500" i="1" dirty="0">
                <a:latin typeface="Times New Roman" pitchFamily="18" charset="0"/>
              </a:rPr>
              <a:t>to </a:t>
            </a:r>
            <a:r>
              <a:rPr lang="en-US" sz="2500" dirty="0">
                <a:latin typeface="Times New Roman" pitchFamily="18" charset="0"/>
              </a:rPr>
              <a:t>the portfolio having a specified expected return, </a:t>
            </a:r>
          </a:p>
          <a:p>
            <a:pPr eaLnBrk="1" hangingPunct="1">
              <a:lnSpc>
                <a:spcPct val="90000"/>
              </a:lnSpc>
              <a:buFont typeface="Wingdings" pitchFamily="2" charset="2"/>
              <a:buNone/>
            </a:pPr>
            <a:r>
              <a:rPr lang="en-US" sz="2500" dirty="0">
                <a:latin typeface="Times New Roman" pitchFamily="18" charset="0"/>
              </a:rPr>
              <a:t>     </a:t>
            </a:r>
            <a:r>
              <a:rPr lang="en-US" sz="2500"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E(r</a:t>
            </a:r>
            <a:r>
              <a:rPr lang="en-US" sz="2500" baseline="-25000" dirty="0">
                <a:latin typeface="Times New Roman" pitchFamily="18" charset="0"/>
              </a:rPr>
              <a:t>1</a:t>
            </a:r>
            <a:r>
              <a:rPr lang="en-US" sz="2500" dirty="0">
                <a:latin typeface="Times New Roman" pitchFamily="18" charset="0"/>
              </a:rPr>
              <a:t>) + w</a:t>
            </a:r>
            <a:r>
              <a:rPr lang="en-US" sz="2500" baseline="-25000" dirty="0">
                <a:latin typeface="Times New Roman" pitchFamily="18" charset="0"/>
              </a:rPr>
              <a:t>2</a:t>
            </a:r>
            <a:r>
              <a:rPr lang="en-US" sz="2500" dirty="0">
                <a:latin typeface="Times New Roman" pitchFamily="18" charset="0"/>
              </a:rPr>
              <a:t>E(r</a:t>
            </a:r>
            <a:r>
              <a:rPr lang="en-US" sz="2500" baseline="-25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3</a:t>
            </a:r>
            <a:r>
              <a:rPr lang="en-US" sz="2500" dirty="0">
                <a:latin typeface="Times New Roman" pitchFamily="18" charset="0"/>
              </a:rPr>
              <a:t>E(r</a:t>
            </a:r>
            <a:r>
              <a:rPr lang="en-US" sz="2500" baseline="-25000" dirty="0">
                <a:latin typeface="Times New Roman" pitchFamily="18" charset="0"/>
              </a:rPr>
              <a:t>3</a:t>
            </a:r>
            <a:r>
              <a:rPr lang="en-US" sz="2500" dirty="0">
                <a:latin typeface="Times New Roman" pitchFamily="18" charset="0"/>
              </a:rPr>
              <a:t>)  </a:t>
            </a:r>
          </a:p>
          <a:p>
            <a:pPr eaLnBrk="1" hangingPunct="1">
              <a:lnSpc>
                <a:spcPct val="90000"/>
              </a:lnSpc>
            </a:pPr>
            <a:r>
              <a:rPr lang="en-US" sz="2500" dirty="0">
                <a:latin typeface="Times New Roman" pitchFamily="18" charset="0"/>
              </a:rPr>
              <a:t>We set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at different levels, starting a little bigger than the expected return on the minimum variance portfolio, and then getting bigger.</a:t>
            </a:r>
          </a:p>
          <a:p>
            <a:pPr eaLnBrk="1" hangingPunct="1">
              <a:lnSpc>
                <a:spcPct val="90000"/>
              </a:lnSpc>
            </a:pPr>
            <a:r>
              <a:rPr lang="en-US" sz="2500" dirty="0">
                <a:latin typeface="Times New Roman" pitchFamily="18" charset="0"/>
              </a:rPr>
              <a:t>For each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we solve the constrained minimization, getting the optimal asset class weights and the portfolio’s expected return and standard deviation.</a:t>
            </a:r>
          </a:p>
          <a:p>
            <a:pPr eaLnBrk="1" hangingPunct="1">
              <a:lnSpc>
                <a:spcPct val="90000"/>
              </a:lnSpc>
            </a:pPr>
            <a:r>
              <a:rPr lang="en-US" sz="2500" dirty="0">
                <a:latin typeface="Times New Roman" pitchFamily="18" charset="0"/>
              </a:rPr>
              <a:t>We can then plot these, to get the mean-variance efficient frontier.</a:t>
            </a:r>
          </a:p>
        </p:txBody>
      </p:sp>
    </p:spTree>
    <p:extLst>
      <p:ext uri="{BB962C8B-B14F-4D97-AF65-F5344CB8AC3E}">
        <p14:creationId xmlns:p14="http://schemas.microsoft.com/office/powerpoint/2010/main" val="2104787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dirty="0">
                <a:solidFill>
                  <a:schemeClr val="tx1"/>
                </a:solidFill>
                <a:latin typeface="Times New Roman" pitchFamily="18" charset="0"/>
              </a:rPr>
              <a:t>Simplification with two-fund separation</a:t>
            </a:r>
          </a:p>
        </p:txBody>
      </p:sp>
      <p:sp>
        <p:nvSpPr>
          <p:cNvPr id="30724"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500" dirty="0">
                <a:latin typeface="Times New Roman" pitchFamily="18" charset="0"/>
              </a:rPr>
              <a:t>It turns out that any linear combination of portfolios on the efficient frontier is also an efficient portfolio, and all efficient portfolios can be obtained as a linear combination of any two efficient portfolios</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This is called “</a:t>
            </a:r>
            <a:r>
              <a:rPr lang="en-US" sz="2500" i="1" dirty="0">
                <a:latin typeface="Times New Roman" pitchFamily="18" charset="0"/>
              </a:rPr>
              <a:t>two-fund separation</a:t>
            </a:r>
            <a:r>
              <a:rPr lang="en-US" sz="2500" dirty="0">
                <a:latin typeface="Times New Roman" pitchFamily="18" charset="0"/>
              </a:rPr>
              <a:t>” and what it means is that to trace out the entire efficient frontier, we need only obtain two efficient portfolios, and then take linear combinations of those two portfolios to trace out the rest of the frontier</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See the three-asset example in the spreadsheet MV3.xlsx</a:t>
            </a:r>
          </a:p>
          <a:p>
            <a:pPr eaLnBrk="1" hangingPunct="1">
              <a:lnSpc>
                <a:spcPct val="90000"/>
              </a:lnSpc>
            </a:pPr>
            <a:endParaRPr lang="en-US" sz="2500" dirty="0">
              <a:latin typeface="Times New Roman" pitchFamily="18" charset="0"/>
            </a:endParaRPr>
          </a:p>
          <a:p>
            <a:pPr eaLnBrk="1" hangingPunct="1">
              <a:lnSpc>
                <a:spcPct val="90000"/>
              </a:lnSpc>
            </a:pPr>
            <a:r>
              <a:rPr lang="en-US" sz="2500" dirty="0">
                <a:latin typeface="Times New Roman" pitchFamily="18" charset="0"/>
              </a:rPr>
              <a:t>You can use this in your homework!</a:t>
            </a:r>
          </a:p>
        </p:txBody>
      </p:sp>
    </p:spTree>
    <p:extLst>
      <p:ext uri="{BB962C8B-B14F-4D97-AF65-F5344CB8AC3E}">
        <p14:creationId xmlns:p14="http://schemas.microsoft.com/office/powerpoint/2010/main" val="2192318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914400" y="301625"/>
            <a:ext cx="8077200" cy="1143000"/>
          </a:xfrm>
        </p:spPr>
        <p:txBody>
          <a:bodyPr/>
          <a:lstStyle/>
          <a:p>
            <a:pPr eaLnBrk="1" hangingPunct="1"/>
            <a:r>
              <a:rPr lang="en-US" sz="3200" dirty="0">
                <a:latin typeface="Times New Roman" pitchFamily="18" charset="0"/>
              </a:rPr>
              <a:t>In Practice: Where Do We get (1) Expected Return, (2) Expected Variance and (3) Correlation?</a:t>
            </a:r>
          </a:p>
        </p:txBody>
      </p:sp>
      <p:sp>
        <p:nvSpPr>
          <p:cNvPr id="32772" name="Rectangle 3"/>
          <p:cNvSpPr>
            <a:spLocks noGrp="1" noChangeArrowheads="1"/>
          </p:cNvSpPr>
          <p:nvPr>
            <p:ph type="body" idx="1"/>
          </p:nvPr>
        </p:nvSpPr>
        <p:spPr/>
        <p:txBody>
          <a:bodyPr/>
          <a:lstStyle/>
          <a:p>
            <a:pPr eaLnBrk="1" hangingPunct="1"/>
            <a:r>
              <a:rPr lang="en-US" dirty="0">
                <a:latin typeface="Times New Roman" pitchFamily="18" charset="0"/>
              </a:rPr>
              <a:t>Three critical inputs to mean-variance portfolio optimization.  Where do these come from? </a:t>
            </a:r>
          </a:p>
          <a:p>
            <a:pPr lvl="1" eaLnBrk="1" hangingPunct="1"/>
            <a:r>
              <a:rPr lang="en-US" dirty="0">
                <a:latin typeface="Times New Roman" pitchFamily="18" charset="0"/>
              </a:rPr>
              <a:t>Repeat of history?</a:t>
            </a:r>
          </a:p>
          <a:p>
            <a:pPr lvl="1" eaLnBrk="1" hangingPunct="1"/>
            <a:r>
              <a:rPr lang="en-US" dirty="0">
                <a:latin typeface="Times New Roman" pitchFamily="18" charset="0"/>
              </a:rPr>
              <a:t>Tempered repeat of history?</a:t>
            </a:r>
          </a:p>
          <a:p>
            <a:pPr lvl="1" eaLnBrk="1" hangingPunct="1"/>
            <a:r>
              <a:rPr lang="en-US" dirty="0">
                <a:latin typeface="Times New Roman" pitchFamily="18" charset="0"/>
              </a:rPr>
              <a:t>Other?</a:t>
            </a:r>
          </a:p>
          <a:p>
            <a:pPr lvl="1" eaLnBrk="1" hangingPunct="1"/>
            <a:endParaRPr lang="en-US" dirty="0">
              <a:latin typeface="Times New Roman" pitchFamily="18" charset="0"/>
            </a:endParaRPr>
          </a:p>
          <a:p>
            <a:pPr eaLnBrk="1" hangingPunct="1"/>
            <a:r>
              <a:rPr lang="en-US" dirty="0">
                <a:latin typeface="Times New Roman" pitchFamily="18" charset="0"/>
              </a:rPr>
              <a:t>What are the issues with each?</a:t>
            </a:r>
          </a:p>
        </p:txBody>
      </p:sp>
    </p:spTree>
    <p:extLst>
      <p:ext uri="{BB962C8B-B14F-4D97-AF65-F5344CB8AC3E}">
        <p14:creationId xmlns:p14="http://schemas.microsoft.com/office/powerpoint/2010/main" val="3941498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Extensions and Relation to Homework</a:t>
            </a:r>
          </a:p>
        </p:txBody>
      </p:sp>
      <p:sp>
        <p:nvSpPr>
          <p:cNvPr id="5" name="Content Placeholder 2"/>
          <p:cNvSpPr txBox="1">
            <a:spLocks/>
          </p:cNvSpPr>
          <p:nvPr/>
        </p:nvSpPr>
        <p:spPr>
          <a:xfrm>
            <a:off x="-27878" y="1219200"/>
            <a:ext cx="9067800" cy="5410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Once you have solved for three risky assets, the approach can be generalized for n assets.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Other extensions: positive portfolio weights, different borrowing and lending rates,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Observe that with mean-variance analysis, we can use several approaches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Optimizing portfolio weights on historical returns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histret</a:t>
            </a:r>
            <a:r>
              <a:rPr kumimoji="0" lang="en-US" sz="2000" b="0" i="0" u="none" strike="noStrike" kern="1200" cap="none" spc="0" normalizeH="0" baseline="0" noProof="0" dirty="0">
                <a:ln>
                  <a:noFill/>
                </a:ln>
                <a:solidFill>
                  <a:prstClr val="black"/>
                </a:solidFill>
                <a:effectLst/>
                <a:uLnTx/>
                <a:uFillTx/>
                <a:latin typeface="Calibri"/>
                <a:ea typeface="+mn-ea"/>
                <a:cs typeface="+mn-cs"/>
              </a:rPr>
              <a:t> spreadsheet)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Taking only sample moments (means and covariance matrix) from historical returns and optimizing using portfolio mean and variance formulas (mv3 spreadsheet, sample python code and assignment 2)</a:t>
            </a:r>
          </a:p>
          <a:p>
            <a:pPr lvl="2" indent="-285750" fontAlgn="auto">
              <a:spcAft>
                <a:spcPts val="0"/>
              </a:spcAft>
              <a:buFont typeface="Arial" pitchFamily="34" charset="0"/>
              <a:buChar char="–"/>
              <a:defRPr/>
            </a:pPr>
            <a:r>
              <a:rPr lang="en-US" sz="1600" dirty="0">
                <a:solidFill>
                  <a:prstClr val="black"/>
                </a:solidFill>
                <a:latin typeface="Calibri"/>
              </a:rPr>
              <a:t>We can grind explicitly through the optimization problem for any desired level of return (big for loop)</a:t>
            </a:r>
          </a:p>
          <a:p>
            <a:pPr lvl="2" indent="-285750" fontAlgn="auto">
              <a:spcAft>
                <a:spcPts val="0"/>
              </a:spcAft>
              <a:buFont typeface="Arial" pitchFamily="34" charset="0"/>
              <a:buChar char="–"/>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We</a:t>
            </a:r>
            <a:r>
              <a:rPr kumimoji="0" lang="en-US" sz="1600" b="0" i="0" u="none" strike="noStrike" kern="1200" cap="none" spc="0" normalizeH="0" noProof="0" dirty="0">
                <a:ln>
                  <a:noFill/>
                </a:ln>
                <a:solidFill>
                  <a:prstClr val="black"/>
                </a:solidFill>
                <a:effectLst/>
                <a:uLnTx/>
                <a:uFillTx/>
                <a:latin typeface="Calibri"/>
                <a:ea typeface="+mn-ea"/>
                <a:cs typeface="+mn-cs"/>
              </a:rPr>
              <a:t> can use two-fund separation to find two efficient portfolios and trace out entire frontier.</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85725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0592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General Mean-variance Math (see appendix)</a:t>
            </a:r>
          </a:p>
        </p:txBody>
      </p:sp>
      <p:sp>
        <p:nvSpPr>
          <p:cNvPr id="2" name="Content Placeholder 1"/>
          <p:cNvSpPr>
            <a:spLocks noGrp="1"/>
          </p:cNvSpPr>
          <p:nvPr>
            <p:ph idx="1"/>
          </p:nvPr>
        </p:nvSpPr>
        <p:spPr>
          <a:xfrm>
            <a:off x="914400" y="1827213"/>
            <a:ext cx="8229599" cy="4114800"/>
          </a:xfrm>
        </p:spPr>
        <p:txBody>
          <a:bodyPr/>
          <a:lstStyle/>
          <a:p>
            <a:r>
              <a:rPr lang="en-CA" sz="2400" dirty="0"/>
              <a:t>General formulas can be developed when the number of asset classes becomes large…</a:t>
            </a:r>
          </a:p>
          <a:p>
            <a:endParaRPr lang="en-CA" sz="2400" dirty="0"/>
          </a:p>
          <a:p>
            <a:r>
              <a:rPr lang="en-CA" sz="2400" dirty="0" err="1"/>
              <a:t>Tradeoffs</a:t>
            </a:r>
            <a:r>
              <a:rPr lang="en-CA" sz="2400" dirty="0"/>
              <a:t>: How do problems/limitations become magnified as the number of assets grows?</a:t>
            </a:r>
          </a:p>
        </p:txBody>
      </p:sp>
    </p:spTree>
    <p:extLst>
      <p:ext uri="{BB962C8B-B14F-4D97-AF65-F5344CB8AC3E}">
        <p14:creationId xmlns:p14="http://schemas.microsoft.com/office/powerpoint/2010/main" val="4285555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Asset Allocation in Practice</a:t>
            </a:r>
          </a:p>
        </p:txBody>
      </p:sp>
      <p:sp>
        <p:nvSpPr>
          <p:cNvPr id="2" name="Content Placeholder 1"/>
          <p:cNvSpPr>
            <a:spLocks noGrp="1"/>
          </p:cNvSpPr>
          <p:nvPr>
            <p:ph idx="1"/>
          </p:nvPr>
        </p:nvSpPr>
        <p:spPr>
          <a:xfrm>
            <a:off x="457200" y="1827212"/>
            <a:ext cx="8226425" cy="4649787"/>
          </a:xfrm>
        </p:spPr>
        <p:txBody>
          <a:bodyPr/>
          <a:lstStyle/>
          <a:p>
            <a:r>
              <a:rPr lang="en-CA" sz="2400" dirty="0"/>
              <a:t>60/40, 70/30 “rules”</a:t>
            </a:r>
          </a:p>
          <a:p>
            <a:r>
              <a:rPr lang="en-CA" sz="2400" dirty="0"/>
              <a:t>Life-cycle portfolios, 100-age in stocks, etc.</a:t>
            </a:r>
          </a:p>
          <a:p>
            <a:r>
              <a:rPr lang="en-CA" sz="2400" dirty="0"/>
              <a:t>As implemented by institutional investors in recent times, from 3-12 asset classes</a:t>
            </a:r>
          </a:p>
          <a:p>
            <a:endParaRPr lang="en-CA" sz="2400" dirty="0"/>
          </a:p>
          <a:p>
            <a:r>
              <a:rPr lang="en-CA" sz="2400" dirty="0">
                <a:hlinkClick r:id="rId3"/>
              </a:rPr>
              <a:t>Forbes</a:t>
            </a:r>
            <a:r>
              <a:rPr lang="en-CA" sz="2400" dirty="0"/>
              <a:t> on Practical Asset Allocation</a:t>
            </a:r>
          </a:p>
          <a:p>
            <a:r>
              <a:rPr lang="en-CA" sz="2400" dirty="0">
                <a:hlinkClick r:id="rId4"/>
              </a:rPr>
              <a:t>Charles Schwab</a:t>
            </a:r>
            <a:endParaRPr lang="en-CA" sz="2400" dirty="0"/>
          </a:p>
          <a:p>
            <a:r>
              <a:rPr lang="en-CA" sz="2400" dirty="0">
                <a:hlinkClick r:id="rId5"/>
              </a:rPr>
              <a:t>TIAA</a:t>
            </a:r>
            <a:r>
              <a:rPr lang="en-CA" sz="2400" dirty="0"/>
              <a:t> life-cycle funds</a:t>
            </a:r>
          </a:p>
          <a:p>
            <a:r>
              <a:rPr lang="en-CA" sz="2400" dirty="0">
                <a:hlinkClick r:id="rId6"/>
              </a:rPr>
              <a:t>Couch potato</a:t>
            </a:r>
            <a:r>
              <a:rPr lang="en-CA" sz="2400" dirty="0"/>
              <a:t> portfolio</a:t>
            </a:r>
          </a:p>
          <a:p>
            <a:pPr marL="0" indent="0">
              <a:buNone/>
            </a:pPr>
            <a:endParaRPr lang="en-CA" dirty="0"/>
          </a:p>
        </p:txBody>
      </p:sp>
    </p:spTree>
    <p:extLst>
      <p:ext uri="{BB962C8B-B14F-4D97-AF65-F5344CB8AC3E}">
        <p14:creationId xmlns:p14="http://schemas.microsoft.com/office/powerpoint/2010/main" val="1348685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60420" name="Rectangle 3"/>
          <p:cNvSpPr>
            <a:spLocks noGrp="1" noChangeArrowheads="1"/>
          </p:cNvSpPr>
          <p:nvPr>
            <p:ph type="body" idx="1"/>
          </p:nvPr>
        </p:nvSpPr>
        <p:spPr/>
        <p:txBody>
          <a:bodyPr/>
          <a:lstStyle/>
          <a:p>
            <a:pPr marL="457200" indent="-457200" eaLnBrk="1" hangingPunct="1">
              <a:buFont typeface="+mj-lt"/>
              <a:buAutoNum type="arabicPeriod"/>
            </a:pPr>
            <a:r>
              <a:rPr lang="en-US" sz="2500" b="1" dirty="0">
                <a:latin typeface="Times New Roman" pitchFamily="18" charset="0"/>
              </a:rPr>
              <a:t>Strategic Asset Allocation </a:t>
            </a:r>
            <a:r>
              <a:rPr lang="en-US" sz="2500" dirty="0">
                <a:latin typeface="Times New Roman" pitchFamily="18" charset="0"/>
              </a:rPr>
              <a:t>– the decision of what portfolio weights to assign to each asset class</a:t>
            </a:r>
          </a:p>
          <a:p>
            <a:pPr marL="457200" indent="-457200" eaLnBrk="1" hangingPunct="1">
              <a:buFont typeface="+mj-lt"/>
              <a:buAutoNum type="arabicPeriod"/>
            </a:pPr>
            <a:r>
              <a:rPr lang="en-US" sz="2500" b="1" dirty="0">
                <a:latin typeface="Times New Roman" pitchFamily="18" charset="0"/>
              </a:rPr>
              <a:t>Tactical Asset Allocation </a:t>
            </a:r>
            <a:r>
              <a:rPr lang="en-US" sz="2500" dirty="0">
                <a:latin typeface="Times New Roman" pitchFamily="18" charset="0"/>
              </a:rPr>
              <a:t>– shifting weights in asset classes when you think returns will be low or high in that asset class (requires timing ability to succeed)</a:t>
            </a:r>
          </a:p>
          <a:p>
            <a:pPr marL="457200" indent="-457200" eaLnBrk="1" hangingPunct="1">
              <a:buFont typeface="+mj-lt"/>
              <a:buAutoNum type="arabicPeriod"/>
            </a:pPr>
            <a:r>
              <a:rPr lang="en-US" sz="2500" b="1" dirty="0">
                <a:latin typeface="Times New Roman" pitchFamily="18" charset="0"/>
              </a:rPr>
              <a:t>Active vs. Passive management </a:t>
            </a:r>
            <a:r>
              <a:rPr lang="en-US" sz="2500" dirty="0">
                <a:latin typeface="Times New Roman" pitchFamily="18" charset="0"/>
              </a:rPr>
              <a:t>of each asset class – performance relative to asset class benchmark</a:t>
            </a:r>
          </a:p>
          <a:p>
            <a:pPr eaLnBrk="1" hangingPunct="1"/>
            <a:endParaRPr lang="en-US" sz="2500" dirty="0">
              <a:latin typeface="Times New Roman" pitchFamily="18" charset="0"/>
            </a:endParaRPr>
          </a:p>
          <a:p>
            <a:pPr eaLnBrk="1" hangingPunct="1"/>
            <a:r>
              <a:rPr lang="en-US" sz="2500" dirty="0">
                <a:latin typeface="Times New Roman" pitchFamily="18" charset="0"/>
              </a:rPr>
              <a:t>Performance evaluation often tries to break down performance of a portfolio into these elements</a:t>
            </a:r>
          </a:p>
        </p:txBody>
      </p:sp>
    </p:spTree>
    <p:extLst>
      <p:ext uri="{BB962C8B-B14F-4D97-AF65-F5344CB8AC3E}">
        <p14:creationId xmlns:p14="http://schemas.microsoft.com/office/powerpoint/2010/main" val="2143820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2" name="Content Placeholder 1"/>
          <p:cNvSpPr>
            <a:spLocks noGrp="1"/>
          </p:cNvSpPr>
          <p:nvPr>
            <p:ph idx="1"/>
          </p:nvPr>
        </p:nvSpPr>
        <p:spPr>
          <a:xfrm>
            <a:off x="914400" y="1828800"/>
            <a:ext cx="1981200" cy="4495800"/>
          </a:xfrm>
        </p:spPr>
        <p:txBody>
          <a:bodyPr/>
          <a:lstStyle/>
          <a:p>
            <a:pPr marL="0" indent="0">
              <a:buNone/>
            </a:pPr>
            <a:r>
              <a:rPr lang="en-US" sz="1400" dirty="0"/>
              <a:t>Performance evaluation with SAA, TAA, and active management (Brinson et al. 1995, FAJ)</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676400"/>
            <a:ext cx="5527658" cy="4742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411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Critiques of MPT</a:t>
            </a:r>
          </a:p>
        </p:txBody>
      </p:sp>
      <p:sp>
        <p:nvSpPr>
          <p:cNvPr id="60420" name="Rectangle 3"/>
          <p:cNvSpPr>
            <a:spLocks noGrp="1" noChangeArrowheads="1"/>
          </p:cNvSpPr>
          <p:nvPr>
            <p:ph type="body" idx="1"/>
          </p:nvPr>
        </p:nvSpPr>
        <p:spPr>
          <a:xfrm>
            <a:off x="533400" y="1827213"/>
            <a:ext cx="8610600" cy="4114800"/>
          </a:xfrm>
        </p:spPr>
        <p:txBody>
          <a:bodyPr/>
          <a:lstStyle/>
          <a:p>
            <a:pPr eaLnBrk="1" hangingPunct="1"/>
            <a:r>
              <a:rPr lang="en-US" sz="2500" dirty="0">
                <a:latin typeface="Times New Roman" pitchFamily="18" charset="0"/>
              </a:rPr>
              <a:t>The objective function: why minimize variance for given mean?</a:t>
            </a:r>
          </a:p>
          <a:p>
            <a:pPr eaLnBrk="1" hangingPunct="1"/>
            <a:endParaRPr lang="en-US" sz="1400" dirty="0">
              <a:latin typeface="Times New Roman" pitchFamily="18" charset="0"/>
            </a:endParaRPr>
          </a:p>
          <a:p>
            <a:pPr eaLnBrk="1" hangingPunct="1"/>
            <a:r>
              <a:rPr lang="en-US" sz="2500" dirty="0">
                <a:latin typeface="Times New Roman" pitchFamily="18" charset="0"/>
              </a:rPr>
              <a:t>CPPIB </a:t>
            </a:r>
            <a:r>
              <a:rPr lang="en-US" sz="2500" dirty="0">
                <a:latin typeface="Times New Roman" pitchFamily="18" charset="0"/>
                <a:hlinkClick r:id="rId3"/>
              </a:rPr>
              <a:t>statement of investment objectives </a:t>
            </a:r>
            <a:r>
              <a:rPr lang="en-US" sz="2500" dirty="0">
                <a:latin typeface="Times New Roman" pitchFamily="18" charset="0"/>
              </a:rPr>
              <a:t>(mandate):</a:t>
            </a:r>
          </a:p>
          <a:p>
            <a:pPr marL="0" indent="0" eaLnBrk="1" hangingPunct="1">
              <a:buNone/>
            </a:pPr>
            <a:r>
              <a:rPr lang="en-US" sz="2800" b="1" dirty="0"/>
              <a:t>“to invest in the best interests of Canada Pension Plan contributors and beneficiaries and to maximize investment returns without undue risk of loss”</a:t>
            </a:r>
          </a:p>
          <a:p>
            <a:pPr marL="0" indent="0" eaLnBrk="1" hangingPunct="1">
              <a:buNone/>
            </a:pPr>
            <a:r>
              <a:rPr lang="en-US" sz="2400" dirty="0">
                <a:latin typeface="Times New Roman" panose="02020603050405020304" pitchFamily="18" charset="0"/>
                <a:cs typeface="Times New Roman" panose="02020603050405020304" pitchFamily="18" charset="0"/>
              </a:rPr>
              <a:t>How does this differ from mean-variance objective function?</a:t>
            </a:r>
          </a:p>
          <a:p>
            <a:pPr marL="0" indent="0" eaLnBrk="1" hangingPunct="1">
              <a:buNone/>
            </a:pPr>
            <a:r>
              <a:rPr lang="en-US" sz="2400" dirty="0">
                <a:latin typeface="Times New Roman" panose="02020603050405020304" pitchFamily="18" charset="0"/>
                <a:cs typeface="Times New Roman" panose="02020603050405020304" pitchFamily="18" charset="0"/>
              </a:rPr>
              <a:t>How can we implement objective functions besides mean-variance? (e.g., utility of wealth and simulation)</a:t>
            </a: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3336392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Additional Critiques of MPT</a:t>
            </a:r>
          </a:p>
        </p:txBody>
      </p:sp>
      <p:sp>
        <p:nvSpPr>
          <p:cNvPr id="60420" name="Rectangle 3"/>
          <p:cNvSpPr>
            <a:spLocks noGrp="1" noChangeArrowheads="1"/>
          </p:cNvSpPr>
          <p:nvPr>
            <p:ph type="body" idx="1"/>
          </p:nvPr>
        </p:nvSpPr>
        <p:spPr>
          <a:xfrm>
            <a:off x="914400" y="1827213"/>
            <a:ext cx="8077199" cy="4114800"/>
          </a:xfrm>
        </p:spPr>
        <p:txBody>
          <a:bodyPr/>
          <a:lstStyle/>
          <a:p>
            <a:pPr eaLnBrk="1" hangingPunct="1"/>
            <a:r>
              <a:rPr lang="en-US" sz="2500" dirty="0">
                <a:latin typeface="Times New Roman" pitchFamily="18" charset="0"/>
              </a:rPr>
              <a:t>2) Proliferation of asset classes, difficulty of estimating parameters, and instability of parameters (even seemingly simple ones like </a:t>
            </a:r>
            <a:r>
              <a:rPr lang="en-US" sz="2500" dirty="0">
                <a:latin typeface="Times New Roman" pitchFamily="18" charset="0"/>
                <a:hlinkClick r:id="rId3"/>
              </a:rPr>
              <a:t>bond-stock correlation</a:t>
            </a:r>
            <a:r>
              <a:rPr lang="en-US" sz="2500" dirty="0">
                <a:latin typeface="Times New Roman" pitchFamily="18" charset="0"/>
              </a:rPr>
              <a:t>, see also </a:t>
            </a:r>
            <a:r>
              <a:rPr lang="en-US" sz="2500" dirty="0">
                <a:latin typeface="Times New Roman" pitchFamily="18" charset="0"/>
                <a:hlinkClick r:id="rId4"/>
              </a:rPr>
              <a:t>here</a:t>
            </a:r>
            <a:r>
              <a:rPr lang="en-US" sz="2500" dirty="0">
                <a:latin typeface="Times New Roman" pitchFamily="18" charset="0"/>
              </a:rPr>
              <a:t>) but also volatilities and means, </a:t>
            </a:r>
          </a:p>
          <a:p>
            <a:pPr eaLnBrk="1" hangingPunct="1"/>
            <a:r>
              <a:rPr lang="en-US" sz="2500" dirty="0">
                <a:latin typeface="Times New Roman" pitchFamily="18" charset="0"/>
              </a:rPr>
              <a:t>For large N difficulty of estimating covariance matrix and sensitivity to small errors (too many parameters) </a:t>
            </a:r>
            <a:r>
              <a:rPr lang="en-US" sz="2500" dirty="0">
                <a:latin typeface="Times New Roman" pitchFamily="18" charset="0"/>
                <a:sym typeface="Wingdings" panose="05000000000000000000" pitchFamily="2" charset="2"/>
              </a:rPr>
              <a:t> robustness of “</a:t>
            </a:r>
            <a:r>
              <a:rPr lang="en-US" sz="2500" dirty="0">
                <a:latin typeface="Times New Roman" pitchFamily="18" charset="0"/>
                <a:sym typeface="Wingdings" panose="05000000000000000000" pitchFamily="2" charset="2"/>
                <a:hlinkClick r:id="rId5"/>
              </a:rPr>
              <a:t>1/N</a:t>
            </a:r>
            <a:r>
              <a:rPr lang="en-US" sz="2500" dirty="0">
                <a:latin typeface="Times New Roman" pitchFamily="18" charset="0"/>
                <a:sym typeface="Wingdings" panose="05000000000000000000" pitchFamily="2" charset="2"/>
              </a:rPr>
              <a:t>” investing strategies</a:t>
            </a:r>
          </a:p>
          <a:p>
            <a:pPr marL="0" indent="0" eaLnBrk="1" hangingPunct="1">
              <a:buNone/>
            </a:pPr>
            <a:endParaRPr lang="en-US" sz="2500" dirty="0">
              <a:latin typeface="Times New Roman" pitchFamily="18" charset="0"/>
            </a:endParaRPr>
          </a:p>
          <a:p>
            <a:pPr marL="0" indent="0" eaLnBrk="1" hangingPunct="1">
              <a:buNone/>
            </a:pPr>
            <a:endParaRPr lang="en-US" sz="2500" dirty="0">
              <a:latin typeface="Times New Roman" pitchFamily="18" charset="0"/>
            </a:endParaRPr>
          </a:p>
          <a:p>
            <a:pPr marL="0" indent="0" eaLnBrk="1" hangingPunct="1">
              <a:buNone/>
            </a:pPr>
            <a:endParaRPr lang="en-US" sz="2400" dirty="0">
              <a:latin typeface="Times New Roman" panose="02020603050405020304" pitchFamily="18" charset="0"/>
              <a:cs typeface="Times New Roman" panose="02020603050405020304" pitchFamily="18" charset="0"/>
            </a:endParaRP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370505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370012" y="301625"/>
            <a:ext cx="7747967" cy="1143000"/>
          </a:xfrm>
        </p:spPr>
        <p:txBody>
          <a:bodyPr/>
          <a:lstStyle/>
          <a:p>
            <a:pPr eaLnBrk="1" hangingPunct="1"/>
            <a:r>
              <a:rPr lang="en-US" sz="3000" b="1" dirty="0">
                <a:latin typeface="Times New Roman" pitchFamily="18" charset="0"/>
              </a:rPr>
              <a:t>Adding more realism to asset allocation… </a:t>
            </a:r>
          </a:p>
        </p:txBody>
      </p:sp>
      <p:sp>
        <p:nvSpPr>
          <p:cNvPr id="60420" name="Rectangle 3"/>
          <p:cNvSpPr>
            <a:spLocks noGrp="1" noChangeArrowheads="1"/>
          </p:cNvSpPr>
          <p:nvPr>
            <p:ph type="body" idx="1"/>
          </p:nvPr>
        </p:nvSpPr>
        <p:spPr>
          <a:xfrm>
            <a:off x="507380" y="1444625"/>
            <a:ext cx="8610600" cy="4114800"/>
          </a:xfrm>
        </p:spPr>
        <p:txBody>
          <a:bodyPr/>
          <a:lstStyle/>
          <a:p>
            <a:pPr eaLnBrk="1" hangingPunct="1"/>
            <a:r>
              <a:rPr lang="en-US" sz="2000" dirty="0">
                <a:latin typeface="Times New Roman" pitchFamily="18" charset="0"/>
              </a:rPr>
              <a:t>A branch of the finance literature that tries to put the asset allocation problem into greater context is the “lifecycle portfolio choice” literature.</a:t>
            </a:r>
          </a:p>
          <a:p>
            <a:pPr eaLnBrk="1" hangingPunct="1"/>
            <a:endParaRPr lang="en-US" sz="1400" dirty="0">
              <a:latin typeface="Times New Roman" pitchFamily="18" charset="0"/>
            </a:endParaRPr>
          </a:p>
          <a:p>
            <a:pPr eaLnBrk="1" hangingPunct="1"/>
            <a:r>
              <a:rPr lang="en-US" sz="2000" dirty="0">
                <a:latin typeface="Times New Roman" pitchFamily="18" charset="0"/>
              </a:rPr>
              <a:t>Consider an investor of a given age, with a time to retirement (known or random), and a time to death (known or random)</a:t>
            </a:r>
          </a:p>
          <a:p>
            <a:pPr lvl="1" eaLnBrk="1" hangingPunct="1"/>
            <a:r>
              <a:rPr lang="en-US" sz="1800" dirty="0">
                <a:latin typeface="Times New Roman" pitchFamily="18" charset="0"/>
              </a:rPr>
              <a:t>The investor has an income stream (known or random)</a:t>
            </a:r>
          </a:p>
          <a:p>
            <a:pPr lvl="1" eaLnBrk="1" hangingPunct="1"/>
            <a:r>
              <a:rPr lang="en-US" sz="1800" dirty="0">
                <a:latin typeface="Times New Roman" pitchFamily="18" charset="0"/>
              </a:rPr>
              <a:t>Some fraction allocated to a retirement account (set to a constant to simplify the problem, solve for optimal to make more realistic)</a:t>
            </a:r>
          </a:p>
          <a:p>
            <a:pPr lvl="1" eaLnBrk="1" hangingPunct="1"/>
            <a:r>
              <a:rPr lang="en-US" sz="1800" dirty="0">
                <a:latin typeface="Times New Roman" pitchFamily="18" charset="0"/>
              </a:rPr>
              <a:t>Allocates retirement account to different asset classes</a:t>
            </a:r>
          </a:p>
          <a:p>
            <a:pPr lvl="1" eaLnBrk="1" hangingPunct="1"/>
            <a:r>
              <a:rPr lang="en-US" sz="1800" dirty="0">
                <a:latin typeface="Times New Roman" pitchFamily="18" charset="0"/>
              </a:rPr>
              <a:t>A utility of wealth at retirement simplifies the problem, solving for consumption and investment through retirement to death makes it harder</a:t>
            </a:r>
          </a:p>
          <a:p>
            <a:pPr lvl="1" eaLnBrk="1" hangingPunct="1"/>
            <a:r>
              <a:rPr lang="en-US" sz="1800" dirty="0">
                <a:latin typeface="Times New Roman" pitchFamily="18" charset="0"/>
              </a:rPr>
              <a:t>Specify a utility function, need not be mean-variance</a:t>
            </a:r>
          </a:p>
          <a:p>
            <a:pPr lvl="1" eaLnBrk="1" hangingPunct="1"/>
            <a:r>
              <a:rPr lang="en-US" sz="1800" dirty="0">
                <a:latin typeface="Times New Roman" pitchFamily="18" charset="0"/>
              </a:rPr>
              <a:t>Allow for variation in strategic asset allocation based on time to retirement? Allow market timing strategies using predictor variables?  Both make the solution more complex but are doable.</a:t>
            </a:r>
          </a:p>
          <a:p>
            <a:pPr lvl="1" eaLnBrk="1" hangingPunct="1"/>
            <a:r>
              <a:rPr lang="en-US" sz="1800" dirty="0">
                <a:latin typeface="Times New Roman" pitchFamily="18" charset="0"/>
              </a:rPr>
              <a:t>If you allow randomness, can solve using simulation (drawing paths)</a:t>
            </a:r>
          </a:p>
          <a:p>
            <a:pPr lvl="1" eaLnBrk="1" hangingPunct="1"/>
            <a:r>
              <a:rPr lang="en-US" sz="1800" dirty="0">
                <a:latin typeface="Times New Roman" pitchFamily="18" charset="0"/>
              </a:rPr>
              <a:t>Could also just look at expected returns</a:t>
            </a:r>
          </a:p>
        </p:txBody>
      </p:sp>
    </p:spTree>
    <p:extLst>
      <p:ext uri="{BB962C8B-B14F-4D97-AF65-F5344CB8AC3E}">
        <p14:creationId xmlns:p14="http://schemas.microsoft.com/office/powerpoint/2010/main" val="141406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Alternative: Factor Investing</a:t>
            </a:r>
          </a:p>
        </p:txBody>
      </p:sp>
      <p:sp>
        <p:nvSpPr>
          <p:cNvPr id="60420" name="Rectangle 3"/>
          <p:cNvSpPr>
            <a:spLocks noGrp="1" noChangeArrowheads="1"/>
          </p:cNvSpPr>
          <p:nvPr>
            <p:ph type="body" idx="1"/>
          </p:nvPr>
        </p:nvSpPr>
        <p:spPr>
          <a:xfrm>
            <a:off x="990600" y="1658232"/>
            <a:ext cx="7848600" cy="4878387"/>
          </a:xfrm>
        </p:spPr>
        <p:txBody>
          <a:bodyPr/>
          <a:lstStyle/>
          <a:p>
            <a:pPr marL="0" indent="0" eaLnBrk="1" hangingPunct="1">
              <a:buNone/>
            </a:pPr>
            <a:r>
              <a:rPr lang="en-US" sz="2500" dirty="0">
                <a:latin typeface="Times New Roman" pitchFamily="18" charset="0"/>
              </a:rPr>
              <a:t>Might be better to focus on sources of risk, K perhaps less than N, more importantly, provides structure theoretically and empirically</a:t>
            </a:r>
          </a:p>
          <a:p>
            <a:pPr eaLnBrk="1" hangingPunct="1"/>
            <a:r>
              <a:rPr lang="en-US" sz="2500" dirty="0">
                <a:latin typeface="Times New Roman" pitchFamily="18" charset="0"/>
              </a:rPr>
              <a:t>Used and advocated by CPPIB, Norway Pension Fund, Black Rock, MSCI</a:t>
            </a:r>
          </a:p>
          <a:p>
            <a:pPr eaLnBrk="1" hangingPunct="1"/>
            <a:r>
              <a:rPr lang="en-US" sz="2500" dirty="0">
                <a:latin typeface="Times New Roman" pitchFamily="18" charset="0"/>
              </a:rPr>
              <a:t>Theory: expand CAPM to APT, multiple risk factors, “empirical” or “macro” factors</a:t>
            </a:r>
          </a:p>
          <a:p>
            <a:pPr eaLnBrk="1" hangingPunct="1"/>
            <a:endParaRPr lang="en-US" sz="2500" dirty="0">
              <a:latin typeface="Times New Roman" pitchFamily="18" charset="0"/>
            </a:endParaRPr>
          </a:p>
          <a:p>
            <a:pPr marL="0" indent="0" algn="ctr" eaLnBrk="1" hangingPunct="1">
              <a:buNone/>
            </a:pPr>
            <a:r>
              <a:rPr lang="en-US" sz="2500" dirty="0">
                <a:latin typeface="Times New Roman" pitchFamily="18" charset="0"/>
              </a:rPr>
              <a:t>CAPM can be motivated by mean-variance analysis, APT by other risk factors, see following…</a:t>
            </a: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1296811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Capital Asset Pricing Model (CAPM)</a:t>
            </a:r>
          </a:p>
        </p:txBody>
      </p:sp>
      <p:sp>
        <p:nvSpPr>
          <p:cNvPr id="23556" name="Rectangle 3"/>
          <p:cNvSpPr>
            <a:spLocks noGrp="1" noChangeArrowheads="1"/>
          </p:cNvSpPr>
          <p:nvPr>
            <p:ph type="body" idx="1"/>
          </p:nvPr>
        </p:nvSpPr>
        <p:spPr>
          <a:xfrm>
            <a:off x="609600" y="1524000"/>
            <a:ext cx="8458200" cy="5257800"/>
          </a:xfrm>
        </p:spPr>
        <p:txBody>
          <a:bodyPr/>
          <a:lstStyle/>
          <a:p>
            <a:pPr marL="222250" indent="-222250" eaLnBrk="1" hangingPunct="1"/>
            <a:r>
              <a:rPr lang="en-US" sz="2400" dirty="0">
                <a:latin typeface="Times New Roman" pitchFamily="18" charset="0"/>
              </a:rPr>
              <a:t>With a risk-free asset, </a:t>
            </a:r>
            <a:r>
              <a:rPr lang="en-US" sz="2400" i="1" u="sng" dirty="0">
                <a:latin typeface="Times New Roman" pitchFamily="18" charset="0"/>
              </a:rPr>
              <a:t>and mean-variance focused investors</a:t>
            </a:r>
            <a:r>
              <a:rPr lang="en-US" sz="2400" dirty="0">
                <a:latin typeface="Times New Roman" pitchFamily="18" charset="0"/>
              </a:rPr>
              <a:t>, all investors would choose a point on the mean-variance efficient line, some combination of riskless asset and tangency portfolio</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If a world like this existed, the tangency portfolio must be the “market portfolio,” which is the basket of all risky assets that exist</a:t>
            </a:r>
          </a:p>
          <a:p>
            <a:pPr marL="222250" indent="-222250" eaLnBrk="1" hangingPunct="1"/>
            <a:endParaRPr lang="en-US" sz="2400" dirty="0">
              <a:latin typeface="Times New Roman" pitchFamily="18" charset="0"/>
            </a:endParaRPr>
          </a:p>
          <a:p>
            <a:pPr marL="222250" indent="-222250" eaLnBrk="1" hangingPunct="1"/>
            <a:r>
              <a:rPr lang="en-US" sz="2400" dirty="0">
                <a:latin typeface="Times New Roman" pitchFamily="18" charset="0"/>
              </a:rPr>
              <a:t>A mean-variance investor evaluates the risk of any asset according to how that asset contributes to the variance of the portfolio of risky assets they hold.  If all investors hold this same portfolio of risky assets, this leads to agreement about what is risk and to the CAPM…</a:t>
            </a:r>
          </a:p>
          <a:p>
            <a:pPr marL="0" indent="0" eaLnBrk="1" hangingPunct="1">
              <a:buNone/>
            </a:pPr>
            <a:endParaRPr lang="en-US" sz="2000" b="0" dirty="0">
              <a:latin typeface="Times New Roman" pitchFamily="18" charset="0"/>
              <a:ea typeface="Cambria Math" panose="02040503050406030204" pitchFamily="18" charset="0"/>
            </a:endParaRPr>
          </a:p>
          <a:p>
            <a:pPr marL="0" indent="0" eaLnBrk="1" hangingPunct="1">
              <a:buNone/>
            </a:pPr>
            <a:endParaRPr lang="en-US" sz="1800" dirty="0">
              <a:latin typeface="Times New Roman" pitchFamily="18" charset="0"/>
            </a:endParaRPr>
          </a:p>
        </p:txBody>
      </p:sp>
    </p:spTree>
    <p:extLst>
      <p:ext uri="{BB962C8B-B14F-4D97-AF65-F5344CB8AC3E}">
        <p14:creationId xmlns:p14="http://schemas.microsoft.com/office/powerpoint/2010/main" val="3308874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Efficient Frontier with Riskless Asset</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6633"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sp>
        <p:nvSpPr>
          <p:cNvPr id="2" name="TextBox 1"/>
          <p:cNvSpPr txBox="1"/>
          <p:nvPr/>
        </p:nvSpPr>
        <p:spPr>
          <a:xfrm>
            <a:off x="266700" y="5371623"/>
            <a:ext cx="8610600" cy="1477328"/>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With a riskless asset, the new “efficient frontier” is the black arrow.</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Single contact with risky frontier is MSRP, or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All M-V investors hold combination of riskless asset and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Tangency portfolio is “market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Leads to CAPM</a:t>
            </a:r>
          </a:p>
        </p:txBody>
      </p:sp>
      <p:cxnSp>
        <p:nvCxnSpPr>
          <p:cNvPr id="5" name="Straight Arrow Connector 4"/>
          <p:cNvCxnSpPr>
            <a:cxnSpLocks/>
          </p:cNvCxnSpPr>
          <p:nvPr/>
        </p:nvCxnSpPr>
        <p:spPr>
          <a:xfrm flipV="1">
            <a:off x="1447800" y="1676400"/>
            <a:ext cx="5791200" cy="3198884"/>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048000" y="1815683"/>
            <a:ext cx="1804725" cy="369332"/>
          </a:xfrm>
          <a:prstGeom prst="rect">
            <a:avLst/>
          </a:prstGeom>
          <a:solidFill>
            <a:schemeClr val="accent1">
              <a:lumMod val="20000"/>
              <a:lumOff val="80000"/>
            </a:schemeClr>
          </a:solidFill>
          <a:ln w="19050">
            <a:solidFill>
              <a:schemeClr val="accent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MSRP / tangency</a:t>
            </a:r>
          </a:p>
        </p:txBody>
      </p:sp>
      <p:cxnSp>
        <p:nvCxnSpPr>
          <p:cNvPr id="16" name="Straight Arrow Connector 15"/>
          <p:cNvCxnSpPr/>
          <p:nvPr/>
        </p:nvCxnSpPr>
        <p:spPr>
          <a:xfrm>
            <a:off x="4707797" y="2285326"/>
            <a:ext cx="638043" cy="3397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Chart 9">
            <a:extLst>
              <a:ext uri="{FF2B5EF4-FFF2-40B4-BE49-F238E27FC236}">
                <a16:creationId xmlns:a16="http://schemas.microsoft.com/office/drawing/2014/main" id="{00000000-0008-0000-0000-000006040000}"/>
              </a:ext>
            </a:extLst>
          </p:cNvPr>
          <p:cNvGraphicFramePr>
            <a:graphicFrameLocks/>
          </p:cNvGraphicFramePr>
          <p:nvPr>
            <p:extLst/>
          </p:nvPr>
        </p:nvGraphicFramePr>
        <p:xfrm>
          <a:off x="762000" y="1506179"/>
          <a:ext cx="7313612" cy="38062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26641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Capital Asset Pricing Model (CAPM)</a:t>
            </a:r>
          </a:p>
        </p:txBody>
      </p:sp>
      <p:sp>
        <p:nvSpPr>
          <p:cNvPr id="60420" name="Rectangle 3"/>
          <p:cNvSpPr>
            <a:spLocks noGrp="1" noChangeArrowheads="1"/>
          </p:cNvSpPr>
          <p:nvPr>
            <p:ph type="body" idx="1"/>
          </p:nvPr>
        </p:nvSpPr>
        <p:spPr>
          <a:xfrm>
            <a:off x="838200" y="2743200"/>
            <a:ext cx="8001000" cy="2590800"/>
          </a:xfrm>
        </p:spPr>
        <p:txBody>
          <a:bodyPr/>
          <a:lstStyle/>
          <a:p>
            <a:pPr eaLnBrk="1" hangingPunct="1"/>
            <a:r>
              <a:rPr lang="en-US" sz="2500" dirty="0">
                <a:latin typeface="Times New Roman" pitchFamily="18" charset="0"/>
              </a:rPr>
              <a:t>In the mean-variance asset allocation problem with a risk-free asset, all investors hold some combination of the risk-free asset and the tangency portfolio, which must be the market portfolio</a:t>
            </a:r>
          </a:p>
          <a:p>
            <a:pPr eaLnBrk="1" hangingPunct="1"/>
            <a:r>
              <a:rPr lang="en-US" sz="2500" dirty="0">
                <a:latin typeface="Times New Roman" pitchFamily="18" charset="0"/>
              </a:rPr>
              <a:t>So the “risk” of any individual asset, and its expected return “reward” depends on its covariance with the market portfolio</a:t>
            </a:r>
          </a:p>
        </p:txBody>
      </p:sp>
      <p:graphicFrame>
        <p:nvGraphicFramePr>
          <p:cNvPr id="2" name="Object 1"/>
          <p:cNvGraphicFramePr>
            <a:graphicFrameLocks noGrp="1" noChangeAspect="1"/>
          </p:cNvGraphicFramePr>
          <p:nvPr>
            <p:extLst/>
          </p:nvPr>
        </p:nvGraphicFramePr>
        <p:xfrm>
          <a:off x="1227757" y="1997075"/>
          <a:ext cx="3636963" cy="534987"/>
        </p:xfrm>
        <a:graphic>
          <a:graphicData uri="http://schemas.openxmlformats.org/presentationml/2006/ole">
            <mc:AlternateContent xmlns:mc="http://schemas.openxmlformats.org/markup-compatibility/2006">
              <mc:Choice xmlns:v="urn:schemas-microsoft-com:vml" Requires="v">
                <p:oleObj spid="_x0000_s27664" name="Equation" r:id="rId4" imgW="1638000" imgH="241200" progId="Equation.3">
                  <p:embed/>
                </p:oleObj>
              </mc:Choice>
              <mc:Fallback>
                <p:oleObj name="Equation" r:id="rId4" imgW="1638000" imgH="241200" progId="Equation.3">
                  <p:embed/>
                  <p:pic>
                    <p:nvPicPr>
                      <p:cNvPr id="2" name="Object 1"/>
                      <p:cNvPicPr>
                        <a:picLocks noGrp="1" noChangeAspect="1" noChangeArrowheads="1"/>
                      </p:cNvPicPr>
                      <p:nvPr/>
                    </p:nvPicPr>
                    <p:blipFill>
                      <a:blip r:embed="rId5"/>
                      <a:srcRect/>
                      <a:stretch>
                        <a:fillRect/>
                      </a:stretch>
                    </p:blipFill>
                    <p:spPr bwMode="auto">
                      <a:xfrm>
                        <a:off x="1227757" y="1997075"/>
                        <a:ext cx="36369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Grp="1" noChangeAspect="1"/>
          </p:cNvGraphicFramePr>
          <p:nvPr>
            <p:extLst/>
          </p:nvPr>
        </p:nvGraphicFramePr>
        <p:xfrm>
          <a:off x="5791200" y="1785938"/>
          <a:ext cx="2452688" cy="957262"/>
        </p:xfrm>
        <a:graphic>
          <a:graphicData uri="http://schemas.openxmlformats.org/presentationml/2006/ole">
            <mc:AlternateContent xmlns:mc="http://schemas.openxmlformats.org/markup-compatibility/2006">
              <mc:Choice xmlns:v="urn:schemas-microsoft-com:vml" Requires="v">
                <p:oleObj spid="_x0000_s27665" name="Equation" r:id="rId6" imgW="1104840" imgH="431640" progId="Equation.3">
                  <p:embed/>
                </p:oleObj>
              </mc:Choice>
              <mc:Fallback>
                <p:oleObj name="Equation" r:id="rId6" imgW="1104840" imgH="431640" progId="Equation.3">
                  <p:embed/>
                  <p:pic>
                    <p:nvPicPr>
                      <p:cNvPr id="5" name="Object 4"/>
                      <p:cNvPicPr>
                        <a:picLocks noGrp="1" noChangeAspect="1" noChangeArrowheads="1"/>
                      </p:cNvPicPr>
                      <p:nvPr/>
                    </p:nvPicPr>
                    <p:blipFill>
                      <a:blip r:embed="rId7"/>
                      <a:srcRect/>
                      <a:stretch>
                        <a:fillRect/>
                      </a:stretch>
                    </p:blipFill>
                    <p:spPr bwMode="auto">
                      <a:xfrm>
                        <a:off x="5791200" y="1785938"/>
                        <a:ext cx="2452688"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6397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Testing the CAPM with the “Market Model” Regression</a:t>
            </a:r>
          </a:p>
        </p:txBody>
      </p:sp>
      <p:sp>
        <p:nvSpPr>
          <p:cNvPr id="60420" name="Rectangle 3"/>
          <p:cNvSpPr>
            <a:spLocks noGrp="1" noChangeArrowheads="1"/>
          </p:cNvSpPr>
          <p:nvPr>
            <p:ph type="body" idx="1"/>
          </p:nvPr>
        </p:nvSpPr>
        <p:spPr>
          <a:xfrm>
            <a:off x="838200" y="2743200"/>
            <a:ext cx="8001000" cy="2590800"/>
          </a:xfrm>
        </p:spPr>
        <p:txBody>
          <a:bodyPr/>
          <a:lstStyle/>
          <a:p>
            <a:pPr eaLnBrk="1" hangingPunct="1"/>
            <a:r>
              <a:rPr lang="en-US" sz="2500" dirty="0">
                <a:latin typeface="Times New Roman" pitchFamily="18" charset="0"/>
              </a:rPr>
              <a:t>If the CAPM holds, we should have </a:t>
            </a:r>
            <a:r>
              <a:rPr lang="en-US" sz="2500" dirty="0" err="1">
                <a:latin typeface="Times New Roman" pitchFamily="18" charset="0"/>
              </a:rPr>
              <a:t>alpha_i</a:t>
            </a:r>
            <a:r>
              <a:rPr lang="en-US" sz="2500" dirty="0">
                <a:latin typeface="Times New Roman" pitchFamily="18" charset="0"/>
              </a:rPr>
              <a:t> is equal to zero for all assets, and we can test that empirically</a:t>
            </a:r>
          </a:p>
          <a:p>
            <a:pPr eaLnBrk="1" hangingPunct="1"/>
            <a:r>
              <a:rPr lang="en-US" sz="2500" dirty="0">
                <a:latin typeface="Times New Roman" pitchFamily="18" charset="0"/>
              </a:rPr>
              <a:t>For example, you could run this regression using any portfolio constructed using the code from homework 1, and we will run this regression for many portfolios next week, and in your final project</a:t>
            </a:r>
          </a:p>
          <a:p>
            <a:pPr eaLnBrk="1" hangingPunct="1"/>
            <a:r>
              <a:rPr lang="en-US" sz="2500" dirty="0">
                <a:latin typeface="Times New Roman" pitchFamily="18" charset="0"/>
              </a:rPr>
              <a:t>This is called “performance evaluation” using the CAPM as a benchmark.  Alpha is a measure of performance (higher is better).  Beta is systematic risk.</a:t>
            </a:r>
          </a:p>
        </p:txBody>
      </p:sp>
      <p:graphicFrame>
        <p:nvGraphicFramePr>
          <p:cNvPr id="6" name="Object 5"/>
          <p:cNvGraphicFramePr>
            <a:graphicFrameLocks noGrp="1" noChangeAspect="1"/>
          </p:cNvGraphicFramePr>
          <p:nvPr>
            <p:extLst/>
          </p:nvPr>
        </p:nvGraphicFramePr>
        <p:xfrm>
          <a:off x="2151063" y="1884363"/>
          <a:ext cx="4259262" cy="534987"/>
        </p:xfrm>
        <a:graphic>
          <a:graphicData uri="http://schemas.openxmlformats.org/presentationml/2006/ole">
            <mc:AlternateContent xmlns:mc="http://schemas.openxmlformats.org/markup-compatibility/2006">
              <mc:Choice xmlns:v="urn:schemas-microsoft-com:vml" Requires="v">
                <p:oleObj spid="_x0000_s28681" name="Equation" r:id="rId4" imgW="1917360" imgH="241200" progId="Equation.3">
                  <p:embed/>
                </p:oleObj>
              </mc:Choice>
              <mc:Fallback>
                <p:oleObj name="Equation" r:id="rId4" imgW="1917360" imgH="241200" progId="Equation.3">
                  <p:embed/>
                  <p:pic>
                    <p:nvPicPr>
                      <p:cNvPr id="6" name="Object 5"/>
                      <p:cNvPicPr>
                        <a:picLocks noGrp="1" noChangeAspect="1" noChangeArrowheads="1"/>
                      </p:cNvPicPr>
                      <p:nvPr/>
                    </p:nvPicPr>
                    <p:blipFill>
                      <a:blip r:embed="rId5"/>
                      <a:srcRect/>
                      <a:stretch>
                        <a:fillRect/>
                      </a:stretch>
                    </p:blipFill>
                    <p:spPr bwMode="auto">
                      <a:xfrm>
                        <a:off x="2151063" y="1884363"/>
                        <a:ext cx="42592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03528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Empirical Facts About the CAPM</a:t>
            </a:r>
          </a:p>
        </p:txBody>
      </p:sp>
      <p:sp>
        <p:nvSpPr>
          <p:cNvPr id="60420" name="Rectangle 3"/>
          <p:cNvSpPr>
            <a:spLocks noGrp="1" noChangeArrowheads="1"/>
          </p:cNvSpPr>
          <p:nvPr>
            <p:ph type="body" idx="1"/>
          </p:nvPr>
        </p:nvSpPr>
        <p:spPr>
          <a:xfrm>
            <a:off x="838200" y="1478079"/>
            <a:ext cx="8001000" cy="2590800"/>
          </a:xfrm>
        </p:spPr>
        <p:txBody>
          <a:bodyPr/>
          <a:lstStyle/>
          <a:p>
            <a:pPr eaLnBrk="1" hangingPunct="1"/>
            <a:r>
              <a:rPr lang="en-US" sz="2400" dirty="0">
                <a:latin typeface="Times New Roman" pitchFamily="18" charset="0"/>
              </a:rPr>
              <a:t>Starting in the 1980’s increasing findings of “anomalies” (or nonzero alphas) relative to CAPM</a:t>
            </a:r>
          </a:p>
          <a:p>
            <a:pPr lvl="1" eaLnBrk="1" hangingPunct="1"/>
            <a:r>
              <a:rPr lang="en-US" sz="2400" dirty="0">
                <a:latin typeface="Times New Roman" pitchFamily="18" charset="0"/>
              </a:rPr>
              <a:t>Size, B/M, E/P, etc.</a:t>
            </a:r>
          </a:p>
          <a:p>
            <a:pPr lvl="1" eaLnBrk="1" hangingPunct="1"/>
            <a:r>
              <a:rPr lang="en-US" sz="2400" dirty="0" err="1">
                <a:latin typeface="Times New Roman" pitchFamily="18" charset="0"/>
              </a:rPr>
              <a:t>Fama</a:t>
            </a:r>
            <a:r>
              <a:rPr lang="en-US" sz="2400" dirty="0">
                <a:latin typeface="Times New Roman" pitchFamily="18" charset="0"/>
              </a:rPr>
              <a:t> and French (1992, 1993) are two papers that really consolidated knowledge in this area</a:t>
            </a:r>
          </a:p>
          <a:p>
            <a:pPr lvl="1" eaLnBrk="1" hangingPunct="1"/>
            <a:r>
              <a:rPr lang="en-US" sz="2400" dirty="0">
                <a:latin typeface="Times New Roman" pitchFamily="18" charset="0"/>
              </a:rPr>
              <a:t>Now a vast array of “anomalies” have been presented in the finance literature</a:t>
            </a:r>
          </a:p>
          <a:p>
            <a:pPr lvl="1" eaLnBrk="1" hangingPunct="1"/>
            <a:r>
              <a:rPr lang="en-US" sz="2400" dirty="0">
                <a:latin typeface="Times New Roman" pitchFamily="18" charset="0"/>
              </a:rPr>
              <a:t>Look at </a:t>
            </a:r>
            <a:r>
              <a:rPr lang="en-US" sz="2400" dirty="0">
                <a:latin typeface="Times New Roman" pitchFamily="18" charset="0"/>
                <a:hlinkClick r:id="rId3"/>
              </a:rPr>
              <a:t>Ken French’s website</a:t>
            </a:r>
            <a:r>
              <a:rPr lang="en-US" sz="2400" dirty="0">
                <a:latin typeface="Times New Roman" pitchFamily="18" charset="0"/>
              </a:rPr>
              <a:t>, which we will explore next week, to get an idea of the portfolios used to beat the CAPM.</a:t>
            </a:r>
          </a:p>
        </p:txBody>
      </p:sp>
    </p:spTree>
    <p:extLst>
      <p:ext uri="{BB962C8B-B14F-4D97-AF65-F5344CB8AC3E}">
        <p14:creationId xmlns:p14="http://schemas.microsoft.com/office/powerpoint/2010/main" val="4154261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Arbitrage Pricing Theory</a:t>
            </a:r>
          </a:p>
        </p:txBody>
      </p:sp>
      <mc:AlternateContent xmlns:mc="http://schemas.openxmlformats.org/markup-compatibility/2006" xmlns:a14="http://schemas.microsoft.com/office/drawing/2010/main">
        <mc:Choice Requires="a14">
          <p:sp>
            <p:nvSpPr>
              <p:cNvPr id="60420" name="Rectangle 3"/>
              <p:cNvSpPr>
                <a:spLocks noGrp="1" noChangeArrowheads="1"/>
              </p:cNvSpPr>
              <p:nvPr>
                <p:ph type="body" idx="1"/>
              </p:nvPr>
            </p:nvSpPr>
            <p:spPr>
              <a:xfrm>
                <a:off x="533400" y="2552700"/>
                <a:ext cx="8534400" cy="4152900"/>
              </a:xfrm>
            </p:spPr>
            <p:txBody>
              <a:bodyPr/>
              <a:lstStyle/>
              <a:p>
                <a:pPr eaLnBrk="1" hangingPunct="1"/>
                <a:r>
                  <a:rPr lang="en-US" sz="2400" dirty="0">
                    <a:latin typeface="Times New Roman" pitchFamily="18" charset="0"/>
                  </a:rPr>
                  <a:t>Multi-factor analog to CAPM</a:t>
                </a:r>
              </a:p>
              <a:p>
                <a:pPr eaLnBrk="1" hangingPunct="1"/>
                <a:r>
                  <a:rPr lang="en-US" sz="2400" dirty="0">
                    <a:latin typeface="Times New Roman" pitchFamily="18" charset="0"/>
                  </a:rPr>
                  <a:t>Two important ways of implementing empirically</a:t>
                </a:r>
              </a:p>
              <a:p>
                <a:pPr marL="914400" lvl="1" indent="-457200" eaLnBrk="1" hangingPunct="1">
                  <a:buClrTx/>
                  <a:buFont typeface="+mj-lt"/>
                  <a:buAutoNum type="arabicPeriod"/>
                </a:pPr>
                <a:r>
                  <a:rPr lang="en-US" sz="2400" dirty="0">
                    <a:latin typeface="Times New Roman" pitchFamily="18" charset="0"/>
                  </a:rPr>
                  <a:t>Macro factors (e.g., Chen, Roll, and Ross, 1988; factor investing)</a:t>
                </a:r>
              </a:p>
              <a:p>
                <a:pPr marL="914400" lvl="1" indent="-457200" eaLnBrk="1" hangingPunct="1">
                  <a:buClrTx/>
                  <a:buFont typeface="+mj-lt"/>
                  <a:buAutoNum type="arabicPeriod"/>
                </a:pPr>
                <a:r>
                  <a:rPr lang="en-US" sz="2400" dirty="0">
                    <a:latin typeface="Times New Roman" pitchFamily="18" charset="0"/>
                  </a:rPr>
                  <a:t>Empirical factors (e.g., Fama and French, 92, 93), this is where we are going next</a:t>
                </a:r>
              </a:p>
              <a:p>
                <a:pPr marL="457200" lvl="1" indent="0" eaLnBrk="1" hangingPunct="1">
                  <a:buClrTx/>
                  <a:buNone/>
                </a:pPr>
                <a:endParaRPr lang="en-US" sz="2400" dirty="0">
                  <a:latin typeface="Times New Roman" pitchFamily="18" charset="0"/>
                </a:endParaRPr>
              </a:p>
              <a:p>
                <a:pPr marL="914400" lvl="1" indent="-457200" eaLnBrk="1" hangingPunct="1">
                  <a:buClrTx/>
                  <a:buFont typeface="+mj-lt"/>
                  <a:buAutoNum type="arabicPeriod"/>
                </a:pPr>
                <a:endParaRPr lang="en-US" sz="2400" dirty="0">
                  <a:latin typeface="Times New Roman" pitchFamily="18" charset="0"/>
                </a:endParaRPr>
              </a:p>
              <a:p>
                <a:pPr marL="57150" indent="0" eaLnBrk="1" hangingPunct="1">
                  <a:buClrTx/>
                  <a:buNone/>
                </a:pPr>
                <a:r>
                  <a:rPr lang="en-US" sz="2400" dirty="0">
                    <a:latin typeface="Times New Roman" pitchFamily="18" charset="0"/>
                  </a:rPr>
                  <a:t>CAPM is restricted version </a:t>
                </a:r>
                <a14:m>
                  <m:oMath xmlns:m="http://schemas.openxmlformats.org/officeDocument/2006/math">
                    <m:r>
                      <a:rPr lang="en-US" sz="2400" i="1">
                        <a:latin typeface="Cambria Math" panose="02040503050406030204" pitchFamily="18" charset="0"/>
                      </a:rPr>
                      <m:t>𝐸</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𝑖𝑡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i="1">
                                <a:latin typeface="Cambria Math" panose="02040503050406030204" pitchFamily="18" charset="0"/>
                              </a:rPr>
                              <m:t>𝑓𝑡</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rPr>
                          <m:t>𝑖𝑀</m:t>
                        </m:r>
                      </m:sub>
                    </m:sSub>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𝑀𝑡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i="1">
                            <a:latin typeface="Cambria Math" panose="02040503050406030204" pitchFamily="18" charset="0"/>
                          </a:rPr>
                          <m:t>𝑓𝑡</m:t>
                        </m:r>
                      </m:sub>
                    </m:sSub>
                    <m:r>
                      <a:rPr lang="en-US" sz="2400" i="1">
                        <a:latin typeface="Cambria Math" panose="02040503050406030204" pitchFamily="18" charset="0"/>
                      </a:rPr>
                      <m:t>)</m:t>
                    </m:r>
                  </m:oMath>
                </a14:m>
                <a:endParaRPr lang="en-US" sz="2400" dirty="0">
                  <a:latin typeface="Times New Roman" pitchFamily="18" charset="0"/>
                </a:endParaRPr>
              </a:p>
              <a:p>
                <a:pPr marL="457200" lvl="1" indent="0" eaLnBrk="1" hangingPunct="1">
                  <a:buClrTx/>
                  <a:buNone/>
                </a:pPr>
                <a:endParaRPr lang="en-US" sz="2100" dirty="0">
                  <a:latin typeface="Times New Roman" pitchFamily="18" charset="0"/>
                </a:endParaRPr>
              </a:p>
              <a:p>
                <a:pPr marL="914400" lvl="1" indent="-457200" eaLnBrk="1" hangingPunct="1">
                  <a:buClrTx/>
                  <a:buFont typeface="+mj-lt"/>
                  <a:buAutoNum type="arabicPeriod"/>
                </a:pPr>
                <a:endParaRPr lang="en-US" sz="2100" dirty="0">
                  <a:latin typeface="Times New Roman" pitchFamily="18" charset="0"/>
                </a:endParaRPr>
              </a:p>
              <a:p>
                <a:pPr marL="914400" lvl="1" indent="-457200" eaLnBrk="1" hangingPunct="1">
                  <a:buClrTx/>
                  <a:buFont typeface="+mj-lt"/>
                  <a:buAutoNum type="arabicPeriod"/>
                </a:pPr>
                <a:endParaRPr lang="en-US" sz="2100" dirty="0">
                  <a:latin typeface="Times New Roman" pitchFamily="18" charset="0"/>
                </a:endParaRPr>
              </a:p>
            </p:txBody>
          </p:sp>
        </mc:Choice>
        <mc:Fallback xmlns="">
          <p:sp>
            <p:nvSpPr>
              <p:cNvPr id="60420" name="Rectangle 3"/>
              <p:cNvSpPr>
                <a:spLocks noGrp="1" noRot="1" noChangeAspect="1" noMove="1" noResize="1" noEditPoints="1" noAdjustHandles="1" noChangeArrowheads="1" noChangeShapeType="1" noTextEdit="1"/>
              </p:cNvSpPr>
              <p:nvPr>
                <p:ph type="body" idx="1"/>
              </p:nvPr>
            </p:nvSpPr>
            <p:spPr>
              <a:xfrm>
                <a:off x="533400" y="2552700"/>
                <a:ext cx="8534400" cy="4152900"/>
              </a:xfrm>
              <a:blipFill>
                <a:blip r:embed="rId4"/>
                <a:stretch>
                  <a:fillRect l="-500" t="-1175"/>
                </a:stretch>
              </a:blipFill>
            </p:spPr>
            <p:txBody>
              <a:bodyPr/>
              <a:lstStyle/>
              <a:p>
                <a:r>
                  <a:rPr lang="en-US">
                    <a:noFill/>
                  </a:rPr>
                  <a:t> </a:t>
                </a:r>
              </a:p>
            </p:txBody>
          </p:sp>
        </mc:Fallback>
      </mc:AlternateContent>
      <p:graphicFrame>
        <p:nvGraphicFramePr>
          <p:cNvPr id="2" name="Object 1"/>
          <p:cNvGraphicFramePr>
            <a:graphicFrameLocks noGrp="1" noChangeAspect="1"/>
          </p:cNvGraphicFramePr>
          <p:nvPr>
            <p:extLst/>
          </p:nvPr>
        </p:nvGraphicFramePr>
        <p:xfrm>
          <a:off x="2514600" y="1674812"/>
          <a:ext cx="3835400" cy="647700"/>
        </p:xfrm>
        <a:graphic>
          <a:graphicData uri="http://schemas.openxmlformats.org/presentationml/2006/ole">
            <mc:AlternateContent xmlns:mc="http://schemas.openxmlformats.org/markup-compatibility/2006">
              <mc:Choice xmlns:v="urn:schemas-microsoft-com:vml" Requires="v">
                <p:oleObj spid="_x0000_s29705" name="Equation" r:id="rId5" imgW="1726920" imgH="291960" progId="Equation.3">
                  <p:embed/>
                </p:oleObj>
              </mc:Choice>
              <mc:Fallback>
                <p:oleObj name="Equation" r:id="rId5" imgW="1726920" imgH="291960" progId="Equation.3">
                  <p:embed/>
                  <p:pic>
                    <p:nvPicPr>
                      <p:cNvPr id="2" name="Object 1"/>
                      <p:cNvPicPr>
                        <a:picLocks noGrp="1" noChangeAspect="1" noChangeArrowheads="1"/>
                      </p:cNvPicPr>
                      <p:nvPr/>
                    </p:nvPicPr>
                    <p:blipFill>
                      <a:blip r:embed="rId6"/>
                      <a:srcRect/>
                      <a:stretch>
                        <a:fillRect/>
                      </a:stretch>
                    </p:blipFill>
                    <p:spPr bwMode="auto">
                      <a:xfrm>
                        <a:off x="2514600" y="1674812"/>
                        <a:ext cx="3835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21830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Empirical Implementation of Factor Models</a:t>
            </a:r>
          </a:p>
        </p:txBody>
      </p:sp>
      <p:sp>
        <p:nvSpPr>
          <p:cNvPr id="60420" name="Rectangle 3"/>
          <p:cNvSpPr>
            <a:spLocks noGrp="1" noChangeArrowheads="1"/>
          </p:cNvSpPr>
          <p:nvPr>
            <p:ph type="body" idx="1"/>
          </p:nvPr>
        </p:nvSpPr>
        <p:spPr>
          <a:xfrm>
            <a:off x="838200" y="2403475"/>
            <a:ext cx="8001000" cy="2590800"/>
          </a:xfrm>
        </p:spPr>
        <p:txBody>
          <a:bodyPr/>
          <a:lstStyle/>
          <a:p>
            <a:pPr eaLnBrk="1" hangingPunct="1"/>
            <a:r>
              <a:rPr lang="en-US" sz="2500" dirty="0">
                <a:latin typeface="Times New Roman" pitchFamily="18" charset="0"/>
              </a:rPr>
              <a:t>Multi-factor analog to market model regression</a:t>
            </a:r>
          </a:p>
          <a:p>
            <a:pPr eaLnBrk="1" hangingPunct="1"/>
            <a:r>
              <a:rPr lang="en-US" sz="2500" dirty="0">
                <a:latin typeface="Times New Roman" pitchFamily="18" charset="0"/>
              </a:rPr>
              <a:t>The alpha or measure of performance is now with respect to a multi-factor benchmark, the factors </a:t>
            </a:r>
            <a:r>
              <a:rPr lang="en-US" sz="2500" dirty="0" err="1">
                <a:latin typeface="Times New Roman" pitchFamily="18" charset="0"/>
              </a:rPr>
              <a:t>F_kt</a:t>
            </a:r>
            <a:r>
              <a:rPr lang="en-US" sz="2500" dirty="0">
                <a:latin typeface="Times New Roman" pitchFamily="18" charset="0"/>
              </a:rPr>
              <a:t>, and the betas measure exposure to those factors</a:t>
            </a:r>
          </a:p>
          <a:p>
            <a:pPr eaLnBrk="1" hangingPunct="1"/>
            <a:r>
              <a:rPr lang="en-US" sz="2500" dirty="0">
                <a:latin typeface="Times New Roman" pitchFamily="18" charset="0"/>
              </a:rPr>
              <a:t>For example, the </a:t>
            </a:r>
            <a:r>
              <a:rPr lang="en-US" sz="2500" dirty="0" err="1">
                <a:latin typeface="Times New Roman" pitchFamily="18" charset="0"/>
              </a:rPr>
              <a:t>Fama</a:t>
            </a:r>
            <a:r>
              <a:rPr lang="en-US" sz="2500" dirty="0">
                <a:latin typeface="Times New Roman" pitchFamily="18" charset="0"/>
              </a:rPr>
              <a:t>-French 3-factor model where the three factors are the excess return on the market, a “size” factor that is long small stocks and short big stocks (SMB), and a “value” factor that is long value stocks and short growth stocks (HML) </a:t>
            </a:r>
          </a:p>
        </p:txBody>
      </p:sp>
      <p:graphicFrame>
        <p:nvGraphicFramePr>
          <p:cNvPr id="2" name="Object 1"/>
          <p:cNvGraphicFramePr>
            <a:graphicFrameLocks noGrp="1" noChangeAspect="1"/>
          </p:cNvGraphicFramePr>
          <p:nvPr>
            <p:extLst/>
          </p:nvPr>
        </p:nvGraphicFramePr>
        <p:xfrm>
          <a:off x="1981200" y="1600200"/>
          <a:ext cx="4624388" cy="647700"/>
        </p:xfrm>
        <a:graphic>
          <a:graphicData uri="http://schemas.openxmlformats.org/presentationml/2006/ole">
            <mc:AlternateContent xmlns:mc="http://schemas.openxmlformats.org/markup-compatibility/2006">
              <mc:Choice xmlns:v="urn:schemas-microsoft-com:vml" Requires="v">
                <p:oleObj spid="_x0000_s30729" name="Equation" r:id="rId4" imgW="2082600" imgH="291960" progId="Equation.3">
                  <p:embed/>
                </p:oleObj>
              </mc:Choice>
              <mc:Fallback>
                <p:oleObj name="Equation" r:id="rId4" imgW="2082600" imgH="291960" progId="Equation.3">
                  <p:embed/>
                  <p:pic>
                    <p:nvPicPr>
                      <p:cNvPr id="2" name="Object 1"/>
                      <p:cNvPicPr>
                        <a:picLocks noGrp="1" noChangeAspect="1" noChangeArrowheads="1"/>
                      </p:cNvPicPr>
                      <p:nvPr/>
                    </p:nvPicPr>
                    <p:blipFill>
                      <a:blip r:embed="rId5"/>
                      <a:srcRect/>
                      <a:stretch>
                        <a:fillRect/>
                      </a:stretch>
                    </p:blipFill>
                    <p:spPr bwMode="auto">
                      <a:xfrm>
                        <a:off x="1981200" y="1600200"/>
                        <a:ext cx="46243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69902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“Factor Investing” as Alternative to Traditional Asset Allocation</a:t>
            </a:r>
          </a:p>
        </p:txBody>
      </p:sp>
      <p:sp>
        <p:nvSpPr>
          <p:cNvPr id="60420" name="Rectangle 3"/>
          <p:cNvSpPr>
            <a:spLocks noGrp="1" noChangeArrowheads="1"/>
          </p:cNvSpPr>
          <p:nvPr>
            <p:ph type="body" idx="1"/>
          </p:nvPr>
        </p:nvSpPr>
        <p:spPr>
          <a:xfrm>
            <a:off x="838200" y="1752600"/>
            <a:ext cx="8001000" cy="2590800"/>
          </a:xfrm>
        </p:spPr>
        <p:txBody>
          <a:bodyPr/>
          <a:lstStyle/>
          <a:p>
            <a:pPr marL="457200" indent="-457200" eaLnBrk="1" hangingPunct="1">
              <a:buClr>
                <a:schemeClr val="tx1">
                  <a:lumMod val="95000"/>
                  <a:lumOff val="5000"/>
                </a:schemeClr>
              </a:buClr>
              <a:buSzPct val="100000"/>
              <a:buFont typeface="+mj-lt"/>
              <a:buAutoNum type="arabicPeriod"/>
            </a:pPr>
            <a:r>
              <a:rPr lang="en-US" sz="2000" dirty="0">
                <a:latin typeface="Times New Roman" pitchFamily="18" charset="0"/>
              </a:rPr>
              <a:t>Establish a “reference portfolio” – simple portfolio of stock, bond, and </a:t>
            </a:r>
            <a:r>
              <a:rPr lang="en-US" sz="2000" dirty="0" err="1">
                <a:latin typeface="Times New Roman" pitchFamily="18" charset="0"/>
              </a:rPr>
              <a:t>t-bill</a:t>
            </a:r>
            <a:r>
              <a:rPr lang="en-US" sz="2000" dirty="0">
                <a:latin typeface="Times New Roman" pitchFamily="18" charset="0"/>
              </a:rPr>
              <a:t>, easily traded at low cost</a:t>
            </a:r>
          </a:p>
          <a:p>
            <a:pPr marL="457200" indent="-457200" eaLnBrk="1" hangingPunct="1">
              <a:buClr>
                <a:schemeClr val="tx1">
                  <a:lumMod val="95000"/>
                  <a:lumOff val="5000"/>
                </a:schemeClr>
              </a:buClr>
              <a:buSzPct val="100000"/>
              <a:buFont typeface="+mj-lt"/>
              <a:buAutoNum type="arabicPeriod"/>
            </a:pPr>
            <a:r>
              <a:rPr lang="en-US" sz="2000" dirty="0">
                <a:latin typeface="Times New Roman" pitchFamily="18" charset="0"/>
              </a:rPr>
              <a:t>Think about where you have special competencies as an investor to be able to outperform reference portfolio, or take risks others cannot</a:t>
            </a:r>
          </a:p>
          <a:p>
            <a:pPr marL="857250" lvl="1" indent="-457200" eaLnBrk="1" hangingPunct="1">
              <a:buClr>
                <a:schemeClr val="tx1">
                  <a:lumMod val="95000"/>
                  <a:lumOff val="5000"/>
                </a:schemeClr>
              </a:buClr>
              <a:buSzPct val="100000"/>
            </a:pPr>
            <a:r>
              <a:rPr lang="en-US" sz="2100" dirty="0">
                <a:latin typeface="Times New Roman" pitchFamily="18" charset="0"/>
              </a:rPr>
              <a:t>Identify your special competencies: ability to bear liquidity risk, long time-horizons, proprietary strategies</a:t>
            </a:r>
          </a:p>
          <a:p>
            <a:pPr marL="857250" lvl="1" indent="-457200" eaLnBrk="1" hangingPunct="1">
              <a:buClr>
                <a:schemeClr val="tx1">
                  <a:lumMod val="95000"/>
                  <a:lumOff val="5000"/>
                </a:schemeClr>
              </a:buClr>
              <a:buSzPct val="100000"/>
            </a:pPr>
            <a:r>
              <a:rPr lang="en-US" sz="2100" dirty="0">
                <a:latin typeface="Times New Roman" pitchFamily="18" charset="0"/>
              </a:rPr>
              <a:t>Identify key risks (macro risk factors and/or empirical risk factors) and your ability to carry exposures to those risk factors</a:t>
            </a:r>
          </a:p>
          <a:p>
            <a:pPr marL="514350" indent="-514350" eaLnBrk="1" hangingPunct="1">
              <a:buClr>
                <a:schemeClr val="tx1">
                  <a:lumMod val="95000"/>
                  <a:lumOff val="5000"/>
                </a:schemeClr>
              </a:buClr>
              <a:buSzPct val="100000"/>
              <a:buFont typeface="+mj-lt"/>
              <a:buAutoNum type="arabicPeriod"/>
            </a:pPr>
            <a:r>
              <a:rPr lang="en-US" sz="2000" dirty="0">
                <a:latin typeface="Times New Roman" pitchFamily="18" charset="0"/>
              </a:rPr>
              <a:t>Replace parts of reference portfolio investments with exposures to risk factors or special strategies as appropriate, with an eye toward risk management (here the multi-factor model of risk is important, and identifying exposures to those risks)</a:t>
            </a:r>
          </a:p>
          <a:p>
            <a:pPr eaLnBrk="1" hangingPunct="1">
              <a:buClr>
                <a:schemeClr val="tx1">
                  <a:lumMod val="95000"/>
                  <a:lumOff val="5000"/>
                </a:schemeClr>
              </a:buClr>
              <a:buSzPct val="100000"/>
            </a:pPr>
            <a:r>
              <a:rPr lang="en-US" sz="2000" dirty="0">
                <a:latin typeface="Times New Roman" pitchFamily="18" charset="0"/>
              </a:rPr>
              <a:t>Examples: </a:t>
            </a:r>
            <a:r>
              <a:rPr lang="en-US" sz="2000" dirty="0">
                <a:latin typeface="Times New Roman" pitchFamily="18" charset="0"/>
                <a:hlinkClick r:id="rId3"/>
              </a:rPr>
              <a:t>CPPIB</a:t>
            </a:r>
            <a:r>
              <a:rPr lang="en-US" sz="2000" dirty="0">
                <a:latin typeface="Times New Roman" pitchFamily="18" charset="0"/>
              </a:rPr>
              <a:t> (see “strategy”), Black Rock </a:t>
            </a:r>
            <a:r>
              <a:rPr lang="en-US" sz="2000" dirty="0">
                <a:latin typeface="Times New Roman" pitchFamily="18" charset="0"/>
                <a:hlinkClick r:id="rId4"/>
              </a:rPr>
              <a:t>link 1</a:t>
            </a:r>
            <a:r>
              <a:rPr lang="en-US" sz="2000" dirty="0">
                <a:latin typeface="Times New Roman" pitchFamily="18" charset="0"/>
              </a:rPr>
              <a:t>, MSCI </a:t>
            </a:r>
            <a:r>
              <a:rPr lang="en-US" sz="2000" dirty="0">
                <a:latin typeface="Times New Roman" pitchFamily="18" charset="0"/>
                <a:hlinkClick r:id="rId5"/>
              </a:rPr>
              <a:t>link1</a:t>
            </a:r>
            <a:r>
              <a:rPr lang="en-US" sz="2000" dirty="0">
                <a:latin typeface="Times New Roman" pitchFamily="18" charset="0"/>
              </a:rPr>
              <a:t> </a:t>
            </a:r>
            <a:r>
              <a:rPr lang="en-US" sz="2000" dirty="0">
                <a:latin typeface="Times New Roman" pitchFamily="18" charset="0"/>
                <a:hlinkClick r:id="rId6"/>
              </a:rPr>
              <a:t>link 2</a:t>
            </a:r>
            <a:endParaRPr lang="en-US" sz="2000" dirty="0">
              <a:latin typeface="Times New Roman" pitchFamily="18" charset="0"/>
            </a:endParaRPr>
          </a:p>
        </p:txBody>
      </p:sp>
    </p:spTree>
    <p:extLst>
      <p:ext uri="{BB962C8B-B14F-4D97-AF65-F5344CB8AC3E}">
        <p14:creationId xmlns:p14="http://schemas.microsoft.com/office/powerpoint/2010/main" val="729667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Next Steps, Next Week</a:t>
            </a:r>
          </a:p>
        </p:txBody>
      </p:sp>
      <p:sp>
        <p:nvSpPr>
          <p:cNvPr id="60420" name="Rectangle 3"/>
          <p:cNvSpPr>
            <a:spLocks noGrp="1" noChangeArrowheads="1"/>
          </p:cNvSpPr>
          <p:nvPr>
            <p:ph type="body" idx="1"/>
          </p:nvPr>
        </p:nvSpPr>
        <p:spPr>
          <a:xfrm>
            <a:off x="682978" y="1828800"/>
            <a:ext cx="8458200" cy="2819400"/>
          </a:xfrm>
        </p:spPr>
        <p:txBody>
          <a:bodyPr/>
          <a:lstStyle/>
          <a:p>
            <a:pPr eaLnBrk="1" hangingPunct="1">
              <a:buClr>
                <a:schemeClr val="tx1">
                  <a:lumMod val="95000"/>
                  <a:lumOff val="5000"/>
                </a:schemeClr>
              </a:buClr>
              <a:buSzPct val="100000"/>
            </a:pPr>
            <a:r>
              <a:rPr lang="en-US" sz="2800" dirty="0">
                <a:latin typeface="Times New Roman" pitchFamily="18" charset="0"/>
              </a:rPr>
              <a:t>Cross-sectional trading strategies </a:t>
            </a:r>
          </a:p>
          <a:p>
            <a:pPr eaLnBrk="1" hangingPunct="1">
              <a:buClr>
                <a:schemeClr val="tx1">
                  <a:lumMod val="95000"/>
                  <a:lumOff val="5000"/>
                </a:schemeClr>
              </a:buClr>
              <a:buSzPct val="100000"/>
            </a:pPr>
            <a:endParaRPr lang="en-US" sz="2800" dirty="0">
              <a:latin typeface="Times New Roman" pitchFamily="18" charset="0"/>
            </a:endParaRPr>
          </a:p>
          <a:p>
            <a:pPr eaLnBrk="1" hangingPunct="1">
              <a:buClr>
                <a:schemeClr val="tx1">
                  <a:lumMod val="95000"/>
                  <a:lumOff val="5000"/>
                </a:schemeClr>
              </a:buClr>
              <a:buSzPct val="100000"/>
            </a:pPr>
            <a:r>
              <a:rPr lang="en-US" sz="2800" dirty="0">
                <a:latin typeface="Times New Roman" pitchFamily="18" charset="0"/>
              </a:rPr>
              <a:t>Application to final project</a:t>
            </a:r>
          </a:p>
        </p:txBody>
      </p:sp>
    </p:spTree>
    <p:extLst>
      <p:ext uri="{BB962C8B-B14F-4D97-AF65-F5344CB8AC3E}">
        <p14:creationId xmlns:p14="http://schemas.microsoft.com/office/powerpoint/2010/main" val="1661338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Appendix: Mean-variance math</a:t>
            </a:r>
          </a:p>
        </p:txBody>
      </p:sp>
    </p:spTree>
    <p:extLst>
      <p:ext uri="{BB962C8B-B14F-4D97-AF65-F5344CB8AC3E}">
        <p14:creationId xmlns:p14="http://schemas.microsoft.com/office/powerpoint/2010/main" val="251160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Efficient Frontier</a:t>
            </a:r>
          </a:p>
        </p:txBody>
      </p:sp>
      <p:sp>
        <p:nvSpPr>
          <p:cNvPr id="5125" name="Line 5"/>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6" name="Line 6"/>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8" name="Rectangle 8"/>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29" name="Rectangle 9"/>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30" name="Freeform 10"/>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1" name="Text Box 11"/>
          <p:cNvSpPr txBox="1">
            <a:spLocks noChangeArrowheads="1"/>
          </p:cNvSpPr>
          <p:nvPr/>
        </p:nvSpPr>
        <p:spPr bwMode="auto">
          <a:xfrm>
            <a:off x="6781800" y="2667000"/>
            <a:ext cx="2362200" cy="13112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risky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securities.</a:t>
            </a:r>
          </a:p>
        </p:txBody>
      </p:sp>
      <p:sp>
        <p:nvSpPr>
          <p:cNvPr id="5132" name="Text Box 12"/>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3" name="Line 13"/>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4" name="Line 14"/>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5" name="Text Box 15"/>
          <p:cNvSpPr txBox="1">
            <a:spLocks noChangeArrowheads="1"/>
          </p:cNvSpPr>
          <p:nvPr/>
        </p:nvSpPr>
        <p:spPr bwMode="auto">
          <a:xfrm>
            <a:off x="2209800" y="5867400"/>
            <a:ext cx="5334000" cy="7016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any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security lie in this cone.</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p>
        </p:txBody>
      </p:sp>
      <p:sp>
        <p:nvSpPr>
          <p:cNvPr id="5136" name="Line 16"/>
          <p:cNvSpPr>
            <a:spLocks noChangeShapeType="1"/>
          </p:cNvSpPr>
          <p:nvPr/>
        </p:nvSpPr>
        <p:spPr bwMode="auto">
          <a:xfrm flipV="1">
            <a:off x="3200400" y="4343400"/>
            <a:ext cx="762000" cy="1447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7" name="Text Box 17"/>
          <p:cNvSpPr txBox="1">
            <a:spLocks noChangeArrowheads="1"/>
          </p:cNvSpPr>
          <p:nvPr/>
        </p:nvSpPr>
        <p:spPr bwMode="auto">
          <a:xfrm>
            <a:off x="1295400" y="1905000"/>
            <a:ext cx="2343150" cy="396875"/>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Efficient investments</a:t>
            </a:r>
          </a:p>
        </p:txBody>
      </p:sp>
      <p:sp>
        <p:nvSpPr>
          <p:cNvPr id="5138" name="Line 18"/>
          <p:cNvSpPr>
            <a:spLocks noChangeShapeType="1"/>
          </p:cNvSpPr>
          <p:nvPr/>
        </p:nvSpPr>
        <p:spPr bwMode="auto">
          <a:xfrm>
            <a:off x="2514600" y="2362200"/>
            <a:ext cx="533400" cy="1066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9" name="Line 19"/>
          <p:cNvSpPr>
            <a:spLocks noChangeShapeType="1"/>
          </p:cNvSpPr>
          <p:nvPr/>
        </p:nvSpPr>
        <p:spPr bwMode="auto">
          <a:xfrm flipH="1">
            <a:off x="5486400" y="3352800"/>
            <a:ext cx="12192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1170989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4000"/>
              <a:t>Calculating Means and the Covariance Matrix</a:t>
            </a:r>
          </a:p>
        </p:txBody>
      </p:sp>
      <p:sp>
        <p:nvSpPr>
          <p:cNvPr id="14339" name="Rectangle 3"/>
          <p:cNvSpPr>
            <a:spLocks noGrp="1" noChangeArrowheads="1"/>
          </p:cNvSpPr>
          <p:nvPr>
            <p:ph type="body" sz="half" idx="1"/>
          </p:nvPr>
        </p:nvSpPr>
        <p:spPr/>
        <p:txBody>
          <a:bodyPr/>
          <a:lstStyle/>
          <a:p>
            <a:r>
              <a:rPr lang="en-US" sz="2800"/>
              <a:t>Means</a:t>
            </a:r>
          </a:p>
          <a:p>
            <a:endParaRPr lang="en-US" sz="2800"/>
          </a:p>
          <a:p>
            <a:endParaRPr lang="en-US" sz="2800"/>
          </a:p>
          <a:p>
            <a:endParaRPr lang="en-US" sz="2800"/>
          </a:p>
          <a:p>
            <a:r>
              <a:rPr lang="en-US" sz="2800"/>
              <a:t>Covariances</a:t>
            </a:r>
          </a:p>
        </p:txBody>
      </p:sp>
      <p:graphicFrame>
        <p:nvGraphicFramePr>
          <p:cNvPr id="14342" name="Object 6"/>
          <p:cNvGraphicFramePr>
            <a:graphicFrameLocks noChangeAspect="1"/>
          </p:cNvGraphicFramePr>
          <p:nvPr/>
        </p:nvGraphicFramePr>
        <p:xfrm>
          <a:off x="2882900" y="1676400"/>
          <a:ext cx="3425825" cy="2514600"/>
        </p:xfrm>
        <a:graphic>
          <a:graphicData uri="http://schemas.openxmlformats.org/presentationml/2006/ole">
            <mc:AlternateContent xmlns:mc="http://schemas.openxmlformats.org/markup-compatibility/2006">
              <mc:Choice xmlns:v="urn:schemas-microsoft-com:vml" Requires="v">
                <p:oleObj spid="_x0000_s14396" name="Equation" r:id="rId3" imgW="1244520" imgH="914400" progId="Equation.3">
                  <p:embed/>
                </p:oleObj>
              </mc:Choice>
              <mc:Fallback>
                <p:oleObj name="Equation" r:id="rId3" imgW="1244520" imgH="914400" progId="Equation.3">
                  <p:embed/>
                  <p:pic>
                    <p:nvPicPr>
                      <p:cNvPr id="143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2900" y="1676400"/>
                        <a:ext cx="3425825"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ChangeAspect="1"/>
          </p:cNvGraphicFramePr>
          <p:nvPr/>
        </p:nvGraphicFramePr>
        <p:xfrm>
          <a:off x="1447800" y="4648200"/>
          <a:ext cx="5715000" cy="1363663"/>
        </p:xfrm>
        <a:graphic>
          <a:graphicData uri="http://schemas.openxmlformats.org/presentationml/2006/ole">
            <mc:AlternateContent xmlns:mc="http://schemas.openxmlformats.org/markup-compatibility/2006">
              <mc:Choice xmlns:v="urn:schemas-microsoft-com:vml" Requires="v">
                <p:oleObj spid="_x0000_s14397" name="Equation" r:id="rId5" imgW="1650960" imgH="393480" progId="Equation.3">
                  <p:embed/>
                </p:oleObj>
              </mc:Choice>
              <mc:Fallback>
                <p:oleObj name="Equation" r:id="rId5" imgW="1650960" imgH="393480" progId="Equation.3">
                  <p:embed/>
                  <p:pic>
                    <p:nvPicPr>
                      <p:cNvPr id="1434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648200"/>
                        <a:ext cx="5715000" cy="1363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Text Box 8"/>
          <p:cNvSpPr txBox="1">
            <a:spLocks noChangeArrowheads="1"/>
          </p:cNvSpPr>
          <p:nvPr/>
        </p:nvSpPr>
        <p:spPr bwMode="auto">
          <a:xfrm>
            <a:off x="7239000" y="3657600"/>
            <a:ext cx="10398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 rows</a:t>
            </a:r>
          </a:p>
        </p:txBody>
      </p:sp>
      <p:sp>
        <p:nvSpPr>
          <p:cNvPr id="14345" name="Line 9"/>
          <p:cNvSpPr>
            <a:spLocks noChangeShapeType="1"/>
          </p:cNvSpPr>
          <p:nvPr/>
        </p:nvSpPr>
        <p:spPr bwMode="auto">
          <a:xfrm flipH="1">
            <a:off x="4953000" y="3886200"/>
            <a:ext cx="22098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14346" name="Line 10"/>
          <p:cNvSpPr>
            <a:spLocks noChangeShapeType="1"/>
          </p:cNvSpPr>
          <p:nvPr/>
        </p:nvSpPr>
        <p:spPr bwMode="auto">
          <a:xfrm flipH="1" flipV="1">
            <a:off x="6248400" y="3124200"/>
            <a:ext cx="990600" cy="7620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828425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The Covariance Matrix</a:t>
            </a:r>
          </a:p>
        </p:txBody>
      </p:sp>
      <p:graphicFrame>
        <p:nvGraphicFramePr>
          <p:cNvPr id="15366" name="Object 6"/>
          <p:cNvGraphicFramePr>
            <a:graphicFrameLocks noGrp="1" noChangeAspect="1"/>
          </p:cNvGraphicFramePr>
          <p:nvPr>
            <p:ph sz="quarter" idx="3"/>
          </p:nvPr>
        </p:nvGraphicFramePr>
        <p:xfrm>
          <a:off x="1143000" y="2286000"/>
          <a:ext cx="6705600" cy="2224088"/>
        </p:xfrm>
        <a:graphic>
          <a:graphicData uri="http://schemas.openxmlformats.org/presentationml/2006/ole">
            <mc:AlternateContent xmlns:mc="http://schemas.openxmlformats.org/markup-compatibility/2006">
              <mc:Choice xmlns:v="urn:schemas-microsoft-com:vml" Requires="v">
                <p:oleObj spid="_x0000_s15391" name="Equation" r:id="rId3" imgW="2831760" imgH="939600" progId="Equation.3">
                  <p:embed/>
                </p:oleObj>
              </mc:Choice>
              <mc:Fallback>
                <p:oleObj name="Equation" r:id="rId3" imgW="2831760" imgH="939600" progId="Equation.3">
                  <p:embed/>
                  <p:pic>
                    <p:nvPicPr>
                      <p:cNvPr id="153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86000"/>
                        <a:ext cx="6705600" cy="222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23329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Calculating Portfolio Means and Returns</a:t>
            </a:r>
          </a:p>
        </p:txBody>
      </p:sp>
      <p:sp>
        <p:nvSpPr>
          <p:cNvPr id="10243" name="Rectangle 3"/>
          <p:cNvSpPr>
            <a:spLocks noGrp="1" noChangeArrowheads="1"/>
          </p:cNvSpPr>
          <p:nvPr>
            <p:ph type="body" sz="half" idx="1"/>
          </p:nvPr>
        </p:nvSpPr>
        <p:spPr>
          <a:xfrm>
            <a:off x="685800" y="1981200"/>
            <a:ext cx="8001000" cy="4114800"/>
          </a:xfrm>
        </p:spPr>
        <p:txBody>
          <a:bodyPr/>
          <a:lstStyle/>
          <a:p>
            <a:r>
              <a:rPr lang="en-US" sz="2800" dirty="0"/>
              <a:t>Given any set of portfolio weights (</a:t>
            </a:r>
            <a:r>
              <a:rPr lang="en-US" sz="2800" dirty="0">
                <a:sym typeface="Symbol" pitchFamily="18" charset="2"/>
              </a:rPr>
              <a:t>)</a:t>
            </a:r>
            <a:r>
              <a:rPr lang="en-US" sz="2800" dirty="0"/>
              <a:t> the portfolio mean and variance can be calculated:</a:t>
            </a:r>
          </a:p>
          <a:p>
            <a:pPr>
              <a:buFontTx/>
              <a:buNone/>
            </a:pPr>
            <a:endParaRPr lang="en-US" sz="2800" dirty="0"/>
          </a:p>
        </p:txBody>
      </p:sp>
      <p:graphicFrame>
        <p:nvGraphicFramePr>
          <p:cNvPr id="10244" name="Object 4"/>
          <p:cNvGraphicFramePr>
            <a:graphicFrameLocks noGrp="1" noChangeAspect="1"/>
          </p:cNvGraphicFramePr>
          <p:nvPr>
            <p:ph sz="quarter" idx="2"/>
            <p:extLst/>
          </p:nvPr>
        </p:nvGraphicFramePr>
        <p:xfrm>
          <a:off x="2743200" y="4191000"/>
          <a:ext cx="2895600" cy="1123194"/>
        </p:xfrm>
        <a:graphic>
          <a:graphicData uri="http://schemas.openxmlformats.org/presentationml/2006/ole">
            <mc:AlternateContent xmlns:mc="http://schemas.openxmlformats.org/markup-compatibility/2006">
              <mc:Choice xmlns:v="urn:schemas-microsoft-com:vml" Requires="v">
                <p:oleObj spid="_x0000_s16476" name="Equation" r:id="rId3" imgW="622080" imgH="241200" progId="Equation.3">
                  <p:embed/>
                </p:oleObj>
              </mc:Choice>
              <mc:Fallback>
                <p:oleObj name="Equation" r:id="rId3" imgW="622080" imgH="241200" progId="Equation.3">
                  <p:embed/>
                  <p:pic>
                    <p:nvPicPr>
                      <p:cNvPr id="102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191000"/>
                        <a:ext cx="2895600" cy="1123194"/>
                      </a:xfrm>
                      <a:prstGeom prst="rect">
                        <a:avLst/>
                      </a:prstGeom>
                      <a:noFill/>
                      <a:extLst/>
                    </p:spPr>
                  </p:pic>
                </p:oleObj>
              </mc:Fallback>
            </mc:AlternateContent>
          </a:graphicData>
        </a:graphic>
      </p:graphicFrame>
      <p:graphicFrame>
        <p:nvGraphicFramePr>
          <p:cNvPr id="10246" name="Object 6"/>
          <p:cNvGraphicFramePr>
            <a:graphicFrameLocks noGrp="1" noChangeAspect="1"/>
          </p:cNvGraphicFramePr>
          <p:nvPr>
            <p:ph sz="quarter" idx="3"/>
          </p:nvPr>
        </p:nvGraphicFramePr>
        <p:xfrm>
          <a:off x="1752600" y="5334000"/>
          <a:ext cx="4495800" cy="1123950"/>
        </p:xfrm>
        <a:graphic>
          <a:graphicData uri="http://schemas.openxmlformats.org/presentationml/2006/ole">
            <mc:AlternateContent xmlns:mc="http://schemas.openxmlformats.org/markup-compatibility/2006">
              <mc:Choice xmlns:v="urn:schemas-microsoft-com:vml" Requires="v">
                <p:oleObj spid="_x0000_s16477" name="Equation" r:id="rId5" imgW="965160" imgH="241200" progId="Equation.3">
                  <p:embed/>
                </p:oleObj>
              </mc:Choice>
              <mc:Fallback>
                <p:oleObj name="Equation" r:id="rId5" imgW="965160" imgH="241200" progId="Equation.3">
                  <p:embed/>
                  <p:pic>
                    <p:nvPicPr>
                      <p:cNvPr id="1024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334000"/>
                        <a:ext cx="44958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8" name="Object 8"/>
          <p:cNvGraphicFramePr>
            <a:graphicFrameLocks noChangeAspect="1"/>
          </p:cNvGraphicFramePr>
          <p:nvPr>
            <p:extLst/>
          </p:nvPr>
        </p:nvGraphicFramePr>
        <p:xfrm>
          <a:off x="1981200" y="3276600"/>
          <a:ext cx="4991100" cy="954590"/>
        </p:xfrm>
        <a:graphic>
          <a:graphicData uri="http://schemas.openxmlformats.org/presentationml/2006/ole">
            <mc:AlternateContent xmlns:mc="http://schemas.openxmlformats.org/markup-compatibility/2006">
              <mc:Choice xmlns:v="urn:schemas-microsoft-com:vml" Requires="v">
                <p:oleObj spid="_x0000_s16478" name="Equation" r:id="rId7" imgW="1193760" imgH="228600" progId="Equation.3">
                  <p:embed/>
                </p:oleObj>
              </mc:Choice>
              <mc:Fallback>
                <p:oleObj name="Equation" r:id="rId7" imgW="1193760" imgH="228600" progId="Equation.3">
                  <p:embed/>
                  <p:pic>
                    <p:nvPicPr>
                      <p:cNvPr id="1024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276600"/>
                        <a:ext cx="4991100" cy="954590"/>
                      </a:xfrm>
                      <a:prstGeom prst="rect">
                        <a:avLst/>
                      </a:prstGeom>
                      <a:noFill/>
                      <a:extLst/>
                    </p:spPr>
                  </p:pic>
                </p:oleObj>
              </mc:Fallback>
            </mc:AlternateContent>
          </a:graphicData>
        </a:graphic>
      </p:graphicFrame>
    </p:spTree>
    <p:extLst>
      <p:ext uri="{BB962C8B-B14F-4D97-AF65-F5344CB8AC3E}">
        <p14:creationId xmlns:p14="http://schemas.microsoft.com/office/powerpoint/2010/main" val="1554078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noChangeArrowheads="1"/>
          </p:cNvSpPr>
          <p:nvPr>
            <p:ph type="title"/>
          </p:nvPr>
        </p:nvSpPr>
        <p:spPr/>
        <p:txBody>
          <a:bodyPr/>
          <a:lstStyle/>
          <a:p>
            <a:r>
              <a:rPr lang="en-US" sz="4000"/>
              <a:t>A Formal Description of the Efficient Frontier</a:t>
            </a:r>
          </a:p>
        </p:txBody>
      </p:sp>
      <p:sp>
        <p:nvSpPr>
          <p:cNvPr id="19463" name="Rectangle 7"/>
          <p:cNvSpPr>
            <a:spLocks noGrp="1" noChangeArrowheads="1"/>
          </p:cNvSpPr>
          <p:nvPr>
            <p:ph type="body" sz="half" idx="1"/>
          </p:nvPr>
        </p:nvSpPr>
        <p:spPr>
          <a:xfrm>
            <a:off x="685800" y="1981200"/>
            <a:ext cx="8001000" cy="1219200"/>
          </a:xfrm>
        </p:spPr>
        <p:txBody>
          <a:bodyPr/>
          <a:lstStyle/>
          <a:p>
            <a:r>
              <a:rPr lang="en-US" sz="2800"/>
              <a:t>The portfolio on the efficient frontier with mean return E solves the following constrained optimization problem:</a:t>
            </a:r>
          </a:p>
        </p:txBody>
      </p:sp>
      <p:graphicFrame>
        <p:nvGraphicFramePr>
          <p:cNvPr id="19464" name="Object 8"/>
          <p:cNvGraphicFramePr>
            <a:graphicFrameLocks noGrp="1" noChangeAspect="1"/>
          </p:cNvGraphicFramePr>
          <p:nvPr>
            <p:ph sz="quarter" idx="2"/>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17468" name="Equation" r:id="rId3" imgW="647640" imgH="279360" progId="Equation.3">
                  <p:embed/>
                </p:oleObj>
              </mc:Choice>
              <mc:Fallback>
                <p:oleObj name="Equation" r:id="rId3" imgW="647640" imgH="279360" progId="Equation.3">
                  <p:embed/>
                  <p:pic>
                    <p:nvPicPr>
                      <p:cNvPr id="194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Text Box 10"/>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19467" name="Object 11"/>
          <p:cNvGraphicFramePr>
            <a:graphicFrameLocks noGrp="1" noChangeAspect="1"/>
          </p:cNvGraphicFramePr>
          <p:nvPr>
            <p:ph sz="quarter" idx="3"/>
          </p:nvPr>
        </p:nvGraphicFramePr>
        <p:xfrm>
          <a:off x="3429000" y="5029200"/>
          <a:ext cx="1600200" cy="1236663"/>
        </p:xfrm>
        <a:graphic>
          <a:graphicData uri="http://schemas.openxmlformats.org/presentationml/2006/ole">
            <mc:AlternateContent xmlns:mc="http://schemas.openxmlformats.org/markup-compatibility/2006">
              <mc:Choice xmlns:v="urn:schemas-microsoft-com:vml" Requires="v">
                <p:oleObj spid="_x0000_s17469" name="Equation" r:id="rId5" imgW="558720" imgH="431640" progId="Equation.3">
                  <p:embed/>
                </p:oleObj>
              </mc:Choice>
              <mc:Fallback>
                <p:oleObj name="Equation" r:id="rId5" imgW="558720" imgH="431640" progId="Equation.3">
                  <p:embed/>
                  <p:pic>
                    <p:nvPicPr>
                      <p:cNvPr id="1946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5029200"/>
                        <a:ext cx="1600200" cy="1236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95434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7772400" cy="1143000"/>
          </a:xfrm>
        </p:spPr>
        <p:txBody>
          <a:bodyPr/>
          <a:lstStyle/>
          <a:p>
            <a:r>
              <a:rPr lang="en-US" dirty="0"/>
              <a:t>Calculating Efficient Risky Portfolios Without Constraints</a:t>
            </a:r>
          </a:p>
        </p:txBody>
      </p:sp>
      <p:sp>
        <p:nvSpPr>
          <p:cNvPr id="11267" name="Rectangle 3"/>
          <p:cNvSpPr>
            <a:spLocks noGrp="1" noChangeArrowheads="1"/>
          </p:cNvSpPr>
          <p:nvPr>
            <p:ph type="body" sz="half" idx="1"/>
          </p:nvPr>
        </p:nvSpPr>
        <p:spPr>
          <a:xfrm>
            <a:off x="685800" y="1981200"/>
            <a:ext cx="7467600" cy="2133600"/>
          </a:xfrm>
        </p:spPr>
        <p:txBody>
          <a:bodyPr/>
          <a:lstStyle/>
          <a:p>
            <a:pPr>
              <a:lnSpc>
                <a:spcPct val="90000"/>
              </a:lnSpc>
            </a:pPr>
            <a:r>
              <a:rPr lang="en-US" sz="2800"/>
              <a:t>Any two efficient risky portfolios (mutual funds) can be combined to generate the entire efficient frontier.</a:t>
            </a:r>
          </a:p>
          <a:p>
            <a:pPr>
              <a:lnSpc>
                <a:spcPct val="90000"/>
              </a:lnSpc>
            </a:pPr>
            <a:r>
              <a:rPr lang="en-US" sz="2800"/>
              <a:t>Formulas for the minimum variance and tangency portfolios are given by:</a:t>
            </a:r>
          </a:p>
        </p:txBody>
      </p:sp>
      <p:graphicFrame>
        <p:nvGraphicFramePr>
          <p:cNvPr id="11268" name="Object 4"/>
          <p:cNvGraphicFramePr>
            <a:graphicFrameLocks noGrp="1" noChangeAspect="1"/>
          </p:cNvGraphicFramePr>
          <p:nvPr>
            <p:ph sz="half" idx="2"/>
          </p:nvPr>
        </p:nvGraphicFramePr>
        <p:xfrm>
          <a:off x="2895600" y="4114800"/>
          <a:ext cx="3505200" cy="2538413"/>
        </p:xfrm>
        <a:graphic>
          <a:graphicData uri="http://schemas.openxmlformats.org/presentationml/2006/ole">
            <mc:AlternateContent xmlns:mc="http://schemas.openxmlformats.org/markup-compatibility/2006">
              <mc:Choice xmlns:v="urn:schemas-microsoft-com:vml" Requires="v">
                <p:oleObj spid="_x0000_s18463" name="Equation" r:id="rId3" imgW="1333440" imgH="965160" progId="Equation.3">
                  <p:embed/>
                </p:oleObj>
              </mc:Choice>
              <mc:Fallback>
                <p:oleObj name="Equation" r:id="rId3" imgW="1333440" imgH="965160" progId="Equation.3">
                  <p:embed/>
                  <p:pic>
                    <p:nvPicPr>
                      <p:cNvPr id="112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114800"/>
                        <a:ext cx="3505200" cy="2538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35146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The Efficient Frontier</a:t>
            </a:r>
          </a:p>
        </p:txBody>
      </p:sp>
      <p:sp>
        <p:nvSpPr>
          <p:cNvPr id="26627" name="Line 3"/>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8" name="Line 4"/>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9" name="Rectangle 5"/>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0" name="Rectangle 6"/>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1" name="Freeform 7"/>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3" name="Text Box 9"/>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4" name="Line 10"/>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5" name="Line 11"/>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1" name="Text Box 17"/>
          <p:cNvSpPr txBox="1">
            <a:spLocks noChangeArrowheads="1"/>
          </p:cNvSpPr>
          <p:nvPr/>
        </p:nvSpPr>
        <p:spPr bwMode="auto">
          <a:xfrm>
            <a:off x="2286000" y="1828800"/>
            <a:ext cx="25257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Tangency portfolio</a:t>
            </a:r>
          </a:p>
        </p:txBody>
      </p:sp>
      <p:sp>
        <p:nvSpPr>
          <p:cNvPr id="26642" name="Line 18"/>
          <p:cNvSpPr>
            <a:spLocks noChangeShapeType="1"/>
          </p:cNvSpPr>
          <p:nvPr/>
        </p:nvSpPr>
        <p:spPr bwMode="auto">
          <a:xfrm>
            <a:off x="3581400" y="2362200"/>
            <a:ext cx="457200" cy="5334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3" name="Text Box 19"/>
          <p:cNvSpPr txBox="1">
            <a:spLocks noChangeArrowheads="1"/>
          </p:cNvSpPr>
          <p:nvPr/>
        </p:nvSpPr>
        <p:spPr bwMode="auto">
          <a:xfrm>
            <a:off x="1752600" y="5257800"/>
            <a:ext cx="364966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Minimum variance portfolio</a:t>
            </a:r>
          </a:p>
        </p:txBody>
      </p:sp>
      <p:sp>
        <p:nvSpPr>
          <p:cNvPr id="26644" name="Line 20"/>
          <p:cNvSpPr>
            <a:spLocks noChangeShapeType="1"/>
          </p:cNvSpPr>
          <p:nvPr/>
        </p:nvSpPr>
        <p:spPr bwMode="auto">
          <a:xfrm flipV="1">
            <a:off x="2667000" y="3429000"/>
            <a:ext cx="838200" cy="17526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5" name="Text Box 21"/>
          <p:cNvSpPr txBox="1">
            <a:spLocks noChangeArrowheads="1"/>
          </p:cNvSpPr>
          <p:nvPr/>
        </p:nvSpPr>
        <p:spPr bwMode="auto">
          <a:xfrm>
            <a:off x="6324600" y="2438400"/>
            <a:ext cx="2606675" cy="22828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All efficient risky portfolios are combinations of the minimum variance and tangency portfolio</a:t>
            </a:r>
          </a:p>
        </p:txBody>
      </p:sp>
      <p:sp>
        <p:nvSpPr>
          <p:cNvPr id="26646" name="Line 22"/>
          <p:cNvSpPr>
            <a:spLocks noChangeShapeType="1"/>
          </p:cNvSpPr>
          <p:nvPr/>
        </p:nvSpPr>
        <p:spPr bwMode="auto">
          <a:xfrm flipH="1" flipV="1">
            <a:off x="5257800" y="2362200"/>
            <a:ext cx="990600" cy="12192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709097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4000"/>
              <a:t>Efficient Portfolios with Constraints</a:t>
            </a:r>
          </a:p>
        </p:txBody>
      </p:sp>
      <p:sp>
        <p:nvSpPr>
          <p:cNvPr id="27651" name="Rectangle 3"/>
          <p:cNvSpPr>
            <a:spLocks noGrp="1" noChangeArrowheads="1"/>
          </p:cNvSpPr>
          <p:nvPr>
            <p:ph type="body" idx="1"/>
          </p:nvPr>
        </p:nvSpPr>
        <p:spPr/>
        <p:txBody>
          <a:bodyPr/>
          <a:lstStyle/>
          <a:p>
            <a:r>
              <a:rPr lang="en-US"/>
              <a:t>In general, the efficient set will contain short positions in some assets.</a:t>
            </a:r>
          </a:p>
          <a:p>
            <a:r>
              <a:rPr lang="en-US"/>
              <a:t>In many applications, no short-sale constraints may be enforced.</a:t>
            </a:r>
          </a:p>
          <a:p>
            <a:r>
              <a:rPr lang="en-US"/>
              <a:t>To find efficient portfolios in this case a numerical solution technique is required.</a:t>
            </a:r>
          </a:p>
          <a:p>
            <a:endParaRPr lang="en-US"/>
          </a:p>
        </p:txBody>
      </p:sp>
    </p:spTree>
    <p:extLst>
      <p:ext uri="{BB962C8B-B14F-4D97-AF65-F5344CB8AC3E}">
        <p14:creationId xmlns:p14="http://schemas.microsoft.com/office/powerpoint/2010/main" val="1521197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z="4000"/>
              <a:t>Efficient Portfolios with Short Sales Constraints</a:t>
            </a:r>
          </a:p>
        </p:txBody>
      </p:sp>
      <p:sp>
        <p:nvSpPr>
          <p:cNvPr id="28676" name="Rectangle 4"/>
          <p:cNvSpPr>
            <a:spLocks noChangeArrowheads="1"/>
          </p:cNvSpPr>
          <p:nvPr/>
        </p:nvSpPr>
        <p:spPr bwMode="auto">
          <a:xfrm>
            <a:off x="685800" y="1981200"/>
            <a:ext cx="8001000" cy="1447800"/>
          </a:xfrm>
          <a:prstGeom prst="rect">
            <a:avLst/>
          </a:prstGeom>
          <a:noFill/>
          <a:ln w="9525">
            <a:noFill/>
            <a:miter lim="800000"/>
            <a:headEnd/>
            <a:tailEnd/>
          </a:ln>
          <a:effectLst/>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1200" cap="none" spc="0" normalizeH="0" baseline="0" noProof="0">
                <a:ln>
                  <a:noFill/>
                </a:ln>
                <a:solidFill>
                  <a:srgbClr val="000000"/>
                </a:solidFill>
                <a:effectLst/>
                <a:uLnTx/>
                <a:uFillTx/>
                <a:latin typeface="Times New Roman" pitchFamily="18" charset="0"/>
                <a:ea typeface="+mn-ea"/>
                <a:cs typeface="Arial"/>
              </a:rPr>
              <a:t>The portfolio on the efficient frontier with mean return E solves the following constrained optimization problem:</a:t>
            </a:r>
          </a:p>
        </p:txBody>
      </p:sp>
      <p:graphicFrame>
        <p:nvGraphicFramePr>
          <p:cNvPr id="28677" name="Object 5"/>
          <p:cNvGraphicFramePr>
            <a:graphicFrameLocks noChangeAspect="1"/>
          </p:cNvGraphicFramePr>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19516" name="Equation" r:id="rId3" imgW="647640" imgH="279360" progId="Equation.3">
                  <p:embed/>
                </p:oleObj>
              </mc:Choice>
              <mc:Fallback>
                <p:oleObj name="Equation" r:id="rId3" imgW="647640" imgH="279360" progId="Equation.3">
                  <p:embed/>
                  <p:pic>
                    <p:nvPicPr>
                      <p:cNvPr id="286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8" name="Text Box 6"/>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28679" name="Object 7"/>
          <p:cNvGraphicFramePr>
            <a:graphicFrameLocks noChangeAspect="1"/>
          </p:cNvGraphicFramePr>
          <p:nvPr/>
        </p:nvGraphicFramePr>
        <p:xfrm>
          <a:off x="3429000" y="4719638"/>
          <a:ext cx="1600200" cy="1855787"/>
        </p:xfrm>
        <a:graphic>
          <a:graphicData uri="http://schemas.openxmlformats.org/presentationml/2006/ole">
            <mc:AlternateContent xmlns:mc="http://schemas.openxmlformats.org/markup-compatibility/2006">
              <mc:Choice xmlns:v="urn:schemas-microsoft-com:vml" Requires="v">
                <p:oleObj spid="_x0000_s19517" name="Equation" r:id="rId5" imgW="558720" imgH="647640" progId="Equation.3">
                  <p:embed/>
                </p:oleObj>
              </mc:Choice>
              <mc:Fallback>
                <p:oleObj name="Equation" r:id="rId5" imgW="558720" imgH="647640" progId="Equation.3">
                  <p:embed/>
                  <p:pic>
                    <p:nvPicPr>
                      <p:cNvPr id="2867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719638"/>
                        <a:ext cx="1600200" cy="185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382668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3142</TotalTime>
  <Words>3107</Words>
  <Application>Microsoft Office PowerPoint</Application>
  <PresentationFormat>On-screen Show (4:3)</PresentationFormat>
  <Paragraphs>325</Paragraphs>
  <Slides>45</Slides>
  <Notes>32</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45</vt:i4>
      </vt:variant>
    </vt:vector>
  </HeadingPairs>
  <TitlesOfParts>
    <vt:vector size="57" baseType="lpstr">
      <vt:lpstr>Arial</vt:lpstr>
      <vt:lpstr>Calibri</vt:lpstr>
      <vt:lpstr>Cambria Math</vt:lpstr>
      <vt:lpstr>Symbol</vt:lpstr>
      <vt:lpstr>Times New Roman</vt:lpstr>
      <vt:lpstr>Verdana</vt:lpstr>
      <vt:lpstr>Wingdings</vt:lpstr>
      <vt:lpstr>Custom Design</vt:lpstr>
      <vt:lpstr>Eclipse</vt:lpstr>
      <vt:lpstr>Office Theme</vt:lpstr>
      <vt:lpstr>Chart</vt:lpstr>
      <vt:lpstr>Equation</vt:lpstr>
      <vt:lpstr>Asset Allocation, CAPM, Factor Models </vt:lpstr>
      <vt:lpstr>Course Update</vt:lpstr>
      <vt:lpstr>Outline for Today</vt:lpstr>
      <vt:lpstr> Portfolio Mean Returns</vt:lpstr>
      <vt:lpstr> Portfolio Variances</vt:lpstr>
      <vt:lpstr> Two Asset Example</vt:lpstr>
      <vt:lpstr>The Efficient Frontier in the Example</vt:lpstr>
      <vt:lpstr>Sharpe Ratio</vt:lpstr>
      <vt:lpstr>Adding a risk-free asset</vt:lpstr>
      <vt:lpstr>Combining risky asset and risk-free</vt:lpstr>
      <vt:lpstr>Efficient Frontier with Riskless Asset</vt:lpstr>
      <vt:lpstr>General Statement of Mean-Variance Objective Function with Two Assets</vt:lpstr>
      <vt:lpstr>Constructing the Mean-Variance Efficient Frontier: Three assets</vt:lpstr>
      <vt:lpstr>Constructing the Mean-Variance Efficient Frontier: Three assets</vt:lpstr>
      <vt:lpstr>Three assets: Any desired portfolio return</vt:lpstr>
      <vt:lpstr>Simplification with two-fund separation</vt:lpstr>
      <vt:lpstr>In Practice: Where Do We get (1) Expected Return, (2) Expected Variance and (3) Correlation?</vt:lpstr>
      <vt:lpstr>Extensions and Relation to Homework</vt:lpstr>
      <vt:lpstr>General Mean-variance Math (see appendix)</vt:lpstr>
      <vt:lpstr>Asset Allocation in Practice</vt:lpstr>
      <vt:lpstr>Strategic Asset Allocation as first step in bigger picture</vt:lpstr>
      <vt:lpstr>Strategic Asset Allocation as first step in bigger picture</vt:lpstr>
      <vt:lpstr>Critiques of MPT</vt:lpstr>
      <vt:lpstr>Additional Critiques of MPT</vt:lpstr>
      <vt:lpstr>Adding more realism to asset allocation… </vt:lpstr>
      <vt:lpstr>Alternative: Factor Investing</vt:lpstr>
      <vt:lpstr>Capital Asset Pricing Model (CAPM)</vt:lpstr>
      <vt:lpstr>Efficient Frontier with Riskless Asset</vt:lpstr>
      <vt:lpstr>Capital Asset Pricing Model (CAPM)</vt:lpstr>
      <vt:lpstr>Testing the CAPM with the “Market Model” Regression</vt:lpstr>
      <vt:lpstr>Empirical Facts About the CAPM</vt:lpstr>
      <vt:lpstr>Arbitrage Pricing Theory</vt:lpstr>
      <vt:lpstr>Empirical Implementation of Factor Models</vt:lpstr>
      <vt:lpstr>“Factor Investing” as Alternative to Traditional Asset Allocation</vt:lpstr>
      <vt:lpstr>Next Steps, Next Week</vt:lpstr>
      <vt:lpstr>Appendix: Mean-variance math</vt:lpstr>
      <vt:lpstr>The Efficient Frontier</vt:lpstr>
      <vt:lpstr>Calculating Means and the Covariance Matrix</vt:lpstr>
      <vt:lpstr>The Covariance Matrix</vt:lpstr>
      <vt:lpstr>Calculating Portfolio Means and Returns</vt:lpstr>
      <vt:lpstr>A Formal Description of the Efficient Frontier</vt:lpstr>
      <vt:lpstr>Calculating Efficient Risky Portfolios Without Constraints</vt:lpstr>
      <vt:lpstr>The Efficient Frontier</vt:lpstr>
      <vt:lpstr>Efficient Portfolios with Constraints</vt:lpstr>
      <vt:lpstr>Efficient Portfolios with Short Sales Constraints</vt:lpstr>
    </vt:vector>
  </TitlesOfParts>
  <Company>Commerce 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Adlai Fisher</dc:creator>
  <cp:lastModifiedBy>Fisher, Adlai</cp:lastModifiedBy>
  <cp:revision>194</cp:revision>
  <cp:lastPrinted>2021-06-17T19:34:15Z</cp:lastPrinted>
  <dcterms:created xsi:type="dcterms:W3CDTF">2003-01-06T15:33:27Z</dcterms:created>
  <dcterms:modified xsi:type="dcterms:W3CDTF">2025-03-13T14:24:49Z</dcterms:modified>
</cp:coreProperties>
</file>